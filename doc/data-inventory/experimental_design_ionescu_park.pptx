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Experimental design and data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0">
                <a:solidFill>
                  <a:srgbClr val="D9E2F3"/>
                </a:solidFill>
              </a:rPr>
              <a:t>Patient-derived induced neural stem cells (iNSCs) in progressive multiple sclerosis (PMS)</a:t>
            </a:r>
          </a:p>
          <a:p>
            <a:pPr algn="l"/>
            <a:r>
              <a:rPr sz="2000" b="0">
                <a:solidFill>
                  <a:srgbClr val="D9E2F3"/>
                </a:solidFill>
              </a:rPr>
              <a:t>Ionescu et al., Cell Stem Cell 2024  |  Park et al., Neuron 2025  (same lab, same iNSC model)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846320"/>
            <a:ext cx="1069848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BFBFBF"/>
                </a:solidFill>
              </a:rPr>
              <a:t>Deposits, sample counts and file sizes checked against the repositories on 2026-09-29.</a:t>
            </a:r>
          </a:p>
          <a:p>
            <a:pPr algn="l"/>
            <a:r>
              <a:rPr sz="1400" b="0">
                <a:solidFill>
                  <a:srgbClr val="BFBFBF"/>
                </a:solidFill>
              </a:rPr>
              <a:t>Companion files: data_inventory_ionescu_park.xlsx (datasets, samples, files, gaps) and the download scripts.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Shared model: fibroblast-derived iNSC 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430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D9E2F3"/>
                </a:solidFill>
              </a:rPr>
              <a:t>Both papers use directly reprogrammed iNSCs from PMS donors and healthy controls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2377440" cy="82296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200" b="1">
                <a:solidFill>
                  <a:srgbClr val="000000"/>
                </a:solidFill>
              </a:rPr>
              <a:t>Skin biopsy</a:t>
            </a:r>
          </a:p>
          <a:p>
            <a:pPr algn="ctr"/>
            <a:r>
              <a:rPr sz="1200" b="0">
                <a:solidFill>
                  <a:srgbClr val="000000"/>
                </a:solidFill>
              </a:rPr>
              <a:t>dermal fibroblasts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651760"/>
            <a:ext cx="2377440" cy="822960"/>
          </a:xfrm>
          <a:prstGeom prst="roundRect">
            <a:avLst>
              <a:gd name="adj" fmla="val 12000"/>
            </a:avLst>
          </a:prstGeom>
          <a:solidFill>
            <a:srgbClr val="FFF2CC"/>
          </a:solidFill>
          <a:ln w="1587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200" b="1">
                <a:solidFill>
                  <a:srgbClr val="000000"/>
                </a:solidFill>
              </a:rPr>
              <a:t>Direct reprogramming</a:t>
            </a:r>
          </a:p>
          <a:p>
            <a:pPr algn="ctr"/>
            <a:r>
              <a:rPr sz="1200" b="0">
                <a:solidFill>
                  <a:srgbClr val="000000"/>
                </a:solidFill>
              </a:rPr>
              <a:t>(Sendai; no iPSC stage)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023360"/>
            <a:ext cx="2377440" cy="82296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200" b="1">
                <a:solidFill>
                  <a:srgbClr val="000000"/>
                </a:solidFill>
              </a:rPr>
              <a:t>iNSC lines</a:t>
            </a:r>
          </a:p>
          <a:p>
            <a:pPr algn="ctr"/>
            <a:r>
              <a:rPr sz="1200" b="0">
                <a:solidFill>
                  <a:srgbClr val="000000"/>
                </a:solidFill>
              </a:rPr>
              <a:t>passages 15-35, NIM medium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2651760"/>
            <a:ext cx="2194560" cy="822960"/>
          </a:xfrm>
          <a:prstGeom prst="roundRect">
            <a:avLst>
              <a:gd name="adj" fmla="val 12000"/>
            </a:avLst>
          </a:prstGeom>
          <a:solidFill>
            <a:srgbClr val="FFF2CC"/>
          </a:solidFill>
          <a:ln w="1587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200" b="1">
                <a:solidFill>
                  <a:srgbClr val="000000"/>
                </a:solidFill>
              </a:rPr>
              <a:t>iPSC route (Park)</a:t>
            </a:r>
          </a:p>
          <a:p>
            <a:pPr algn="ctr"/>
            <a:r>
              <a:rPr sz="1200" b="0">
                <a:solidFill>
                  <a:srgbClr val="000000"/>
                </a:solidFill>
              </a:rPr>
              <a:t>iPS-NSCs, WGBS only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45920" y="2103120"/>
            <a:ext cx="0" cy="54864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645920" y="3474720"/>
            <a:ext cx="0" cy="54864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834640" y="1691640"/>
            <a:ext cx="1463040" cy="96012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7200" y="5074920"/>
            <a:ext cx="502920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Fibroblasts are profiled too (WGBS, Park) because direct reprogramming keeps</a:t>
            </a:r>
          </a:p>
          <a:p>
            <a:pPr algn="l"/>
            <a:r>
              <a:rPr sz="1200" b="0">
                <a:solidFill>
                  <a:srgbClr val="404040"/>
                </a:solidFill>
              </a:rPr>
              <a:t>donor epigenetic marks: this is the rationale for the fibroblast-vs-iNSC comparison.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760720" y="1280160"/>
          <a:ext cx="603504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600200"/>
                <a:gridCol w="1234440"/>
                <a:gridCol w="160020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45720" marR="45720" marT="18288" marB="18288"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Ctrl lines</a:t>
                      </a:r>
                    </a:p>
                  </a:txBody>
                  <a:tcPr marL="45720" marR="45720" marT="18288" marB="18288"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PMS lines</a:t>
                      </a:r>
                    </a:p>
                  </a:txBody>
                  <a:tcPr marL="45720" marR="45720" marT="18288" marB="18288"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Donor details (paper)</a:t>
                      </a:r>
                    </a:p>
                  </a:txBody>
                  <a:tcPr marL="45720" marR="45720" marT="18288" marB="18288">
                    <a:solidFill>
                      <a:srgbClr val="2F559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0"/>
                        <a:t>Ionescu 2024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/>
                        <a:t>3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/>
                        <a:t>4 (3 SPMS, 1 PPMS)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/>
                        <a:t>25-63 y; 5 male, 2 female; Table S1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0"/>
                        <a:t>Park 2025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/>
                        <a:t>3 (C1-C3)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/>
                        <a:t>3 (P1-P3)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/>
                        <a:t>25-63 y; lines made as in Ionescu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0"/>
                        <a:t>IDs in Ionescu MW deposits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/>
                        <a:t>AMC A, B, C (cells) / A, B, D (media)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/>
                        <a:t>PMS A-D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/>
                        <a:t>letters differ between studies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0"/>
                        <a:t>IDs in Park GEO deposits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/>
                        <a:t>DR, 111, HD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/>
                        <a:t>103, 113, 105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/>
                        <a:t>105 and HD are the senolytic lines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5760720" y="4114800"/>
            <a:ext cx="6035040" cy="1371600"/>
          </a:xfrm>
          <a:prstGeom prst="roundRect">
            <a:avLst>
              <a:gd name="adj" fmla="val 12000"/>
            </a:avLst>
          </a:prstGeom>
          <a:solidFill>
            <a:srgbClr val="FCE5CD"/>
          </a:solidFill>
          <a:ln w="15875">
            <a:solidFill>
              <a:srgbClr val="B45F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/>
            <a:r>
              <a:rPr sz="1200" b="1">
                <a:solidFill>
                  <a:srgbClr val="000000"/>
                </a:solidFill>
              </a:rPr>
              <a:t>Donor identity across papers is not documented</a:t>
            </a:r>
          </a:p>
          <a:p>
            <a:pPr algn="l"/>
            <a:r>
              <a:rPr sz="1200" b="0">
                <a:solidFill>
                  <a:srgbClr val="000000"/>
                </a:solidFill>
              </a:rPr>
              <a:t>No deposit gives a crosswalk between Ionescu AMC/PMS letters, Park C/P numbers and the GEO line IDs. Modalities are therefore matched at the level of disease group only, unless the two Table S1 files show the mapping.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Sources: paper PDFs in data/Ionescu, data/Park; GEO, SRA, ENA, Metabolomics Workbench, MassIVE, Zenodo queried 2026-09-29. Full tables: data_inventory_ionescu_park.xlsx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Ionescu et al. 2024: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430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D9E2F3"/>
                </a:solidFill>
              </a:rPr>
              <a:t>3 Ctrl + 4 PMS iNSC lines, technical triplicates per line; mechanism: glucose -&gt; HMGCR / cholesterol synthesis -&gt; SASP -&gt; neurotoxicity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834640"/>
            <a:ext cx="1828800" cy="109728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200" b="1">
                <a:solidFill>
                  <a:srgbClr val="000000"/>
                </a:solidFill>
              </a:rPr>
              <a:t>iNSC lines</a:t>
            </a:r>
          </a:p>
          <a:p>
            <a:pPr algn="ctr"/>
            <a:r>
              <a:rPr sz="1200" b="0">
                <a:solidFill>
                  <a:srgbClr val="000000"/>
                </a:solidFill>
              </a:rPr>
              <a:t>3 Ctrl + 4 PMS</a:t>
            </a:r>
          </a:p>
          <a:p>
            <a:pPr algn="ctr"/>
            <a:r>
              <a:rPr sz="1200" b="0">
                <a:solidFill>
                  <a:srgbClr val="000000"/>
                </a:solidFill>
              </a:rPr>
              <a:t>100,000 cells/cm2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1097280"/>
            <a:ext cx="2560320" cy="822960"/>
          </a:xfrm>
          <a:prstGeom prst="roundRect">
            <a:avLst>
              <a:gd name="adj" fmla="val 12000"/>
            </a:avLst>
          </a:prstGeom>
          <a:solidFill>
            <a:srgbClr val="FFF2CC"/>
          </a:solidFill>
          <a:ln w="1587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100" b="1">
                <a:solidFill>
                  <a:srgbClr val="000000"/>
                </a:solidFill>
              </a:rPr>
              <a:t>Stable isotope tracing</a:t>
            </a:r>
          </a:p>
          <a:p>
            <a:pPr algn="ctr"/>
            <a:r>
              <a:rPr sz="1100" b="0">
                <a:solidFill>
                  <a:srgbClr val="000000"/>
                </a:solidFill>
              </a:rPr>
              <a:t>[U-13C6]glucose 30 min, 6 h, 24 h; 13C5,15N2-glutamine 24 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0" y="1097280"/>
            <a:ext cx="2743200" cy="822960"/>
          </a:xfrm>
          <a:prstGeom prst="roundRect">
            <a:avLst>
              <a:gd name="adj" fmla="val 12000"/>
            </a:avLst>
          </a:prstGeom>
          <a:solidFill>
            <a:srgbClr val="D9EAD3"/>
          </a:solidFill>
          <a:ln w="15875">
            <a:solidFill>
              <a:srgbClr val="3876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100" b="1">
                <a:solidFill>
                  <a:srgbClr val="000000"/>
                </a:solidFill>
              </a:rPr>
              <a:t>Intracellular metabolomics</a:t>
            </a:r>
          </a:p>
          <a:p>
            <a:pPr algn="ctr"/>
            <a:r>
              <a:rPr sz="1100" b="0">
                <a:solidFill>
                  <a:srgbClr val="000000"/>
                </a:solidFill>
              </a:rPr>
              <a:t>ST003331: 21 samples (24 h glucose only)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097280"/>
            <a:ext cx="2834640" cy="822960"/>
          </a:xfrm>
          <a:prstGeom prst="roundRect">
            <a:avLst>
              <a:gd name="adj" fmla="val 12000"/>
            </a:avLst>
          </a:prstGeom>
          <a:solidFill>
            <a:srgbClr val="D9EAD3"/>
          </a:solidFill>
          <a:ln w="15875">
            <a:solidFill>
              <a:srgbClr val="3876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100" b="1">
                <a:solidFill>
                  <a:srgbClr val="000000"/>
                </a:solidFill>
              </a:rPr>
              <a:t>Extracellular metabolomics</a:t>
            </a:r>
          </a:p>
          <a:p>
            <a:pPr algn="ctr"/>
            <a:r>
              <a:rPr sz="1100" b="0">
                <a:solidFill>
                  <a:srgbClr val="000000"/>
                </a:solidFill>
              </a:rPr>
              <a:t>ST003332: 24 samples (incl. 3 blanks)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2194560" y="1508760"/>
            <a:ext cx="548640" cy="187452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303520" y="1508760"/>
            <a:ext cx="548640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303520" y="1508760"/>
            <a:ext cx="3657600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743200" y="2148840"/>
            <a:ext cx="2560320" cy="822960"/>
          </a:xfrm>
          <a:prstGeom prst="roundRect">
            <a:avLst>
              <a:gd name="adj" fmla="val 12000"/>
            </a:avLst>
          </a:prstGeom>
          <a:solidFill>
            <a:srgbClr val="FFF2CC"/>
          </a:solidFill>
          <a:ln w="1587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100" b="1">
                <a:solidFill>
                  <a:srgbClr val="000000"/>
                </a:solidFill>
              </a:rPr>
              <a:t>Vehicle vs simvastatin</a:t>
            </a:r>
          </a:p>
          <a:p>
            <a:pPr algn="ctr"/>
            <a:r>
              <a:rPr sz="1100" b="0">
                <a:solidFill>
                  <a:srgbClr val="000000"/>
                </a:solidFill>
              </a:rPr>
              <a:t>10 uM, 48 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52160" y="2148840"/>
            <a:ext cx="2743200" cy="822960"/>
          </a:xfrm>
          <a:prstGeom prst="roundRect">
            <a:avLst>
              <a:gd name="adj" fmla="val 12000"/>
            </a:avLst>
          </a:prstGeom>
          <a:solidFill>
            <a:srgbClr val="D9EAD3"/>
          </a:solidFill>
          <a:ln w="15875">
            <a:solidFill>
              <a:srgbClr val="3876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100" b="1">
                <a:solidFill>
                  <a:srgbClr val="000000"/>
                </a:solidFill>
              </a:rPr>
              <a:t>Intracellular lipidomics</a:t>
            </a:r>
          </a:p>
          <a:p>
            <a:pPr algn="ctr"/>
            <a:r>
              <a:rPr sz="1100" b="0">
                <a:solidFill>
                  <a:srgbClr val="000000"/>
                </a:solidFill>
              </a:rPr>
              <a:t>ST003328: 42 samples (7 lines x 2 x 3)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2148840"/>
            <a:ext cx="2834640" cy="822960"/>
          </a:xfrm>
          <a:prstGeom prst="roundRect">
            <a:avLst>
              <a:gd name="adj" fmla="val 12000"/>
            </a:avLst>
          </a:prstGeom>
          <a:solidFill>
            <a:srgbClr val="FCE5CD"/>
          </a:solidFill>
          <a:ln w="15875">
            <a:solidFill>
              <a:srgbClr val="B45F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100" b="1">
                <a:solidFill>
                  <a:srgbClr val="000000"/>
                </a:solidFill>
              </a:rPr>
              <a:t>Secretome (CM proteomics)</a:t>
            </a:r>
          </a:p>
          <a:p>
            <a:pPr algn="ctr"/>
            <a:r>
              <a:rPr sz="1100" b="0">
                <a:solidFill>
                  <a:srgbClr val="000000"/>
                </a:solidFill>
              </a:rPr>
              <a:t>MSV000095283, +/- SV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2194560" y="2560320"/>
            <a:ext cx="548640" cy="82296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03520" y="2560320"/>
            <a:ext cx="548640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303520" y="2560320"/>
            <a:ext cx="3657600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743200" y="3200400"/>
            <a:ext cx="2560320" cy="822960"/>
          </a:xfrm>
          <a:prstGeom prst="roundRect">
            <a:avLst>
              <a:gd name="adj" fmla="val 12000"/>
            </a:avLst>
          </a:prstGeom>
          <a:solidFill>
            <a:srgbClr val="FFF2CC"/>
          </a:solidFill>
          <a:ln w="1587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100" b="1">
                <a:solidFill>
                  <a:srgbClr val="000000"/>
                </a:solidFill>
              </a:rPr>
              <a:t>Baseline culture</a:t>
            </a:r>
          </a:p>
          <a:p>
            <a:pPr algn="ctr"/>
            <a:r>
              <a:rPr sz="1100" b="0">
                <a:solidFill>
                  <a:srgbClr val="000000"/>
                </a:solidFill>
              </a:rPr>
              <a:t>day 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52160" y="3200400"/>
            <a:ext cx="2743200" cy="822960"/>
          </a:xfrm>
          <a:prstGeom prst="roundRect">
            <a:avLst>
              <a:gd name="adj" fmla="val 12000"/>
            </a:avLst>
          </a:prstGeom>
          <a:solidFill>
            <a:srgbClr val="FCE5CD"/>
          </a:solidFill>
          <a:ln w="15875">
            <a:solidFill>
              <a:srgbClr val="B45F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100" b="1">
                <a:solidFill>
                  <a:srgbClr val="000000"/>
                </a:solidFill>
              </a:rPr>
              <a:t>Intracellular proteomics</a:t>
            </a:r>
          </a:p>
          <a:p>
            <a:pPr algn="ctr"/>
            <a:r>
              <a:rPr sz="1100" b="0">
                <a:solidFill>
                  <a:srgbClr val="000000"/>
                </a:solidFill>
              </a:rPr>
              <a:t>MSV000095283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1120" y="3200400"/>
            <a:ext cx="2834640" cy="822960"/>
          </a:xfrm>
          <a:prstGeom prst="roundRect">
            <a:avLst>
              <a:gd name="adj" fmla="val 12000"/>
            </a:avLst>
          </a:prstGeom>
          <a:solidFill>
            <a:srgbClr val="D9EAD3"/>
          </a:solidFill>
          <a:ln w="15875">
            <a:solidFill>
              <a:srgbClr val="3876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100" b="1">
                <a:solidFill>
                  <a:srgbClr val="000000"/>
                </a:solidFill>
              </a:rPr>
              <a:t>Extracellular lipidomics</a:t>
            </a:r>
          </a:p>
          <a:p>
            <a:pPr algn="ctr"/>
            <a:r>
              <a:rPr sz="1100" b="0">
                <a:solidFill>
                  <a:srgbClr val="000000"/>
                </a:solidFill>
              </a:rPr>
              <a:t>ST003330: 24 samples (incl. 3 blanks)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194560" y="3383280"/>
            <a:ext cx="548640" cy="22860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303520" y="3611880"/>
            <a:ext cx="548640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303520" y="3611880"/>
            <a:ext cx="3657600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2743200" y="4251960"/>
            <a:ext cx="2560320" cy="822960"/>
          </a:xfrm>
          <a:prstGeom prst="roundRect">
            <a:avLst>
              <a:gd name="adj" fmla="val 12000"/>
            </a:avLst>
          </a:prstGeom>
          <a:solidFill>
            <a:srgbClr val="FFF2CC"/>
          </a:solidFill>
          <a:ln w="1587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100" b="1">
                <a:solidFill>
                  <a:srgbClr val="000000"/>
                </a:solidFill>
              </a:rPr>
              <a:t>Baseline culture</a:t>
            </a:r>
          </a:p>
          <a:p>
            <a:pPr algn="ctr"/>
            <a:r>
              <a:rPr sz="1100" b="0">
                <a:solidFill>
                  <a:srgbClr val="000000"/>
                </a:solidFill>
              </a:rPr>
              <a:t/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52160" y="4251960"/>
            <a:ext cx="2743200" cy="822960"/>
          </a:xfrm>
          <a:prstGeom prst="roundRect">
            <a:avLst>
              <a:gd name="adj" fmla="val 12000"/>
            </a:avLst>
          </a:prstGeom>
          <a:solidFill>
            <a:srgbClr val="EEEEEE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100" b="1">
                <a:solidFill>
                  <a:srgbClr val="000000"/>
                </a:solidFill>
              </a:rPr>
              <a:t>Bulk RNA-seq</a:t>
            </a:r>
          </a:p>
          <a:p>
            <a:pPr algn="ctr"/>
            <a:r>
              <a:rPr sz="1100" b="0">
                <a:solidFill>
                  <a:srgbClr val="000000"/>
                </a:solidFill>
              </a:rPr>
              <a:t>2 Ctrl vs 2 PMS lines, &gt;=2 replicates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61120" y="4251960"/>
            <a:ext cx="2834640" cy="822960"/>
          </a:xfrm>
          <a:prstGeom prst="roundRect">
            <a:avLst>
              <a:gd name="adj" fmla="val 12000"/>
            </a:avLst>
          </a:prstGeom>
          <a:solidFill>
            <a:srgbClr val="EEEEEE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100" b="1">
                <a:solidFill>
                  <a:srgbClr val="000000"/>
                </a:solidFill>
              </a:rPr>
              <a:t>Seahorse, lipid droplets, senescence</a:t>
            </a:r>
          </a:p>
          <a:p>
            <a:pPr algn="ctr"/>
            <a:r>
              <a:rPr sz="1100" b="0">
                <a:solidFill>
                  <a:srgbClr val="000000"/>
                </a:solidFill>
              </a:rPr>
              <a:t>not deposited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194560" y="3383280"/>
            <a:ext cx="548640" cy="128016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303520" y="4663440"/>
            <a:ext cx="548640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303520" y="4663440"/>
            <a:ext cx="3657600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2743200" y="5303520"/>
            <a:ext cx="2560320" cy="822960"/>
          </a:xfrm>
          <a:prstGeom prst="roundRect">
            <a:avLst>
              <a:gd name="adj" fmla="val 12000"/>
            </a:avLst>
          </a:prstGeom>
          <a:solidFill>
            <a:srgbClr val="FFF2CC"/>
          </a:solidFill>
          <a:ln w="1587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100" b="1">
                <a:solidFill>
                  <a:srgbClr val="000000"/>
                </a:solidFill>
              </a:rPr>
              <a:t>Conditioned medium (CM)</a:t>
            </a:r>
          </a:p>
          <a:p>
            <a:pPr algn="ctr"/>
            <a:r>
              <a:rPr sz="1100" b="0">
                <a:solidFill>
                  <a:srgbClr val="000000"/>
                </a:solidFill>
              </a:rPr>
              <a:t>Ctrl / PMS, +/- SV, 24 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852160" y="5303520"/>
            <a:ext cx="2743200" cy="822960"/>
          </a:xfrm>
          <a:prstGeom prst="roundRect">
            <a:avLst>
              <a:gd name="adj" fmla="val 12000"/>
            </a:avLst>
          </a:prstGeom>
          <a:solidFill>
            <a:srgbClr val="EEEEEE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100" b="1">
                <a:solidFill>
                  <a:srgbClr val="000000"/>
                </a:solidFill>
              </a:rPr>
              <a:t>SH-SY5Y neurons, 72 h</a:t>
            </a:r>
          </a:p>
          <a:p>
            <a:pPr algn="ctr"/>
            <a:r>
              <a:rPr sz="1100" b="0">
                <a:solidFill>
                  <a:srgbClr val="000000"/>
                </a:solidFill>
              </a:rPr>
              <a:t>neurite length, cleaved caspase 3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61120" y="5303520"/>
            <a:ext cx="2834640" cy="822960"/>
          </a:xfrm>
          <a:prstGeom prst="roundRect">
            <a:avLst>
              <a:gd name="adj" fmla="val 12000"/>
            </a:avLst>
          </a:prstGeom>
          <a:solidFill>
            <a:srgbClr val="EEEEEE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100" b="1">
                <a:solidFill>
                  <a:srgbClr val="000000"/>
                </a:solidFill>
              </a:rPr>
              <a:t>EphA4 blocking</a:t>
            </a:r>
          </a:p>
          <a:p>
            <a:pPr algn="ctr"/>
            <a:r>
              <a:rPr sz="1100" b="0">
                <a:solidFill>
                  <a:srgbClr val="000000"/>
                </a:solidFill>
              </a:rPr>
              <a:t>CM + EphA4-Fc / IgG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194560" y="3383280"/>
            <a:ext cx="548640" cy="233172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303520" y="5715000"/>
            <a:ext cx="548640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303520" y="5715000"/>
            <a:ext cx="3657600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365760" y="6263640"/>
            <a:ext cx="274320" cy="228600"/>
          </a:xfrm>
          <a:prstGeom prst="rect">
            <a:avLst/>
          </a:prstGeom>
          <a:solidFill>
            <a:srgbClr val="D9EAD3"/>
          </a:solidFill>
          <a:ln w="15875">
            <a:solidFill>
              <a:srgbClr val="3876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200" b="1">
                <a:solidFill>
                  <a:srgbClr val="000000"/>
                </a:solidFill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6227064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</a:rPr>
              <a:t>public deposit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14600" y="6263640"/>
            <a:ext cx="274320" cy="228600"/>
          </a:xfrm>
          <a:prstGeom prst="rect">
            <a:avLst/>
          </a:prstGeom>
          <a:solidFill>
            <a:srgbClr val="FCE5CD"/>
          </a:solidFill>
          <a:ln w="15875">
            <a:solidFill>
              <a:srgbClr val="B45F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200" b="1">
                <a:solidFill>
                  <a:srgbClr val="000000"/>
                </a:solidFill>
              </a:rPr>
              <a:t/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34640" y="6227064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</a:rPr>
              <a:t>deposited, private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63440" y="6263640"/>
            <a:ext cx="274320" cy="228600"/>
          </a:xfrm>
          <a:prstGeom prst="rect">
            <a:avLst/>
          </a:prstGeom>
          <a:solidFill>
            <a:srgbClr val="EEEEEE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200" b="1">
                <a:solidFill>
                  <a:srgbClr val="000000"/>
                </a:solidFill>
              </a:rPr>
              <a:t/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83480" y="6227064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</a:rPr>
              <a:t>not deposited / not found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49440" y="6217920"/>
            <a:ext cx="49377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Integration in the paper: MOFA (lipidome 642 + secretome 241 features, +/- SV) and GENIE3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Ionescu et al. 2024: deposited samples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430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D9E2F3"/>
                </a:solidFill>
              </a:rPr>
              <a:t>Metabolomics Workbench studies (public, CC BY 4.0); proteomics on MassIVE is private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188720"/>
          <a:ext cx="11430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468880"/>
                <a:gridCol w="777240"/>
                <a:gridCol w="1737360"/>
                <a:gridCol w="1737360"/>
                <a:gridCol w="1143000"/>
                <a:gridCol w="1463040"/>
                <a:gridCol w="82296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Accession</a:t>
                      </a:r>
                    </a:p>
                  </a:txBody>
                  <a:tcPr marL="45720" marR="45720" marT="18288" marB="18288"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Layer</a:t>
                      </a:r>
                    </a:p>
                  </a:txBody>
                  <a:tcPr marL="45720" marR="45720" marT="18288" marB="18288"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Samples</a:t>
                      </a:r>
                    </a:p>
                  </a:txBody>
                  <a:tcPr marL="45720" marR="45720" marT="18288" marB="18288"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Ctrl (AMC)</a:t>
                      </a:r>
                    </a:p>
                  </a:txBody>
                  <a:tcPr marL="45720" marR="45720" marT="18288" marB="18288"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PMS</a:t>
                      </a:r>
                    </a:p>
                  </a:txBody>
                  <a:tcPr marL="45720" marR="45720" marT="18288" marB="18288"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Other</a:t>
                      </a:r>
                    </a:p>
                  </a:txBody>
                  <a:tcPr marL="45720" marR="45720" marT="18288" marB="18288"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Features (LC-MS modes)</a:t>
                      </a:r>
                    </a:p>
                  </a:txBody>
                  <a:tcPr marL="45720" marR="45720" marT="18288" marB="18288"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Raw zip</a:t>
                      </a:r>
                    </a:p>
                  </a:txBody>
                  <a:tcPr marL="45720" marR="45720" marT="18288" marB="18288">
                    <a:solidFill>
                      <a:srgbClr val="2F559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/>
                        <a:t>ST003328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/>
                        <a:t>Intracellular lipidomics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/>
                        <a:t>42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/>
                        <a:t>9 untreated + 9 SV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/>
                        <a:t>12 untreated + 12 SV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/>
                        <a:t>-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/>
                        <a:t>neg 217, pos 425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/>
                        <a:t>3.86 GB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/>
                        <a:t>ST003330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/>
                        <a:t>Extracellular lipidomics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/>
                        <a:t>24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/>
                        <a:t>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/>
                        <a:t>12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/>
                        <a:t>3 no-cell blanks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/>
                        <a:t>pos 66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/>
                        <a:t>0.67 GB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/>
                        <a:t>ST003331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/>
                        <a:t>Intracellular metabolomics (24 h 13C-glucose)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/>
                        <a:t>21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/>
                        <a:t>9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/>
                        <a:t>12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/>
                        <a:t>-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/>
                        <a:t>neg 112, pos 69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/>
                        <a:t>2.30 GB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/>
                        <a:t>ST003332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/>
                        <a:t>Extracellular metabolomics (24 h 13C-glucose)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/>
                        <a:t>24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/>
                        <a:t>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/>
                        <a:t>12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/>
                        <a:t>3 no-cell blanks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/>
                        <a:t>neg 79, pos 57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/>
                        <a:t>1.85 GB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/>
                        <a:t>MSV000095283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/>
                        <a:t>Proteomics: cells and conditioned medium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/>
                        <a:t>private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/>
                        <a:t>-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/>
                        <a:t>-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/>
                        <a:t>-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/>
                        <a:t>-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/>
                        <a:t>-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4206240"/>
            <a:ext cx="11430000" cy="21031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</a:rPr>
              <a:t>Reading the sample names</a:t>
            </a:r>
          </a:p>
          <a:p>
            <a:pPr algn="l"/>
            <a:r>
              <a:rPr sz="1300" b="0">
                <a:solidFill>
                  <a:srgbClr val="000000"/>
                </a:solidFill>
              </a:rPr>
              <a:t>Every line is measured in 3 technical replicates (e.g. "AMC A P1-P3", "PMS C SV P1-P3"; "PMA A/B" in ST003328 is a typo for PMS). ST003331 labels lines only as subjects A-G (A-C Ctrl, D-G PMS).</a:t>
            </a:r>
          </a:p>
          <a:p>
            <a:pPr algn="l"/>
            <a:r>
              <a:rPr sz="1300" b="0">
                <a:solidFill>
                  <a:srgbClr val="000000"/>
                </a:solidFill>
              </a:rPr>
              <a:t>Control letters are A, B, C in ST003328 but A, B, D in ST003330/ST003332, so line letters cannot be joined across studies without checking.</a:t>
            </a:r>
          </a:p>
          <a:p>
            <a:pPr algn="l"/>
            <a:r>
              <a:rPr sz="1300" b="0">
                <a:solidFill>
                  <a:srgbClr val="000000"/>
                </a:solidFill>
              </a:rPr>
              <a:t>Effective n for statistics is 3 Ctrl vs 4 PMS lines; replicates are not independent donors.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Sources: paper PDFs in data/Ionescu, data/Park; GEO, SRA, ENA, Metabolomics Workbench, MassIVE, Zenodo queried 2026-09-29. Full tables: data_inventory_ionescu_park.xlsx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Park et al. 2025: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430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D9E2F3"/>
                </a:solidFill>
              </a:rPr>
              <a:t>3 Ctrl + 3 PMS lines; disease-associated radial glia-like cells (DARGs), IFN signalling, SASP, senolytic ABT-263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88720"/>
            <a:ext cx="2103120" cy="73152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100" b="1">
                <a:solidFill>
                  <a:srgbClr val="000000"/>
                </a:solidFill>
              </a:rPr>
              <a:t>Fibroblasts</a:t>
            </a:r>
          </a:p>
          <a:p>
            <a:pPr algn="ctr"/>
            <a:r>
              <a:rPr sz="1100" b="0">
                <a:solidFill>
                  <a:srgbClr val="000000"/>
                </a:solidFill>
              </a:rPr>
              <a:t>4 lines (+2 later)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2103120" cy="73152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100" b="1">
                <a:solidFill>
                  <a:srgbClr val="000000"/>
                </a:solidFill>
              </a:rPr>
              <a:t>iNSC lines</a:t>
            </a:r>
          </a:p>
          <a:p>
            <a:pPr algn="ctr"/>
            <a:r>
              <a:rPr sz="1100" b="0">
                <a:solidFill>
                  <a:srgbClr val="000000"/>
                </a:solidFill>
              </a:rPr>
              <a:t>Ctrl / PMS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3383280"/>
            <a:ext cx="2103120" cy="73152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100" b="1">
                <a:solidFill>
                  <a:srgbClr val="000000"/>
                </a:solidFill>
              </a:rPr>
              <a:t>iPS-NSCs</a:t>
            </a:r>
          </a:p>
          <a:p>
            <a:pPr algn="ctr"/>
            <a:r>
              <a:rPr sz="1100" b="0">
                <a:solidFill>
                  <a:srgbClr val="000000"/>
                </a:solidFill>
              </a:rPr>
              <a:t>lines 105, HD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08960" y="1188720"/>
            <a:ext cx="3566160" cy="914400"/>
          </a:xfrm>
          <a:prstGeom prst="roundRect">
            <a:avLst>
              <a:gd name="adj" fmla="val 12000"/>
            </a:avLst>
          </a:prstGeom>
          <a:solidFill>
            <a:srgbClr val="D9EAD3"/>
          </a:solidFill>
          <a:ln w="15875">
            <a:solidFill>
              <a:srgbClr val="3876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100" b="1">
                <a:solidFill>
                  <a:srgbClr val="000000"/>
                </a:solidFill>
              </a:rPr>
              <a:t>WGBS, fibroblast + iNSC (+ iPS-NSC)</a:t>
            </a:r>
          </a:p>
          <a:p>
            <a:pPr algn="ctr"/>
            <a:r>
              <a:rPr sz="1100" b="0">
                <a:solidFill>
                  <a:srgbClr val="000000"/>
                </a:solidFill>
              </a:rPr>
              <a:t>GSE251839: 14 samples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68880" y="1554480"/>
            <a:ext cx="640080" cy="9144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2468880" y="1737360"/>
            <a:ext cx="640080" cy="91440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2468880" y="1828800"/>
            <a:ext cx="640080" cy="1920239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108960" y="2377440"/>
            <a:ext cx="3566160" cy="914400"/>
          </a:xfrm>
          <a:prstGeom prst="roundRect">
            <a:avLst>
              <a:gd name="adj" fmla="val 12000"/>
            </a:avLst>
          </a:prstGeom>
          <a:solidFill>
            <a:srgbClr val="D9EAD3"/>
          </a:solidFill>
          <a:ln w="15875">
            <a:solidFill>
              <a:srgbClr val="3876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100" b="1">
                <a:solidFill>
                  <a:srgbClr val="000000"/>
                </a:solidFill>
              </a:rPr>
              <a:t>Bulk RNA-seq, baseline</a:t>
            </a:r>
          </a:p>
          <a:p>
            <a:pPr algn="ctr"/>
            <a:r>
              <a:rPr sz="1100" b="0">
                <a:solidFill>
                  <a:srgbClr val="000000"/>
                </a:solidFill>
              </a:rPr>
              <a:t>GSE297192: C1-C6 (3 Ctrl + 3 PMS)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08960" y="3566160"/>
            <a:ext cx="3566160" cy="914400"/>
          </a:xfrm>
          <a:prstGeom prst="roundRect">
            <a:avLst>
              <a:gd name="adj" fmla="val 12000"/>
            </a:avLst>
          </a:prstGeom>
          <a:solidFill>
            <a:srgbClr val="EEEEEE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100" b="1">
                <a:solidFill>
                  <a:srgbClr val="000000"/>
                </a:solidFill>
              </a:rPr>
              <a:t>sc/snRNA-seq + snATAC / multiome, baseline 3 vs 3</a:t>
            </a:r>
          </a:p>
          <a:p>
            <a:pPr algn="ctr"/>
            <a:r>
              <a:rPr sz="1100" b="0">
                <a:solidFill>
                  <a:srgbClr val="000000"/>
                </a:solidFill>
              </a:rPr>
              <a:t>26,138 cells; not in GEO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08960" y="4754880"/>
            <a:ext cx="3566160" cy="914400"/>
          </a:xfrm>
          <a:prstGeom prst="roundRect">
            <a:avLst>
              <a:gd name="adj" fmla="val 12000"/>
            </a:avLst>
          </a:prstGeom>
          <a:solidFill>
            <a:srgbClr val="D9EAD3"/>
          </a:solidFill>
          <a:ln w="15875">
            <a:solidFill>
              <a:srgbClr val="3876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100" b="1">
                <a:solidFill>
                  <a:srgbClr val="000000"/>
                </a:solidFill>
              </a:rPr>
              <a:t>snATAC-seq, baseline, lines 105 + HD</a:t>
            </a:r>
          </a:p>
          <a:p>
            <a:pPr algn="ctr"/>
            <a:r>
              <a:rPr sz="1100" b="0">
                <a:solidFill>
                  <a:srgbClr val="000000"/>
                </a:solidFill>
              </a:rPr>
              <a:t>GSE297690: 4 libraries x 2 lanes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68880" y="2651760"/>
            <a:ext cx="640080" cy="18288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468880" y="2651760"/>
            <a:ext cx="640080" cy="137160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468880" y="2651760"/>
            <a:ext cx="640080" cy="256032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315200" y="1188720"/>
            <a:ext cx="4480560" cy="1188720"/>
          </a:xfrm>
          <a:prstGeom prst="roundRect">
            <a:avLst>
              <a:gd name="adj" fmla="val 12000"/>
            </a:avLst>
          </a:prstGeom>
          <a:solidFill>
            <a:srgbClr val="D9EAD3"/>
          </a:solidFill>
          <a:ln w="15875">
            <a:solidFill>
              <a:srgbClr val="3876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100" b="1">
                <a:solidFill>
                  <a:srgbClr val="000000"/>
                </a:solidFill>
              </a:rPr>
              <a:t>Senolytic: ABT-263 3 uM, 48 h, lines 105 (PMS) + HD (Ctrl)</a:t>
            </a:r>
          </a:p>
          <a:p>
            <a:pPr algn="ctr"/>
            <a:r>
              <a:rPr sz="1100" b="0">
                <a:solidFill>
                  <a:srgbClr val="000000"/>
                </a:solidFill>
              </a:rPr>
              <a:t>scRNA-seq GSE297365: 4 samples (DMSO / ABT-263)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also SPiDER-b-gal, EdU, p16/p21/GDF15 blots (not deposited)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0" y="2651760"/>
            <a:ext cx="4480560" cy="1737360"/>
          </a:xfrm>
          <a:prstGeom prst="roundRect">
            <a:avLst>
              <a:gd name="adj" fmla="val 12000"/>
            </a:avLst>
          </a:prstGeom>
          <a:solidFill>
            <a:srgbClr val="D9EAD3"/>
          </a:solidFill>
          <a:ln w="15875">
            <a:solidFill>
              <a:srgbClr val="3876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100" b="1">
                <a:solidFill>
                  <a:srgbClr val="000000"/>
                </a:solidFill>
              </a:rPr>
              <a:t>Conditioned-medium experiment (bulk RNA-seq, GSE297192)</a:t>
            </a:r>
          </a:p>
          <a:p>
            <a:pPr algn="ctr"/>
            <a:r>
              <a:rPr sz="1100" b="0">
                <a:solidFill>
                  <a:srgbClr val="000000"/>
                </a:solidFill>
              </a:rPr>
              <a:t>PMS iNSC + DMSO or ABT-263 -&gt; CM (48 h) -&gt; Ctrl iNSCs, 48 h</a:t>
            </a:r>
          </a:p>
          <a:p>
            <a:pPr algn="ctr"/>
            <a:r>
              <a:rPr sz="1100" b="0">
                <a:solidFill>
                  <a:srgbClr val="000000"/>
                </a:solidFill>
              </a:rPr>
              <a:t>C7-C15: Ctrl + PMS CM (9)</a:t>
            </a:r>
          </a:p>
          <a:p>
            <a:pPr algn="ctr"/>
            <a:r>
              <a:rPr sz="1100" b="0">
                <a:solidFill>
                  <a:srgbClr val="000000"/>
                </a:solidFill>
              </a:rPr>
              <a:t>C16-C24 (+C18_2): Ctrl + PMS+ABT-263 CM (9 + 1 extra library)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0" y="4663440"/>
            <a:ext cx="4480560" cy="1097280"/>
          </a:xfrm>
          <a:prstGeom prst="roundRect">
            <a:avLst>
              <a:gd name="adj" fmla="val 12000"/>
            </a:avLst>
          </a:prstGeom>
          <a:solidFill>
            <a:srgbClr val="EAD1DC"/>
          </a:solidFill>
          <a:ln w="15875">
            <a:solidFill>
              <a:srgbClr val="741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100" b="1">
                <a:solidFill>
                  <a:srgbClr val="000000"/>
                </a:solidFill>
              </a:rPr>
              <a:t>Re-analysed public post-mortem MS data</a:t>
            </a:r>
          </a:p>
          <a:p>
            <a:pPr algn="ctr"/>
            <a:r>
              <a:rPr sz="1100" b="0">
                <a:solidFill>
                  <a:srgbClr val="000000"/>
                </a:solidFill>
              </a:rPr>
              <a:t>snRNA: Absinta 2021, Schirmer 2019; Visium: Lerma-Martin 2024, Alsema 2024, Kaufmann 2022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6263640"/>
            <a:ext cx="274320" cy="228600"/>
          </a:xfrm>
          <a:prstGeom prst="rect">
            <a:avLst/>
          </a:prstGeom>
          <a:solidFill>
            <a:srgbClr val="D9EAD3"/>
          </a:solidFill>
          <a:ln w="15875">
            <a:solidFill>
              <a:srgbClr val="3876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200" b="1">
                <a:solidFill>
                  <a:srgbClr val="000000"/>
                </a:solidFill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227064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</a:rPr>
              <a:t>public deposit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14600" y="6263640"/>
            <a:ext cx="274320" cy="228600"/>
          </a:xfrm>
          <a:prstGeom prst="rect">
            <a:avLst/>
          </a:prstGeom>
          <a:solidFill>
            <a:srgbClr val="FCE5CD"/>
          </a:solidFill>
          <a:ln w="15875">
            <a:solidFill>
              <a:srgbClr val="B45F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200" b="1">
                <a:solidFill>
                  <a:srgbClr val="000000"/>
                </a:solidFill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34640" y="6227064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</a:rPr>
              <a:t>deposited, private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63440" y="6263640"/>
            <a:ext cx="274320" cy="228600"/>
          </a:xfrm>
          <a:prstGeom prst="rect">
            <a:avLst/>
          </a:prstGeom>
          <a:solidFill>
            <a:srgbClr val="EEEEEE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200" b="1">
                <a:solidFill>
                  <a:srgbClr val="000000"/>
                </a:solidFill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83480" y="6227064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</a:rPr>
              <a:t>not deposited / not found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12280" y="6263640"/>
            <a:ext cx="274320" cy="228600"/>
          </a:xfrm>
          <a:prstGeom prst="rect">
            <a:avLst/>
          </a:prstGeom>
          <a:solidFill>
            <a:srgbClr val="EAD1DC"/>
          </a:solidFill>
          <a:ln w="15875">
            <a:solidFill>
              <a:srgbClr val="741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200" b="1">
                <a:solidFill>
                  <a:srgbClr val="000000"/>
                </a:solidFill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6227064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</a:rPr>
              <a:t>external dataset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Park et al. 2025: deposited samples (GEO / SRA)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430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D9E2F3"/>
                </a:solidFill>
              </a:rPr>
              <a:t>All four series are public; sizes from GEO file lists and SRA runinfo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188720"/>
          <a:ext cx="1143000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737360"/>
                <a:gridCol w="548640"/>
                <a:gridCol w="4480560"/>
                <a:gridCol w="2011680"/>
                <a:gridCol w="1463040"/>
              </a:tblGrid>
              <a:tr h="6858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Accession</a:t>
                      </a:r>
                    </a:p>
                  </a:txBody>
                  <a:tcPr marL="45720" marR="45720" marT="18288" marB="18288"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Assay</a:t>
                      </a:r>
                    </a:p>
                  </a:txBody>
                  <a:tcPr marL="45720" marR="45720" marT="18288" marB="18288"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GSM</a:t>
                      </a:r>
                    </a:p>
                  </a:txBody>
                  <a:tcPr marL="45720" marR="45720" marT="18288" marB="18288"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Design in the deposit</a:t>
                      </a:r>
                    </a:p>
                  </a:txBody>
                  <a:tcPr marL="45720" marR="45720" marT="18288" marB="18288"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Processed files</a:t>
                      </a:r>
                    </a:p>
                  </a:txBody>
                  <a:tcPr marL="45720" marR="45720" marT="18288" marB="18288"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Raw reads (SRA)</a:t>
                      </a:r>
                    </a:p>
                  </a:txBody>
                  <a:tcPr marL="45720" marR="45720" marT="18288" marB="18288">
                    <a:solidFill>
                      <a:srgbClr val="2F5597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200" b="0"/>
                        <a:t>GSE297192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/>
                        <a:t>Bulk RNA-seq, PE150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/>
                        <a:t>25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/>
                        <a:t>C1-C3 Ctrl, C4-C6 PMS (baseline); C7-C15 Ctrl + PMS CM; C16-C24 + C18_2 Ctrl + PMS+ABT CM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/>
                        <a:t>counts + normalised matrix (3 MB)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/>
                        <a:t>25 runs, 49 GB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200" b="0"/>
                        <a:t>GSE297365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/>
                        <a:t>scRNA-seq, 10x 3' v3.1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/>
                        <a:t>4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/>
                        <a:t>105 (PMS) and HD (Ctrl) x DMSO / ABT-263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/>
                        <a:t>CellRanger .h5 (0.36 GB)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/>
                        <a:t>8 runs, 38 GB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200" b="0"/>
                        <a:t>GSE297690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/>
                        <a:t>snATAC-seq, 10x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/>
                        <a:t>8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/>
                        <a:t>105 and HD, 2 libraries each, 2 lanes each (processed files on Lane 1 records)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/>
                        <a:t>fragments + peak .h5 (6.7 GB)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/>
                        <a:t>8 runs, 38 GB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200" b="0"/>
                        <a:t>GSE251839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/>
                        <a:t>WGBS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/>
                        <a:t>14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/>
                        <a:t>103, 113 (SPMS) and DR, 111 (Ctrl): fibroblast + iNSC; 105 and HD: fibroblast, iNSC, iPS-NSC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/>
                        <a:t>CpG tables / Bismark .cov (3.0 GB)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/>
                        <a:t>14 runs, ~880 GB (6 runs report 0)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4846320"/>
            <a:ext cx="1143000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</a:rPr>
              <a:t>Points to check before analysis</a:t>
            </a:r>
          </a:p>
          <a:p>
            <a:pPr algn="l"/>
            <a:r>
              <a:rPr sz="1200" b="0">
                <a:solidFill>
                  <a:srgbClr val="000000"/>
                </a:solidFill>
              </a:rPr>
              <a:t>Bulk RNA-seq: GEO gives no donor line per sample. The Ctrl/PMS split of C1-C6 comes from the authors' code (DARG_PMS 09_generate_figures.R), and which PMS line produced each CM is not stated.</a:t>
            </a:r>
          </a:p>
          <a:p>
            <a:pPr algn="l"/>
            <a:r>
              <a:rPr sz="1200" b="0">
                <a:solidFill>
                  <a:srgbClr val="000000"/>
                </a:solidFill>
              </a:rPr>
              <a:t>WGBS: the 6 samples added in Aug 2026 have "disease" filled with the cell type; groups are inferred from GSE297690 (105 = PMS, HD = healthy).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Sources: paper PDFs in data/Ionescu, data/Park; GEO, SRA, ENA, Metabolomics Workbench, MassIVE, Zenodo queried 2026-09-29. Full tables: data_inventory_ionescu_park.xlsx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Availability by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430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D9E2F3"/>
                </a:solidFill>
              </a:rPr>
              <a:t>What can be downloaded now, and at what size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88720"/>
            <a:ext cx="1097280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200" b="1">
                <a:solidFill>
                  <a:srgbClr val="000000"/>
                </a:solidFill>
              </a:rPr>
              <a:t>Ionescu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54480" y="1188720"/>
            <a:ext cx="4206240" cy="438912"/>
          </a:xfrm>
          <a:prstGeom prst="roundRect">
            <a:avLst>
              <a:gd name="adj" fmla="val 12000"/>
            </a:avLst>
          </a:prstGeom>
          <a:solidFill>
            <a:srgbClr val="D9EAD3"/>
          </a:solidFill>
          <a:ln w="15875">
            <a:solidFill>
              <a:srgbClr val="3876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/>
            <a:r>
              <a:rPr sz="1200" b="1">
                <a:solidFill>
                  <a:srgbClr val="000000"/>
                </a:solidFill>
              </a:rPr>
              <a:t>Intracellular + extracellular metabolomics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97880" y="1252728"/>
            <a:ext cx="21945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</a:rPr>
              <a:t>ST003331, ST003332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1252728"/>
            <a:ext cx="7315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</a:rPr>
              <a:t>45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1252728"/>
            <a:ext cx="29260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</a:rPr>
              <a:t>4.1 GB raw; tables small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700784"/>
            <a:ext cx="1097280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200" b="1">
                <a:solidFill>
                  <a:srgbClr val="000000"/>
                </a:solidFill>
              </a:rPr>
              <a:t>Ionescu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54480" y="1700784"/>
            <a:ext cx="4206240" cy="438912"/>
          </a:xfrm>
          <a:prstGeom prst="roundRect">
            <a:avLst>
              <a:gd name="adj" fmla="val 12000"/>
            </a:avLst>
          </a:prstGeom>
          <a:solidFill>
            <a:srgbClr val="D9EAD3"/>
          </a:solidFill>
          <a:ln w="15875">
            <a:solidFill>
              <a:srgbClr val="3876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/>
            <a:r>
              <a:rPr sz="1200" b="1">
                <a:solidFill>
                  <a:srgbClr val="000000"/>
                </a:solidFill>
              </a:rPr>
              <a:t>Intracellular + extracellular lipidomics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97880" y="1764792"/>
            <a:ext cx="21945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</a:rPr>
              <a:t>ST003328, ST003330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1764792"/>
            <a:ext cx="7315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</a:rPr>
              <a:t>66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1764792"/>
            <a:ext cx="29260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</a:rPr>
              <a:t>4.5 GB raw; tables small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2212848"/>
            <a:ext cx="1097280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200" b="1">
                <a:solidFill>
                  <a:srgbClr val="000000"/>
                </a:solidFill>
              </a:rPr>
              <a:t>Ionescu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54480" y="2212848"/>
            <a:ext cx="4206240" cy="438912"/>
          </a:xfrm>
          <a:prstGeom prst="roundRect">
            <a:avLst>
              <a:gd name="adj" fmla="val 12000"/>
            </a:avLst>
          </a:prstGeom>
          <a:solidFill>
            <a:srgbClr val="FCE5CD"/>
          </a:solidFill>
          <a:ln w="15875">
            <a:solidFill>
              <a:srgbClr val="B45F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/>
            <a:r>
              <a:rPr sz="1200" b="1">
                <a:solidFill>
                  <a:srgbClr val="000000"/>
                </a:solidFill>
              </a:rPr>
              <a:t>Proteomics + secretome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97880" y="2276856"/>
            <a:ext cx="21945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</a:rPr>
              <a:t>MSV000095283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276856"/>
            <a:ext cx="7315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</a:rPr>
              <a:t>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2276856"/>
            <a:ext cx="29260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</a:rPr>
              <a:t>private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2724912"/>
            <a:ext cx="1097280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200" b="1">
                <a:solidFill>
                  <a:srgbClr val="000000"/>
                </a:solidFill>
              </a:rPr>
              <a:t>Ionescu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554480" y="2724912"/>
            <a:ext cx="4206240" cy="438912"/>
          </a:xfrm>
          <a:prstGeom prst="roundRect">
            <a:avLst>
              <a:gd name="adj" fmla="val 12000"/>
            </a:avLst>
          </a:prstGeom>
          <a:solidFill>
            <a:srgbClr val="EEEEEE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/>
            <a:r>
              <a:rPr sz="1200" b="1">
                <a:solidFill>
                  <a:srgbClr val="000000"/>
                </a:solidFill>
              </a:rPr>
              <a:t>Bulk RNA-seq (2 vs 2)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97880" y="2788919"/>
            <a:ext cx="21945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</a:rPr>
              <a:t>none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2788919"/>
            <a:ext cx="7315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</a:rPr>
              <a:t>-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2788919"/>
            <a:ext cx="29260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</a:rPr>
              <a:t>not deposited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3236976"/>
            <a:ext cx="1097280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200" b="1">
                <a:solidFill>
                  <a:srgbClr val="000000"/>
                </a:solidFill>
              </a:rPr>
              <a:t>Park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554480" y="3236976"/>
            <a:ext cx="4206240" cy="438912"/>
          </a:xfrm>
          <a:prstGeom prst="roundRect">
            <a:avLst>
              <a:gd name="adj" fmla="val 12000"/>
            </a:avLst>
          </a:prstGeom>
          <a:solidFill>
            <a:srgbClr val="D9EAD3"/>
          </a:solidFill>
          <a:ln w="15875">
            <a:solidFill>
              <a:srgbClr val="3876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/>
            <a:r>
              <a:rPr sz="1200" b="1">
                <a:solidFill>
                  <a:srgbClr val="000000"/>
                </a:solidFill>
              </a:rPr>
              <a:t>Bulk RNA-seq (baseline + CM)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97880" y="3300984"/>
            <a:ext cx="21945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</a:rPr>
              <a:t>GSE297192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3300984"/>
            <a:ext cx="7315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</a:rPr>
              <a:t>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0" y="3300984"/>
            <a:ext cx="29260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</a:rPr>
              <a:t>3 MB matrices; 49 GB reads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" y="3749040"/>
            <a:ext cx="1097280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200" b="1">
                <a:solidFill>
                  <a:srgbClr val="000000"/>
                </a:solidFill>
              </a:rPr>
              <a:t>Park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554480" y="3749040"/>
            <a:ext cx="4206240" cy="438912"/>
          </a:xfrm>
          <a:prstGeom prst="roundRect">
            <a:avLst>
              <a:gd name="adj" fmla="val 12000"/>
            </a:avLst>
          </a:prstGeom>
          <a:solidFill>
            <a:srgbClr val="D9EAD3"/>
          </a:solidFill>
          <a:ln w="15875">
            <a:solidFill>
              <a:srgbClr val="3876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/>
            <a:r>
              <a:rPr sz="1200" b="1">
                <a:solidFill>
                  <a:srgbClr val="000000"/>
                </a:solidFill>
              </a:rPr>
              <a:t>scRNA-seq senolytic (105, HD)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97880" y="3813048"/>
            <a:ext cx="21945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</a:rPr>
              <a:t>GSE297365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3813048"/>
            <a:ext cx="7315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0" y="3813048"/>
            <a:ext cx="29260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</a:rPr>
              <a:t>0.36 GB .h5; 38 GB reads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5760" y="4261104"/>
            <a:ext cx="1097280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200" b="1">
                <a:solidFill>
                  <a:srgbClr val="000000"/>
                </a:solidFill>
              </a:rPr>
              <a:t>Park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554480" y="4261104"/>
            <a:ext cx="4206240" cy="438912"/>
          </a:xfrm>
          <a:prstGeom prst="roundRect">
            <a:avLst>
              <a:gd name="adj" fmla="val 12000"/>
            </a:avLst>
          </a:prstGeom>
          <a:solidFill>
            <a:srgbClr val="D9EAD3"/>
          </a:solidFill>
          <a:ln w="15875">
            <a:solidFill>
              <a:srgbClr val="3876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/>
            <a:r>
              <a:rPr sz="1200" b="1">
                <a:solidFill>
                  <a:srgbClr val="000000"/>
                </a:solidFill>
              </a:rPr>
              <a:t>snATAC-seq (105, HD)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97880" y="4325112"/>
            <a:ext cx="21945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</a:rPr>
              <a:t>GSE297690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8160" y="4325112"/>
            <a:ext cx="7315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1120" y="4325112"/>
            <a:ext cx="29260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</a:rPr>
              <a:t>6.7 GB; 38 GB reads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5760" y="4773168"/>
            <a:ext cx="1097280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200" b="1">
                <a:solidFill>
                  <a:srgbClr val="000000"/>
                </a:solidFill>
              </a:rPr>
              <a:t>Park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554480" y="4773168"/>
            <a:ext cx="4206240" cy="438912"/>
          </a:xfrm>
          <a:prstGeom prst="roundRect">
            <a:avLst>
              <a:gd name="adj" fmla="val 12000"/>
            </a:avLst>
          </a:prstGeom>
          <a:solidFill>
            <a:srgbClr val="D9EAD3"/>
          </a:solidFill>
          <a:ln w="15875">
            <a:solidFill>
              <a:srgbClr val="3876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/>
            <a:r>
              <a:rPr sz="1200" b="1">
                <a:solidFill>
                  <a:srgbClr val="000000"/>
                </a:solidFill>
              </a:rPr>
              <a:t>WGBS fibroblast / iNSC / iPS-NSC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97880" y="4837176"/>
            <a:ext cx="21945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</a:rPr>
              <a:t>GSE251839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38160" y="4837176"/>
            <a:ext cx="7315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</a:rPr>
              <a:t>14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61120" y="4837176"/>
            <a:ext cx="29260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</a:rPr>
              <a:t>3.0 GB; ~880 GB reads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65760" y="5285232"/>
            <a:ext cx="1097280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200" b="1">
                <a:solidFill>
                  <a:srgbClr val="000000"/>
                </a:solidFill>
              </a:rPr>
              <a:t>Park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554480" y="5285232"/>
            <a:ext cx="4206240" cy="438912"/>
          </a:xfrm>
          <a:prstGeom prst="roundRect">
            <a:avLst>
              <a:gd name="adj" fmla="val 12000"/>
            </a:avLst>
          </a:prstGeom>
          <a:solidFill>
            <a:srgbClr val="EEEEEE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/>
            <a:r>
              <a:rPr sz="1200" b="1">
                <a:solidFill>
                  <a:srgbClr val="000000"/>
                </a:solidFill>
              </a:rPr>
              <a:t>Baseline sc/snRNA + multiome (3 vs 3)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97880" y="5349240"/>
            <a:ext cx="21945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</a:rPr>
              <a:t>none found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38160" y="5349240"/>
            <a:ext cx="7315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</a:rPr>
              <a:t>-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61120" y="5349240"/>
            <a:ext cx="29260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</a:rPr>
              <a:t>Shiny app only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65760" y="5797296"/>
            <a:ext cx="1097280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200" b="1">
                <a:solidFill>
                  <a:srgbClr val="000000"/>
                </a:solidFill>
              </a:rPr>
              <a:t>Both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554480" y="5797296"/>
            <a:ext cx="4206240" cy="438912"/>
          </a:xfrm>
          <a:prstGeom prst="roundRect">
            <a:avLst>
              <a:gd name="adj" fmla="val 12000"/>
            </a:avLst>
          </a:prstGeom>
          <a:solidFill>
            <a:srgbClr val="D9EAD3"/>
          </a:solidFill>
          <a:ln w="15875">
            <a:solidFill>
              <a:srgbClr val="3876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/>
            <a:r>
              <a:rPr sz="1200" b="1">
                <a:solidFill>
                  <a:srgbClr val="000000"/>
                </a:solidFill>
              </a:rPr>
              <a:t>Code (MOFA/GENIE3; DARG; spatial)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897880" y="5861304"/>
            <a:ext cx="21945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</a:rPr>
              <a:t>Zenodo x3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38160" y="5861304"/>
            <a:ext cx="7315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</a:rPr>
              <a:t>-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961120" y="5861304"/>
            <a:ext cx="29260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</a:rPr>
              <a:t>&lt; 1 MB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897880" y="960120"/>
            <a:ext cx="21945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</a:rPr>
              <a:t>Accession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38160" y="9601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</a:rPr>
              <a:t>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961120" y="960120"/>
            <a:ext cx="29260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</a:rPr>
              <a:t>Size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6355080"/>
            <a:ext cx="274320" cy="228600"/>
          </a:xfrm>
          <a:prstGeom prst="rect">
            <a:avLst/>
          </a:prstGeom>
          <a:solidFill>
            <a:srgbClr val="D9EAD3"/>
          </a:solidFill>
          <a:ln w="15875">
            <a:solidFill>
              <a:srgbClr val="3876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200" b="1">
                <a:solidFill>
                  <a:srgbClr val="000000"/>
                </a:solidFill>
              </a:rPr>
              <a:t/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5800" y="6318504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</a:rPr>
              <a:t>public deposit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514600" y="6355080"/>
            <a:ext cx="274320" cy="228600"/>
          </a:xfrm>
          <a:prstGeom prst="rect">
            <a:avLst/>
          </a:prstGeom>
          <a:solidFill>
            <a:srgbClr val="FCE5CD"/>
          </a:solidFill>
          <a:ln w="15875">
            <a:solidFill>
              <a:srgbClr val="B45F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200" b="1">
                <a:solidFill>
                  <a:srgbClr val="000000"/>
                </a:solidFill>
              </a:rPr>
              <a:t/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834640" y="6318504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</a:rPr>
              <a:t>deposited, private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63440" y="6355080"/>
            <a:ext cx="274320" cy="228600"/>
          </a:xfrm>
          <a:prstGeom prst="rect">
            <a:avLst/>
          </a:prstGeom>
          <a:solidFill>
            <a:srgbClr val="EEEEEE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200" b="1">
                <a:solidFill>
                  <a:srgbClr val="000000"/>
                </a:solidFill>
              </a:rPr>
              <a:t/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983480" y="6318504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</a:rPr>
              <a:t>not deposited / not found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Gaps and what they mean for the CORNETO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51560"/>
            <a:ext cx="5669280" cy="5120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</a:rPr>
              <a:t>Not available (sheet "gaps")</a:t>
            </a:r>
          </a:p>
          <a:p>
            <a:pPr algn="l"/>
            <a:r>
              <a:rPr sz="1300" b="0">
                <a:solidFill>
                  <a:srgbClr val="000000"/>
                </a:solidFill>
              </a:rPr>
              <a:t>Ionescu proteomics and secretome: MassIVE dataset private.</a:t>
            </a:r>
          </a:p>
          <a:p>
            <a:pPr algn="l"/>
            <a:r>
              <a:rPr sz="1300" b="0">
                <a:solidFill>
                  <a:srgbClr val="000000"/>
                </a:solidFill>
              </a:rPr>
              <a:t>Ionescu bulk RNA-seq (2 vs 2): no accession given or found.</a:t>
            </a:r>
          </a:p>
          <a:p>
            <a:pPr algn="l"/>
            <a:r>
              <a:rPr sz="1300" b="0">
                <a:solidFill>
                  <a:srgbClr val="000000"/>
                </a:solidFill>
              </a:rPr>
              <a:t>Ionescu tracing at 30 min, 6 h and 13C-glutamine: only 24 h glucose deposited.</a:t>
            </a:r>
          </a:p>
          <a:p>
            <a:pPr algn="l"/>
            <a:r>
              <a:rPr sz="1300" b="0">
                <a:solidFill>
                  <a:srgbClr val="000000"/>
                </a:solidFill>
              </a:rPr>
              <a:t>Park baseline 3 vs 3 sc/snRNA-seq and multiome: not in GEO.</a:t>
            </a:r>
          </a:p>
          <a:p>
            <a:pPr algn="l"/>
            <a:r>
              <a:rPr sz="1300" b="0">
                <a:solidFill>
                  <a:srgbClr val="000000"/>
                </a:solidFill>
              </a:rPr>
              <a:t>Supplementary Tables S1-S5 of both papers (donor details): download by hand from the journal pages.</a:t>
            </a:r>
          </a:p>
          <a:p>
            <a:pPr algn="l"/>
            <a:r>
              <a:rPr sz="1300" b="0">
                <a:solidFill>
                  <a:srgbClr val="000000"/>
                </a:solidFill>
              </a:rPr>
              <a:t>Line crosswalk between the two papers: not in any deposit.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051560"/>
            <a:ext cx="5486400" cy="5120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</a:rPr>
              <a:t>Implications (reasoning, not tested)</a:t>
            </a:r>
          </a:p>
          <a:p>
            <a:pPr algn="l"/>
            <a:r>
              <a:rPr sz="1300" b="0">
                <a:solidFill>
                  <a:srgbClr val="000000"/>
                </a:solidFill>
              </a:rPr>
              <a:t>Measured layers usable now: Ionescu intra/extracellular metabolome and lipidome (3 Ctrl vs 4 PMS lines, +/- SV for lipidome), and Park bulk RNA-seq C1-C6 (3 vs 3) for TF activities.</a:t>
            </a:r>
          </a:p>
          <a:p>
            <a:pPr algn="l"/>
            <a:r>
              <a:rPr sz="1300" b="0">
                <a:solidFill>
                  <a:srgbClr val="000000"/>
                </a:solidFill>
              </a:rPr>
              <a:t>These come from different experiments and possibly different line sets, so any joint network is a group-level (Ctrl vs PMS) comparison, not per-sample pairing.</a:t>
            </a:r>
          </a:p>
          <a:p>
            <a:pPr algn="l"/>
            <a:r>
              <a:rPr sz="1300" b="0">
                <a:solidFill>
                  <a:srgbClr val="000000"/>
                </a:solidFill>
              </a:rPr>
              <a:t>SV contrasts exist only for lipidomics (and the private secretome); a PMS vs PMS+SV network would rest on lipids alone.</a:t>
            </a:r>
          </a:p>
          <a:p>
            <a:pPr algn="l"/>
            <a:r>
              <a:rPr sz="1300" b="0">
                <a:solidFill>
                  <a:srgbClr val="000000"/>
                </a:solidFill>
              </a:rPr>
              <a:t>The CM experiment (C7-C24) measures recipient Ctrl cells, a separate question from PMS-intrinsic state.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Sources: paper PDFs in data/Ionescu, data/Park; GEO, SRA, ENA, Metabolomics Workbench, MassIVE, Zenodo queried 2026-09-29. Full tables: data_inventory_ionescu_park.xlsx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Download plan (scripts in download/)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430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D9E2F3"/>
                </a:solidFill>
              </a:rPr>
              <a:t>Run in WSL from the repository root; every script resumes and checks file sizes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188720"/>
          <a:ext cx="114300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2651760"/>
                <a:gridCol w="6217920"/>
                <a:gridCol w="201168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Step</a:t>
                      </a:r>
                    </a:p>
                  </a:txBody>
                  <a:tcPr marL="45720" marR="45720" marT="18288" marB="18288"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Script</a:t>
                      </a:r>
                    </a:p>
                  </a:txBody>
                  <a:tcPr marL="45720" marR="45720" marT="18288" marB="18288"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Content</a:t>
                      </a:r>
                    </a:p>
                  </a:txBody>
                  <a:tcPr marL="45720" marR="45720" marT="18288" marB="18288"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Approx. size</a:t>
                      </a:r>
                    </a:p>
                  </a:txBody>
                  <a:tcPr marL="45720" marR="45720" marT="18288" marB="18288">
                    <a:solidFill>
                      <a:srgbClr val="2F559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/>
                        <a:t>1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01_processed.sh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GEO metadata; Park processed matrices / .h5 / CpG tables; MW peak tables; Zenodo code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~4 GB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/>
                        <a:t>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02_atac_fragments.sh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snATAC fragments for GSE297690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~6 GB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/>
                        <a:t>3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03_mw_raw.sh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raw LC-MS zips, ST003328/30/31/32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~9 GB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/>
                        <a:t>4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04_sra_fastq.sh SERIES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raw reads via ENA (default) or SRA Toolkit; --dry-run lists runs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38 GB to ~880 GB per series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/>
                        <a:t>5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05_massive_proteomics.sh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MassIVE MSV000095283 when public, or with a reviewer login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unknown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/>
                        <a:t>6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06_reused_public.sh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lists / downloads GEO supplements of the post-mortem datasets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not checked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/>
                        <a:t>-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verify.sh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missing files and size mismatches against manifest.tsv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-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5120640"/>
            <a:ext cx="1143000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1F3864"/>
                </a:solidFill>
              </a:rPr>
              <a:t>nohup bash scripts/download/01_processed.sh &gt; logs/download_01_processed.log 2&gt;&amp;1 &amp;</a:t>
            </a:r>
          </a:p>
          <a:p>
            <a:pPr algn="l"/>
            <a:r>
              <a:rPr sz="1300" b="0">
                <a:solidFill>
                  <a:srgbClr val="1F3864"/>
                </a:solidFill>
              </a:rPr>
              <a:t>bash scripts/download/04_sra_fastq.sh --dry-run GSE297192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Scripts were syntax-checked (shellcheck) but not executed. Start with step 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