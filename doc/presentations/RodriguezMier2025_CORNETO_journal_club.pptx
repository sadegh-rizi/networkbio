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85" r:id="rId10"/>
    <p:sldId id="264" r:id="rId11"/>
    <p:sldId id="286" r:id="rId12"/>
    <p:sldId id="265" r:id="rId13"/>
    <p:sldId id="266" r:id="rId14"/>
    <p:sldId id="287" r:id="rId15"/>
    <p:sldId id="267" r:id="rId16"/>
    <p:sldId id="288" r:id="rId17"/>
    <p:sldId id="268" r:id="rId18"/>
    <p:sldId id="269" r:id="rId19"/>
    <p:sldId id="270" r:id="rId20"/>
    <p:sldId id="289" r:id="rId21"/>
    <p:sldId id="271" r:id="rId22"/>
    <p:sldId id="290" r:id="rId23"/>
    <p:sldId id="272" r:id="rId24"/>
    <p:sldId id="291" r:id="rId25"/>
    <p:sldId id="273" r:id="rId26"/>
    <p:sldId id="292" r:id="rId27"/>
    <p:sldId id="274" r:id="rId28"/>
    <p:sldId id="275" r:id="rId29"/>
    <p:sldId id="293" r:id="rId30"/>
    <p:sldId id="276" r:id="rId31"/>
    <p:sldId id="277" r:id="rId32"/>
    <p:sldId id="278" r:id="rId33"/>
    <p:sldId id="279" r:id="rId34"/>
    <p:sldId id="281" r:id="rId35"/>
    <p:sldId id="282" r:id="rId36"/>
    <p:sldId id="297" r:id="rId37"/>
    <p:sldId id="294" r:id="rId38"/>
    <p:sldId id="295" r:id="rId39"/>
    <p:sldId id="296" r:id="rId40"/>
    <p:sldId id="283" r:id="rId41"/>
    <p:sldId id="284" r:id="rId42"/>
    <p:sldId id="298" r:id="rId43"/>
    <p:sldId id="299" r:id="rId44"/>
    <p:sldId id="300" r:id="rId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4771" autoAdjust="0"/>
  </p:normalViewPr>
  <p:slideViewPr>
    <p:cSldViewPr snapToGrid="0" snapToObjects="1">
      <p:cViewPr>
        <p:scale>
          <a:sx n="75" d="100"/>
          <a:sy n="75" d="100"/>
        </p:scale>
        <p:origin x="946" y="-18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1809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CORNETO = Constrained Optimisation for the Recovery of NETworks from Omics. Saez-Rodriguez lab, Nature Machine Intelligence, July 2025. Theme of today: multi-omics integration and network inference.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parts: the problem, the building blocks, CORNETO's formulation, then results.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Data-driven network inference (correlation, ML) needs many samples and only gives associations. Knowledge-driven inference starts from a prior knowledge network (PKN) and keeps the part of it that explains the data. This is what CARNIVAL, iMAT, Steiner trees etc. all do.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Signalling, metabolism and PPI each have their own tools, data types and code. Most analyse one sample at a time, so they cannot separate shared mechanisms from sample-specific ones, and several networks often explain the data equally well (non-identifiability).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Figure 1. Any PKN type (top), any omics layer mapped onto it, one optimisation problem (LP/MILP), and n context-specific networks out, inferred jointly. Bottom row: the four applications in the paper.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the framework: the ingredients it unifies.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mechanistic to associative. Metabolic networks are hypergraphs because a reaction links several metabolites with stoichiometry. Signalling PKNs (e.g. OmniPath) are signed and directed. Kinase-substrate networks are directed, PPI networks undirected. TF regulons (CollecTRI) are also signed directed graphs.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regulon is a signed TF -&gt; target network (CollecTRI, DoRothEA). decoupler scores each TF from the changes of its targets, e.g. the univariate linear model (ULM): regress gene-level statistics on the signed regulon weights and use the t-value as activity. Result: one TF activity per sample. These are the 'measured' nodes CARNIVAL tries to explain. In the paper decoupler is used on CPTAC transcriptomics.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univariate linear model of decoupler. For one sample, regress the gene statistics y_g on the regulon weights of TF t across all genes; the t-value of the slope is the TF activity. Positive = targets go the way the regulon predicts. This is not part of the CORNETO paper's Methods, but it produces the TF activities that the CARNIVAL application in the paper (CPTAC) uses as measured nodes, so it is the first mapping step phi for signalling.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Signed directed PKN. Each node gets a state up/down/off. A selected edge passes the parent's state times the edge sign to the child. The ILP finds the smallest subnetwork whose TF states best match the decoupler activities (mismatch weighted by |activity|). Grey dashed edges are in the PKN but not selected; e.g. K2-&gt;K4 would make K4 up, contradicting TF2. Inverse CARNIVAL: if the perturbation is unknown, every root node of the PKN may start a signal.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CORNETO version of CARNIVAL (Methods). The graph edit psi adds a source edge at every perturbed node (or every root in inverse CARNIVAL) and a sink edge at every TF with an activity. Binary edge variables E_act / E_inh and vertex variables V_act / V_inh. An edge can only carry an activation if its tail is activated and the edge sign is positive, or the tail is inhibited and the sign negative (and vice versa for inhibition). A vertex is either up, down or off. Perturbed nodes are fixed to their known sign. The tree constraint makes the selected edges a tree rooted at the inputs. The objective is linear: for each TF, cost 0 if the predicted sign matches the measured activity, |d| if the TF is not reached, 2|d| if the sign is wrong.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Stoichiometric matrix S (metabolites x reactions). Steady state S v = 0: every metabolite is produced as fast as it is consumed. Flux bounds encode reversibility, nutrients, knockouts. Objective: maximise biomass, an LP. Sparse FBA: the fewest active reactions that still give at least x% of the optimal biomass, a MILP. Here A-&gt;B-&gt;C is the minimal route; A-&gt;D-&gt;C is an equivalent alternative (FBA solutions are often not unique).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Gene-protein-reaction (GPR) rules turn gene expression into reaction scores: highly expressed, lowly expressed, or uncertain. iMAT maximises the number of high reactions that carry flux plus low reactions that are blocked, subject to the FBA constraints. Here v2 is lowly expressed, so the solution routes flux through B instead of D. MILP; one sample at a time in the original method.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All three share S v = 0 with bounds, which in CORNETO is just Omega_Flow on the metabolic hypergraph (A = S). FBA: LP, f(x) = -c^T x, lambda = 0. Sparse FBA: binary y_j per reaction, flux only through reactions that are on (Omega_Free), minimise the number of active reactions while keeping biomass at &gt;= 95% of its optimum (the paper uses 95% as the example; the benchmark uses 90/50/10%). Multi-sample sFBA: the only objective is the structured sparsity term, so lambda is effectively on/off. iMAT: maximise high-confidence reactions that are on minus low-confidence reactions that are on (equivalently, low ones off); CORNETO writes it as a minimisation with the non-zero indicator Omega_!=0 so that "on" means non-zero flux.</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Undirected PPI network. Terminals = proteins with a signal (e.g. differentially abundant). Steiner tree: the cheapest tree connecting all terminals; the extra nodes it needs (Steiner nodes) are candidate mediators. Prize-collecting Steiner tree (PCST): terminals are optional, each has a prize, each edge a cost; minimise edge costs minus collected prizes.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PCST: minimise edge weights minus node prizes. In CORNETO: the graph edit adds an injection edge at the root and an extraction edge at every other terminal. Flow u &gt;= 1 enters at the root r_j of sample j and u/(|T_j|-1) leaves at each other terminal, which forces connectivity. Y in Omega_Tree enforces a tree. The objective d^T y - p^T y, where prizes sit on the extraction edges of prized terminals. For directed Steiner trees the root must be given; an edge with a negative lower bound behaves as undirected.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four select a subset of edges (or reactions) of a PKN under constraints, scored against data. That shared structure is what CORNETO exploits: all can be written as (mixed-integer) linear programs.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ideas: flows, hypergraphs, and one template with a shared sparsity penalty.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Network flows: a source edge injects flow, a sink edge removes it, and every internal node conserves flow (A x = 0 with A the incidence matrix). A binary indicator y_e switches each edge on or off; flow is allowed only on edges that are on. The selected edges are the inferred network. Example: shortest path = send one unit of flow from s to t at minimum cost (here s-a-t, cost 2). Paths, trees and DAGs all come from extra constraints on the same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Methods, Mathematical background. Every method is a (mixed-integer) linear program. Network flow: A x = b with A the vertex-edge incidence matrix (-1 at the tail, +1 at the head), 0 &lt;= x &lt;= capacity. That is an LP. Adding a binary y per edge and the constraint x &lt;= x_max * y turns flow into structure: an edge is in the inferred network iff it can carry flow. Shortest path is the simplest example: one unit in at s, one unit out at t, minimise cost.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CORNETO works on directed hypergraphs: each hyperedge has a tail set and a head set, and each vertex has a signed coefficient in the incidence matrix. A graph edge is the special case with one tail (-1) and one head (+1). A reaction M1 + 2 M2 -&gt; M3 has coefficients -1, -2, +1, so the incidence matrix IS the stoichiometric matrix and A x = 0 is the FBA steady state. Sources and sinks are hyperedges with an empty tail or head (like exchange reactions). This is why one flow formulation covers signalling, PPI and metabolism.</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Methods, Hypergraphs and multi-flows. Each hyperedge has a tail set and a head set; the coefficient c_ij says how vertex i takes part (negative = consumed / source of influence, positive = produced / target). For M1 + 2 M2 -&gt; M3 the column is (-1, -2, +1), so A is the stoichiometric matrix and A X = 0 is the FBA steady state. Sources and sinks are hyperedges with an empty tail or head, so the right-hand side b disappears. With n samples the flow becomes a matrix X (edges x samples). If capacities are shared across samples, |X| 1_n &lt;= x_max, linearised by splitting X into positive and negative parts.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Figure 2a-d. (a) phi maps omics data onto the PKN, giving one annotated graph per sample. (b) psi edits the graph: adds source and sink edges where flow should enter and leave, prunes unreachable parts. (c) The graphs are merged into one union graph; CORNETO creates flow variables X and indicator variables Y, adds method-specific constraints and the structured sparsity term (orange). (d) Any supported solver (HiGHS, Gurobi, SCIP, CPLEX...) returns the n networks with a certificate of optimality.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Methods, data mapping and graph transformation. phi attaches a vector of n values (one per sample) to each vertex or edge. psi edits each annotated graph: removes vertices/edges and adds new ones (typically source and sink edges where flow must enter and leave). The n edited graphs are merged into one union hypergraph H_u, on which a single flow matrix X and indicator matrix Y are defined. A method is the tuple (phi, psi, P_M) with P_M = (f, Omega_M); plugging f and Omega_M into the template on the next slide (eq. 13) gives its multi-sample version.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Equation 13. X: flows, one row per edge of the union graph, one column per sample. Y: binary edge indicators of the same shape. f is the method's own objective per sample, averaged over samples. The new term lambda * ||Y 1_n||_0 counts the edges that are used in at least one sample. Penalising that pushes samples to reuse the same edges, while still allowing sample-specific ones if the data demand it. lambda = 0 gives n independent single-sample problems.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Methods, Building blocks. Omega_Free links flow to binary indicators (Y = 0 implies X = 0). Omega_!=0 is stronger: Y = 1 implies non-zero flow in the chosen direction, needed when "selected" must mean "active" (iMAT, CARNIVAL). Acyclicity uses a continuous order variable L per vertex and sample: if an edge u-&gt;v is used, v must be ranked after u; otherwise the big-M term (1 - |V|) switches the constraint off. Tree = acyclic + at most one incoming selected edge per vertex. Methods are built by combining these blocks instead of re-implementing them.</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the Methods section. FBA needs no data mapping or graph edits (exchange reactions already exist); f = -c'x, lambda = 0. sFBA: biomass &gt;= x% of optimum and lambda &gt; 0, so lambda just switches sparsity on. iMAT: data mapped via GPR rules; objective penalises high reactions off and low reactions on. CARNIVAL: source edges at the perturbed nodes (all roots in inverse CARNIVAL), sink edges at TFs; tree constraint plus sign-consistency constraints on activation/inhibition variables. Steiner: source at the root, sinks at the other terminals, tree constraint, minimise edge costs; PCST also subtracts prizes.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Figure 2e. Two samples share a PKN; we only know receptors (top) and TF states (bottom; red up, blue down). Fitted independently, the two networks share no edge: 6 distinct edges in the union. Fitted jointly with the structured penalty, both networks reuse e6 and the union has only 5 edges, while explaining the same TF states. Assumption: samples share structure, e.g. related patients or perturbations in one cell type.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structured sparsity term counts edges used in at least one sample: the l0 "norm" of the row sums of Y. It is not linear, but in a MILP it can be written with one extra binary z_e per edge that must be 1 whenever the edge is used in any sample; at the optimum z_e = 1 exactly for used edges, so lambda * sum z_e equals the penalty. (This is a standard linearisation; the paper says it linearises the term and gives details in its Supplementary Information.) Because an edge costs lambda once no matter how many samples use it, samples are pushed to reuse edges. Example: multi-sample shortest paths, eq. 15. Limits: one sample and lambda = 0 is the original method; lambda = 0 with n samples is n independent problems.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Problem composition (Methods): weighted sum of objectives, intersection of feasible sets; variables that appear in both problems are identified, i.e. shared. Because signalling, gene regulation and metabolism are all flows on one (hyper)graph, they could in principle be stacked into one union hypergraph and one MILP. Caveat: the paper applies each layer separately; joint multi-layer inference (signalling + metabolism, as in COSMOS) is named in the Discussion as future work.</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re-implemented methods, each single- vs multi-sample.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MitoCore</a:t>
            </a:r>
            <a:r>
              <a:rPr dirty="0"/>
              <a:t> model (555 reactions, 441 metabolites). Samples = simulated single-enzyme knockouts; 2, 4, 8 or 16 samples, 10 random subsets each. Joint </a:t>
            </a:r>
            <a:r>
              <a:rPr dirty="0" err="1"/>
              <a:t>sFBA</a:t>
            </a:r>
            <a:r>
              <a:rPr dirty="0"/>
              <a:t> gives fewer distinct reactions; median reduction 6.02% at &gt;=90% biomass, 7.21% at &gt;=50%, up to 30% at &gt;=10% (looser constraint = more alternative routes). (b) The joint fit picks canonical glycolysis (HEX1, PGI, PFK...) more consistently; single-sample fits wander to alternative, equally optimal routes, exaggerating differences between samples.</a:t>
            </a:r>
            <a:endParaRPr lang="en-US" dirty="0"/>
          </a:p>
          <a:p>
            <a:endParaRPr lang="en-US" dirty="0"/>
          </a:p>
          <a:p>
            <a:r>
              <a:rPr lang="en-US" dirty="0"/>
              <a:t>(We are minimizing the total reactions across samples, so the total number of unique reactions are decreased across samples,</a:t>
            </a:r>
          </a:p>
          <a:p>
            <a:r>
              <a:rPr lang="en-US" dirty="0"/>
              <a:t>This means we will capture the canonical pathways and find the </a:t>
            </a:r>
            <a:r>
              <a:rPr lang="en-US" dirty="0" err="1"/>
              <a:t>miniam</a:t>
            </a:r>
            <a:r>
              <a:rPr lang="en-US" dirty="0"/>
              <a:t> set of reactions, but we’ll potentially miss sample-specific metabolic </a:t>
            </a:r>
            <a:r>
              <a:rPr lang="en-US" dirty="0" err="1"/>
              <a:t>athwaays</a:t>
            </a:r>
            <a:r>
              <a:rPr lang="en-US" dirty="0"/>
              <a:t>)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Yeast deletion microarrays (</a:t>
            </a:r>
            <a:r>
              <a:rPr dirty="0" err="1"/>
              <a:t>Kemmeren</a:t>
            </a:r>
            <a:r>
              <a:rPr dirty="0"/>
              <a:t> 2014), 12 enzyme knockouts with metabolic rewiring, Yeast-GEM. lambda chosen by 5-fold cross-validation on held-out reaction scores; best F1 at lambda = 1.5 (lambda = 0 is the original </a:t>
            </a:r>
            <a:r>
              <a:rPr dirty="0" err="1"/>
              <a:t>iMAT</a:t>
            </a:r>
            <a:r>
              <a:rPr dirty="0"/>
              <a:t>). F1 +6.62%, precision +29.62%, recall -8.62%; reactions ~2,072 -&gt; ~861 on average; false positives -38.8%. Trade-off: fewer false positives, slightly lower recall.</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Figure 5c: edges in the intersection of all patient networks at lambda = 0.8. Because optimal solutions are not unique, the joint inference was repeated 30 times with different seeds and an edge was kept if it appeared in at least 50% of the alternative solutions. </a:t>
            </a:r>
            <a:r>
              <a:rPr dirty="0" err="1"/>
              <a:t>Colour</a:t>
            </a:r>
            <a:r>
              <a:rPr dirty="0"/>
              <a:t> = mean TF activity across patients.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Strengths: one formulation and API for signalling, metabolism and PPI; exact solvers with optimality certificates; joint fits give sparser, more precise, more consistent networks. Limitations from the Discussion: NP-hard, cost grows with samples and PKN size; lambda is problem-specific and must be tuned, and the penalty assumes samples share structure; steady state only; only edges already in the PKN can be selected; several optimal networks exist, so sample alternatives and report edge frequencies.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Strengths, limitations, a critical reading, and the open questions.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Strengths, all from the paper: (1) one mathematical language and API covering metabolic, signalling and PPI methods; (2) the structured sparsity term gives every method a multi-sample version without new code, and lambda = 0 is the original; (3) exact MILP solvers give optimal solutions with certificates, and the modelling is decoupled from the solver; (4) measured gains: iMAT precision +29.6% and F1 +6.6% at lambda = 1.5, sFBA networks up to 30% smaller, CARNIVAL intersections across patients larger and richer in deregulated kinases; (5) hypergraphs make the incidence matrix the stoichiometric matrix; (6) problems compose by adding objectives and intersecting feasible sets, and code plus notebooks are open.</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Limitations stated in the paper's Discussion: NP-hard problems whose cost grows exponentially with samples or PKN size; heuristics exist but are single-sample and suboptimal, and ADMM or relaxed formulations are suggested for scaling. Steady-state flows only; dynamic extensions need time discretisation. Lambda is problem specific and must be tuned. The penalty assumes that samples share structure. Multi-layer integration (signalling + metabolism + gene regulation) is named as a promising future direction, i.e. not shown. Non-uniqueness is handled in practice by sampling 30 solutions and keeping frequent edges.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slide is our reading, not the authors'. sFBA: the benefit is shown on simulated knockouts of the same model, and fewer reactions is a parsimony criterion rather than evidence of correctness. iMAT: cross-validation on held-out reaction scores is self-consistency, not an external ground truth, and recall drops by 8.6%. CARNIVAL: the validation set (deregulated kinases) is itself inferred from phosphoproteomics, and the proportion of intersection edges involving them stays small (below about 0.025 on the axis of Fig. 5b). The main-text comparisons are single- vs multi-sample within CORNETO; there are no null models such as degree-preserving rewired PKNs or permuted labels. Inputs such as TF activities are estimates whose uncertainty is not carried into the optimisation. The paper names NP-hardness but reports no run times in the main text.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questions for the group.</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Appendix: a short Comment in Nature Reviews Molecular Cell Biology (September 2026) by Diosdi, Theis and Horvath. It argues for integrating omics, morphology and spatial context in 3D cell culture models. It is an opinion piece without new data.</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authors define each cell by three cornerstones: its omics profile, its morphology and its microenvironment. Technologies probing each have developed separately. They cite work (e.g. MorphLink; deep-learning integration of spatial omics with tumour morphology) showing that combining modalities beats single modalities, and propose next-generation 3D-oids that capture all three.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rPr dirty="0"/>
              <a:t>The Comment frames progress as three parallel pathways. (1) Model systems: 3D-oids are more physiological than 2D culture; the authors propose reproducible keystone 3D-oids, partly stepping away from highly patient-specific models to gain comparability and scale, and adding complexity only when a hypothesis requires it. (2) Imaging and analysis: micromanipulation of single cells in 3D, high-content screening combined with omics, AI-supported analysis. (3) Data integration: comprehensive tools are missing; the goal is </a:t>
            </a:r>
            <a:r>
              <a:rPr dirty="0" err="1"/>
              <a:t>generalisable</a:t>
            </a:r>
            <a:r>
              <a:rPr dirty="0"/>
              <a:t> AI models that connect existing domain-specific pipelines.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9.xml"/><Relationship Id="rId1" Type="http://schemas.openxmlformats.org/officeDocument/2006/relationships/slideLayout" Target="../slideLayouts/slideLayout7.xml"/><Relationship Id="rId5" Type="http://schemas.openxmlformats.org/officeDocument/2006/relationships/image" Target="../media/image40.png"/><Relationship Id="rId4" Type="http://schemas.openxmlformats.org/officeDocument/2006/relationships/image" Target="../media/image39.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56032" cy="6858000"/>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22960" y="1280160"/>
            <a:ext cx="10607040" cy="2103120"/>
          </a:xfrm>
          <a:prstGeom prst="rect">
            <a:avLst/>
          </a:prstGeom>
          <a:noFill/>
        </p:spPr>
        <p:txBody>
          <a:bodyPr wrap="square" lIns="45720" tIns="27432" rIns="45720" bIns="27432" anchor="b"/>
          <a:lstStyle/>
          <a:p>
            <a:pPr algn="l">
              <a:spcAft>
                <a:spcPts val="800"/>
              </a:spcAft>
            </a:pPr>
            <a:r>
              <a:rPr sz="3200" b="0" i="0">
                <a:solidFill>
                  <a:srgbClr val="1F2A44"/>
                </a:solidFill>
                <a:latin typeface="Calibri Light"/>
              </a:rPr>
              <a:t>CORNETO: unifying multi-sample network inference from prior knowledge and omics</a:t>
            </a:r>
          </a:p>
        </p:txBody>
      </p:sp>
      <p:cxnSp>
        <p:nvCxnSpPr>
          <p:cNvPr id="4" name="Connector 3"/>
          <p:cNvCxnSpPr/>
          <p:nvPr/>
        </p:nvCxnSpPr>
        <p:spPr>
          <a:xfrm>
            <a:off x="841248" y="3611880"/>
            <a:ext cx="137160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3840480"/>
            <a:ext cx="10607040" cy="1097280"/>
          </a:xfrm>
          <a:prstGeom prst="rect">
            <a:avLst/>
          </a:prstGeom>
          <a:noFill/>
        </p:spPr>
        <p:txBody>
          <a:bodyPr wrap="square" lIns="45720" tIns="27432" rIns="45720" bIns="27432" anchor="t"/>
          <a:lstStyle/>
          <a:p>
            <a:pPr algn="l">
              <a:spcAft>
                <a:spcPts val="800"/>
              </a:spcAft>
            </a:pPr>
            <a:r>
              <a:rPr sz="2000" b="0" i="0">
                <a:solidFill>
                  <a:srgbClr val="2B2B2B"/>
                </a:solidFill>
                <a:latin typeface="Calibri"/>
              </a:rPr>
              <a:t>Rodriguez-Mier, Garrido-Rodriguez, Gabor &amp; Saez-Rodriguez</a:t>
            </a:r>
          </a:p>
          <a:p>
            <a:pPr algn="l">
              <a:spcAft>
                <a:spcPts val="800"/>
              </a:spcAft>
            </a:pPr>
            <a:r>
              <a:rPr sz="2000" b="0" i="0">
                <a:solidFill>
                  <a:srgbClr val="6B7280"/>
                </a:solidFill>
                <a:latin typeface="Calibri"/>
              </a:rPr>
              <a:t>Nature Machine Intelligence 7, 1168–1186 (2025)  ·  doi:10.1038/s42256-025-01069-9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Outline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2</a:t>
            </a:r>
          </a:p>
        </p:txBody>
      </p:sp>
      <p:sp>
        <p:nvSpPr>
          <p:cNvPr id="6" name="Oval 5"/>
          <p:cNvSpPr/>
          <p:nvPr/>
        </p:nvSpPr>
        <p:spPr>
          <a:xfrm>
            <a:off x="886968" y="1645919"/>
            <a:ext cx="566928" cy="566928"/>
          </a:xfrm>
          <a:prstGeom prst="ellipse">
            <a:avLst/>
          </a:prstGeom>
          <a:solidFill>
            <a:srgbClr val="0072B2"/>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1</a:t>
            </a:r>
          </a:p>
        </p:txBody>
      </p:sp>
      <p:sp>
        <p:nvSpPr>
          <p:cNvPr id="7" name="Rectangle 6"/>
          <p:cNvSpPr/>
          <p:nvPr/>
        </p:nvSpPr>
        <p:spPr>
          <a:xfrm>
            <a:off x="566928" y="1618488"/>
            <a:ext cx="91440" cy="621792"/>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691640" y="1600200"/>
            <a:ext cx="8686800" cy="658368"/>
          </a:xfrm>
          <a:prstGeom prst="rect">
            <a:avLst/>
          </a:prstGeom>
          <a:noFill/>
        </p:spPr>
        <p:txBody>
          <a:bodyPr wrap="square" lIns="45720" tIns="27432" rIns="45720" bIns="27432" anchor="ctr"/>
          <a:lstStyle/>
          <a:p>
            <a:pPr algn="l">
              <a:spcAft>
                <a:spcPts val="800"/>
              </a:spcAft>
            </a:pPr>
            <a:r>
              <a:rPr sz="2000" b="0" i="0">
                <a:solidFill>
                  <a:srgbClr val="1F2A44"/>
                </a:solidFill>
                <a:latin typeface="Calibri"/>
              </a:rPr>
              <a:t>Why network inference from prior knowledge?</a:t>
            </a:r>
          </a:p>
        </p:txBody>
      </p:sp>
      <p:sp>
        <p:nvSpPr>
          <p:cNvPr id="9" name="Oval 8"/>
          <p:cNvSpPr/>
          <p:nvPr/>
        </p:nvSpPr>
        <p:spPr>
          <a:xfrm>
            <a:off x="886968" y="2606039"/>
            <a:ext cx="566928" cy="566928"/>
          </a:xfrm>
          <a:prstGeom prst="ellipse">
            <a:avLst/>
          </a:prstGeom>
          <a:solidFill>
            <a:srgbClr val="B8BDC6"/>
          </a:solidFill>
          <a:ln w="19050">
            <a:solidFill>
              <a:srgbClr val="B8BDC6"/>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2</a:t>
            </a:r>
          </a:p>
        </p:txBody>
      </p:sp>
      <p:sp>
        <p:nvSpPr>
          <p:cNvPr id="10" name="TextBox 9"/>
          <p:cNvSpPr txBox="1"/>
          <p:nvPr/>
        </p:nvSpPr>
        <p:spPr>
          <a:xfrm>
            <a:off x="1691640" y="2560320"/>
            <a:ext cx="8686800" cy="658368"/>
          </a:xfrm>
          <a:prstGeom prst="rect">
            <a:avLst/>
          </a:prstGeom>
          <a:noFill/>
        </p:spPr>
        <p:txBody>
          <a:bodyPr wrap="square" lIns="45720" tIns="27432" rIns="45720" bIns="27432" anchor="ctr"/>
          <a:lstStyle/>
          <a:p>
            <a:pPr algn="l">
              <a:spcAft>
                <a:spcPts val="800"/>
              </a:spcAft>
            </a:pPr>
            <a:r>
              <a:rPr sz="2000" b="0" i="0">
                <a:solidFill>
                  <a:srgbClr val="6B7280"/>
                </a:solidFill>
                <a:latin typeface="Calibri"/>
              </a:rPr>
              <a:t>The methods CORNETO unifies</a:t>
            </a:r>
          </a:p>
        </p:txBody>
      </p:sp>
      <p:sp>
        <p:nvSpPr>
          <p:cNvPr id="11" name="Oval 10"/>
          <p:cNvSpPr/>
          <p:nvPr/>
        </p:nvSpPr>
        <p:spPr>
          <a:xfrm>
            <a:off x="886968" y="3566160"/>
            <a:ext cx="566928" cy="566928"/>
          </a:xfrm>
          <a:prstGeom prst="ellipse">
            <a:avLst/>
          </a:prstGeom>
          <a:solidFill>
            <a:srgbClr val="B8BDC6"/>
          </a:solidFill>
          <a:ln w="19050">
            <a:solidFill>
              <a:srgbClr val="B8BDC6"/>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3</a:t>
            </a:r>
          </a:p>
        </p:txBody>
      </p:sp>
      <p:sp>
        <p:nvSpPr>
          <p:cNvPr id="12" name="TextBox 11"/>
          <p:cNvSpPr txBox="1"/>
          <p:nvPr/>
        </p:nvSpPr>
        <p:spPr>
          <a:xfrm>
            <a:off x="1691640" y="3520440"/>
            <a:ext cx="8686800" cy="658368"/>
          </a:xfrm>
          <a:prstGeom prst="rect">
            <a:avLst/>
          </a:prstGeom>
          <a:noFill/>
        </p:spPr>
        <p:txBody>
          <a:bodyPr wrap="square" lIns="45720" tIns="27432" rIns="45720" bIns="27432" anchor="ctr"/>
          <a:lstStyle/>
          <a:p>
            <a:pPr algn="l">
              <a:spcAft>
                <a:spcPts val="800"/>
              </a:spcAft>
            </a:pPr>
            <a:r>
              <a:rPr sz="2000" b="0" i="0">
                <a:solidFill>
                  <a:srgbClr val="6B7280"/>
                </a:solidFill>
                <a:latin typeface="Calibri"/>
              </a:rPr>
              <a:t>CORNETO: one optimisation problem</a:t>
            </a:r>
          </a:p>
        </p:txBody>
      </p:sp>
      <p:sp>
        <p:nvSpPr>
          <p:cNvPr id="13" name="Oval 12"/>
          <p:cNvSpPr/>
          <p:nvPr/>
        </p:nvSpPr>
        <p:spPr>
          <a:xfrm>
            <a:off x="886968" y="4526280"/>
            <a:ext cx="566928" cy="566928"/>
          </a:xfrm>
          <a:prstGeom prst="ellipse">
            <a:avLst/>
          </a:prstGeom>
          <a:solidFill>
            <a:srgbClr val="B8BDC6"/>
          </a:solidFill>
          <a:ln w="19050">
            <a:solidFill>
              <a:srgbClr val="B8BDC6"/>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4</a:t>
            </a:r>
          </a:p>
        </p:txBody>
      </p:sp>
      <p:sp>
        <p:nvSpPr>
          <p:cNvPr id="14" name="TextBox 13"/>
          <p:cNvSpPr txBox="1"/>
          <p:nvPr/>
        </p:nvSpPr>
        <p:spPr>
          <a:xfrm>
            <a:off x="1691640" y="4480560"/>
            <a:ext cx="8686800" cy="658368"/>
          </a:xfrm>
          <a:prstGeom prst="rect">
            <a:avLst/>
          </a:prstGeom>
          <a:noFill/>
        </p:spPr>
        <p:txBody>
          <a:bodyPr wrap="square" lIns="45720" tIns="27432" rIns="45720" bIns="27432" anchor="ctr"/>
          <a:lstStyle/>
          <a:p>
            <a:pPr algn="l">
              <a:spcAft>
                <a:spcPts val="800"/>
              </a:spcAft>
            </a:pPr>
            <a:r>
              <a:rPr sz="2000" b="0" i="0">
                <a:solidFill>
                  <a:srgbClr val="6B7280"/>
                </a:solidFill>
                <a:latin typeface="Calibri"/>
              </a:rPr>
              <a:t>Results and take-home</a:t>
            </a:r>
          </a:p>
        </p:txBody>
      </p:sp>
      <p:sp>
        <p:nvSpPr>
          <p:cNvPr id="15" name="Oval 14"/>
          <p:cNvSpPr/>
          <p:nvPr/>
        </p:nvSpPr>
        <p:spPr>
          <a:xfrm>
            <a:off x="886968" y="5486400"/>
            <a:ext cx="566928" cy="566928"/>
          </a:xfrm>
          <a:prstGeom prst="ellipse">
            <a:avLst/>
          </a:prstGeom>
          <a:solidFill>
            <a:srgbClr val="B8BDC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a:solidFill>
                  <a:srgbClr val="FFFFFF"/>
                </a:solidFill>
                <a:latin typeface="Calibri"/>
              </a:rPr>
              <a:t>5</a:t>
            </a:r>
          </a:p>
        </p:txBody>
      </p:sp>
      <p:sp>
        <p:nvSpPr>
          <p:cNvPr id="16" name="TextBox 15"/>
          <p:cNvSpPr txBox="1"/>
          <p:nvPr/>
        </p:nvSpPr>
        <p:spPr>
          <a:xfrm>
            <a:off x="1691640" y="5440680"/>
            <a:ext cx="8686800" cy="658368"/>
          </a:xfrm>
          <a:prstGeom prst="rect">
            <a:avLst/>
          </a:prstGeom>
          <a:noFill/>
        </p:spPr>
        <p:txBody>
          <a:bodyPr wrap="square" lIns="45720" tIns="27432" rIns="45720" bIns="27432" anchor="ctr">
            <a:spAutoFit/>
          </a:bodyPr>
          <a:lstStyle/>
          <a:p>
            <a:pPr algn="l">
              <a:spcAft>
                <a:spcPts val="800"/>
              </a:spcAft>
            </a:pPr>
            <a:r>
              <a:rPr sz="2000" b="0" i="0">
                <a:solidFill>
                  <a:srgbClr val="6B7280"/>
                </a:solidFill>
                <a:latin typeface="Calibri"/>
              </a:rPr>
              <a:t>Discussion: strengths and limitations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Omics give lists of changes; we want mechanisms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3</a:t>
            </a:r>
          </a:p>
        </p:txBody>
      </p:sp>
      <p:sp>
        <p:nvSpPr>
          <p:cNvPr id="6" name="Rounded Rectangle 5"/>
          <p:cNvSpPr/>
          <p:nvPr/>
        </p:nvSpPr>
        <p:spPr>
          <a:xfrm>
            <a:off x="548640" y="1463040"/>
            <a:ext cx="5394960" cy="32004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59" y="1645920"/>
            <a:ext cx="4846320" cy="457200"/>
          </a:xfrm>
          <a:prstGeom prst="rect">
            <a:avLst/>
          </a:prstGeom>
          <a:noFill/>
        </p:spPr>
        <p:txBody>
          <a:bodyPr wrap="square" lIns="45720" tIns="27432" rIns="45720" bIns="27432" anchor="t"/>
          <a:lstStyle/>
          <a:p>
            <a:pPr algn="l">
              <a:spcAft>
                <a:spcPts val="800"/>
              </a:spcAft>
            </a:pPr>
            <a:r>
              <a:rPr sz="2000" b="0" i="0">
                <a:solidFill>
                  <a:srgbClr val="6B7280"/>
                </a:solidFill>
                <a:latin typeface="Calibri"/>
              </a:rPr>
              <a:t>Data-driven</a:t>
            </a:r>
          </a:p>
        </p:txBody>
      </p:sp>
      <p:sp>
        <p:nvSpPr>
          <p:cNvPr id="8" name="TextBox 7"/>
          <p:cNvSpPr txBox="1"/>
          <p:nvPr/>
        </p:nvSpPr>
        <p:spPr>
          <a:xfrm>
            <a:off x="822959" y="2240280"/>
            <a:ext cx="4846320" cy="2286000"/>
          </a:xfrm>
          <a:prstGeom prst="rect">
            <a:avLst/>
          </a:prstGeom>
          <a:noFill/>
        </p:spPr>
        <p:txBody>
          <a:bodyPr wrap="square" lIns="45720" tIns="27432" rIns="45720" bIns="27432" anchor="t"/>
          <a:lstStyle/>
          <a:p>
            <a:pPr algn="l">
              <a:spcAft>
                <a:spcPts val="1400"/>
              </a:spcAft>
            </a:pPr>
            <a:r>
              <a:rPr sz="2000" b="0" i="0" dirty="0">
                <a:solidFill>
                  <a:srgbClr val="2B2B2B"/>
                </a:solidFill>
                <a:latin typeface="Calibri"/>
              </a:rPr>
              <a:t>•  Correlation, machine learning</a:t>
            </a:r>
          </a:p>
          <a:p>
            <a:pPr algn="l">
              <a:spcAft>
                <a:spcPts val="1400"/>
              </a:spcAft>
            </a:pPr>
            <a:r>
              <a:rPr lang="en-US" sz="2000" b="0" i="0" dirty="0">
                <a:solidFill>
                  <a:srgbClr val="2B2B2B"/>
                </a:solidFill>
                <a:latin typeface="Calibri"/>
              </a:rPr>
              <a:t>•  Associations</a:t>
            </a:r>
          </a:p>
        </p:txBody>
      </p:sp>
      <p:sp>
        <p:nvSpPr>
          <p:cNvPr id="9" name="Rounded Rectangle 8"/>
          <p:cNvSpPr/>
          <p:nvPr/>
        </p:nvSpPr>
        <p:spPr>
          <a:xfrm>
            <a:off x="6217920" y="1463040"/>
            <a:ext cx="5394960" cy="32004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492240" y="1645920"/>
            <a:ext cx="4846320" cy="457200"/>
          </a:xfrm>
          <a:prstGeom prst="rect">
            <a:avLst/>
          </a:prstGeom>
          <a:noFill/>
        </p:spPr>
        <p:txBody>
          <a:bodyPr wrap="square" lIns="45720" tIns="27432" rIns="45720" bIns="27432" anchor="t"/>
          <a:lstStyle/>
          <a:p>
            <a:pPr algn="l">
              <a:spcAft>
                <a:spcPts val="800"/>
              </a:spcAft>
            </a:pPr>
            <a:r>
              <a:rPr sz="2000" b="0" i="0">
                <a:solidFill>
                  <a:srgbClr val="0072B2"/>
                </a:solidFill>
                <a:latin typeface="Calibri"/>
              </a:rPr>
              <a:t>Knowledge-driven</a:t>
            </a:r>
          </a:p>
        </p:txBody>
      </p:sp>
      <p:sp>
        <p:nvSpPr>
          <p:cNvPr id="11" name="TextBox 10"/>
          <p:cNvSpPr txBox="1"/>
          <p:nvPr/>
        </p:nvSpPr>
        <p:spPr>
          <a:xfrm>
            <a:off x="6492240" y="2240280"/>
            <a:ext cx="4846320" cy="2286000"/>
          </a:xfrm>
          <a:prstGeom prst="rect">
            <a:avLst/>
          </a:prstGeom>
          <a:noFill/>
        </p:spPr>
        <p:txBody>
          <a:bodyPr wrap="square" lIns="45720" tIns="27432" rIns="45720" bIns="27432" anchor="t"/>
          <a:lstStyle/>
          <a:p>
            <a:pPr algn="l">
              <a:spcAft>
                <a:spcPts val="1400"/>
              </a:spcAft>
            </a:pPr>
            <a:r>
              <a:rPr sz="2000" b="0" i="0" dirty="0">
                <a:solidFill>
                  <a:srgbClr val="2B2B2B"/>
                </a:solidFill>
                <a:latin typeface="Calibri"/>
              </a:rPr>
              <a:t>•  Start from a prior knowledge network (PKN)</a:t>
            </a:r>
          </a:p>
          <a:p>
            <a:pPr algn="l">
              <a:spcAft>
                <a:spcPts val="1400"/>
              </a:spcAft>
            </a:pPr>
            <a:r>
              <a:rPr sz="2000" b="0" i="0" dirty="0">
                <a:solidFill>
                  <a:srgbClr val="2B2B2B"/>
                </a:solidFill>
                <a:latin typeface="Calibri"/>
              </a:rPr>
              <a:t>•  Map omics data onto it</a:t>
            </a:r>
          </a:p>
          <a:p>
            <a:pPr algn="l">
              <a:spcAft>
                <a:spcPts val="1400"/>
              </a:spcAft>
            </a:pPr>
            <a:r>
              <a:rPr sz="2000" b="0" i="0" dirty="0">
                <a:solidFill>
                  <a:srgbClr val="2B2B2B"/>
                </a:solidFill>
                <a:latin typeface="Calibri"/>
              </a:rPr>
              <a:t>•  Keep the subnetwork that explains the data</a:t>
            </a:r>
          </a:p>
        </p:txBody>
      </p:sp>
      <p:sp>
        <p:nvSpPr>
          <p:cNvPr id="12" name="Rounded Rectangle 11"/>
          <p:cNvSpPr/>
          <p:nvPr/>
        </p:nvSpPr>
        <p:spPr>
          <a:xfrm>
            <a:off x="548640" y="4983480"/>
            <a:ext cx="11064240" cy="868680"/>
          </a:xfrm>
          <a:prstGeom prst="roundRect">
            <a:avLst>
              <a:gd name="adj" fmla="val 8000"/>
            </a:avLst>
          </a:prstGeom>
          <a:solidFill>
            <a:srgbClr val="FFFFFF"/>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31520" y="5029200"/>
            <a:ext cx="10698480" cy="777240"/>
          </a:xfrm>
          <a:prstGeom prst="rect">
            <a:avLst/>
          </a:prstGeom>
          <a:noFill/>
        </p:spPr>
        <p:txBody>
          <a:bodyPr wrap="square" lIns="45720" tIns="27432" rIns="45720" bIns="27432" anchor="ctr"/>
          <a:lstStyle/>
          <a:p>
            <a:pPr algn="ctr">
              <a:spcAft>
                <a:spcPts val="800"/>
              </a:spcAft>
            </a:pPr>
            <a:r>
              <a:rPr sz="2000" b="0" i="0">
                <a:solidFill>
                  <a:srgbClr val="0072B2"/>
                </a:solidFill>
                <a:latin typeface="Calibri"/>
              </a:rPr>
              <a:t>Network inference</a:t>
            </a:r>
            <a:r>
              <a:rPr sz="2000" b="0" i="0">
                <a:solidFill>
                  <a:srgbClr val="2B2B2B"/>
                </a:solidFill>
                <a:latin typeface="Calibri"/>
              </a:rPr>
              <a:t> = choosing a context-specific subnetwork of the PKN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But every method lives in its own silo</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4</a:t>
            </a:r>
          </a:p>
        </p:txBody>
      </p:sp>
      <p:sp>
        <p:nvSpPr>
          <p:cNvPr id="6" name="Rounded Rectangle 5"/>
          <p:cNvSpPr/>
          <p:nvPr/>
        </p:nvSpPr>
        <p:spPr>
          <a:xfrm>
            <a:off x="548640" y="1463040"/>
            <a:ext cx="3520440" cy="14173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48640" y="1554480"/>
            <a:ext cx="3520440" cy="457200"/>
          </a:xfrm>
          <a:prstGeom prst="rect">
            <a:avLst/>
          </a:prstGeom>
          <a:noFill/>
        </p:spPr>
        <p:txBody>
          <a:bodyPr wrap="square" lIns="45720" tIns="27432" rIns="45720" bIns="27432" anchor="t"/>
          <a:lstStyle/>
          <a:p>
            <a:pPr algn="ctr">
              <a:spcAft>
                <a:spcPts val="800"/>
              </a:spcAft>
            </a:pPr>
            <a:r>
              <a:rPr sz="2000" b="0" i="0">
                <a:solidFill>
                  <a:srgbClr val="6B7280"/>
                </a:solidFill>
                <a:latin typeface="Calibri"/>
              </a:rPr>
              <a:t>Signalling</a:t>
            </a:r>
          </a:p>
        </p:txBody>
      </p:sp>
      <p:sp>
        <p:nvSpPr>
          <p:cNvPr id="8" name="TextBox 7"/>
          <p:cNvSpPr txBox="1"/>
          <p:nvPr/>
        </p:nvSpPr>
        <p:spPr>
          <a:xfrm>
            <a:off x="548640" y="2103120"/>
            <a:ext cx="3520440" cy="548640"/>
          </a:xfrm>
          <a:prstGeom prst="rect">
            <a:avLst/>
          </a:prstGeom>
          <a:noFill/>
        </p:spPr>
        <p:txBody>
          <a:bodyPr wrap="square" lIns="45720" tIns="27432" rIns="45720" bIns="27432" anchor="t"/>
          <a:lstStyle/>
          <a:p>
            <a:pPr algn="ctr">
              <a:spcAft>
                <a:spcPts val="800"/>
              </a:spcAft>
            </a:pPr>
            <a:r>
              <a:rPr sz="2000" b="0" i="0">
                <a:solidFill>
                  <a:srgbClr val="1F2A44"/>
                </a:solidFill>
                <a:latin typeface="Calibri"/>
              </a:rPr>
              <a:t>CARNIVAL</a:t>
            </a:r>
          </a:p>
        </p:txBody>
      </p:sp>
      <p:sp>
        <p:nvSpPr>
          <p:cNvPr id="9" name="Rounded Rectangle 8"/>
          <p:cNvSpPr/>
          <p:nvPr/>
        </p:nvSpPr>
        <p:spPr>
          <a:xfrm>
            <a:off x="4297679" y="1463040"/>
            <a:ext cx="3520440" cy="14173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297679" y="1554480"/>
            <a:ext cx="3520440" cy="457200"/>
          </a:xfrm>
          <a:prstGeom prst="rect">
            <a:avLst/>
          </a:prstGeom>
          <a:noFill/>
        </p:spPr>
        <p:txBody>
          <a:bodyPr wrap="square" lIns="45720" tIns="27432" rIns="45720" bIns="27432" anchor="t"/>
          <a:lstStyle/>
          <a:p>
            <a:pPr algn="ctr">
              <a:spcAft>
                <a:spcPts val="800"/>
              </a:spcAft>
            </a:pPr>
            <a:r>
              <a:rPr sz="2000" b="0" i="0">
                <a:solidFill>
                  <a:srgbClr val="6B7280"/>
                </a:solidFill>
                <a:latin typeface="Calibri"/>
              </a:rPr>
              <a:t>Metabolism</a:t>
            </a:r>
          </a:p>
        </p:txBody>
      </p:sp>
      <p:sp>
        <p:nvSpPr>
          <p:cNvPr id="11" name="TextBox 10"/>
          <p:cNvSpPr txBox="1"/>
          <p:nvPr/>
        </p:nvSpPr>
        <p:spPr>
          <a:xfrm>
            <a:off x="4297679" y="2103120"/>
            <a:ext cx="3520440" cy="548640"/>
          </a:xfrm>
          <a:prstGeom prst="rect">
            <a:avLst/>
          </a:prstGeom>
          <a:noFill/>
        </p:spPr>
        <p:txBody>
          <a:bodyPr wrap="square" lIns="45720" tIns="27432" rIns="45720" bIns="27432" anchor="t"/>
          <a:lstStyle/>
          <a:p>
            <a:pPr algn="ctr">
              <a:spcAft>
                <a:spcPts val="800"/>
              </a:spcAft>
            </a:pPr>
            <a:r>
              <a:rPr sz="2000" b="0" i="0">
                <a:solidFill>
                  <a:srgbClr val="1F2A44"/>
                </a:solidFill>
                <a:latin typeface="Calibri"/>
              </a:rPr>
              <a:t>FBA, iMAT</a:t>
            </a:r>
          </a:p>
        </p:txBody>
      </p:sp>
      <p:sp>
        <p:nvSpPr>
          <p:cNvPr id="12" name="Rounded Rectangle 11"/>
          <p:cNvSpPr/>
          <p:nvPr/>
        </p:nvSpPr>
        <p:spPr>
          <a:xfrm>
            <a:off x="8046719" y="1463040"/>
            <a:ext cx="3520440" cy="14173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046719" y="1554480"/>
            <a:ext cx="3520440" cy="457200"/>
          </a:xfrm>
          <a:prstGeom prst="rect">
            <a:avLst/>
          </a:prstGeom>
          <a:noFill/>
        </p:spPr>
        <p:txBody>
          <a:bodyPr wrap="square" lIns="45720" tIns="27432" rIns="45720" bIns="27432" anchor="t"/>
          <a:lstStyle/>
          <a:p>
            <a:pPr algn="ctr">
              <a:spcAft>
                <a:spcPts val="800"/>
              </a:spcAft>
            </a:pPr>
            <a:r>
              <a:rPr sz="2000" b="0" i="0">
                <a:solidFill>
                  <a:srgbClr val="6B7280"/>
                </a:solidFill>
                <a:latin typeface="Calibri"/>
              </a:rPr>
              <a:t>Protein interactions</a:t>
            </a:r>
          </a:p>
        </p:txBody>
      </p:sp>
      <p:sp>
        <p:nvSpPr>
          <p:cNvPr id="14" name="TextBox 13"/>
          <p:cNvSpPr txBox="1"/>
          <p:nvPr/>
        </p:nvSpPr>
        <p:spPr>
          <a:xfrm>
            <a:off x="8046719" y="2103120"/>
            <a:ext cx="3520440" cy="548640"/>
          </a:xfrm>
          <a:prstGeom prst="rect">
            <a:avLst/>
          </a:prstGeom>
          <a:noFill/>
        </p:spPr>
        <p:txBody>
          <a:bodyPr wrap="square" lIns="45720" tIns="27432" rIns="45720" bIns="27432" anchor="t"/>
          <a:lstStyle/>
          <a:p>
            <a:pPr algn="ctr">
              <a:spcAft>
                <a:spcPts val="800"/>
              </a:spcAft>
            </a:pPr>
            <a:r>
              <a:rPr sz="2000" b="0" i="0">
                <a:solidFill>
                  <a:srgbClr val="1F2A44"/>
                </a:solidFill>
                <a:latin typeface="Calibri"/>
              </a:rPr>
              <a:t>Steiner trees</a:t>
            </a:r>
          </a:p>
        </p:txBody>
      </p:sp>
      <p:sp>
        <p:nvSpPr>
          <p:cNvPr id="15" name="TextBox 14"/>
          <p:cNvSpPr txBox="1"/>
          <p:nvPr/>
        </p:nvSpPr>
        <p:spPr>
          <a:xfrm>
            <a:off x="548640" y="3108960"/>
            <a:ext cx="11064240" cy="1188720"/>
          </a:xfrm>
          <a:prstGeom prst="rect">
            <a:avLst/>
          </a:prstGeom>
          <a:noFill/>
        </p:spPr>
        <p:txBody>
          <a:bodyPr wrap="square" lIns="45720" tIns="27432" rIns="45720" bIns="27432" anchor="t"/>
          <a:lstStyle/>
          <a:p>
            <a:pPr algn="l">
              <a:spcAft>
                <a:spcPts val="1000"/>
              </a:spcAft>
            </a:pPr>
            <a:r>
              <a:rPr sz="2000" b="0" i="0">
                <a:solidFill>
                  <a:srgbClr val="2B2B2B"/>
                </a:solidFill>
                <a:latin typeface="Calibri"/>
              </a:rPr>
              <a:t>•  Own data type, own code, one sample at a time</a:t>
            </a:r>
          </a:p>
          <a:p>
            <a:pPr algn="l">
              <a:spcAft>
                <a:spcPts val="1000"/>
              </a:spcAft>
            </a:pPr>
            <a:r>
              <a:rPr sz="2000" b="0" i="0">
                <a:solidFill>
                  <a:srgbClr val="2B2B2B"/>
                </a:solidFill>
                <a:latin typeface="Calibri"/>
              </a:rPr>
              <a:t>•  Shared vs sample-specific mechanisms are hard to separate</a:t>
            </a:r>
          </a:p>
        </p:txBody>
      </p:sp>
      <p:sp>
        <p:nvSpPr>
          <p:cNvPr id="16" name="Rounded Rectangle 15"/>
          <p:cNvSpPr/>
          <p:nvPr/>
        </p:nvSpPr>
        <p:spPr>
          <a:xfrm>
            <a:off x="548640" y="4526280"/>
            <a:ext cx="11064240" cy="1371600"/>
          </a:xfrm>
          <a:prstGeom prst="roundRect">
            <a:avLst>
              <a:gd name="adj" fmla="val 8000"/>
            </a:avLst>
          </a:prstGeom>
          <a:solidFill>
            <a:srgbClr val="FFFFFF"/>
          </a:solidFill>
          <a:ln w="19050">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22960" y="4572000"/>
            <a:ext cx="10515600" cy="1280160"/>
          </a:xfrm>
          <a:prstGeom prst="rect">
            <a:avLst/>
          </a:prstGeom>
          <a:noFill/>
        </p:spPr>
        <p:txBody>
          <a:bodyPr wrap="square" lIns="45720" tIns="27432" rIns="45720" bIns="27432" anchor="ctr"/>
          <a:lstStyle/>
          <a:p>
            <a:pPr algn="l">
              <a:spcAft>
                <a:spcPts val="600"/>
              </a:spcAft>
            </a:pPr>
            <a:r>
              <a:rPr sz="2000" b="0" i="0">
                <a:solidFill>
                  <a:srgbClr val="D55E00"/>
                </a:solidFill>
                <a:latin typeface="Calibri"/>
              </a:rPr>
              <a:t>Question</a:t>
            </a:r>
          </a:p>
          <a:p>
            <a:pPr algn="l">
              <a:spcAft>
                <a:spcPts val="600"/>
              </a:spcAft>
            </a:pPr>
            <a:r>
              <a:rPr sz="2000" b="0" i="0">
                <a:solidFill>
                  <a:srgbClr val="2B2B2B"/>
                </a:solidFill>
                <a:latin typeface="Calibri"/>
              </a:rPr>
              <a:t>Can one optimisation problem express all of them, and fit many samples jointly?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CORNETO: map data onto a PKN, solve one optimisation problem</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5</a:t>
            </a:r>
          </a:p>
        </p:txBody>
      </p:sp>
      <p:pic>
        <p:nvPicPr>
          <p:cNvPr id="6" name="Picture 5" descr="fig1.png"/>
          <p:cNvPicPr>
            <a:picLocks noChangeAspect="1"/>
          </p:cNvPicPr>
          <p:nvPr/>
        </p:nvPicPr>
        <p:blipFill>
          <a:blip r:embed="rId3"/>
          <a:stretch>
            <a:fillRect/>
          </a:stretch>
        </p:blipFill>
        <p:spPr>
          <a:xfrm>
            <a:off x="548640" y="1280160"/>
            <a:ext cx="5794455" cy="4892040"/>
          </a:xfrm>
          <a:prstGeom prst="rect">
            <a:avLst/>
          </a:prstGeom>
        </p:spPr>
      </p:pic>
      <p:sp>
        <p:nvSpPr>
          <p:cNvPr id="7" name="TextBox 6"/>
          <p:cNvSpPr txBox="1"/>
          <p:nvPr/>
        </p:nvSpPr>
        <p:spPr>
          <a:xfrm>
            <a:off x="6720840" y="1737360"/>
            <a:ext cx="4937760" cy="4114800"/>
          </a:xfrm>
          <a:prstGeom prst="rect">
            <a:avLst/>
          </a:prstGeom>
          <a:noFill/>
        </p:spPr>
        <p:txBody>
          <a:bodyPr wrap="square" lIns="45720" tIns="27432" rIns="45720" bIns="27432" anchor="t"/>
          <a:lstStyle/>
          <a:p>
            <a:pPr algn="l">
              <a:spcAft>
                <a:spcPts val="1600"/>
              </a:spcAft>
            </a:pPr>
            <a:r>
              <a:rPr sz="2000" b="0" i="0">
                <a:solidFill>
                  <a:srgbClr val="2B2B2B"/>
                </a:solidFill>
                <a:latin typeface="Calibri"/>
              </a:rPr>
              <a:t>•  Any PKN: graphs to hypergraphs</a:t>
            </a:r>
          </a:p>
          <a:p>
            <a:pPr algn="l">
              <a:spcAft>
                <a:spcPts val="1600"/>
              </a:spcAft>
            </a:pPr>
            <a:r>
              <a:rPr sz="2000" b="0" i="0">
                <a:solidFill>
                  <a:srgbClr val="2B2B2B"/>
                </a:solidFill>
                <a:latin typeface="Calibri"/>
              </a:rPr>
              <a:t>•  Any omics layer, mapped onto nodes or edges</a:t>
            </a:r>
          </a:p>
          <a:p>
            <a:pPr algn="l">
              <a:spcAft>
                <a:spcPts val="1600"/>
              </a:spcAft>
            </a:pPr>
            <a:r>
              <a:rPr sz="2000" b="0" i="0">
                <a:solidFill>
                  <a:srgbClr val="2B2B2B"/>
                </a:solidFill>
                <a:latin typeface="Calibri"/>
              </a:rPr>
              <a:t>•  All samples solved together</a:t>
            </a:r>
          </a:p>
          <a:p>
            <a:pPr algn="l">
              <a:spcAft>
                <a:spcPts val="1600"/>
              </a:spcAft>
            </a:pPr>
            <a:r>
              <a:rPr sz="2000" b="0" i="0">
                <a:solidFill>
                  <a:srgbClr val="2B2B2B"/>
                </a:solidFill>
                <a:latin typeface="Calibri"/>
              </a:rPr>
              <a:t>•  Exact solvers: LP / MILP</a:t>
            </a:r>
          </a:p>
          <a:p>
            <a:pPr algn="l">
              <a:spcAft>
                <a:spcPts val="1600"/>
              </a:spcAft>
            </a:pPr>
            <a:r>
              <a:rPr sz="2000" b="0" i="0">
                <a:solidFill>
                  <a:srgbClr val="2B2B2B"/>
                </a:solidFill>
                <a:latin typeface="Calibri"/>
              </a:rPr>
              <a:t>•  Python library, solver-agnostic</a:t>
            </a:r>
          </a:p>
        </p:txBody>
      </p:sp>
      <p:sp>
        <p:nvSpPr>
          <p:cNvPr id="8" name="TextBox 7"/>
          <p:cNvSpPr txBox="1"/>
          <p:nvPr/>
        </p:nvSpPr>
        <p:spPr>
          <a:xfrm>
            <a:off x="6720840" y="5852160"/>
            <a:ext cx="4937760" cy="365760"/>
          </a:xfrm>
          <a:prstGeom prst="rect">
            <a:avLst/>
          </a:prstGeom>
          <a:noFill/>
        </p:spPr>
        <p:txBody>
          <a:bodyPr wrap="square" lIns="45720" tIns="27432" rIns="45720" bIns="27432" anchor="t"/>
          <a:lstStyle/>
          <a:p>
            <a:pPr algn="l">
              <a:spcAft>
                <a:spcPts val="800"/>
              </a:spcAft>
            </a:pPr>
            <a:r>
              <a:rPr sz="1200" b="0" i="0">
                <a:solidFill>
                  <a:srgbClr val="6B7280"/>
                </a:solidFill>
                <a:latin typeface="Calibri"/>
              </a:rPr>
              <a:t>Fig. 1, CC BY 4.0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Outline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6</a:t>
            </a:r>
          </a:p>
        </p:txBody>
      </p:sp>
      <p:sp>
        <p:nvSpPr>
          <p:cNvPr id="6" name="Oval 5"/>
          <p:cNvSpPr/>
          <p:nvPr/>
        </p:nvSpPr>
        <p:spPr>
          <a:xfrm>
            <a:off x="886968" y="1645919"/>
            <a:ext cx="566928" cy="566928"/>
          </a:xfrm>
          <a:prstGeom prst="ellipse">
            <a:avLst/>
          </a:prstGeom>
          <a:solidFill>
            <a:srgbClr val="B8BDC6"/>
          </a:solidFill>
          <a:ln w="19050">
            <a:solidFill>
              <a:srgbClr val="B8BDC6"/>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1</a:t>
            </a:r>
          </a:p>
        </p:txBody>
      </p:sp>
      <p:sp>
        <p:nvSpPr>
          <p:cNvPr id="7" name="TextBox 6"/>
          <p:cNvSpPr txBox="1"/>
          <p:nvPr/>
        </p:nvSpPr>
        <p:spPr>
          <a:xfrm>
            <a:off x="1691640" y="1600200"/>
            <a:ext cx="8686800" cy="658368"/>
          </a:xfrm>
          <a:prstGeom prst="rect">
            <a:avLst/>
          </a:prstGeom>
          <a:noFill/>
        </p:spPr>
        <p:txBody>
          <a:bodyPr wrap="square" lIns="45720" tIns="27432" rIns="45720" bIns="27432" anchor="ctr"/>
          <a:lstStyle/>
          <a:p>
            <a:pPr algn="l">
              <a:spcAft>
                <a:spcPts val="800"/>
              </a:spcAft>
            </a:pPr>
            <a:r>
              <a:rPr sz="2000" b="0" i="0">
                <a:solidFill>
                  <a:srgbClr val="6B7280"/>
                </a:solidFill>
                <a:latin typeface="Calibri"/>
              </a:rPr>
              <a:t>Why network inference from prior knowledge?</a:t>
            </a:r>
          </a:p>
        </p:txBody>
      </p:sp>
      <p:sp>
        <p:nvSpPr>
          <p:cNvPr id="8" name="Oval 7"/>
          <p:cNvSpPr/>
          <p:nvPr/>
        </p:nvSpPr>
        <p:spPr>
          <a:xfrm>
            <a:off x="886968" y="2606039"/>
            <a:ext cx="566928" cy="566928"/>
          </a:xfrm>
          <a:prstGeom prst="ellipse">
            <a:avLst/>
          </a:prstGeom>
          <a:solidFill>
            <a:srgbClr val="0072B2"/>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2</a:t>
            </a:r>
          </a:p>
        </p:txBody>
      </p:sp>
      <p:sp>
        <p:nvSpPr>
          <p:cNvPr id="9" name="Rectangle 8"/>
          <p:cNvSpPr/>
          <p:nvPr/>
        </p:nvSpPr>
        <p:spPr>
          <a:xfrm>
            <a:off x="566928" y="2578608"/>
            <a:ext cx="91440" cy="621792"/>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691640" y="2560320"/>
            <a:ext cx="8686800" cy="658368"/>
          </a:xfrm>
          <a:prstGeom prst="rect">
            <a:avLst/>
          </a:prstGeom>
          <a:noFill/>
        </p:spPr>
        <p:txBody>
          <a:bodyPr wrap="square" lIns="45720" tIns="27432" rIns="45720" bIns="27432" anchor="ctr"/>
          <a:lstStyle/>
          <a:p>
            <a:pPr algn="l">
              <a:spcAft>
                <a:spcPts val="800"/>
              </a:spcAft>
            </a:pPr>
            <a:r>
              <a:rPr sz="2000" b="0" i="0">
                <a:solidFill>
                  <a:srgbClr val="1F2A44"/>
                </a:solidFill>
                <a:latin typeface="Calibri"/>
              </a:rPr>
              <a:t>The methods CORNETO unifies</a:t>
            </a:r>
          </a:p>
        </p:txBody>
      </p:sp>
      <p:sp>
        <p:nvSpPr>
          <p:cNvPr id="11" name="Oval 10"/>
          <p:cNvSpPr/>
          <p:nvPr/>
        </p:nvSpPr>
        <p:spPr>
          <a:xfrm>
            <a:off x="886968" y="3566160"/>
            <a:ext cx="566928" cy="566928"/>
          </a:xfrm>
          <a:prstGeom prst="ellipse">
            <a:avLst/>
          </a:prstGeom>
          <a:solidFill>
            <a:srgbClr val="B8BDC6"/>
          </a:solidFill>
          <a:ln w="19050">
            <a:solidFill>
              <a:srgbClr val="B8BDC6"/>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3</a:t>
            </a:r>
          </a:p>
        </p:txBody>
      </p:sp>
      <p:sp>
        <p:nvSpPr>
          <p:cNvPr id="12" name="TextBox 11"/>
          <p:cNvSpPr txBox="1"/>
          <p:nvPr/>
        </p:nvSpPr>
        <p:spPr>
          <a:xfrm>
            <a:off x="1691640" y="3520440"/>
            <a:ext cx="8686800" cy="658368"/>
          </a:xfrm>
          <a:prstGeom prst="rect">
            <a:avLst/>
          </a:prstGeom>
          <a:noFill/>
        </p:spPr>
        <p:txBody>
          <a:bodyPr wrap="square" lIns="45720" tIns="27432" rIns="45720" bIns="27432" anchor="ctr"/>
          <a:lstStyle/>
          <a:p>
            <a:pPr algn="l">
              <a:spcAft>
                <a:spcPts val="800"/>
              </a:spcAft>
            </a:pPr>
            <a:r>
              <a:rPr sz="2000" b="0" i="0">
                <a:solidFill>
                  <a:srgbClr val="6B7280"/>
                </a:solidFill>
                <a:latin typeface="Calibri"/>
              </a:rPr>
              <a:t>CORNETO: one optimisation problem</a:t>
            </a:r>
          </a:p>
        </p:txBody>
      </p:sp>
      <p:sp>
        <p:nvSpPr>
          <p:cNvPr id="13" name="Oval 12"/>
          <p:cNvSpPr/>
          <p:nvPr/>
        </p:nvSpPr>
        <p:spPr>
          <a:xfrm>
            <a:off x="886968" y="4526280"/>
            <a:ext cx="566928" cy="566928"/>
          </a:xfrm>
          <a:prstGeom prst="ellipse">
            <a:avLst/>
          </a:prstGeom>
          <a:solidFill>
            <a:srgbClr val="B8BDC6"/>
          </a:solidFill>
          <a:ln w="19050">
            <a:solidFill>
              <a:srgbClr val="B8BDC6"/>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4</a:t>
            </a:r>
          </a:p>
        </p:txBody>
      </p:sp>
      <p:sp>
        <p:nvSpPr>
          <p:cNvPr id="14" name="TextBox 13"/>
          <p:cNvSpPr txBox="1"/>
          <p:nvPr/>
        </p:nvSpPr>
        <p:spPr>
          <a:xfrm>
            <a:off x="1691640" y="4480560"/>
            <a:ext cx="8686800" cy="658368"/>
          </a:xfrm>
          <a:prstGeom prst="rect">
            <a:avLst/>
          </a:prstGeom>
          <a:noFill/>
        </p:spPr>
        <p:txBody>
          <a:bodyPr wrap="square" lIns="45720" tIns="27432" rIns="45720" bIns="27432" anchor="ctr"/>
          <a:lstStyle/>
          <a:p>
            <a:pPr algn="l">
              <a:spcAft>
                <a:spcPts val="800"/>
              </a:spcAft>
            </a:pPr>
            <a:r>
              <a:rPr sz="2000" b="0" i="0">
                <a:solidFill>
                  <a:srgbClr val="6B7280"/>
                </a:solidFill>
                <a:latin typeface="Calibri"/>
              </a:rPr>
              <a:t>Results and take-home</a:t>
            </a:r>
          </a:p>
        </p:txBody>
      </p:sp>
      <p:sp>
        <p:nvSpPr>
          <p:cNvPr id="15" name="Oval 14"/>
          <p:cNvSpPr/>
          <p:nvPr/>
        </p:nvSpPr>
        <p:spPr>
          <a:xfrm>
            <a:off x="886968" y="5486400"/>
            <a:ext cx="566928" cy="566928"/>
          </a:xfrm>
          <a:prstGeom prst="ellipse">
            <a:avLst/>
          </a:prstGeom>
          <a:solidFill>
            <a:srgbClr val="B8BDC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a:solidFill>
                  <a:srgbClr val="FFFFFF"/>
                </a:solidFill>
                <a:latin typeface="Calibri"/>
              </a:rPr>
              <a:t>5</a:t>
            </a:r>
          </a:p>
        </p:txBody>
      </p:sp>
      <p:sp>
        <p:nvSpPr>
          <p:cNvPr id="16" name="TextBox 15"/>
          <p:cNvSpPr txBox="1"/>
          <p:nvPr/>
        </p:nvSpPr>
        <p:spPr>
          <a:xfrm>
            <a:off x="1691640" y="5440680"/>
            <a:ext cx="8686800" cy="658368"/>
          </a:xfrm>
          <a:prstGeom prst="rect">
            <a:avLst/>
          </a:prstGeom>
          <a:noFill/>
        </p:spPr>
        <p:txBody>
          <a:bodyPr wrap="square" lIns="45720" tIns="27432" rIns="45720" bIns="27432" anchor="ctr">
            <a:spAutoFit/>
          </a:bodyPr>
          <a:lstStyle/>
          <a:p>
            <a:pPr algn="l">
              <a:spcAft>
                <a:spcPts val="800"/>
              </a:spcAft>
            </a:pPr>
            <a:r>
              <a:rPr sz="2000" b="0" i="0">
                <a:solidFill>
                  <a:srgbClr val="6B7280"/>
                </a:solidFill>
                <a:latin typeface="Calibri"/>
              </a:rPr>
              <a:t>Discussion: strengths and limitations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Prior knowledge networks come in four shapes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7</a:t>
            </a:r>
          </a:p>
        </p:txBody>
      </p:sp>
      <p:pic>
        <p:nvPicPr>
          <p:cNvPr id="6" name="Picture 5" descr="fig2_pkns.png"/>
          <p:cNvPicPr>
            <a:picLocks noChangeAspect="1"/>
          </p:cNvPicPr>
          <p:nvPr/>
        </p:nvPicPr>
        <p:blipFill>
          <a:blip r:embed="rId3"/>
          <a:stretch>
            <a:fillRect/>
          </a:stretch>
        </p:blipFill>
        <p:spPr>
          <a:xfrm>
            <a:off x="822960" y="1325880"/>
            <a:ext cx="6766560" cy="2741623"/>
          </a:xfrm>
          <a:prstGeom prst="rect">
            <a:avLst/>
          </a:prstGeom>
        </p:spPr>
      </p:pic>
      <p:sp>
        <p:nvSpPr>
          <p:cNvPr id="7" name="TextBox 6"/>
          <p:cNvSpPr txBox="1"/>
          <p:nvPr/>
        </p:nvSpPr>
        <p:spPr>
          <a:xfrm>
            <a:off x="7955279" y="1600200"/>
            <a:ext cx="3749039" cy="2377440"/>
          </a:xfrm>
          <a:prstGeom prst="rect">
            <a:avLst/>
          </a:prstGeom>
          <a:noFill/>
        </p:spPr>
        <p:txBody>
          <a:bodyPr wrap="square" lIns="45720" tIns="27432" rIns="45720" bIns="27432" anchor="t"/>
          <a:lstStyle/>
          <a:p>
            <a:pPr algn="l">
              <a:spcAft>
                <a:spcPts val="1400"/>
              </a:spcAft>
            </a:pPr>
            <a:r>
              <a:rPr sz="2000" b="0" i="0">
                <a:solidFill>
                  <a:srgbClr val="0072B2"/>
                </a:solidFill>
                <a:latin typeface="Calibri"/>
              </a:rPr>
              <a:t>Left: </a:t>
            </a:r>
            <a:r>
              <a:rPr sz="2000" b="0" i="0">
                <a:solidFill>
                  <a:srgbClr val="2B2B2B"/>
                </a:solidFill>
                <a:latin typeface="Calibri"/>
              </a:rPr>
              <a:t>more mechanistic detail</a:t>
            </a:r>
          </a:p>
          <a:p>
            <a:pPr algn="l">
              <a:spcAft>
                <a:spcPts val="1400"/>
              </a:spcAft>
            </a:pPr>
            <a:r>
              <a:rPr sz="2000" b="0" i="0">
                <a:solidFill>
                  <a:srgbClr val="0072B2"/>
                </a:solidFill>
                <a:latin typeface="Calibri"/>
              </a:rPr>
              <a:t>Right: </a:t>
            </a:r>
            <a:r>
              <a:rPr sz="2000" b="0" i="0">
                <a:solidFill>
                  <a:srgbClr val="2B2B2B"/>
                </a:solidFill>
                <a:latin typeface="Calibri"/>
              </a:rPr>
              <a:t>more coverage, fewer assumptions</a:t>
            </a:r>
          </a:p>
        </p:txBody>
      </p:sp>
      <p:sp>
        <p:nvSpPr>
          <p:cNvPr id="8" name="TextBox 7"/>
          <p:cNvSpPr txBox="1"/>
          <p:nvPr/>
        </p:nvSpPr>
        <p:spPr>
          <a:xfrm>
            <a:off x="822960" y="4251960"/>
            <a:ext cx="2743200" cy="457200"/>
          </a:xfrm>
          <a:prstGeom prst="rect">
            <a:avLst/>
          </a:prstGeom>
          <a:noFill/>
        </p:spPr>
        <p:txBody>
          <a:bodyPr wrap="square" lIns="45720" tIns="27432" rIns="45720" bIns="27432" anchor="t"/>
          <a:lstStyle/>
          <a:p>
            <a:pPr algn="l">
              <a:spcAft>
                <a:spcPts val="800"/>
              </a:spcAft>
            </a:pPr>
            <a:r>
              <a:rPr sz="2000" b="0" i="0">
                <a:solidFill>
                  <a:srgbClr val="0072B2"/>
                </a:solidFill>
                <a:latin typeface="Calibri"/>
              </a:rPr>
              <a:t>Hypergraph</a:t>
            </a:r>
          </a:p>
        </p:txBody>
      </p:sp>
      <p:sp>
        <p:nvSpPr>
          <p:cNvPr id="9" name="TextBox 8"/>
          <p:cNvSpPr txBox="1"/>
          <p:nvPr/>
        </p:nvSpPr>
        <p:spPr>
          <a:xfrm>
            <a:off x="3566160" y="4251960"/>
            <a:ext cx="8046720" cy="457200"/>
          </a:xfrm>
          <a:prstGeom prst="rect">
            <a:avLst/>
          </a:prstGeom>
          <a:noFill/>
        </p:spPr>
        <p:txBody>
          <a:bodyPr wrap="square" lIns="45720" tIns="27432" rIns="45720" bIns="27432" anchor="t"/>
          <a:lstStyle/>
          <a:p>
            <a:pPr algn="l">
              <a:spcAft>
                <a:spcPts val="800"/>
              </a:spcAft>
            </a:pPr>
            <a:r>
              <a:rPr sz="2000" b="0" i="0">
                <a:solidFill>
                  <a:srgbClr val="2B2B2B"/>
                </a:solidFill>
                <a:latin typeface="Calibri"/>
              </a:rPr>
              <a:t>genome-scale metabolic models</a:t>
            </a:r>
          </a:p>
        </p:txBody>
      </p:sp>
      <p:sp>
        <p:nvSpPr>
          <p:cNvPr id="10" name="TextBox 9"/>
          <p:cNvSpPr txBox="1"/>
          <p:nvPr/>
        </p:nvSpPr>
        <p:spPr>
          <a:xfrm>
            <a:off x="822960" y="4727448"/>
            <a:ext cx="2743200" cy="457200"/>
          </a:xfrm>
          <a:prstGeom prst="rect">
            <a:avLst/>
          </a:prstGeom>
          <a:noFill/>
        </p:spPr>
        <p:txBody>
          <a:bodyPr wrap="square" lIns="45720" tIns="27432" rIns="45720" bIns="27432" anchor="t"/>
          <a:lstStyle/>
          <a:p>
            <a:pPr algn="l">
              <a:spcAft>
                <a:spcPts val="800"/>
              </a:spcAft>
            </a:pPr>
            <a:r>
              <a:rPr sz="2000" b="0" i="0">
                <a:solidFill>
                  <a:srgbClr val="0072B2"/>
                </a:solidFill>
                <a:latin typeface="Calibri"/>
              </a:rPr>
              <a:t>Signed directed</a:t>
            </a:r>
          </a:p>
        </p:txBody>
      </p:sp>
      <p:sp>
        <p:nvSpPr>
          <p:cNvPr id="11" name="TextBox 10"/>
          <p:cNvSpPr txBox="1"/>
          <p:nvPr/>
        </p:nvSpPr>
        <p:spPr>
          <a:xfrm>
            <a:off x="3566160" y="4727448"/>
            <a:ext cx="8046720" cy="457200"/>
          </a:xfrm>
          <a:prstGeom prst="rect">
            <a:avLst/>
          </a:prstGeom>
          <a:noFill/>
        </p:spPr>
        <p:txBody>
          <a:bodyPr wrap="square" lIns="45720" tIns="27432" rIns="45720" bIns="27432" anchor="t"/>
          <a:lstStyle/>
          <a:p>
            <a:pPr algn="l">
              <a:spcAft>
                <a:spcPts val="800"/>
              </a:spcAft>
            </a:pPr>
            <a:r>
              <a:rPr sz="2000" b="0" i="0">
                <a:solidFill>
                  <a:srgbClr val="2B2B2B"/>
                </a:solidFill>
                <a:latin typeface="Calibri"/>
              </a:rPr>
              <a:t>signalling, e.g. OmniPath</a:t>
            </a:r>
          </a:p>
        </p:txBody>
      </p:sp>
      <p:sp>
        <p:nvSpPr>
          <p:cNvPr id="12" name="TextBox 11"/>
          <p:cNvSpPr txBox="1"/>
          <p:nvPr/>
        </p:nvSpPr>
        <p:spPr>
          <a:xfrm>
            <a:off x="822960" y="5202936"/>
            <a:ext cx="2743200" cy="457200"/>
          </a:xfrm>
          <a:prstGeom prst="rect">
            <a:avLst/>
          </a:prstGeom>
          <a:noFill/>
        </p:spPr>
        <p:txBody>
          <a:bodyPr wrap="square" lIns="45720" tIns="27432" rIns="45720" bIns="27432" anchor="t"/>
          <a:lstStyle/>
          <a:p>
            <a:pPr algn="l">
              <a:spcAft>
                <a:spcPts val="800"/>
              </a:spcAft>
            </a:pPr>
            <a:r>
              <a:rPr sz="2000" b="0" i="0">
                <a:solidFill>
                  <a:srgbClr val="0072B2"/>
                </a:solidFill>
                <a:latin typeface="Calibri"/>
              </a:rPr>
              <a:t>Directed</a:t>
            </a:r>
          </a:p>
        </p:txBody>
      </p:sp>
      <p:sp>
        <p:nvSpPr>
          <p:cNvPr id="13" name="TextBox 12"/>
          <p:cNvSpPr txBox="1"/>
          <p:nvPr/>
        </p:nvSpPr>
        <p:spPr>
          <a:xfrm>
            <a:off x="3566160" y="5202936"/>
            <a:ext cx="8046720" cy="457200"/>
          </a:xfrm>
          <a:prstGeom prst="rect">
            <a:avLst/>
          </a:prstGeom>
          <a:noFill/>
        </p:spPr>
        <p:txBody>
          <a:bodyPr wrap="square" lIns="45720" tIns="27432" rIns="45720" bIns="27432" anchor="t"/>
          <a:lstStyle/>
          <a:p>
            <a:pPr algn="l">
              <a:spcAft>
                <a:spcPts val="800"/>
              </a:spcAft>
            </a:pPr>
            <a:r>
              <a:rPr sz="2000" b="0" i="0">
                <a:solidFill>
                  <a:srgbClr val="2B2B2B"/>
                </a:solidFill>
                <a:latin typeface="Calibri"/>
              </a:rPr>
              <a:t>kinase–substrate</a:t>
            </a:r>
          </a:p>
        </p:txBody>
      </p:sp>
      <p:sp>
        <p:nvSpPr>
          <p:cNvPr id="14" name="TextBox 13"/>
          <p:cNvSpPr txBox="1"/>
          <p:nvPr/>
        </p:nvSpPr>
        <p:spPr>
          <a:xfrm>
            <a:off x="822960" y="5678424"/>
            <a:ext cx="2743200" cy="457200"/>
          </a:xfrm>
          <a:prstGeom prst="rect">
            <a:avLst/>
          </a:prstGeom>
          <a:noFill/>
        </p:spPr>
        <p:txBody>
          <a:bodyPr wrap="square" lIns="45720" tIns="27432" rIns="45720" bIns="27432" anchor="t"/>
          <a:lstStyle/>
          <a:p>
            <a:pPr algn="l">
              <a:spcAft>
                <a:spcPts val="800"/>
              </a:spcAft>
            </a:pPr>
            <a:r>
              <a:rPr sz="2000" b="0" i="0">
                <a:solidFill>
                  <a:srgbClr val="0072B2"/>
                </a:solidFill>
                <a:latin typeface="Calibri"/>
              </a:rPr>
              <a:t>Undirected</a:t>
            </a:r>
          </a:p>
        </p:txBody>
      </p:sp>
      <p:sp>
        <p:nvSpPr>
          <p:cNvPr id="15" name="TextBox 14"/>
          <p:cNvSpPr txBox="1"/>
          <p:nvPr/>
        </p:nvSpPr>
        <p:spPr>
          <a:xfrm>
            <a:off x="3566160" y="5678424"/>
            <a:ext cx="8046720" cy="457200"/>
          </a:xfrm>
          <a:prstGeom prst="rect">
            <a:avLst/>
          </a:prstGeom>
          <a:noFill/>
        </p:spPr>
        <p:txBody>
          <a:bodyPr wrap="square" lIns="45720" tIns="27432" rIns="45720" bIns="27432" anchor="t"/>
          <a:lstStyle/>
          <a:p>
            <a:pPr algn="l">
              <a:spcAft>
                <a:spcPts val="800"/>
              </a:spcAft>
            </a:pPr>
            <a:r>
              <a:rPr sz="2000" b="0" i="0">
                <a:solidFill>
                  <a:srgbClr val="2B2B2B"/>
                </a:solidFill>
                <a:latin typeface="Calibri"/>
              </a:rPr>
              <a:t>protein–protein interactions</a:t>
            </a:r>
          </a:p>
        </p:txBody>
      </p:sp>
      <p:sp>
        <p:nvSpPr>
          <p:cNvPr id="16" name="TextBox 15"/>
          <p:cNvSpPr txBox="1"/>
          <p:nvPr/>
        </p:nvSpPr>
        <p:spPr>
          <a:xfrm>
            <a:off x="7955279" y="3657600"/>
            <a:ext cx="3749039" cy="365760"/>
          </a:xfrm>
          <a:prstGeom prst="rect">
            <a:avLst/>
          </a:prstGeom>
          <a:noFill/>
        </p:spPr>
        <p:txBody>
          <a:bodyPr wrap="square" lIns="45720" tIns="27432" rIns="45720" bIns="27432" anchor="t"/>
          <a:lstStyle/>
          <a:p>
            <a:pPr algn="l">
              <a:spcAft>
                <a:spcPts val="800"/>
              </a:spcAft>
            </a:pPr>
            <a:r>
              <a:rPr sz="1200" b="0" i="0">
                <a:solidFill>
                  <a:srgbClr val="6B7280"/>
                </a:solidFill>
                <a:latin typeface="Calibri"/>
              </a:rPr>
              <a:t>Fig. 2 (PKNs), CC BY 4.0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Step 0 — decoupler: transcription factor activity from its targets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8</a:t>
            </a:r>
          </a:p>
        </p:txBody>
      </p:sp>
      <p:sp>
        <p:nvSpPr>
          <p:cNvPr id="6" name="Oval 5"/>
          <p:cNvSpPr/>
          <p:nvPr/>
        </p:nvSpPr>
        <p:spPr>
          <a:xfrm>
            <a:off x="2514600" y="1600200"/>
            <a:ext cx="822960" cy="822960"/>
          </a:xfrm>
          <a:prstGeom prst="ellipse">
            <a:avLst/>
          </a:prstGeom>
          <a:solidFill>
            <a:srgbClr val="C0392B"/>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TF</a:t>
            </a:r>
          </a:p>
        </p:txBody>
      </p:sp>
      <p:cxnSp>
        <p:nvCxnSpPr>
          <p:cNvPr id="7" name="Connector 6"/>
          <p:cNvCxnSpPr/>
          <p:nvPr/>
        </p:nvCxnSpPr>
        <p:spPr>
          <a:xfrm flipH="1">
            <a:off x="1172360" y="2295796"/>
            <a:ext cx="1456073" cy="1389889"/>
          </a:xfrm>
          <a:prstGeom prst="line">
            <a:avLst/>
          </a:prstGeom>
          <a:ln w="3175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585216" y="3602736"/>
            <a:ext cx="658368" cy="658368"/>
          </a:xfrm>
          <a:prstGeom prst="ellipse">
            <a:avLst/>
          </a:prstGeom>
          <a:solidFill>
            <a:srgbClr val="F4B6AE"/>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g1</a:t>
            </a:r>
          </a:p>
        </p:txBody>
      </p:sp>
      <p:cxnSp>
        <p:nvCxnSpPr>
          <p:cNvPr id="9" name="Connector 8"/>
          <p:cNvCxnSpPr/>
          <p:nvPr/>
        </p:nvCxnSpPr>
        <p:spPr>
          <a:xfrm flipH="1">
            <a:off x="2085712" y="2376181"/>
            <a:ext cx="649438" cy="1239837"/>
          </a:xfrm>
          <a:prstGeom prst="line">
            <a:avLst/>
          </a:prstGeom>
          <a:ln w="3175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591056" y="3602736"/>
            <a:ext cx="658368" cy="658368"/>
          </a:xfrm>
          <a:prstGeom prst="ellipse">
            <a:avLst/>
          </a:prstGeom>
          <a:solidFill>
            <a:srgbClr val="F4B6AE"/>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g2</a:t>
            </a:r>
          </a:p>
        </p:txBody>
      </p:sp>
      <p:cxnSp>
        <p:nvCxnSpPr>
          <p:cNvPr id="11" name="Connector 10"/>
          <p:cNvCxnSpPr/>
          <p:nvPr/>
        </p:nvCxnSpPr>
        <p:spPr>
          <a:xfrm>
            <a:off x="2926080" y="2423160"/>
            <a:ext cx="0" cy="1152143"/>
          </a:xfrm>
          <a:prstGeom prst="line">
            <a:avLst/>
          </a:prstGeom>
          <a:ln w="3175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2596896" y="3602736"/>
            <a:ext cx="658368" cy="658368"/>
          </a:xfrm>
          <a:prstGeom prst="ellipse">
            <a:avLst/>
          </a:prstGeom>
          <a:solidFill>
            <a:srgbClr val="F4B6AE"/>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g3</a:t>
            </a:r>
          </a:p>
        </p:txBody>
      </p:sp>
      <p:cxnSp>
        <p:nvCxnSpPr>
          <p:cNvPr id="13" name="Connector 12"/>
          <p:cNvCxnSpPr/>
          <p:nvPr/>
        </p:nvCxnSpPr>
        <p:spPr>
          <a:xfrm>
            <a:off x="3117009" y="2376181"/>
            <a:ext cx="649438" cy="1239837"/>
          </a:xfrm>
          <a:prstGeom prst="line">
            <a:avLst/>
          </a:prstGeom>
          <a:ln w="31750">
            <a:solidFill>
              <a:srgbClr val="2C6F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602736" y="3602736"/>
            <a:ext cx="658368" cy="658368"/>
          </a:xfrm>
          <a:prstGeom prst="ellipse">
            <a:avLst/>
          </a:prstGeom>
          <a:solidFill>
            <a:srgbClr val="A9CBE8"/>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g4</a:t>
            </a:r>
          </a:p>
        </p:txBody>
      </p:sp>
      <p:cxnSp>
        <p:nvCxnSpPr>
          <p:cNvPr id="15" name="Connector 14"/>
          <p:cNvCxnSpPr/>
          <p:nvPr/>
        </p:nvCxnSpPr>
        <p:spPr>
          <a:xfrm>
            <a:off x="3223726" y="2295796"/>
            <a:ext cx="1456073" cy="1389889"/>
          </a:xfrm>
          <a:prstGeom prst="line">
            <a:avLst/>
          </a:prstGeom>
          <a:ln w="3175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608576" y="3602736"/>
            <a:ext cx="658368" cy="658368"/>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g5</a:t>
            </a:r>
          </a:p>
        </p:txBody>
      </p:sp>
      <p:sp>
        <p:nvSpPr>
          <p:cNvPr id="17" name="TextBox 16"/>
          <p:cNvSpPr txBox="1"/>
          <p:nvPr/>
        </p:nvSpPr>
        <p:spPr>
          <a:xfrm>
            <a:off x="548640" y="4480560"/>
            <a:ext cx="4937760" cy="1280160"/>
          </a:xfrm>
          <a:prstGeom prst="rect">
            <a:avLst/>
          </a:prstGeom>
          <a:noFill/>
        </p:spPr>
        <p:txBody>
          <a:bodyPr wrap="square" lIns="45720" tIns="27432" rIns="45720" bIns="27432" anchor="t"/>
          <a:lstStyle/>
          <a:p>
            <a:pPr algn="ctr">
              <a:spcAft>
                <a:spcPts val="600"/>
              </a:spcAft>
            </a:pPr>
            <a:r>
              <a:rPr sz="2000" b="0" i="0">
                <a:solidFill>
                  <a:srgbClr val="C0392B"/>
                </a:solidFill>
                <a:latin typeface="Calibri"/>
              </a:rPr>
              <a:t>red</a:t>
            </a:r>
            <a:r>
              <a:rPr sz="2000" b="0" i="0">
                <a:solidFill>
                  <a:srgbClr val="2B2B2B"/>
                </a:solidFill>
                <a:latin typeface="Calibri"/>
              </a:rPr>
              <a:t> activation / up   </a:t>
            </a:r>
            <a:r>
              <a:rPr sz="2000" b="0" i="0">
                <a:solidFill>
                  <a:srgbClr val="2C6FB7"/>
                </a:solidFill>
                <a:latin typeface="Calibri"/>
              </a:rPr>
              <a:t>blue</a:t>
            </a:r>
            <a:r>
              <a:rPr sz="2000" b="0" i="0">
                <a:solidFill>
                  <a:srgbClr val="2B2B2B"/>
                </a:solidFill>
                <a:latin typeface="Calibri"/>
              </a:rPr>
              <a:t> repression / down</a:t>
            </a:r>
          </a:p>
          <a:p>
            <a:pPr algn="ctr">
              <a:spcAft>
                <a:spcPts val="600"/>
              </a:spcAft>
            </a:pPr>
            <a:r>
              <a:rPr sz="2000" b="0" i="0">
                <a:solidFill>
                  <a:srgbClr val="6B7280"/>
                </a:solidFill>
                <a:latin typeface="Calibri"/>
              </a:rPr>
              <a:t>target changes → TF score</a:t>
            </a:r>
          </a:p>
        </p:txBody>
      </p:sp>
      <p:sp>
        <p:nvSpPr>
          <p:cNvPr id="18" name="TextBox 17"/>
          <p:cNvSpPr txBox="1"/>
          <p:nvPr/>
        </p:nvSpPr>
        <p:spPr>
          <a:xfrm>
            <a:off x="6035040" y="1554480"/>
            <a:ext cx="5669280" cy="4389120"/>
          </a:xfrm>
          <a:prstGeom prst="rect">
            <a:avLst/>
          </a:prstGeom>
          <a:noFill/>
        </p:spPr>
        <p:txBody>
          <a:bodyPr wrap="square" lIns="45720" tIns="27432" rIns="45720" bIns="27432" anchor="t"/>
          <a:lstStyle/>
          <a:p>
            <a:pPr algn="l">
              <a:spcAft>
                <a:spcPts val="1600"/>
              </a:spcAft>
            </a:pPr>
            <a:r>
              <a:rPr sz="2000" b="0" i="0">
                <a:solidFill>
                  <a:srgbClr val="0072B2"/>
                </a:solidFill>
                <a:latin typeface="Calibri"/>
              </a:rPr>
              <a:t>Regulon: </a:t>
            </a:r>
            <a:r>
              <a:rPr sz="2000" b="0" i="0">
                <a:solidFill>
                  <a:srgbClr val="2B2B2B"/>
                </a:solidFill>
                <a:latin typeface="Calibri"/>
              </a:rPr>
              <a:t>signed TF → target edges (CollecTRI, DoRothEA)</a:t>
            </a:r>
          </a:p>
          <a:p>
            <a:pPr algn="l">
              <a:spcAft>
                <a:spcPts val="1600"/>
              </a:spcAft>
            </a:pPr>
            <a:r>
              <a:rPr sz="2000" b="0" i="0">
                <a:solidFill>
                  <a:srgbClr val="0072B2"/>
                </a:solidFill>
                <a:latin typeface="Calibri"/>
              </a:rPr>
              <a:t>Score: </a:t>
            </a:r>
            <a:r>
              <a:rPr sz="2000" b="0" i="0">
                <a:solidFill>
                  <a:srgbClr val="2B2B2B"/>
                </a:solidFill>
                <a:latin typeface="Calibri"/>
              </a:rPr>
              <a:t>fit target gene statistics on regulon weights (e.g. univariate linear model)</a:t>
            </a:r>
          </a:p>
          <a:p>
            <a:pPr algn="l">
              <a:spcAft>
                <a:spcPts val="1600"/>
              </a:spcAft>
            </a:pPr>
            <a:r>
              <a:rPr sz="2000" b="0" i="0">
                <a:solidFill>
                  <a:srgbClr val="0072B2"/>
                </a:solidFill>
                <a:latin typeface="Calibri"/>
              </a:rPr>
              <a:t>Output: </a:t>
            </a:r>
            <a:r>
              <a:rPr sz="2000" b="0" i="0">
                <a:solidFill>
                  <a:srgbClr val="2B2B2B"/>
                </a:solidFill>
                <a:latin typeface="Calibri"/>
              </a:rPr>
              <a:t>one activity per TF per sample</a:t>
            </a:r>
          </a:p>
          <a:p>
            <a:pPr algn="l">
              <a:spcAft>
                <a:spcPts val="1600"/>
              </a:spcAft>
            </a:pPr>
            <a:r>
              <a:rPr sz="2000" b="0" i="0">
                <a:solidFill>
                  <a:srgbClr val="0072B2"/>
                </a:solidFill>
                <a:latin typeface="Calibri"/>
              </a:rPr>
              <a:t>Used as: </a:t>
            </a:r>
            <a:r>
              <a:rPr sz="2000" b="0" i="0">
                <a:solidFill>
                  <a:srgbClr val="2B2B2B"/>
                </a:solidFill>
                <a:latin typeface="Calibri"/>
              </a:rPr>
              <a:t>the measured nodes for CARNIVAL</a:t>
            </a:r>
          </a:p>
        </p:txBody>
      </p:sp>
      <p:sp>
        <p:nvSpPr>
          <p:cNvPr id="19" name="TextBox 18"/>
          <p:cNvSpPr txBox="1"/>
          <p:nvPr/>
        </p:nvSpPr>
        <p:spPr>
          <a:xfrm>
            <a:off x="6035040" y="5897880"/>
            <a:ext cx="5669280" cy="365760"/>
          </a:xfrm>
          <a:prstGeom prst="rect">
            <a:avLst/>
          </a:prstGeom>
          <a:noFill/>
        </p:spPr>
        <p:txBody>
          <a:bodyPr wrap="square" lIns="45720" tIns="27432" rIns="45720" bIns="27432" anchor="t"/>
          <a:lstStyle/>
          <a:p>
            <a:pPr algn="l">
              <a:spcAft>
                <a:spcPts val="800"/>
              </a:spcAft>
            </a:pPr>
            <a:r>
              <a:rPr sz="1200" b="0" i="0">
                <a:solidFill>
                  <a:srgbClr val="6B7280"/>
                </a:solidFill>
                <a:latin typeface="Calibri"/>
              </a:rPr>
              <a:t>Badia-i-Mompel et al., Bioinform Adv 2022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950976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The math: a TF activity is a regression slope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9</a:t>
            </a:r>
          </a:p>
        </p:txBody>
      </p:sp>
      <p:sp>
        <p:nvSpPr>
          <p:cNvPr id="6" name="Rounded Rectangle 5"/>
          <p:cNvSpPr/>
          <p:nvPr/>
        </p:nvSpPr>
        <p:spPr>
          <a:xfrm>
            <a:off x="10287000" y="475488"/>
            <a:ext cx="1325880" cy="384048"/>
          </a:xfrm>
          <a:prstGeom prst="roundRect">
            <a:avLst>
              <a:gd name="adj" fmla="val 50000"/>
            </a:avLst>
          </a:prstGeom>
          <a:solidFill>
            <a:srgbClr val="E3EEF7"/>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200" b="1">
                <a:solidFill>
                  <a:srgbClr val="0072B2"/>
                </a:solidFill>
                <a:latin typeface="Calibri"/>
              </a:rPr>
              <a:t>THE MATH</a:t>
            </a:r>
          </a:p>
        </p:txBody>
      </p:sp>
      <p:sp>
        <p:nvSpPr>
          <p:cNvPr id="7" name="Rounded Rectangle 6"/>
          <p:cNvSpPr/>
          <p:nvPr/>
        </p:nvSpPr>
        <p:spPr>
          <a:xfrm>
            <a:off x="548640" y="1417320"/>
            <a:ext cx="11091672" cy="2148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ulm1.png"/>
          <p:cNvPicPr>
            <a:picLocks noChangeAspect="1"/>
          </p:cNvPicPr>
          <p:nvPr/>
        </p:nvPicPr>
        <p:blipFill>
          <a:blip r:embed="rId3"/>
          <a:stretch>
            <a:fillRect/>
          </a:stretch>
        </p:blipFill>
        <p:spPr>
          <a:xfrm>
            <a:off x="868680" y="1645920"/>
            <a:ext cx="4572000" cy="310896"/>
          </a:xfrm>
          <a:prstGeom prst="rect">
            <a:avLst/>
          </a:prstGeom>
        </p:spPr>
      </p:pic>
      <p:pic>
        <p:nvPicPr>
          <p:cNvPr id="9" name="Picture 8" descr="ulm2.png"/>
          <p:cNvPicPr>
            <a:picLocks noChangeAspect="1"/>
          </p:cNvPicPr>
          <p:nvPr/>
        </p:nvPicPr>
        <p:blipFill>
          <a:blip r:embed="rId4"/>
          <a:stretch>
            <a:fillRect/>
          </a:stretch>
        </p:blipFill>
        <p:spPr>
          <a:xfrm>
            <a:off x="868680" y="2468880"/>
            <a:ext cx="3989832" cy="798576"/>
          </a:xfrm>
          <a:prstGeom prst="rect">
            <a:avLst/>
          </a:prstGeom>
        </p:spPr>
      </p:pic>
      <p:sp>
        <p:nvSpPr>
          <p:cNvPr id="10" name="TextBox 9"/>
          <p:cNvSpPr txBox="1"/>
          <p:nvPr/>
        </p:nvSpPr>
        <p:spPr>
          <a:xfrm>
            <a:off x="548640" y="3794760"/>
            <a:ext cx="11091672" cy="2377440"/>
          </a:xfrm>
          <a:prstGeom prst="rect">
            <a:avLst/>
          </a:prstGeom>
          <a:noFill/>
        </p:spPr>
        <p:txBody>
          <a:bodyPr wrap="square" lIns="45720" tIns="27432" rIns="45720" bIns="27432" anchor="t">
            <a:spAutoFit/>
          </a:bodyPr>
          <a:lstStyle/>
          <a:p>
            <a:pPr algn="l">
              <a:spcAft>
                <a:spcPts val="800"/>
              </a:spcAft>
            </a:pPr>
            <a:r>
              <a:rPr sz="1800" b="0" i="0" dirty="0">
                <a:solidFill>
                  <a:srgbClr val="0072B2"/>
                </a:solidFill>
                <a:latin typeface="Calibri"/>
              </a:rPr>
              <a:t>Gene statistic y: </a:t>
            </a:r>
            <a:r>
              <a:rPr sz="1800" b="0" i="0" dirty="0">
                <a:solidFill>
                  <a:srgbClr val="2B2B2B"/>
                </a:solidFill>
                <a:latin typeface="Calibri"/>
              </a:rPr>
              <a:t>value of gene g in one sample (e.g. </a:t>
            </a:r>
            <a:r>
              <a:rPr sz="1800" b="0" i="0" dirty="0" err="1">
                <a:solidFill>
                  <a:srgbClr val="2B2B2B"/>
                </a:solidFill>
                <a:latin typeface="Calibri"/>
              </a:rPr>
              <a:t>centred</a:t>
            </a:r>
            <a:r>
              <a:rPr sz="1800" b="0" i="0" dirty="0">
                <a:solidFill>
                  <a:srgbClr val="2B2B2B"/>
                </a:solidFill>
                <a:latin typeface="Calibri"/>
              </a:rPr>
              <a:t> log-expression or a t-statistic)</a:t>
            </a:r>
          </a:p>
          <a:p>
            <a:pPr algn="l">
              <a:spcAft>
                <a:spcPts val="800"/>
              </a:spcAft>
            </a:pPr>
            <a:r>
              <a:rPr sz="1800" b="0" i="0" dirty="0">
                <a:solidFill>
                  <a:srgbClr val="0072B2"/>
                </a:solidFill>
                <a:latin typeface="Calibri"/>
              </a:rPr>
              <a:t>Regulon weight w: </a:t>
            </a:r>
            <a:r>
              <a:rPr sz="1800" b="0" i="0" dirty="0">
                <a:solidFill>
                  <a:srgbClr val="2B2B2B"/>
                </a:solidFill>
                <a:latin typeface="Calibri"/>
              </a:rPr>
              <a:t>signed weight of TF t on gene g (</a:t>
            </a:r>
            <a:r>
              <a:rPr sz="1800" b="0" i="0" dirty="0" err="1">
                <a:solidFill>
                  <a:srgbClr val="2B2B2B"/>
                </a:solidFill>
                <a:latin typeface="Calibri"/>
              </a:rPr>
              <a:t>CollecTRI</a:t>
            </a:r>
            <a:r>
              <a:rPr sz="1800" b="0" i="0" dirty="0">
                <a:solidFill>
                  <a:srgbClr val="2B2B2B"/>
                </a:solidFill>
                <a:latin typeface="Calibri"/>
              </a:rPr>
              <a:t> / </a:t>
            </a:r>
            <a:r>
              <a:rPr sz="1800" b="0" i="0" dirty="0" err="1">
                <a:solidFill>
                  <a:srgbClr val="2B2B2B"/>
                </a:solidFill>
                <a:latin typeface="Calibri"/>
              </a:rPr>
              <a:t>DoRothEA</a:t>
            </a:r>
            <a:r>
              <a:rPr sz="1800" b="0" i="0" dirty="0">
                <a:solidFill>
                  <a:srgbClr val="2B2B2B"/>
                </a:solidFill>
                <a:latin typeface="Calibri"/>
              </a:rPr>
              <a:t>; 0 if g is not a target)</a:t>
            </a:r>
          </a:p>
          <a:p>
            <a:pPr algn="l">
              <a:spcAft>
                <a:spcPts val="800"/>
              </a:spcAft>
            </a:pPr>
            <a:r>
              <a:rPr sz="1800" b="0" i="0" dirty="0">
                <a:solidFill>
                  <a:srgbClr val="0072B2"/>
                </a:solidFill>
                <a:latin typeface="Calibri"/>
              </a:rPr>
              <a:t>Activity a &gt; 0: </a:t>
            </a:r>
            <a:r>
              <a:rPr sz="1800" b="0" i="0" dirty="0">
                <a:solidFill>
                  <a:srgbClr val="2B2B2B"/>
                </a:solidFill>
                <a:latin typeface="Calibri"/>
              </a:rPr>
              <a:t>targets move the way the regulon predicts → TF active;  a &lt; 0 → repressed</a:t>
            </a:r>
          </a:p>
          <a:p>
            <a:pPr algn="l">
              <a:spcAft>
                <a:spcPts val="800"/>
              </a:spcAft>
            </a:pPr>
            <a:r>
              <a:rPr sz="1800" b="0" i="0" dirty="0">
                <a:solidFill>
                  <a:srgbClr val="0072B2"/>
                </a:solidFill>
                <a:latin typeface="Calibri"/>
              </a:rPr>
              <a:t>Output: </a:t>
            </a:r>
            <a:r>
              <a:rPr sz="1800" b="0" i="0" dirty="0">
                <a:solidFill>
                  <a:srgbClr val="2B2B2B"/>
                </a:solidFill>
                <a:latin typeface="Calibri"/>
              </a:rPr>
              <a:t>one activity per TF per sample; a TF needs ≥ </a:t>
            </a:r>
            <a:r>
              <a:rPr sz="1800" b="0" i="0" dirty="0" err="1">
                <a:solidFill>
                  <a:srgbClr val="2B2B2B"/>
                </a:solidFill>
                <a:latin typeface="Calibri"/>
              </a:rPr>
              <a:t>tmin</a:t>
            </a:r>
            <a:r>
              <a:rPr sz="1800" b="0" i="0" dirty="0">
                <a:solidFill>
                  <a:srgbClr val="2B2B2B"/>
                </a:solidFill>
                <a:latin typeface="Calibri"/>
              </a:rPr>
              <a:t> targets (default 5)</a:t>
            </a:r>
          </a:p>
        </p:txBody>
      </p:sp>
      <p:sp>
        <p:nvSpPr>
          <p:cNvPr id="11" name="TextBox 10"/>
          <p:cNvSpPr txBox="1"/>
          <p:nvPr/>
        </p:nvSpPr>
        <p:spPr>
          <a:xfrm>
            <a:off x="6035040" y="5897880"/>
            <a:ext cx="5605272" cy="365760"/>
          </a:xfrm>
          <a:prstGeom prst="rect">
            <a:avLst/>
          </a:prstGeom>
          <a:noFill/>
        </p:spPr>
        <p:txBody>
          <a:bodyPr wrap="square" lIns="45720" tIns="27432" rIns="45720" bIns="27432" anchor="t">
            <a:spAutoFit/>
          </a:bodyPr>
          <a:lstStyle/>
          <a:p>
            <a:pPr algn="r">
              <a:spcAft>
                <a:spcPts val="800"/>
              </a:spcAft>
            </a:pPr>
            <a:r>
              <a:rPr sz="1200" b="0" i="0">
                <a:solidFill>
                  <a:srgbClr val="6B7280"/>
                </a:solidFill>
                <a:latin typeface="Calibri"/>
              </a:rPr>
              <a:t>Badia-i-Mompel et al., Bioinform Adv 2022 (decoupler ULM)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CARNIVAL: sign-consistent paths from inputs to TFs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10</a:t>
            </a:r>
          </a:p>
        </p:txBody>
      </p:sp>
      <p:cxnSp>
        <p:nvCxnSpPr>
          <p:cNvPr id="6" name="Connector 5"/>
          <p:cNvCxnSpPr/>
          <p:nvPr/>
        </p:nvCxnSpPr>
        <p:spPr>
          <a:xfrm flipH="1">
            <a:off x="3365667" y="3108858"/>
            <a:ext cx="786491" cy="758402"/>
          </a:xfrm>
          <a:prstGeom prst="line">
            <a:avLst/>
          </a:prstGeom>
          <a:ln w="19050">
            <a:solidFill>
              <a:srgbClr val="AAB0B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370123" y="4298969"/>
            <a:ext cx="1260376" cy="850754"/>
          </a:xfrm>
          <a:prstGeom prst="line">
            <a:avLst/>
          </a:prstGeom>
          <a:ln w="19050">
            <a:solidFill>
              <a:srgbClr val="AAB0B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2090125" y="1915633"/>
            <a:ext cx="777611" cy="722067"/>
          </a:xfrm>
          <a:prstGeom prst="line">
            <a:avLst/>
          </a:prstGeom>
          <a:ln w="3810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350183" y="1915633"/>
            <a:ext cx="777611" cy="722067"/>
          </a:xfrm>
          <a:prstGeom prst="line">
            <a:avLst/>
          </a:prstGeom>
          <a:ln w="3810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279083" y="3163554"/>
            <a:ext cx="381898" cy="644452"/>
          </a:xfrm>
          <a:prstGeom prst="line">
            <a:avLst/>
          </a:prstGeom>
          <a:ln w="3810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5761" y="3108858"/>
            <a:ext cx="786491" cy="758402"/>
          </a:xfrm>
          <a:prstGeom prst="line">
            <a:avLst/>
          </a:prstGeom>
          <a:ln w="38100">
            <a:solidFill>
              <a:srgbClr val="2C6FB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966661" y="4440429"/>
            <a:ext cx="82377" cy="556045"/>
          </a:xfrm>
          <a:prstGeom prst="line">
            <a:avLst/>
          </a:prstGeom>
          <a:ln w="3810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2978341" y="4440429"/>
            <a:ext cx="82377" cy="556045"/>
          </a:xfrm>
          <a:prstGeom prst="line">
            <a:avLst/>
          </a:prstGeom>
          <a:ln w="3810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460530" y="3201705"/>
            <a:ext cx="399869" cy="1799411"/>
          </a:xfrm>
          <a:prstGeom prst="line">
            <a:avLst/>
          </a:prstGeom>
          <a:ln w="38100">
            <a:solidFill>
              <a:srgbClr val="2C6F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2779776" y="1362456"/>
            <a:ext cx="658368" cy="658368"/>
          </a:xfrm>
          <a:prstGeom prst="ellipse">
            <a:avLst/>
          </a:prstGeom>
          <a:solidFill>
            <a:srgbClr val="F4B6AE"/>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In</a:t>
            </a:r>
          </a:p>
        </p:txBody>
      </p:sp>
      <p:sp>
        <p:nvSpPr>
          <p:cNvPr id="16" name="Oval 15"/>
          <p:cNvSpPr/>
          <p:nvPr/>
        </p:nvSpPr>
        <p:spPr>
          <a:xfrm>
            <a:off x="1499616" y="2551176"/>
            <a:ext cx="658368" cy="658368"/>
          </a:xfrm>
          <a:prstGeom prst="ellipse">
            <a:avLst/>
          </a:prstGeom>
          <a:solidFill>
            <a:srgbClr val="F4B6AE"/>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K1</a:t>
            </a:r>
          </a:p>
        </p:txBody>
      </p:sp>
      <p:sp>
        <p:nvSpPr>
          <p:cNvPr id="17" name="Oval 16"/>
          <p:cNvSpPr/>
          <p:nvPr/>
        </p:nvSpPr>
        <p:spPr>
          <a:xfrm>
            <a:off x="4059935" y="2551176"/>
            <a:ext cx="658368" cy="658368"/>
          </a:xfrm>
          <a:prstGeom prst="ellipse">
            <a:avLst/>
          </a:prstGeom>
          <a:solidFill>
            <a:srgbClr val="F4B6AE"/>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K2</a:t>
            </a:r>
          </a:p>
        </p:txBody>
      </p:sp>
      <p:sp>
        <p:nvSpPr>
          <p:cNvPr id="18" name="Oval 17"/>
          <p:cNvSpPr/>
          <p:nvPr/>
        </p:nvSpPr>
        <p:spPr>
          <a:xfrm>
            <a:off x="768096" y="3785615"/>
            <a:ext cx="658368" cy="658368"/>
          </a:xfrm>
          <a:prstGeom prst="ellipse">
            <a:avLst/>
          </a:prstGeom>
          <a:solidFill>
            <a:srgbClr val="F4B6AE"/>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K3</a:t>
            </a:r>
          </a:p>
        </p:txBody>
      </p:sp>
      <p:sp>
        <p:nvSpPr>
          <p:cNvPr id="19" name="Oval 18"/>
          <p:cNvSpPr/>
          <p:nvPr/>
        </p:nvSpPr>
        <p:spPr>
          <a:xfrm>
            <a:off x="2779776" y="3785615"/>
            <a:ext cx="658368" cy="658368"/>
          </a:xfrm>
          <a:prstGeom prst="ellipse">
            <a:avLst/>
          </a:prstGeom>
          <a:solidFill>
            <a:srgbClr val="A9CBE8"/>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K4</a:t>
            </a:r>
          </a:p>
        </p:txBody>
      </p:sp>
      <p:sp>
        <p:nvSpPr>
          <p:cNvPr id="20" name="Oval 19"/>
          <p:cNvSpPr/>
          <p:nvPr/>
        </p:nvSpPr>
        <p:spPr>
          <a:xfrm>
            <a:off x="548640" y="4983479"/>
            <a:ext cx="731520" cy="731520"/>
          </a:xfrm>
          <a:prstGeom prst="ellipse">
            <a:avLst/>
          </a:prstGeom>
          <a:solidFill>
            <a:srgbClr val="C0392B"/>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TF1</a:t>
            </a:r>
          </a:p>
        </p:txBody>
      </p:sp>
      <p:sp>
        <p:nvSpPr>
          <p:cNvPr id="21" name="Oval 20"/>
          <p:cNvSpPr/>
          <p:nvPr/>
        </p:nvSpPr>
        <p:spPr>
          <a:xfrm>
            <a:off x="2560320" y="4983479"/>
            <a:ext cx="731520" cy="731520"/>
          </a:xfrm>
          <a:prstGeom prst="ellipse">
            <a:avLst/>
          </a:prstGeom>
          <a:solidFill>
            <a:srgbClr val="2C6FB7"/>
          </a:solidFill>
          <a:ln w="19050">
            <a:solidFill>
              <a:srgbClr val="2C6FB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TF2</a:t>
            </a:r>
          </a:p>
        </p:txBody>
      </p:sp>
      <p:sp>
        <p:nvSpPr>
          <p:cNvPr id="22" name="Oval 21"/>
          <p:cNvSpPr/>
          <p:nvPr/>
        </p:nvSpPr>
        <p:spPr>
          <a:xfrm>
            <a:off x="4572000" y="4983479"/>
            <a:ext cx="731520" cy="731520"/>
          </a:xfrm>
          <a:prstGeom prst="ellipse">
            <a:avLst/>
          </a:prstGeom>
          <a:solidFill>
            <a:srgbClr val="2C6FB7"/>
          </a:solidFill>
          <a:ln w="19050">
            <a:solidFill>
              <a:srgbClr val="2C6FB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TF3</a:t>
            </a:r>
          </a:p>
        </p:txBody>
      </p:sp>
      <p:sp>
        <p:nvSpPr>
          <p:cNvPr id="23" name="TextBox 22"/>
          <p:cNvSpPr txBox="1"/>
          <p:nvPr/>
        </p:nvSpPr>
        <p:spPr>
          <a:xfrm>
            <a:off x="365760" y="5760720"/>
            <a:ext cx="5486400" cy="457200"/>
          </a:xfrm>
          <a:prstGeom prst="rect">
            <a:avLst/>
          </a:prstGeom>
          <a:noFill/>
        </p:spPr>
        <p:txBody>
          <a:bodyPr wrap="square" lIns="45720" tIns="27432" rIns="45720" bIns="27432" anchor="t"/>
          <a:lstStyle/>
          <a:p>
            <a:pPr algn="ctr">
              <a:spcAft>
                <a:spcPts val="800"/>
              </a:spcAft>
            </a:pPr>
            <a:r>
              <a:rPr sz="2000" b="0" i="0">
                <a:solidFill>
                  <a:srgbClr val="C0392B"/>
                </a:solidFill>
                <a:latin typeface="Calibri"/>
              </a:rPr>
              <a:t>red</a:t>
            </a:r>
            <a:r>
              <a:rPr sz="2000" b="0" i="0">
                <a:solidFill>
                  <a:srgbClr val="2B2B2B"/>
                </a:solidFill>
                <a:latin typeface="Calibri"/>
              </a:rPr>
              <a:t> activation / up   </a:t>
            </a:r>
            <a:r>
              <a:rPr sz="2000" b="0" i="0">
                <a:solidFill>
                  <a:srgbClr val="2C6FB7"/>
                </a:solidFill>
                <a:latin typeface="Calibri"/>
              </a:rPr>
              <a:t>blue</a:t>
            </a:r>
            <a:r>
              <a:rPr sz="2000" b="0" i="0">
                <a:solidFill>
                  <a:srgbClr val="2B2B2B"/>
                </a:solidFill>
                <a:latin typeface="Calibri"/>
              </a:rPr>
              <a:t> inhibition / down</a:t>
            </a:r>
          </a:p>
        </p:txBody>
      </p:sp>
      <p:sp>
        <p:nvSpPr>
          <p:cNvPr id="24" name="TextBox 23"/>
          <p:cNvSpPr txBox="1"/>
          <p:nvPr/>
        </p:nvSpPr>
        <p:spPr>
          <a:xfrm>
            <a:off x="6035040" y="1463040"/>
            <a:ext cx="5669280" cy="4572000"/>
          </a:xfrm>
          <a:prstGeom prst="rect">
            <a:avLst/>
          </a:prstGeom>
          <a:noFill/>
        </p:spPr>
        <p:txBody>
          <a:bodyPr wrap="square" lIns="45720" tIns="27432" rIns="45720" bIns="27432" anchor="t"/>
          <a:lstStyle/>
          <a:p>
            <a:pPr algn="l">
              <a:spcAft>
                <a:spcPts val="1600"/>
              </a:spcAft>
            </a:pPr>
            <a:r>
              <a:rPr sz="2000" b="0" i="0">
                <a:solidFill>
                  <a:srgbClr val="0072B2"/>
                </a:solidFill>
                <a:latin typeface="Calibri"/>
              </a:rPr>
              <a:t>Node state: </a:t>
            </a:r>
            <a:r>
              <a:rPr sz="2000" b="0" i="0">
                <a:solidFill>
                  <a:srgbClr val="2B2B2B"/>
                </a:solidFill>
                <a:latin typeface="Calibri"/>
              </a:rPr>
              <a:t>up, down or off</a:t>
            </a:r>
          </a:p>
          <a:p>
            <a:pPr algn="l">
              <a:spcAft>
                <a:spcPts val="1600"/>
              </a:spcAft>
            </a:pPr>
            <a:r>
              <a:rPr sz="2000" b="0" i="0">
                <a:solidFill>
                  <a:srgbClr val="0072B2"/>
                </a:solidFill>
                <a:latin typeface="Calibri"/>
              </a:rPr>
              <a:t>Edge rule: </a:t>
            </a:r>
            <a:r>
              <a:rPr sz="2000" b="0" i="0">
                <a:solidFill>
                  <a:srgbClr val="2B2B2B"/>
                </a:solidFill>
                <a:latin typeface="Calibri"/>
              </a:rPr>
              <a:t>child = edge sign × parent</a:t>
            </a:r>
          </a:p>
          <a:p>
            <a:pPr algn="l">
              <a:spcAft>
                <a:spcPts val="1600"/>
              </a:spcAft>
            </a:pPr>
            <a:r>
              <a:rPr sz="2000" b="0" i="0">
                <a:solidFill>
                  <a:srgbClr val="0072B2"/>
                </a:solidFill>
                <a:latin typeface="Calibri"/>
              </a:rPr>
              <a:t>Fit: </a:t>
            </a:r>
            <a:r>
              <a:rPr sz="2000" b="0" i="0">
                <a:solidFill>
                  <a:srgbClr val="2B2B2B"/>
                </a:solidFill>
                <a:latin typeface="Calibri"/>
              </a:rPr>
              <a:t>match TF activities with few edges</a:t>
            </a:r>
          </a:p>
          <a:p>
            <a:pPr algn="l">
              <a:spcAft>
                <a:spcPts val="1600"/>
              </a:spcAft>
            </a:pPr>
            <a:r>
              <a:rPr sz="2000" b="0" i="0">
                <a:solidFill>
                  <a:srgbClr val="0072B2"/>
                </a:solidFill>
                <a:latin typeface="Calibri"/>
              </a:rPr>
              <a:t>Solver: </a:t>
            </a:r>
            <a:r>
              <a:rPr sz="2000" b="0" i="0">
                <a:solidFill>
                  <a:srgbClr val="2B2B2B"/>
                </a:solidFill>
                <a:latin typeface="Calibri"/>
              </a:rPr>
              <a:t>integer linear program</a:t>
            </a:r>
          </a:p>
          <a:p>
            <a:pPr algn="l">
              <a:spcAft>
                <a:spcPts val="1600"/>
              </a:spcAft>
            </a:pPr>
            <a:r>
              <a:rPr sz="2000" b="0" i="0">
                <a:solidFill>
                  <a:srgbClr val="D55E00"/>
                </a:solidFill>
                <a:latin typeface="Calibri"/>
              </a:rPr>
              <a:t>Inverse CARNIVAL: </a:t>
            </a:r>
            <a:r>
              <a:rPr sz="2000" b="0" i="0">
                <a:solidFill>
                  <a:srgbClr val="2B2B2B"/>
                </a:solidFill>
                <a:latin typeface="Calibri"/>
              </a:rPr>
              <a:t>inputs unknown, so any root node may start a signal</a:t>
            </a:r>
          </a:p>
        </p:txBody>
      </p:sp>
      <p:sp>
        <p:nvSpPr>
          <p:cNvPr id="25" name="TextBox 24"/>
          <p:cNvSpPr txBox="1"/>
          <p:nvPr/>
        </p:nvSpPr>
        <p:spPr>
          <a:xfrm>
            <a:off x="6035040" y="5897880"/>
            <a:ext cx="5669280" cy="365760"/>
          </a:xfrm>
          <a:prstGeom prst="rect">
            <a:avLst/>
          </a:prstGeom>
          <a:noFill/>
        </p:spPr>
        <p:txBody>
          <a:bodyPr wrap="square" lIns="45720" tIns="27432" rIns="45720" bIns="27432" anchor="t"/>
          <a:lstStyle/>
          <a:p>
            <a:pPr algn="l">
              <a:spcAft>
                <a:spcPts val="800"/>
              </a:spcAft>
            </a:pPr>
            <a:r>
              <a:rPr sz="1200" b="0" i="0">
                <a:solidFill>
                  <a:srgbClr val="6B7280"/>
                </a:solidFill>
                <a:latin typeface="Calibri"/>
              </a:rPr>
              <a:t>Liu et al., NPJ Syst Biol Appl 2019; dashed = PKN edge not selected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74320"/>
            <a:ext cx="950976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The math: CARNIVAL as sign constraints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11</a:t>
            </a:r>
          </a:p>
        </p:txBody>
      </p:sp>
      <p:sp>
        <p:nvSpPr>
          <p:cNvPr id="6" name="Rounded Rectangle 5"/>
          <p:cNvSpPr/>
          <p:nvPr/>
        </p:nvSpPr>
        <p:spPr>
          <a:xfrm>
            <a:off x="10287000" y="475488"/>
            <a:ext cx="1325880" cy="384048"/>
          </a:xfrm>
          <a:prstGeom prst="roundRect">
            <a:avLst>
              <a:gd name="adj" fmla="val 50000"/>
            </a:avLst>
          </a:prstGeom>
          <a:solidFill>
            <a:srgbClr val="E3EEF7"/>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200" b="1">
                <a:solidFill>
                  <a:srgbClr val="0072B2"/>
                </a:solidFill>
                <a:latin typeface="Calibri"/>
              </a:rPr>
              <a:t>THE MATH</a:t>
            </a:r>
          </a:p>
        </p:txBody>
      </p:sp>
      <p:sp>
        <p:nvSpPr>
          <p:cNvPr id="7" name="Rounded Rectangle 6"/>
          <p:cNvSpPr/>
          <p:nvPr/>
        </p:nvSpPr>
        <p:spPr>
          <a:xfrm>
            <a:off x="548640" y="1371600"/>
            <a:ext cx="6446520" cy="4434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ar1.png"/>
          <p:cNvPicPr>
            <a:picLocks noChangeAspect="1"/>
          </p:cNvPicPr>
          <p:nvPr/>
        </p:nvPicPr>
        <p:blipFill>
          <a:blip r:embed="rId3"/>
          <a:stretch>
            <a:fillRect/>
          </a:stretch>
        </p:blipFill>
        <p:spPr>
          <a:xfrm>
            <a:off x="777240" y="1554480"/>
            <a:ext cx="1400556" cy="278892"/>
          </a:xfrm>
          <a:prstGeom prst="rect">
            <a:avLst/>
          </a:prstGeom>
        </p:spPr>
      </p:pic>
      <p:pic>
        <p:nvPicPr>
          <p:cNvPr id="9" name="Picture 8" descr="car2.png"/>
          <p:cNvPicPr>
            <a:picLocks noChangeAspect="1"/>
          </p:cNvPicPr>
          <p:nvPr/>
        </p:nvPicPr>
        <p:blipFill>
          <a:blip r:embed="rId4"/>
          <a:stretch>
            <a:fillRect/>
          </a:stretch>
        </p:blipFill>
        <p:spPr>
          <a:xfrm>
            <a:off x="777240" y="2089404"/>
            <a:ext cx="3825240" cy="301752"/>
          </a:xfrm>
          <a:prstGeom prst="rect">
            <a:avLst/>
          </a:prstGeom>
        </p:spPr>
      </p:pic>
      <p:pic>
        <p:nvPicPr>
          <p:cNvPr id="10" name="Picture 9" descr="car3.png"/>
          <p:cNvPicPr>
            <a:picLocks noChangeAspect="1"/>
          </p:cNvPicPr>
          <p:nvPr/>
        </p:nvPicPr>
        <p:blipFill>
          <a:blip r:embed="rId5"/>
          <a:stretch>
            <a:fillRect/>
          </a:stretch>
        </p:blipFill>
        <p:spPr>
          <a:xfrm>
            <a:off x="777240" y="2647188"/>
            <a:ext cx="4404360" cy="315468"/>
          </a:xfrm>
          <a:prstGeom prst="rect">
            <a:avLst/>
          </a:prstGeom>
        </p:spPr>
      </p:pic>
      <p:pic>
        <p:nvPicPr>
          <p:cNvPr id="11" name="Picture 10" descr="car4.png"/>
          <p:cNvPicPr>
            <a:picLocks noChangeAspect="1"/>
          </p:cNvPicPr>
          <p:nvPr/>
        </p:nvPicPr>
        <p:blipFill>
          <a:blip r:embed="rId6"/>
          <a:stretch>
            <a:fillRect/>
          </a:stretch>
        </p:blipFill>
        <p:spPr>
          <a:xfrm>
            <a:off x="777240" y="3218688"/>
            <a:ext cx="4413504" cy="315468"/>
          </a:xfrm>
          <a:prstGeom prst="rect">
            <a:avLst/>
          </a:prstGeom>
        </p:spPr>
      </p:pic>
      <p:pic>
        <p:nvPicPr>
          <p:cNvPr id="12" name="Picture 11" descr="car5.png"/>
          <p:cNvPicPr>
            <a:picLocks noChangeAspect="1"/>
          </p:cNvPicPr>
          <p:nvPr/>
        </p:nvPicPr>
        <p:blipFill>
          <a:blip r:embed="rId7"/>
          <a:stretch>
            <a:fillRect/>
          </a:stretch>
        </p:blipFill>
        <p:spPr>
          <a:xfrm>
            <a:off x="777240" y="3790188"/>
            <a:ext cx="3093720" cy="347472"/>
          </a:xfrm>
          <a:prstGeom prst="rect">
            <a:avLst/>
          </a:prstGeom>
        </p:spPr>
      </p:pic>
      <p:sp>
        <p:nvSpPr>
          <p:cNvPr id="13" name="TextBox 12"/>
          <p:cNvSpPr txBox="1"/>
          <p:nvPr/>
        </p:nvSpPr>
        <p:spPr>
          <a:xfrm>
            <a:off x="777240" y="4347972"/>
            <a:ext cx="6035040" cy="320040"/>
          </a:xfrm>
          <a:prstGeom prst="rect">
            <a:avLst/>
          </a:prstGeom>
          <a:noFill/>
        </p:spPr>
        <p:txBody>
          <a:bodyPr wrap="square" lIns="45720" tIns="27432" rIns="45720" bIns="27432" anchor="t">
            <a:spAutoFit/>
          </a:bodyPr>
          <a:lstStyle/>
          <a:p>
            <a:pPr algn="l">
              <a:spcAft>
                <a:spcPts val="800"/>
              </a:spcAft>
            </a:pPr>
            <a:r>
              <a:rPr sz="1600" b="0" i="0">
                <a:solidFill>
                  <a:srgbClr val="D55E00"/>
                </a:solidFill>
                <a:latin typeface="Calibri"/>
              </a:rPr>
              <a:t>Objective per sample j (minimise):</a:t>
            </a:r>
          </a:p>
        </p:txBody>
      </p:sp>
      <p:pic>
        <p:nvPicPr>
          <p:cNvPr id="14" name="Picture 13" descr="car6.png"/>
          <p:cNvPicPr>
            <a:picLocks noChangeAspect="1"/>
          </p:cNvPicPr>
          <p:nvPr/>
        </p:nvPicPr>
        <p:blipFill>
          <a:blip r:embed="rId8"/>
          <a:stretch>
            <a:fillRect/>
          </a:stretch>
        </p:blipFill>
        <p:spPr>
          <a:xfrm>
            <a:off x="777240" y="4741164"/>
            <a:ext cx="6035040" cy="373969"/>
          </a:xfrm>
          <a:prstGeom prst="rect">
            <a:avLst/>
          </a:prstGeom>
        </p:spPr>
      </p:pic>
      <p:sp>
        <p:nvSpPr>
          <p:cNvPr id="15" name="TextBox 14"/>
          <p:cNvSpPr txBox="1"/>
          <p:nvPr/>
        </p:nvSpPr>
        <p:spPr>
          <a:xfrm>
            <a:off x="7269480" y="1371600"/>
            <a:ext cx="4389120" cy="4526280"/>
          </a:xfrm>
          <a:prstGeom prst="rect">
            <a:avLst/>
          </a:prstGeom>
          <a:noFill/>
        </p:spPr>
        <p:txBody>
          <a:bodyPr wrap="square" lIns="45720" tIns="27432" rIns="45720" bIns="27432" anchor="t">
            <a:spAutoFit/>
          </a:bodyPr>
          <a:lstStyle/>
          <a:p>
            <a:pPr algn="l">
              <a:spcAft>
                <a:spcPts val="600"/>
              </a:spcAft>
            </a:pPr>
            <a:r>
              <a:rPr sz="1700" b="0" i="0">
                <a:solidFill>
                  <a:srgbClr val="0072B2"/>
                </a:solidFill>
                <a:latin typeface="Calibri"/>
              </a:rPr>
              <a:t>Signs s: </a:t>
            </a:r>
            <a:r>
              <a:rPr sz="1700" b="0" i="0">
                <a:solidFill>
                  <a:srgbClr val="2B2B2B"/>
                </a:solidFill>
                <a:latin typeface="Calibri"/>
              </a:rPr>
              <a:t>+1 activation, −1 inhibition per PKN edge</a:t>
            </a:r>
          </a:p>
          <a:p>
            <a:pPr algn="l">
              <a:spcAft>
                <a:spcPts val="600"/>
              </a:spcAft>
            </a:pPr>
            <a:r>
              <a:rPr sz="1700" b="0" i="0">
                <a:solidFill>
                  <a:srgbClr val="0072B2"/>
                </a:solidFill>
                <a:latin typeface="Calibri"/>
              </a:rPr>
              <a:t>H: </a:t>
            </a:r>
            <a:r>
              <a:rPr sz="1700" b="0" i="0">
                <a:solidFill>
                  <a:srgbClr val="2B2B2B"/>
                </a:solidFill>
                <a:latin typeface="Calibri"/>
              </a:rPr>
              <a:t>tail indicator, H = max(−A, 0)</a:t>
            </a:r>
          </a:p>
          <a:p>
            <a:pPr algn="l">
              <a:spcAft>
                <a:spcPts val="600"/>
              </a:spcAft>
            </a:pPr>
            <a:r>
              <a:rPr sz="1700" b="0" i="0">
                <a:solidFill>
                  <a:srgbClr val="0072B2"/>
                </a:solidFill>
                <a:latin typeface="Calibri"/>
              </a:rPr>
              <a:t>Edge rule: </a:t>
            </a:r>
            <a:r>
              <a:rPr sz="1700" b="0" i="0">
                <a:solidFill>
                  <a:srgbClr val="2B2B2B"/>
                </a:solidFill>
                <a:latin typeface="Calibri"/>
              </a:rPr>
              <a:t>an edge can activate its head only if its tail is active and s = +1, or inhibited and s = −1</a:t>
            </a:r>
          </a:p>
          <a:p>
            <a:pPr algn="l">
              <a:spcAft>
                <a:spcPts val="600"/>
              </a:spcAft>
            </a:pPr>
            <a:r>
              <a:rPr sz="1700" b="0" i="0">
                <a:solidFill>
                  <a:srgbClr val="0072B2"/>
                </a:solidFill>
                <a:latin typeface="Calibri"/>
              </a:rPr>
              <a:t>Node rule: </a:t>
            </a:r>
            <a:r>
              <a:rPr sz="1700" b="0" i="0">
                <a:solidFill>
                  <a:srgbClr val="2B2B2B"/>
                </a:solidFill>
                <a:latin typeface="Calibri"/>
              </a:rPr>
              <a:t>up or down, never both</a:t>
            </a:r>
          </a:p>
          <a:p>
            <a:pPr algn="l">
              <a:spcAft>
                <a:spcPts val="600"/>
              </a:spcAft>
            </a:pPr>
            <a:r>
              <a:rPr sz="1700" b="0" i="0">
                <a:solidFill>
                  <a:srgbClr val="0072B2"/>
                </a:solidFill>
                <a:latin typeface="Calibri"/>
              </a:rPr>
              <a:t>Inputs P: </a:t>
            </a:r>
            <a:r>
              <a:rPr sz="1700" b="0" i="0">
                <a:solidFill>
                  <a:srgbClr val="2B2B2B"/>
                </a:solidFill>
                <a:latin typeface="Calibri"/>
              </a:rPr>
              <a:t>perturbed nodes fixed to their sign (all roots in inverse CARNIVAL)</a:t>
            </a:r>
          </a:p>
          <a:p>
            <a:pPr algn="l">
              <a:spcAft>
                <a:spcPts val="600"/>
              </a:spcAft>
            </a:pPr>
            <a:r>
              <a:rPr sz="1700" b="0" i="0">
                <a:solidFill>
                  <a:srgbClr val="D55E00"/>
                </a:solidFill>
                <a:latin typeface="Calibri"/>
              </a:rPr>
              <a:t>Error: </a:t>
            </a:r>
            <a:r>
              <a:rPr sz="1700" b="0" i="0">
                <a:solidFill>
                  <a:srgbClr val="2B2B2B"/>
                </a:solidFill>
                <a:latin typeface="Calibri"/>
              </a:rPr>
              <a:t>0 if the TF sign matches, |d| if off, 2|d| if opposite</a:t>
            </a:r>
          </a:p>
        </p:txBody>
      </p:sp>
      <p:sp>
        <p:nvSpPr>
          <p:cNvPr id="16" name="TextBox 15"/>
          <p:cNvSpPr txBox="1"/>
          <p:nvPr/>
        </p:nvSpPr>
        <p:spPr>
          <a:xfrm>
            <a:off x="6035040" y="5897880"/>
            <a:ext cx="5605272" cy="365760"/>
          </a:xfrm>
          <a:prstGeom prst="rect">
            <a:avLst/>
          </a:prstGeom>
          <a:noFill/>
        </p:spPr>
        <p:txBody>
          <a:bodyPr wrap="square" lIns="45720" tIns="27432" rIns="45720" bIns="27432" anchor="t">
            <a:spAutoFit/>
          </a:bodyPr>
          <a:lstStyle/>
          <a:p>
            <a:pPr algn="r">
              <a:spcAft>
                <a:spcPts val="800"/>
              </a:spcAft>
            </a:pPr>
            <a:r>
              <a:rPr sz="1200" b="0" i="0">
                <a:solidFill>
                  <a:srgbClr val="6B7280"/>
                </a:solidFill>
                <a:latin typeface="Calibri"/>
              </a:rPr>
              <a:t>Methods, “Sign-consistent intracellular signalling network (CARNIVAL)”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FBA: fluxes through a metabolic network at steady state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12</a:t>
            </a:r>
          </a:p>
        </p:txBody>
      </p:sp>
      <p:cxnSp>
        <p:nvCxnSpPr>
          <p:cNvPr id="6" name="Connector 5"/>
          <p:cNvCxnSpPr/>
          <p:nvPr/>
        </p:nvCxnSpPr>
        <p:spPr>
          <a:xfrm>
            <a:off x="457200" y="3657600"/>
            <a:ext cx="923543" cy="0"/>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2971800"/>
            <a:ext cx="685800" cy="411480"/>
          </a:xfrm>
          <a:prstGeom prst="rect">
            <a:avLst/>
          </a:prstGeom>
          <a:noFill/>
        </p:spPr>
        <p:txBody>
          <a:bodyPr wrap="square" lIns="45720" tIns="27432" rIns="45720" bIns="27432" anchor="t"/>
          <a:lstStyle/>
          <a:p>
            <a:pPr algn="ctr">
              <a:spcAft>
                <a:spcPts val="800"/>
              </a:spcAft>
            </a:pPr>
            <a:r>
              <a:rPr sz="2000" b="0" i="0">
                <a:solidFill>
                  <a:srgbClr val="1F2A44"/>
                </a:solidFill>
                <a:latin typeface="Calibri"/>
              </a:rPr>
              <a:t>v0</a:t>
            </a:r>
          </a:p>
        </p:txBody>
      </p:sp>
      <p:cxnSp>
        <p:nvCxnSpPr>
          <p:cNvPr id="8" name="Connector 7"/>
          <p:cNvCxnSpPr/>
          <p:nvPr/>
        </p:nvCxnSpPr>
        <p:spPr>
          <a:xfrm flipV="1">
            <a:off x="1995147" y="2644933"/>
            <a:ext cx="1017423" cy="807953"/>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783079" y="2423160"/>
            <a:ext cx="685800" cy="411480"/>
          </a:xfrm>
          <a:prstGeom prst="rect">
            <a:avLst/>
          </a:prstGeom>
          <a:noFill/>
        </p:spPr>
        <p:txBody>
          <a:bodyPr wrap="square" lIns="45720" tIns="27432" rIns="45720" bIns="27432" anchor="t"/>
          <a:lstStyle/>
          <a:p>
            <a:pPr algn="ctr">
              <a:spcAft>
                <a:spcPts val="800"/>
              </a:spcAft>
            </a:pPr>
            <a:r>
              <a:rPr sz="2000" b="0" i="0">
                <a:solidFill>
                  <a:srgbClr val="1F2A44"/>
                </a:solidFill>
                <a:latin typeface="Calibri"/>
              </a:rPr>
              <a:t>v1</a:t>
            </a:r>
          </a:p>
        </p:txBody>
      </p:sp>
      <p:cxnSp>
        <p:nvCxnSpPr>
          <p:cNvPr id="10" name="Connector 9"/>
          <p:cNvCxnSpPr/>
          <p:nvPr/>
        </p:nvCxnSpPr>
        <p:spPr>
          <a:xfrm>
            <a:off x="1995147" y="3862313"/>
            <a:ext cx="1017423" cy="807953"/>
          </a:xfrm>
          <a:prstGeom prst="line">
            <a:avLst/>
          </a:prstGeom>
          <a:ln w="19050">
            <a:solidFill>
              <a:srgbClr val="AAB0B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783079" y="4160520"/>
            <a:ext cx="685800" cy="411480"/>
          </a:xfrm>
          <a:prstGeom prst="rect">
            <a:avLst/>
          </a:prstGeom>
          <a:noFill/>
        </p:spPr>
        <p:txBody>
          <a:bodyPr wrap="square" lIns="45720" tIns="27432" rIns="45720" bIns="27432" anchor="t"/>
          <a:lstStyle/>
          <a:p>
            <a:pPr algn="ctr">
              <a:spcAft>
                <a:spcPts val="800"/>
              </a:spcAft>
            </a:pPr>
            <a:r>
              <a:rPr sz="2000" b="0" i="0">
                <a:solidFill>
                  <a:srgbClr val="AAB0BA"/>
                </a:solidFill>
                <a:latin typeface="Calibri"/>
              </a:rPr>
              <a:t>v2</a:t>
            </a:r>
          </a:p>
        </p:txBody>
      </p:sp>
      <p:cxnSp>
        <p:nvCxnSpPr>
          <p:cNvPr id="12" name="Connector 11"/>
          <p:cNvCxnSpPr/>
          <p:nvPr/>
        </p:nvCxnSpPr>
        <p:spPr>
          <a:xfrm>
            <a:off x="3549627" y="2627873"/>
            <a:ext cx="1017423" cy="807953"/>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886200" y="2423160"/>
            <a:ext cx="685800" cy="411480"/>
          </a:xfrm>
          <a:prstGeom prst="rect">
            <a:avLst/>
          </a:prstGeom>
          <a:noFill/>
        </p:spPr>
        <p:txBody>
          <a:bodyPr wrap="square" lIns="45720" tIns="27432" rIns="45720" bIns="27432" anchor="t"/>
          <a:lstStyle/>
          <a:p>
            <a:pPr algn="ctr">
              <a:spcAft>
                <a:spcPts val="800"/>
              </a:spcAft>
            </a:pPr>
            <a:r>
              <a:rPr sz="2000" b="0" i="0">
                <a:solidFill>
                  <a:srgbClr val="1F2A44"/>
                </a:solidFill>
                <a:latin typeface="Calibri"/>
              </a:rPr>
              <a:t>v3</a:t>
            </a:r>
          </a:p>
        </p:txBody>
      </p:sp>
      <p:cxnSp>
        <p:nvCxnSpPr>
          <p:cNvPr id="14" name="Connector 13"/>
          <p:cNvCxnSpPr/>
          <p:nvPr/>
        </p:nvCxnSpPr>
        <p:spPr>
          <a:xfrm flipV="1">
            <a:off x="3549627" y="3879373"/>
            <a:ext cx="1017423" cy="807953"/>
          </a:xfrm>
          <a:prstGeom prst="line">
            <a:avLst/>
          </a:prstGeom>
          <a:ln w="19050">
            <a:solidFill>
              <a:srgbClr val="AAB0B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886200" y="4160520"/>
            <a:ext cx="685800" cy="411480"/>
          </a:xfrm>
          <a:prstGeom prst="rect">
            <a:avLst/>
          </a:prstGeom>
          <a:noFill/>
        </p:spPr>
        <p:txBody>
          <a:bodyPr wrap="square" lIns="45720" tIns="27432" rIns="45720" bIns="27432" anchor="t"/>
          <a:lstStyle/>
          <a:p>
            <a:pPr algn="ctr">
              <a:spcAft>
                <a:spcPts val="800"/>
              </a:spcAft>
            </a:pPr>
            <a:r>
              <a:rPr sz="2000" b="0" i="0">
                <a:solidFill>
                  <a:srgbClr val="AAB0BA"/>
                </a:solidFill>
                <a:latin typeface="Calibri"/>
              </a:rPr>
              <a:t>v4</a:t>
            </a:r>
          </a:p>
        </p:txBody>
      </p:sp>
      <p:cxnSp>
        <p:nvCxnSpPr>
          <p:cNvPr id="16" name="Connector 15"/>
          <p:cNvCxnSpPr/>
          <p:nvPr/>
        </p:nvCxnSpPr>
        <p:spPr>
          <a:xfrm>
            <a:off x="5175504" y="3657600"/>
            <a:ext cx="740664" cy="0"/>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0" y="2971800"/>
            <a:ext cx="685800" cy="411480"/>
          </a:xfrm>
          <a:prstGeom prst="rect">
            <a:avLst/>
          </a:prstGeom>
          <a:noFill/>
        </p:spPr>
        <p:txBody>
          <a:bodyPr wrap="square" lIns="45720" tIns="27432" rIns="45720" bIns="27432" anchor="t"/>
          <a:lstStyle/>
          <a:p>
            <a:pPr algn="ctr">
              <a:spcAft>
                <a:spcPts val="800"/>
              </a:spcAft>
            </a:pPr>
            <a:r>
              <a:rPr sz="2000" b="0" i="0">
                <a:solidFill>
                  <a:srgbClr val="1F2A44"/>
                </a:solidFill>
                <a:latin typeface="Calibri"/>
              </a:rPr>
              <a:t>bio</a:t>
            </a:r>
          </a:p>
        </p:txBody>
      </p:sp>
      <p:sp>
        <p:nvSpPr>
          <p:cNvPr id="18" name="Oval 17"/>
          <p:cNvSpPr/>
          <p:nvPr/>
        </p:nvSpPr>
        <p:spPr>
          <a:xfrm>
            <a:off x="1408176" y="3328416"/>
            <a:ext cx="658368" cy="658368"/>
          </a:xfrm>
          <a:prstGeom prst="ellipse">
            <a:avLst/>
          </a:prstGeom>
          <a:solidFill>
            <a:srgbClr val="FFF4DE"/>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A</a:t>
            </a:r>
          </a:p>
        </p:txBody>
      </p:sp>
      <p:sp>
        <p:nvSpPr>
          <p:cNvPr id="19" name="Oval 18"/>
          <p:cNvSpPr/>
          <p:nvPr/>
        </p:nvSpPr>
        <p:spPr>
          <a:xfrm>
            <a:off x="2962656" y="2093976"/>
            <a:ext cx="658368" cy="658368"/>
          </a:xfrm>
          <a:prstGeom prst="ellipse">
            <a:avLst/>
          </a:prstGeom>
          <a:solidFill>
            <a:srgbClr val="FFF4DE"/>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B</a:t>
            </a:r>
          </a:p>
        </p:txBody>
      </p:sp>
      <p:sp>
        <p:nvSpPr>
          <p:cNvPr id="20" name="Oval 19"/>
          <p:cNvSpPr/>
          <p:nvPr/>
        </p:nvSpPr>
        <p:spPr>
          <a:xfrm>
            <a:off x="2962656" y="4562855"/>
            <a:ext cx="658368" cy="658368"/>
          </a:xfrm>
          <a:prstGeom prst="ellipse">
            <a:avLst/>
          </a:prstGeom>
          <a:solidFill>
            <a:srgbClr val="FFF4DE"/>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D</a:t>
            </a:r>
          </a:p>
        </p:txBody>
      </p:sp>
      <p:sp>
        <p:nvSpPr>
          <p:cNvPr id="21" name="Oval 20"/>
          <p:cNvSpPr/>
          <p:nvPr/>
        </p:nvSpPr>
        <p:spPr>
          <a:xfrm>
            <a:off x="4517136" y="3328416"/>
            <a:ext cx="658368" cy="658368"/>
          </a:xfrm>
          <a:prstGeom prst="ellipse">
            <a:avLst/>
          </a:prstGeom>
          <a:solidFill>
            <a:srgbClr val="FFF4DE"/>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C</a:t>
            </a:r>
          </a:p>
        </p:txBody>
      </p:sp>
      <p:sp>
        <p:nvSpPr>
          <p:cNvPr id="22" name="TextBox 21"/>
          <p:cNvSpPr txBox="1"/>
          <p:nvPr/>
        </p:nvSpPr>
        <p:spPr>
          <a:xfrm>
            <a:off x="548640" y="5440680"/>
            <a:ext cx="5669280" cy="457200"/>
          </a:xfrm>
          <a:prstGeom prst="rect">
            <a:avLst/>
          </a:prstGeom>
          <a:noFill/>
        </p:spPr>
        <p:txBody>
          <a:bodyPr wrap="square" lIns="45720" tIns="27432" rIns="45720" bIns="27432" anchor="t"/>
          <a:lstStyle/>
          <a:p>
            <a:pPr algn="ctr">
              <a:spcAft>
                <a:spcPts val="800"/>
              </a:spcAft>
            </a:pPr>
            <a:r>
              <a:rPr sz="2000" b="0" i="0">
                <a:solidFill>
                  <a:srgbClr val="6B7280"/>
                </a:solidFill>
                <a:latin typeface="Calibri"/>
              </a:rPr>
              <a:t>dark = one optimal flux route</a:t>
            </a:r>
          </a:p>
        </p:txBody>
      </p:sp>
      <p:sp>
        <p:nvSpPr>
          <p:cNvPr id="23" name="TextBox 22"/>
          <p:cNvSpPr txBox="1"/>
          <p:nvPr/>
        </p:nvSpPr>
        <p:spPr>
          <a:xfrm>
            <a:off x="6400800" y="1463040"/>
            <a:ext cx="5303520" cy="4572000"/>
          </a:xfrm>
          <a:prstGeom prst="rect">
            <a:avLst/>
          </a:prstGeom>
          <a:noFill/>
        </p:spPr>
        <p:txBody>
          <a:bodyPr wrap="square" lIns="45720" tIns="27432" rIns="45720" bIns="27432" anchor="t"/>
          <a:lstStyle/>
          <a:p>
            <a:pPr algn="l">
              <a:spcAft>
                <a:spcPts val="1800"/>
              </a:spcAft>
            </a:pPr>
            <a:r>
              <a:rPr sz="2000" b="0" i="0">
                <a:solidFill>
                  <a:srgbClr val="0072B2"/>
                </a:solidFill>
                <a:latin typeface="Calibri"/>
              </a:rPr>
              <a:t>Steady state: </a:t>
            </a:r>
            <a:r>
              <a:rPr sz="2000" b="0" i="0">
                <a:solidFill>
                  <a:srgbClr val="2B2B2B"/>
                </a:solidFill>
                <a:latin typeface="Calibri"/>
              </a:rPr>
              <a:t>S v = 0</a:t>
            </a:r>
          </a:p>
          <a:p>
            <a:pPr algn="l">
              <a:spcAft>
                <a:spcPts val="1800"/>
              </a:spcAft>
            </a:pPr>
            <a:r>
              <a:rPr sz="2000" b="0" i="0">
                <a:solidFill>
                  <a:srgbClr val="0072B2"/>
                </a:solidFill>
                <a:latin typeface="Calibri"/>
              </a:rPr>
              <a:t>Bounds: </a:t>
            </a:r>
            <a:r>
              <a:rPr sz="2000" b="0" i="0">
                <a:solidFill>
                  <a:srgbClr val="2B2B2B"/>
                </a:solidFill>
                <a:latin typeface="Calibri"/>
              </a:rPr>
              <a:t>lb ≤ v ≤ ub</a:t>
            </a:r>
          </a:p>
          <a:p>
            <a:pPr algn="l">
              <a:spcAft>
                <a:spcPts val="1800"/>
              </a:spcAft>
            </a:pPr>
            <a:r>
              <a:rPr sz="2000" b="0" i="0">
                <a:solidFill>
                  <a:srgbClr val="0072B2"/>
                </a:solidFill>
                <a:latin typeface="Calibri"/>
              </a:rPr>
              <a:t>Objective: </a:t>
            </a:r>
            <a:r>
              <a:rPr sz="2000" b="0" i="0">
                <a:solidFill>
                  <a:srgbClr val="2B2B2B"/>
                </a:solidFill>
                <a:latin typeface="Calibri"/>
              </a:rPr>
              <a:t>maximise biomass flux (LP)</a:t>
            </a:r>
          </a:p>
          <a:p>
            <a:pPr algn="l">
              <a:spcAft>
                <a:spcPts val="1800"/>
              </a:spcAft>
            </a:pPr>
            <a:r>
              <a:rPr sz="2000" b="0" i="0">
                <a:solidFill>
                  <a:srgbClr val="D55E00"/>
                </a:solidFill>
                <a:latin typeface="Calibri"/>
              </a:rPr>
              <a:t>Sparse FBA: </a:t>
            </a:r>
            <a:r>
              <a:rPr sz="2000" b="0" i="0">
                <a:solidFill>
                  <a:srgbClr val="2B2B2B"/>
                </a:solidFill>
                <a:latin typeface="Calibri"/>
              </a:rPr>
              <a:t>fewest active reactions with biomass ≥ x% of max (MILP)</a:t>
            </a:r>
          </a:p>
        </p:txBody>
      </p:sp>
      <p:sp>
        <p:nvSpPr>
          <p:cNvPr id="24" name="TextBox 23"/>
          <p:cNvSpPr txBox="1"/>
          <p:nvPr/>
        </p:nvSpPr>
        <p:spPr>
          <a:xfrm>
            <a:off x="6400800" y="5897880"/>
            <a:ext cx="5303520" cy="365760"/>
          </a:xfrm>
          <a:prstGeom prst="rect">
            <a:avLst/>
          </a:prstGeom>
          <a:noFill/>
        </p:spPr>
        <p:txBody>
          <a:bodyPr wrap="square" lIns="45720" tIns="27432" rIns="45720" bIns="27432" anchor="t"/>
          <a:lstStyle/>
          <a:p>
            <a:pPr algn="l">
              <a:spcAft>
                <a:spcPts val="800"/>
              </a:spcAft>
            </a:pPr>
            <a:r>
              <a:rPr sz="1200" b="0" i="0">
                <a:solidFill>
                  <a:srgbClr val="6B7280"/>
                </a:solidFill>
                <a:latin typeface="Calibri"/>
              </a:rPr>
              <a:t>Orth, Thiele &amp; Palsson, Nat Biotechnol 2010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iMAT: a metabolic network that agrees with expression</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13</a:t>
            </a:r>
          </a:p>
        </p:txBody>
      </p:sp>
      <p:cxnSp>
        <p:nvCxnSpPr>
          <p:cNvPr id="6" name="Connector 5"/>
          <p:cNvCxnSpPr/>
          <p:nvPr/>
        </p:nvCxnSpPr>
        <p:spPr>
          <a:xfrm>
            <a:off x="457200" y="3657600"/>
            <a:ext cx="923543" cy="0"/>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2971800"/>
            <a:ext cx="685800" cy="411480"/>
          </a:xfrm>
          <a:prstGeom prst="rect">
            <a:avLst/>
          </a:prstGeom>
          <a:noFill/>
        </p:spPr>
        <p:txBody>
          <a:bodyPr wrap="square" lIns="45720" tIns="27432" rIns="45720" bIns="27432" anchor="t"/>
          <a:lstStyle/>
          <a:p>
            <a:pPr algn="ctr">
              <a:spcAft>
                <a:spcPts val="800"/>
              </a:spcAft>
            </a:pPr>
            <a:r>
              <a:rPr sz="2000" b="0" i="0">
                <a:solidFill>
                  <a:srgbClr val="1F2A44"/>
                </a:solidFill>
                <a:latin typeface="Calibri"/>
              </a:rPr>
              <a:t>v0</a:t>
            </a:r>
          </a:p>
        </p:txBody>
      </p:sp>
      <p:cxnSp>
        <p:nvCxnSpPr>
          <p:cNvPr id="8" name="Connector 7"/>
          <p:cNvCxnSpPr/>
          <p:nvPr/>
        </p:nvCxnSpPr>
        <p:spPr>
          <a:xfrm flipV="1">
            <a:off x="1995147" y="2644933"/>
            <a:ext cx="1017423" cy="807953"/>
          </a:xfrm>
          <a:prstGeom prst="line">
            <a:avLst/>
          </a:prstGeom>
          <a:ln w="4445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783079" y="2423160"/>
            <a:ext cx="685800" cy="411480"/>
          </a:xfrm>
          <a:prstGeom prst="rect">
            <a:avLst/>
          </a:prstGeom>
          <a:noFill/>
        </p:spPr>
        <p:txBody>
          <a:bodyPr wrap="square" lIns="45720" tIns="27432" rIns="45720" bIns="27432" anchor="t"/>
          <a:lstStyle/>
          <a:p>
            <a:pPr algn="ctr">
              <a:spcAft>
                <a:spcPts val="800"/>
              </a:spcAft>
            </a:pPr>
            <a:r>
              <a:rPr sz="2000" b="0" i="0">
                <a:solidFill>
                  <a:srgbClr val="C0392B"/>
                </a:solidFill>
                <a:latin typeface="Calibri"/>
              </a:rPr>
              <a:t>v1</a:t>
            </a:r>
          </a:p>
        </p:txBody>
      </p:sp>
      <p:cxnSp>
        <p:nvCxnSpPr>
          <p:cNvPr id="10" name="Connector 9"/>
          <p:cNvCxnSpPr/>
          <p:nvPr/>
        </p:nvCxnSpPr>
        <p:spPr>
          <a:xfrm>
            <a:off x="1995147" y="3862313"/>
            <a:ext cx="1017423" cy="807953"/>
          </a:xfrm>
          <a:prstGeom prst="line">
            <a:avLst/>
          </a:prstGeom>
          <a:ln w="19050">
            <a:solidFill>
              <a:srgbClr val="2C6F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783079" y="4160520"/>
            <a:ext cx="685800" cy="411480"/>
          </a:xfrm>
          <a:prstGeom prst="rect">
            <a:avLst/>
          </a:prstGeom>
          <a:noFill/>
        </p:spPr>
        <p:txBody>
          <a:bodyPr wrap="square" lIns="45720" tIns="27432" rIns="45720" bIns="27432" anchor="t"/>
          <a:lstStyle/>
          <a:p>
            <a:pPr algn="ctr">
              <a:spcAft>
                <a:spcPts val="800"/>
              </a:spcAft>
            </a:pPr>
            <a:r>
              <a:rPr sz="2000" b="0" i="0">
                <a:solidFill>
                  <a:srgbClr val="2C6FB7"/>
                </a:solidFill>
                <a:latin typeface="Calibri"/>
              </a:rPr>
              <a:t>v2</a:t>
            </a:r>
          </a:p>
        </p:txBody>
      </p:sp>
      <p:cxnSp>
        <p:nvCxnSpPr>
          <p:cNvPr id="12" name="Connector 11"/>
          <p:cNvCxnSpPr/>
          <p:nvPr/>
        </p:nvCxnSpPr>
        <p:spPr>
          <a:xfrm>
            <a:off x="3549627" y="2627873"/>
            <a:ext cx="1017423" cy="807953"/>
          </a:xfrm>
          <a:prstGeom prst="line">
            <a:avLst/>
          </a:prstGeom>
          <a:ln w="44450">
            <a:solidFill>
              <a:srgbClr val="C039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886200" y="2423160"/>
            <a:ext cx="685800" cy="411480"/>
          </a:xfrm>
          <a:prstGeom prst="rect">
            <a:avLst/>
          </a:prstGeom>
          <a:noFill/>
        </p:spPr>
        <p:txBody>
          <a:bodyPr wrap="square" lIns="45720" tIns="27432" rIns="45720" bIns="27432" anchor="t"/>
          <a:lstStyle/>
          <a:p>
            <a:pPr algn="ctr">
              <a:spcAft>
                <a:spcPts val="800"/>
              </a:spcAft>
            </a:pPr>
            <a:r>
              <a:rPr sz="2000" b="0" i="0">
                <a:solidFill>
                  <a:srgbClr val="C0392B"/>
                </a:solidFill>
                <a:latin typeface="Calibri"/>
              </a:rPr>
              <a:t>v3</a:t>
            </a:r>
          </a:p>
        </p:txBody>
      </p:sp>
      <p:cxnSp>
        <p:nvCxnSpPr>
          <p:cNvPr id="14" name="Connector 13"/>
          <p:cNvCxnSpPr/>
          <p:nvPr/>
        </p:nvCxnSpPr>
        <p:spPr>
          <a:xfrm flipV="1">
            <a:off x="3549627" y="3879373"/>
            <a:ext cx="1017423" cy="807953"/>
          </a:xfrm>
          <a:prstGeom prst="line">
            <a:avLst/>
          </a:prstGeom>
          <a:ln w="19050">
            <a:solidFill>
              <a:srgbClr val="8A90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886200" y="4160520"/>
            <a:ext cx="685800" cy="411480"/>
          </a:xfrm>
          <a:prstGeom prst="rect">
            <a:avLst/>
          </a:prstGeom>
          <a:noFill/>
        </p:spPr>
        <p:txBody>
          <a:bodyPr wrap="square" lIns="45720" tIns="27432" rIns="45720" bIns="27432" anchor="t"/>
          <a:lstStyle/>
          <a:p>
            <a:pPr algn="ctr">
              <a:spcAft>
                <a:spcPts val="800"/>
              </a:spcAft>
            </a:pPr>
            <a:r>
              <a:rPr sz="2000" b="0" i="0">
                <a:solidFill>
                  <a:srgbClr val="8A9099"/>
                </a:solidFill>
                <a:latin typeface="Calibri"/>
              </a:rPr>
              <a:t>v4</a:t>
            </a:r>
          </a:p>
        </p:txBody>
      </p:sp>
      <p:cxnSp>
        <p:nvCxnSpPr>
          <p:cNvPr id="16" name="Connector 15"/>
          <p:cNvCxnSpPr/>
          <p:nvPr/>
        </p:nvCxnSpPr>
        <p:spPr>
          <a:xfrm>
            <a:off x="5175504" y="3657600"/>
            <a:ext cx="740664" cy="0"/>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0" y="2971800"/>
            <a:ext cx="685800" cy="411480"/>
          </a:xfrm>
          <a:prstGeom prst="rect">
            <a:avLst/>
          </a:prstGeom>
          <a:noFill/>
        </p:spPr>
        <p:txBody>
          <a:bodyPr wrap="square" lIns="45720" tIns="27432" rIns="45720" bIns="27432" anchor="t"/>
          <a:lstStyle/>
          <a:p>
            <a:pPr algn="ctr">
              <a:spcAft>
                <a:spcPts val="800"/>
              </a:spcAft>
            </a:pPr>
            <a:r>
              <a:rPr sz="2000" b="0" i="0">
                <a:solidFill>
                  <a:srgbClr val="1F2A44"/>
                </a:solidFill>
                <a:latin typeface="Calibri"/>
              </a:rPr>
              <a:t>bio</a:t>
            </a:r>
          </a:p>
        </p:txBody>
      </p:sp>
      <p:sp>
        <p:nvSpPr>
          <p:cNvPr id="18" name="Oval 17"/>
          <p:cNvSpPr/>
          <p:nvPr/>
        </p:nvSpPr>
        <p:spPr>
          <a:xfrm>
            <a:off x="1408176" y="3328416"/>
            <a:ext cx="658368" cy="658368"/>
          </a:xfrm>
          <a:prstGeom prst="ellipse">
            <a:avLst/>
          </a:prstGeom>
          <a:solidFill>
            <a:srgbClr val="FFF4DE"/>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A</a:t>
            </a:r>
          </a:p>
        </p:txBody>
      </p:sp>
      <p:sp>
        <p:nvSpPr>
          <p:cNvPr id="19" name="Oval 18"/>
          <p:cNvSpPr/>
          <p:nvPr/>
        </p:nvSpPr>
        <p:spPr>
          <a:xfrm>
            <a:off x="2962656" y="2093976"/>
            <a:ext cx="658368" cy="658368"/>
          </a:xfrm>
          <a:prstGeom prst="ellipse">
            <a:avLst/>
          </a:prstGeom>
          <a:solidFill>
            <a:srgbClr val="FFF4DE"/>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B</a:t>
            </a:r>
          </a:p>
        </p:txBody>
      </p:sp>
      <p:sp>
        <p:nvSpPr>
          <p:cNvPr id="20" name="Oval 19"/>
          <p:cNvSpPr/>
          <p:nvPr/>
        </p:nvSpPr>
        <p:spPr>
          <a:xfrm>
            <a:off x="2962656" y="4562855"/>
            <a:ext cx="658368" cy="658368"/>
          </a:xfrm>
          <a:prstGeom prst="ellipse">
            <a:avLst/>
          </a:prstGeom>
          <a:solidFill>
            <a:srgbClr val="FFF4DE"/>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D</a:t>
            </a:r>
          </a:p>
        </p:txBody>
      </p:sp>
      <p:sp>
        <p:nvSpPr>
          <p:cNvPr id="21" name="Oval 20"/>
          <p:cNvSpPr/>
          <p:nvPr/>
        </p:nvSpPr>
        <p:spPr>
          <a:xfrm>
            <a:off x="4517136" y="3328416"/>
            <a:ext cx="658368" cy="658368"/>
          </a:xfrm>
          <a:prstGeom prst="ellipse">
            <a:avLst/>
          </a:prstGeom>
          <a:solidFill>
            <a:srgbClr val="FFF4DE"/>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C</a:t>
            </a:r>
          </a:p>
        </p:txBody>
      </p:sp>
      <p:sp>
        <p:nvSpPr>
          <p:cNvPr id="22" name="TextBox 21"/>
          <p:cNvSpPr txBox="1"/>
          <p:nvPr/>
        </p:nvSpPr>
        <p:spPr>
          <a:xfrm>
            <a:off x="548640" y="5440680"/>
            <a:ext cx="5669280" cy="457200"/>
          </a:xfrm>
          <a:prstGeom prst="rect">
            <a:avLst/>
          </a:prstGeom>
          <a:noFill/>
        </p:spPr>
        <p:txBody>
          <a:bodyPr wrap="square" lIns="45720" tIns="27432" rIns="45720" bIns="27432" anchor="t"/>
          <a:lstStyle/>
          <a:p>
            <a:pPr algn="ctr">
              <a:spcAft>
                <a:spcPts val="800"/>
              </a:spcAft>
            </a:pPr>
            <a:r>
              <a:rPr sz="2000" b="0" i="0">
                <a:solidFill>
                  <a:srgbClr val="C0392B"/>
                </a:solidFill>
                <a:latin typeface="Calibri"/>
              </a:rPr>
              <a:t>high</a:t>
            </a:r>
            <a:r>
              <a:rPr sz="2000" b="0" i="0">
                <a:solidFill>
                  <a:srgbClr val="2B2B2B"/>
                </a:solidFill>
                <a:latin typeface="Calibri"/>
              </a:rPr>
              <a:t>   </a:t>
            </a:r>
            <a:r>
              <a:rPr sz="2000" b="0" i="0">
                <a:solidFill>
                  <a:srgbClr val="2C6FB7"/>
                </a:solidFill>
                <a:latin typeface="Calibri"/>
              </a:rPr>
              <a:t>low</a:t>
            </a:r>
            <a:r>
              <a:rPr sz="2000" b="0" i="0">
                <a:solidFill>
                  <a:srgbClr val="2B2B2B"/>
                </a:solidFill>
                <a:latin typeface="Calibri"/>
              </a:rPr>
              <a:t>   </a:t>
            </a:r>
            <a:r>
              <a:rPr sz="2000" b="0" i="0">
                <a:solidFill>
                  <a:srgbClr val="8A9099"/>
                </a:solidFill>
                <a:latin typeface="Calibri"/>
              </a:rPr>
              <a:t>uncertain</a:t>
            </a:r>
          </a:p>
        </p:txBody>
      </p:sp>
      <p:sp>
        <p:nvSpPr>
          <p:cNvPr id="23" name="TextBox 22"/>
          <p:cNvSpPr txBox="1"/>
          <p:nvPr/>
        </p:nvSpPr>
        <p:spPr>
          <a:xfrm>
            <a:off x="6400800" y="1463040"/>
            <a:ext cx="5303520" cy="4572000"/>
          </a:xfrm>
          <a:prstGeom prst="rect">
            <a:avLst/>
          </a:prstGeom>
          <a:noFill/>
        </p:spPr>
        <p:txBody>
          <a:bodyPr wrap="square" lIns="45720" tIns="27432" rIns="45720" bIns="27432" anchor="t"/>
          <a:lstStyle/>
          <a:p>
            <a:pPr algn="l">
              <a:spcAft>
                <a:spcPts val="1800"/>
              </a:spcAft>
            </a:pPr>
            <a:r>
              <a:rPr sz="2000" b="0" i="0">
                <a:solidFill>
                  <a:srgbClr val="0072B2"/>
                </a:solidFill>
                <a:latin typeface="Calibri"/>
              </a:rPr>
              <a:t>Map: </a:t>
            </a:r>
            <a:r>
              <a:rPr sz="2000" b="0" i="0">
                <a:solidFill>
                  <a:srgbClr val="2B2B2B"/>
                </a:solidFill>
                <a:latin typeface="Calibri"/>
              </a:rPr>
              <a:t>expression → reaction score via gene–protein–reaction rules</a:t>
            </a:r>
          </a:p>
          <a:p>
            <a:pPr algn="l">
              <a:spcAft>
                <a:spcPts val="1800"/>
              </a:spcAft>
            </a:pPr>
            <a:r>
              <a:rPr sz="2000" b="0" i="0">
                <a:solidFill>
                  <a:srgbClr val="0072B2"/>
                </a:solidFill>
                <a:latin typeface="Calibri"/>
              </a:rPr>
              <a:t>Classes: </a:t>
            </a:r>
            <a:r>
              <a:rPr sz="2000" b="0" i="0">
                <a:solidFill>
                  <a:srgbClr val="2B2B2B"/>
                </a:solidFill>
                <a:latin typeface="Calibri"/>
              </a:rPr>
              <a:t>high, low, uncertain</a:t>
            </a:r>
          </a:p>
          <a:p>
            <a:pPr algn="l">
              <a:spcAft>
                <a:spcPts val="1800"/>
              </a:spcAft>
            </a:pPr>
            <a:r>
              <a:rPr sz="2000" b="0" i="0">
                <a:solidFill>
                  <a:srgbClr val="0072B2"/>
                </a:solidFill>
                <a:latin typeface="Calibri"/>
              </a:rPr>
              <a:t>Maximise: </a:t>
            </a:r>
            <a:r>
              <a:rPr sz="2000" b="0" i="0">
                <a:solidFill>
                  <a:srgbClr val="2B2B2B"/>
                </a:solidFill>
                <a:latin typeface="Calibri"/>
              </a:rPr>
              <a:t>high reactions on + low reactions off</a:t>
            </a:r>
          </a:p>
          <a:p>
            <a:pPr algn="l">
              <a:spcAft>
                <a:spcPts val="1800"/>
              </a:spcAft>
            </a:pPr>
            <a:r>
              <a:rPr sz="2000" b="0" i="0">
                <a:solidFill>
                  <a:srgbClr val="0072B2"/>
                </a:solidFill>
                <a:latin typeface="Calibri"/>
              </a:rPr>
              <a:t>Subject to: </a:t>
            </a:r>
            <a:r>
              <a:rPr sz="2000" b="0" i="0">
                <a:solidFill>
                  <a:srgbClr val="2B2B2B"/>
                </a:solidFill>
                <a:latin typeface="Calibri"/>
              </a:rPr>
              <a:t>FBA constraints (MILP)</a:t>
            </a:r>
          </a:p>
        </p:txBody>
      </p:sp>
      <p:sp>
        <p:nvSpPr>
          <p:cNvPr id="24" name="TextBox 23"/>
          <p:cNvSpPr txBox="1"/>
          <p:nvPr/>
        </p:nvSpPr>
        <p:spPr>
          <a:xfrm>
            <a:off x="6400800" y="5897880"/>
            <a:ext cx="5303520" cy="365760"/>
          </a:xfrm>
          <a:prstGeom prst="rect">
            <a:avLst/>
          </a:prstGeom>
          <a:noFill/>
        </p:spPr>
        <p:txBody>
          <a:bodyPr wrap="square" lIns="45720" tIns="27432" rIns="45720" bIns="27432" anchor="t"/>
          <a:lstStyle/>
          <a:p>
            <a:pPr algn="l">
              <a:spcAft>
                <a:spcPts val="800"/>
              </a:spcAft>
            </a:pPr>
            <a:r>
              <a:rPr sz="1200" b="0" i="0">
                <a:solidFill>
                  <a:srgbClr val="6B7280"/>
                </a:solidFill>
                <a:latin typeface="Calibri"/>
              </a:rPr>
              <a:t>Shlomi et al., Nat Biotechnol 2008</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950976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The math: FBA, sparse FBA and iMAT</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14</a:t>
            </a:r>
          </a:p>
        </p:txBody>
      </p:sp>
      <p:sp>
        <p:nvSpPr>
          <p:cNvPr id="6" name="Rounded Rectangle 5"/>
          <p:cNvSpPr/>
          <p:nvPr/>
        </p:nvSpPr>
        <p:spPr>
          <a:xfrm>
            <a:off x="10287000" y="475488"/>
            <a:ext cx="1325880" cy="384048"/>
          </a:xfrm>
          <a:prstGeom prst="roundRect">
            <a:avLst>
              <a:gd name="adj" fmla="val 50000"/>
            </a:avLst>
          </a:prstGeom>
          <a:solidFill>
            <a:srgbClr val="E3EEF7"/>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200" b="1">
                <a:solidFill>
                  <a:srgbClr val="0072B2"/>
                </a:solidFill>
                <a:latin typeface="Calibri"/>
              </a:rPr>
              <a:t>THE MATH</a:t>
            </a:r>
          </a:p>
        </p:txBody>
      </p:sp>
      <p:sp>
        <p:nvSpPr>
          <p:cNvPr id="7" name="Rounded Rectangle 6"/>
          <p:cNvSpPr/>
          <p:nvPr/>
        </p:nvSpPr>
        <p:spPr>
          <a:xfrm>
            <a:off x="548640" y="1325880"/>
            <a:ext cx="11091672" cy="957193"/>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3232" y="1417320"/>
            <a:ext cx="2103120" cy="411480"/>
          </a:xfrm>
          <a:prstGeom prst="rect">
            <a:avLst/>
          </a:prstGeom>
          <a:noFill/>
        </p:spPr>
        <p:txBody>
          <a:bodyPr wrap="square" lIns="45720" tIns="27432" rIns="45720" bIns="27432" anchor="t">
            <a:spAutoFit/>
          </a:bodyPr>
          <a:lstStyle/>
          <a:p>
            <a:pPr algn="l">
              <a:spcAft>
                <a:spcPts val="800"/>
              </a:spcAft>
            </a:pPr>
            <a:r>
              <a:rPr sz="1700" b="1" i="0">
                <a:solidFill>
                  <a:srgbClr val="0072B2"/>
                </a:solidFill>
                <a:latin typeface="Calibri"/>
              </a:rPr>
              <a:t>FBA</a:t>
            </a:r>
          </a:p>
        </p:txBody>
      </p:sp>
      <p:pic>
        <p:nvPicPr>
          <p:cNvPr id="9" name="Picture 8" descr="fba.png"/>
          <p:cNvPicPr>
            <a:picLocks noChangeAspect="1"/>
          </p:cNvPicPr>
          <p:nvPr/>
        </p:nvPicPr>
        <p:blipFill>
          <a:blip r:embed="rId3"/>
          <a:stretch>
            <a:fillRect/>
          </a:stretch>
        </p:blipFill>
        <p:spPr>
          <a:xfrm>
            <a:off x="2743200" y="1417320"/>
            <a:ext cx="3775252" cy="390265"/>
          </a:xfrm>
          <a:prstGeom prst="rect">
            <a:avLst/>
          </a:prstGeom>
        </p:spPr>
      </p:pic>
      <p:sp>
        <p:nvSpPr>
          <p:cNvPr id="10" name="TextBox 9"/>
          <p:cNvSpPr txBox="1"/>
          <p:nvPr/>
        </p:nvSpPr>
        <p:spPr>
          <a:xfrm>
            <a:off x="2743200" y="1844161"/>
            <a:ext cx="8778240" cy="310896"/>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LP: maximise e.g. biomass flux at steady state</a:t>
            </a:r>
          </a:p>
        </p:txBody>
      </p:sp>
      <p:sp>
        <p:nvSpPr>
          <p:cNvPr id="11" name="Rounded Rectangle 10"/>
          <p:cNvSpPr/>
          <p:nvPr/>
        </p:nvSpPr>
        <p:spPr>
          <a:xfrm>
            <a:off x="548640" y="2374513"/>
            <a:ext cx="11091672" cy="1148974"/>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2465953"/>
            <a:ext cx="2103120" cy="411480"/>
          </a:xfrm>
          <a:prstGeom prst="rect">
            <a:avLst/>
          </a:prstGeom>
          <a:noFill/>
        </p:spPr>
        <p:txBody>
          <a:bodyPr wrap="square" lIns="45720" tIns="27432" rIns="45720" bIns="27432" anchor="t">
            <a:spAutoFit/>
          </a:bodyPr>
          <a:lstStyle/>
          <a:p>
            <a:pPr algn="l">
              <a:spcAft>
                <a:spcPts val="800"/>
              </a:spcAft>
            </a:pPr>
            <a:r>
              <a:rPr sz="1700" b="1" i="0">
                <a:solidFill>
                  <a:srgbClr val="0072B2"/>
                </a:solidFill>
                <a:latin typeface="Calibri"/>
              </a:rPr>
              <a:t>Sparse FBA</a:t>
            </a:r>
          </a:p>
        </p:txBody>
      </p:sp>
      <p:pic>
        <p:nvPicPr>
          <p:cNvPr id="13" name="Picture 12" descr="sfba.png"/>
          <p:cNvPicPr>
            <a:picLocks noChangeAspect="1"/>
          </p:cNvPicPr>
          <p:nvPr/>
        </p:nvPicPr>
        <p:blipFill>
          <a:blip r:embed="rId4"/>
          <a:stretch>
            <a:fillRect/>
          </a:stretch>
        </p:blipFill>
        <p:spPr>
          <a:xfrm>
            <a:off x="2743200" y="2465953"/>
            <a:ext cx="7774472" cy="582046"/>
          </a:xfrm>
          <a:prstGeom prst="rect">
            <a:avLst/>
          </a:prstGeom>
        </p:spPr>
      </p:pic>
      <p:sp>
        <p:nvSpPr>
          <p:cNvPr id="14" name="TextBox 13"/>
          <p:cNvSpPr txBox="1"/>
          <p:nvPr/>
        </p:nvSpPr>
        <p:spPr>
          <a:xfrm>
            <a:off x="2743200" y="3084576"/>
            <a:ext cx="8778240" cy="310896"/>
          </a:xfrm>
          <a:prstGeom prst="rect">
            <a:avLst/>
          </a:prstGeom>
          <a:noFill/>
        </p:spPr>
        <p:txBody>
          <a:bodyPr wrap="square" lIns="45720" tIns="27432" rIns="45720" bIns="27432" anchor="t">
            <a:spAutoFit/>
          </a:bodyPr>
          <a:lstStyle/>
          <a:p>
            <a:pPr algn="l">
              <a:spcAft>
                <a:spcPts val="800"/>
              </a:spcAft>
            </a:pPr>
            <a:r>
              <a:rPr sz="1400" b="0" i="0" dirty="0">
                <a:solidFill>
                  <a:srgbClr val="6B7280"/>
                </a:solidFill>
                <a:latin typeface="Calibri"/>
              </a:rPr>
              <a:t>MILP: fewest active reactions that keep ≥ 95% of optimal biomass</a:t>
            </a:r>
          </a:p>
        </p:txBody>
      </p:sp>
      <p:sp>
        <p:nvSpPr>
          <p:cNvPr id="15" name="Rounded Rectangle 14"/>
          <p:cNvSpPr/>
          <p:nvPr/>
        </p:nvSpPr>
        <p:spPr>
          <a:xfrm>
            <a:off x="548640" y="3614928"/>
            <a:ext cx="11091672" cy="9652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3232" y="3706368"/>
            <a:ext cx="2103120" cy="411480"/>
          </a:xfrm>
          <a:prstGeom prst="rect">
            <a:avLst/>
          </a:prstGeom>
          <a:noFill/>
        </p:spPr>
        <p:txBody>
          <a:bodyPr wrap="square" lIns="45720" tIns="27432" rIns="45720" bIns="27432" anchor="t">
            <a:spAutoFit/>
          </a:bodyPr>
          <a:lstStyle/>
          <a:p>
            <a:pPr algn="l">
              <a:spcAft>
                <a:spcPts val="800"/>
              </a:spcAft>
            </a:pPr>
            <a:r>
              <a:rPr sz="1700" b="1" i="0">
                <a:solidFill>
                  <a:srgbClr val="0072B2"/>
                </a:solidFill>
                <a:latin typeface="Calibri"/>
              </a:rPr>
              <a:t>Multi-sample sFBA</a:t>
            </a:r>
          </a:p>
        </p:txBody>
      </p:sp>
      <p:pic>
        <p:nvPicPr>
          <p:cNvPr id="17" name="Picture 16" descr="msfba.png"/>
          <p:cNvPicPr>
            <a:picLocks noChangeAspect="1"/>
          </p:cNvPicPr>
          <p:nvPr/>
        </p:nvPicPr>
        <p:blipFill>
          <a:blip r:embed="rId5"/>
          <a:stretch>
            <a:fillRect/>
          </a:stretch>
        </p:blipFill>
        <p:spPr>
          <a:xfrm>
            <a:off x="2743200" y="3706368"/>
            <a:ext cx="6507114" cy="398312"/>
          </a:xfrm>
          <a:prstGeom prst="rect">
            <a:avLst/>
          </a:prstGeom>
        </p:spPr>
      </p:pic>
      <p:sp>
        <p:nvSpPr>
          <p:cNvPr id="18" name="TextBox 17"/>
          <p:cNvSpPr txBox="1"/>
          <p:nvPr/>
        </p:nvSpPr>
        <p:spPr>
          <a:xfrm>
            <a:off x="2743200" y="4141256"/>
            <a:ext cx="8778240" cy="310896"/>
          </a:xfrm>
          <a:prstGeom prst="rect">
            <a:avLst/>
          </a:prstGeom>
          <a:noFill/>
        </p:spPr>
        <p:txBody>
          <a:bodyPr wrap="square" lIns="45720" tIns="27432" rIns="45720" bIns="27432" anchor="t">
            <a:spAutoFit/>
          </a:bodyPr>
          <a:lstStyle/>
          <a:p>
            <a:pPr algn="l">
              <a:spcAft>
                <a:spcPts val="800"/>
              </a:spcAft>
            </a:pPr>
            <a:r>
              <a:rPr sz="1400" b="0" i="0" dirty="0">
                <a:solidFill>
                  <a:srgbClr val="6B7280"/>
                </a:solidFill>
                <a:latin typeface="Calibri"/>
              </a:rPr>
              <a:t>counts reactions used in any sample; λ only switches sparsity on (λ = 0 vs λ &gt; 0)</a:t>
            </a:r>
          </a:p>
        </p:txBody>
      </p:sp>
      <p:sp>
        <p:nvSpPr>
          <p:cNvPr id="19" name="Rounded Rectangle 18"/>
          <p:cNvSpPr/>
          <p:nvPr/>
        </p:nvSpPr>
        <p:spPr>
          <a:xfrm>
            <a:off x="548640" y="4671608"/>
            <a:ext cx="11091672" cy="153546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3232" y="4763048"/>
            <a:ext cx="2103120" cy="411480"/>
          </a:xfrm>
          <a:prstGeom prst="rect">
            <a:avLst/>
          </a:prstGeom>
          <a:noFill/>
        </p:spPr>
        <p:txBody>
          <a:bodyPr wrap="square" lIns="45720" tIns="27432" rIns="45720" bIns="27432" anchor="t">
            <a:spAutoFit/>
          </a:bodyPr>
          <a:lstStyle/>
          <a:p>
            <a:pPr algn="l">
              <a:spcAft>
                <a:spcPts val="800"/>
              </a:spcAft>
            </a:pPr>
            <a:r>
              <a:rPr sz="1700" b="1" i="0">
                <a:solidFill>
                  <a:srgbClr val="0072B2"/>
                </a:solidFill>
                <a:latin typeface="Calibri"/>
              </a:rPr>
              <a:t>iMAT</a:t>
            </a:r>
          </a:p>
        </p:txBody>
      </p:sp>
      <p:pic>
        <p:nvPicPr>
          <p:cNvPr id="21" name="Picture 20" descr="imat.png"/>
          <p:cNvPicPr>
            <a:picLocks noChangeAspect="1"/>
          </p:cNvPicPr>
          <p:nvPr/>
        </p:nvPicPr>
        <p:blipFill>
          <a:blip r:embed="rId6"/>
          <a:stretch>
            <a:fillRect/>
          </a:stretch>
        </p:blipFill>
        <p:spPr>
          <a:xfrm>
            <a:off x="2743200" y="4763048"/>
            <a:ext cx="4027383" cy="586069"/>
          </a:xfrm>
          <a:prstGeom prst="rect">
            <a:avLst/>
          </a:prstGeom>
        </p:spPr>
      </p:pic>
      <p:pic>
        <p:nvPicPr>
          <p:cNvPr id="22" name="Picture 21" descr="imat2.png"/>
          <p:cNvPicPr>
            <a:picLocks noChangeAspect="1"/>
          </p:cNvPicPr>
          <p:nvPr/>
        </p:nvPicPr>
        <p:blipFill>
          <a:blip r:embed="rId7"/>
          <a:stretch>
            <a:fillRect/>
          </a:stretch>
        </p:blipFill>
        <p:spPr>
          <a:xfrm>
            <a:off x="2743200" y="5440558"/>
            <a:ext cx="6500408" cy="291023"/>
          </a:xfrm>
          <a:prstGeom prst="rect">
            <a:avLst/>
          </a:prstGeom>
        </p:spPr>
      </p:pic>
      <p:sp>
        <p:nvSpPr>
          <p:cNvPr id="23" name="TextBox 22"/>
          <p:cNvSpPr txBox="1"/>
          <p:nvPr/>
        </p:nvSpPr>
        <p:spPr>
          <a:xfrm>
            <a:off x="2743200" y="5768157"/>
            <a:ext cx="8778240" cy="310896"/>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reward high-expression reactions on and low-expression reactions off (GPR rules split reactions into high / low sets)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Steiner trees: connect the measured proteins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15</a:t>
            </a:r>
          </a:p>
        </p:txBody>
      </p:sp>
      <p:cxnSp>
        <p:nvCxnSpPr>
          <p:cNvPr id="6" name="Connector 5"/>
          <p:cNvCxnSpPr/>
          <p:nvPr/>
        </p:nvCxnSpPr>
        <p:spPr>
          <a:xfrm>
            <a:off x="1165720" y="2121632"/>
            <a:ext cx="935267" cy="409180"/>
          </a:xfrm>
          <a:prstGeom prst="line">
            <a:avLst/>
          </a:prstGeom>
          <a:ln w="444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622799" y="1963747"/>
            <a:ext cx="1130665" cy="565333"/>
          </a:xfrm>
          <a:prstGeom prst="line">
            <a:avLst/>
          </a:prstGeom>
          <a:ln w="15875">
            <a:solidFill>
              <a:srgbClr val="C3C8C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217333" y="2022773"/>
            <a:ext cx="689936" cy="689936"/>
          </a:xfrm>
          <a:prstGeom prst="line">
            <a:avLst/>
          </a:prstGeom>
          <a:ln w="15875">
            <a:solidFill>
              <a:srgbClr val="C3C8C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479319" y="2906459"/>
            <a:ext cx="334693" cy="836731"/>
          </a:xfrm>
          <a:prstGeom prst="line">
            <a:avLst/>
          </a:prstGeom>
          <a:ln w="444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570903" y="4096780"/>
            <a:ext cx="1090864" cy="303017"/>
          </a:xfrm>
          <a:prstGeom prst="line">
            <a:avLst/>
          </a:prstGeom>
          <a:ln w="444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184761" y="4114659"/>
            <a:ext cx="1011249" cy="356911"/>
          </a:xfrm>
          <a:prstGeom prst="line">
            <a:avLst/>
          </a:prstGeom>
          <a:ln w="444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654269" y="4784311"/>
            <a:ext cx="458170" cy="559985"/>
          </a:xfrm>
          <a:prstGeom prst="line">
            <a:avLst/>
          </a:prstGeom>
          <a:ln w="444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453869" y="4692871"/>
            <a:ext cx="458170" cy="559985"/>
          </a:xfrm>
          <a:prstGeom prst="line">
            <a:avLst/>
          </a:prstGeom>
          <a:ln w="15875">
            <a:solidFill>
              <a:srgbClr val="C3C8C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237608" y="4286359"/>
            <a:ext cx="540534" cy="960950"/>
          </a:xfrm>
          <a:prstGeom prst="line">
            <a:avLst/>
          </a:prstGeom>
          <a:ln w="15875">
            <a:solidFill>
              <a:srgbClr val="C3C8C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54601" y="2283038"/>
            <a:ext cx="281337" cy="1899027"/>
          </a:xfrm>
          <a:prstGeom prst="line">
            <a:avLst/>
          </a:prstGeom>
          <a:ln w="15875">
            <a:solidFill>
              <a:srgbClr val="C3C8C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061027" y="2074159"/>
            <a:ext cx="839653" cy="1679305"/>
          </a:xfrm>
          <a:prstGeom prst="line">
            <a:avLst/>
          </a:prstGeom>
          <a:ln w="15875">
            <a:solidFill>
              <a:srgbClr val="C3C8C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4589928" y="3181747"/>
            <a:ext cx="431285" cy="1109018"/>
          </a:xfrm>
          <a:prstGeom prst="line">
            <a:avLst/>
          </a:prstGeom>
          <a:ln w="444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2384758" y="4670475"/>
            <a:ext cx="1839766" cy="707602"/>
          </a:xfrm>
          <a:prstGeom prst="line">
            <a:avLst/>
          </a:prstGeom>
          <a:ln w="15875">
            <a:solidFill>
              <a:srgbClr val="C3C8CF"/>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62940" y="1760220"/>
            <a:ext cx="502920" cy="502920"/>
          </a:xfrm>
          <a:prstGeom prst="ellipse">
            <a:avLst/>
          </a:prstGeom>
          <a:solidFill>
            <a:srgbClr val="E69F00"/>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20" name="Oval 19"/>
          <p:cNvSpPr/>
          <p:nvPr/>
        </p:nvSpPr>
        <p:spPr>
          <a:xfrm>
            <a:off x="2125980" y="2400300"/>
            <a:ext cx="502920" cy="502920"/>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21" name="Oval 20"/>
          <p:cNvSpPr/>
          <p:nvPr/>
        </p:nvSpPr>
        <p:spPr>
          <a:xfrm>
            <a:off x="3771900" y="1577340"/>
            <a:ext cx="502920" cy="502920"/>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22" name="Oval 21"/>
          <p:cNvSpPr/>
          <p:nvPr/>
        </p:nvSpPr>
        <p:spPr>
          <a:xfrm>
            <a:off x="4869179" y="2674620"/>
            <a:ext cx="502920" cy="502920"/>
          </a:xfrm>
          <a:prstGeom prst="ellipse">
            <a:avLst/>
          </a:prstGeom>
          <a:solidFill>
            <a:srgbClr val="E69F00"/>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23" name="Oval 22"/>
          <p:cNvSpPr/>
          <p:nvPr/>
        </p:nvSpPr>
        <p:spPr>
          <a:xfrm>
            <a:off x="2674620" y="3771900"/>
            <a:ext cx="502920" cy="502920"/>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24" name="Oval 23"/>
          <p:cNvSpPr/>
          <p:nvPr/>
        </p:nvSpPr>
        <p:spPr>
          <a:xfrm>
            <a:off x="1028700" y="4229100"/>
            <a:ext cx="502920" cy="502920"/>
          </a:xfrm>
          <a:prstGeom prst="ellipse">
            <a:avLst/>
          </a:prstGeom>
          <a:solidFill>
            <a:srgbClr val="E69F00"/>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25" name="Oval 24"/>
          <p:cNvSpPr/>
          <p:nvPr/>
        </p:nvSpPr>
        <p:spPr>
          <a:xfrm>
            <a:off x="4229100" y="4320540"/>
            <a:ext cx="502920" cy="502920"/>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26" name="Oval 25"/>
          <p:cNvSpPr/>
          <p:nvPr/>
        </p:nvSpPr>
        <p:spPr>
          <a:xfrm>
            <a:off x="1851660" y="5234940"/>
            <a:ext cx="502920" cy="502920"/>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27" name="Oval 26"/>
          <p:cNvSpPr/>
          <p:nvPr/>
        </p:nvSpPr>
        <p:spPr>
          <a:xfrm>
            <a:off x="5052059" y="5326379"/>
            <a:ext cx="502920" cy="502920"/>
          </a:xfrm>
          <a:prstGeom prst="ellipse">
            <a:avLst/>
          </a:prstGeom>
          <a:solidFill>
            <a:srgbClr val="E69F00"/>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28" name="TextBox 27"/>
          <p:cNvSpPr txBox="1"/>
          <p:nvPr/>
        </p:nvSpPr>
        <p:spPr>
          <a:xfrm>
            <a:off x="6400800" y="1463040"/>
            <a:ext cx="5303520" cy="4572000"/>
          </a:xfrm>
          <a:prstGeom prst="rect">
            <a:avLst/>
          </a:prstGeom>
          <a:noFill/>
        </p:spPr>
        <p:txBody>
          <a:bodyPr wrap="square" lIns="45720" tIns="27432" rIns="45720" bIns="27432" anchor="t"/>
          <a:lstStyle/>
          <a:p>
            <a:pPr algn="l">
              <a:spcAft>
                <a:spcPts val="1800"/>
              </a:spcAft>
            </a:pPr>
            <a:r>
              <a:rPr sz="2000" b="0" i="0">
                <a:solidFill>
                  <a:srgbClr val="E69F00"/>
                </a:solidFill>
                <a:latin typeface="Calibri"/>
              </a:rPr>
              <a:t>Terminals: </a:t>
            </a:r>
            <a:r>
              <a:rPr sz="2000" b="0" i="0">
                <a:solidFill>
                  <a:srgbClr val="2B2B2B"/>
                </a:solidFill>
                <a:latin typeface="Calibri"/>
              </a:rPr>
              <a:t>proteins with a signal</a:t>
            </a:r>
          </a:p>
          <a:p>
            <a:pPr algn="l">
              <a:spcAft>
                <a:spcPts val="1800"/>
              </a:spcAft>
            </a:pPr>
            <a:r>
              <a:rPr sz="2000" b="0" i="0">
                <a:solidFill>
                  <a:srgbClr val="0072B2"/>
                </a:solidFill>
                <a:latin typeface="Calibri"/>
              </a:rPr>
              <a:t>Steiner tree: </a:t>
            </a:r>
            <a:r>
              <a:rPr sz="2000" b="0" i="0">
                <a:solidFill>
                  <a:srgbClr val="2B2B2B"/>
                </a:solidFill>
                <a:latin typeface="Calibri"/>
              </a:rPr>
              <a:t>cheapest tree linking all terminals</a:t>
            </a:r>
          </a:p>
          <a:p>
            <a:pPr algn="l">
              <a:spcAft>
                <a:spcPts val="1800"/>
              </a:spcAft>
            </a:pPr>
            <a:r>
              <a:rPr sz="2000" b="0" i="0">
                <a:solidFill>
                  <a:srgbClr val="0072B2"/>
                </a:solidFill>
                <a:latin typeface="Calibri"/>
              </a:rPr>
              <a:t>PCST: </a:t>
            </a:r>
            <a:r>
              <a:rPr sz="2000" b="0" i="0">
                <a:solidFill>
                  <a:srgbClr val="2B2B2B"/>
                </a:solidFill>
                <a:latin typeface="Calibri"/>
              </a:rPr>
              <a:t>prizes on nodes, costs on edges; minimise costs − prizes</a:t>
            </a:r>
          </a:p>
          <a:p>
            <a:pPr algn="l">
              <a:spcAft>
                <a:spcPts val="1800"/>
              </a:spcAft>
            </a:pPr>
            <a:r>
              <a:rPr sz="2000" b="0" i="0">
                <a:solidFill>
                  <a:srgbClr val="0072B2"/>
                </a:solidFill>
                <a:latin typeface="Calibri"/>
              </a:rPr>
              <a:t>Hidden nodes: </a:t>
            </a:r>
            <a:r>
              <a:rPr sz="2000" b="0" i="0">
                <a:solidFill>
                  <a:srgbClr val="2B2B2B"/>
                </a:solidFill>
                <a:latin typeface="Calibri"/>
              </a:rPr>
              <a:t>candidate mediators</a:t>
            </a:r>
          </a:p>
        </p:txBody>
      </p:sp>
      <p:sp>
        <p:nvSpPr>
          <p:cNvPr id="29" name="TextBox 28"/>
          <p:cNvSpPr txBox="1"/>
          <p:nvPr/>
        </p:nvSpPr>
        <p:spPr>
          <a:xfrm>
            <a:off x="6400800" y="5897880"/>
            <a:ext cx="5303520" cy="365760"/>
          </a:xfrm>
          <a:prstGeom prst="rect">
            <a:avLst/>
          </a:prstGeom>
          <a:noFill/>
        </p:spPr>
        <p:txBody>
          <a:bodyPr wrap="square" lIns="45720" tIns="27432" rIns="45720" bIns="27432" anchor="t"/>
          <a:lstStyle/>
          <a:p>
            <a:pPr algn="l">
              <a:spcAft>
                <a:spcPts val="800"/>
              </a:spcAft>
            </a:pPr>
            <a:r>
              <a:rPr sz="1200" b="0" i="0">
                <a:solidFill>
                  <a:srgbClr val="6B7280"/>
                </a:solidFill>
                <a:latin typeface="Calibri"/>
              </a:rPr>
              <a:t>Tuncbag et al., J Comput Biol 2013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74320"/>
            <a:ext cx="950976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The math: Steiner trees as rooted flows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16</a:t>
            </a:r>
          </a:p>
        </p:txBody>
      </p:sp>
      <p:sp>
        <p:nvSpPr>
          <p:cNvPr id="6" name="Rounded Rectangle 5"/>
          <p:cNvSpPr/>
          <p:nvPr/>
        </p:nvSpPr>
        <p:spPr>
          <a:xfrm>
            <a:off x="10287000" y="475488"/>
            <a:ext cx="1325880" cy="384048"/>
          </a:xfrm>
          <a:prstGeom prst="roundRect">
            <a:avLst>
              <a:gd name="adj" fmla="val 50000"/>
            </a:avLst>
          </a:prstGeom>
          <a:solidFill>
            <a:srgbClr val="E3EEF7"/>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200" b="1">
                <a:solidFill>
                  <a:srgbClr val="0072B2"/>
                </a:solidFill>
                <a:latin typeface="Calibri"/>
              </a:rPr>
              <a:t>THE MATH</a:t>
            </a:r>
          </a:p>
        </p:txBody>
      </p:sp>
      <p:sp>
        <p:nvSpPr>
          <p:cNvPr id="7" name="Rounded Rectangle 6"/>
          <p:cNvSpPr/>
          <p:nvPr/>
        </p:nvSpPr>
        <p:spPr>
          <a:xfrm>
            <a:off x="548640" y="1371600"/>
            <a:ext cx="11091672" cy="105156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481328"/>
            <a:ext cx="2194560" cy="822960"/>
          </a:xfrm>
          <a:prstGeom prst="rect">
            <a:avLst/>
          </a:prstGeom>
          <a:noFill/>
        </p:spPr>
        <p:txBody>
          <a:bodyPr wrap="square" lIns="45720" tIns="27432" rIns="45720" bIns="27432" anchor="t">
            <a:spAutoFit/>
          </a:bodyPr>
          <a:lstStyle/>
          <a:p>
            <a:pPr algn="l">
              <a:spcAft>
                <a:spcPts val="800"/>
              </a:spcAft>
            </a:pPr>
            <a:r>
              <a:rPr sz="1700" b="1" i="0">
                <a:solidFill>
                  <a:srgbClr val="0072B2"/>
                </a:solidFill>
                <a:latin typeface="Calibri"/>
              </a:rPr>
              <a:t>PCST</a:t>
            </a:r>
          </a:p>
          <a:p>
            <a:pPr algn="l">
              <a:spcAft>
                <a:spcPts val="800"/>
              </a:spcAft>
            </a:pPr>
            <a:r>
              <a:rPr sz="1400" b="0" i="0">
                <a:solidFill>
                  <a:srgbClr val="6B7280"/>
                </a:solidFill>
                <a:latin typeface="Calibri"/>
              </a:rPr>
              <a:t>original problem</a:t>
            </a:r>
          </a:p>
        </p:txBody>
      </p:sp>
      <p:pic>
        <p:nvPicPr>
          <p:cNvPr id="9" name="Picture 8" descr="pcst.png"/>
          <p:cNvPicPr>
            <a:picLocks noChangeAspect="1"/>
          </p:cNvPicPr>
          <p:nvPr/>
        </p:nvPicPr>
        <p:blipFill>
          <a:blip r:embed="rId3"/>
          <a:stretch>
            <a:fillRect/>
          </a:stretch>
        </p:blipFill>
        <p:spPr>
          <a:xfrm>
            <a:off x="3017520" y="1536192"/>
            <a:ext cx="3369564" cy="690372"/>
          </a:xfrm>
          <a:prstGeom prst="rect">
            <a:avLst/>
          </a:prstGeom>
        </p:spPr>
      </p:pic>
      <p:sp>
        <p:nvSpPr>
          <p:cNvPr id="10" name="Rounded Rectangle 9"/>
          <p:cNvSpPr/>
          <p:nvPr/>
        </p:nvSpPr>
        <p:spPr>
          <a:xfrm>
            <a:off x="548640" y="2606040"/>
            <a:ext cx="11091672" cy="20574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2715768"/>
            <a:ext cx="2194560" cy="822960"/>
          </a:xfrm>
          <a:prstGeom prst="rect">
            <a:avLst/>
          </a:prstGeom>
          <a:noFill/>
        </p:spPr>
        <p:txBody>
          <a:bodyPr wrap="square" lIns="45720" tIns="27432" rIns="45720" bIns="27432" anchor="t">
            <a:spAutoFit/>
          </a:bodyPr>
          <a:lstStyle/>
          <a:p>
            <a:pPr algn="l">
              <a:spcAft>
                <a:spcPts val="800"/>
              </a:spcAft>
            </a:pPr>
            <a:r>
              <a:rPr sz="1700" b="1" i="0">
                <a:solidFill>
                  <a:srgbClr val="0072B2"/>
                </a:solidFill>
                <a:latin typeface="Calibri"/>
              </a:rPr>
              <a:t>CORNETO</a:t>
            </a:r>
          </a:p>
          <a:p>
            <a:pPr algn="l">
              <a:spcAft>
                <a:spcPts val="800"/>
              </a:spcAft>
            </a:pPr>
            <a:r>
              <a:rPr sz="1400" b="0" i="0">
                <a:solidFill>
                  <a:srgbClr val="6B7280"/>
                </a:solidFill>
                <a:latin typeface="Calibri"/>
              </a:rPr>
              <a:t>per sample j</a:t>
            </a:r>
          </a:p>
        </p:txBody>
      </p:sp>
      <p:pic>
        <p:nvPicPr>
          <p:cNvPr id="12" name="Picture 11" descr="st1.png"/>
          <p:cNvPicPr>
            <a:picLocks noChangeAspect="1"/>
          </p:cNvPicPr>
          <p:nvPr/>
        </p:nvPicPr>
        <p:blipFill>
          <a:blip r:embed="rId4"/>
          <a:stretch>
            <a:fillRect/>
          </a:stretch>
        </p:blipFill>
        <p:spPr>
          <a:xfrm>
            <a:off x="3017520" y="2788920"/>
            <a:ext cx="4317492" cy="344424"/>
          </a:xfrm>
          <a:prstGeom prst="rect">
            <a:avLst/>
          </a:prstGeom>
        </p:spPr>
      </p:pic>
      <p:pic>
        <p:nvPicPr>
          <p:cNvPr id="13" name="Picture 12" descr="st2.png"/>
          <p:cNvPicPr>
            <a:picLocks noChangeAspect="1"/>
          </p:cNvPicPr>
          <p:nvPr/>
        </p:nvPicPr>
        <p:blipFill>
          <a:blip r:embed="rId5"/>
          <a:stretch>
            <a:fillRect/>
          </a:stretch>
        </p:blipFill>
        <p:spPr>
          <a:xfrm>
            <a:off x="3017520" y="3429000"/>
            <a:ext cx="6780276" cy="591312"/>
          </a:xfrm>
          <a:prstGeom prst="rect">
            <a:avLst/>
          </a:prstGeom>
        </p:spPr>
      </p:pic>
      <p:sp>
        <p:nvSpPr>
          <p:cNvPr id="14" name="TextBox 13"/>
          <p:cNvSpPr txBox="1"/>
          <p:nvPr/>
        </p:nvSpPr>
        <p:spPr>
          <a:xfrm>
            <a:off x="548640" y="4846320"/>
            <a:ext cx="11091672" cy="1097280"/>
          </a:xfrm>
          <a:prstGeom prst="rect">
            <a:avLst/>
          </a:prstGeom>
          <a:noFill/>
        </p:spPr>
        <p:txBody>
          <a:bodyPr wrap="square" lIns="45720" tIns="27432" rIns="45720" bIns="27432" anchor="t">
            <a:spAutoFit/>
          </a:bodyPr>
          <a:lstStyle/>
          <a:p>
            <a:pPr algn="l">
              <a:spcAft>
                <a:spcPts val="800"/>
              </a:spcAft>
            </a:pPr>
            <a:r>
              <a:rPr sz="1700" b="0" i="0">
                <a:solidFill>
                  <a:srgbClr val="0072B2"/>
                </a:solidFill>
                <a:latin typeface="Calibri"/>
              </a:rPr>
              <a:t>Why it works: </a:t>
            </a:r>
            <a:r>
              <a:rPr sz="1700" b="0" i="0">
                <a:solidFill>
                  <a:srgbClr val="2B2B2B"/>
                </a:solidFill>
                <a:latin typeface="Calibri"/>
              </a:rPr>
              <a:t>the root injects u units; every other terminal must receive its share, so all terminals are connected to the root, and the tree constraint removes cycles</a:t>
            </a:r>
          </a:p>
          <a:p>
            <a:pPr algn="l">
              <a:spcAft>
                <a:spcPts val="800"/>
              </a:spcAft>
            </a:pPr>
            <a:r>
              <a:rPr sz="1700" b="0" i="0">
                <a:solidFill>
                  <a:srgbClr val="0072B2"/>
                </a:solidFill>
                <a:latin typeface="Calibri"/>
              </a:rPr>
              <a:t>d vs p: </a:t>
            </a:r>
            <a:r>
              <a:rPr sz="1700" b="0" i="0">
                <a:solidFill>
                  <a:srgbClr val="2B2B2B"/>
                </a:solidFill>
                <a:latin typeface="Calibri"/>
              </a:rPr>
              <a:t>an edge carries either a cost or a prize (to a prized terminal), never both; Steiner tree = PCST with all terminals forced in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Different biology, same question: which edges to keep?</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17</a:t>
            </a:r>
          </a:p>
        </p:txBody>
      </p:sp>
      <p:graphicFrame>
        <p:nvGraphicFramePr>
          <p:cNvPr id="6" name="Table 5"/>
          <p:cNvGraphicFramePr>
            <a:graphicFrameLocks noGrp="1"/>
          </p:cNvGraphicFramePr>
          <p:nvPr/>
        </p:nvGraphicFramePr>
        <p:xfrm>
          <a:off x="548640" y="1463040"/>
          <a:ext cx="11064240" cy="3200400"/>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640080">
                <a:tc>
                  <a:txBody>
                    <a:bodyPr/>
                    <a:lstStyle/>
                    <a:p>
                      <a:r>
                        <a:rPr sz="2000" b="0">
                          <a:solidFill>
                            <a:srgbClr val="FFFFFF"/>
                          </a:solidFill>
                          <a:latin typeface="Calibri"/>
                        </a:rPr>
                        <a:t>Method</a:t>
                      </a:r>
                    </a:p>
                  </a:txBody>
                  <a:tcPr marL="73152" marR="73152" marT="27432" marB="27432" anchor="ctr">
                    <a:solidFill>
                      <a:srgbClr val="1F2A44"/>
                    </a:solidFill>
                  </a:tcPr>
                </a:tc>
                <a:tc>
                  <a:txBody>
                    <a:bodyPr/>
                    <a:lstStyle/>
                    <a:p>
                      <a:r>
                        <a:rPr sz="2000" b="0">
                          <a:solidFill>
                            <a:srgbClr val="FFFFFF"/>
                          </a:solidFill>
                          <a:latin typeface="Calibri"/>
                        </a:rPr>
                        <a:t>PKN</a:t>
                      </a:r>
                    </a:p>
                  </a:txBody>
                  <a:tcPr marL="73152" marR="73152" marT="27432" marB="27432" anchor="ctr">
                    <a:solidFill>
                      <a:srgbClr val="1F2A44"/>
                    </a:solidFill>
                  </a:tcPr>
                </a:tc>
                <a:tc>
                  <a:txBody>
                    <a:bodyPr/>
                    <a:lstStyle/>
                    <a:p>
                      <a:r>
                        <a:rPr sz="2000" b="0">
                          <a:solidFill>
                            <a:srgbClr val="FFFFFF"/>
                          </a:solidFill>
                          <a:latin typeface="Calibri"/>
                        </a:rPr>
                        <a:t>Data</a:t>
                      </a:r>
                    </a:p>
                  </a:txBody>
                  <a:tcPr marL="73152" marR="73152" marT="27432" marB="27432" anchor="ctr">
                    <a:solidFill>
                      <a:srgbClr val="1F2A44"/>
                    </a:solidFill>
                  </a:tcPr>
                </a:tc>
                <a:tc>
                  <a:txBody>
                    <a:bodyPr/>
                    <a:lstStyle/>
                    <a:p>
                      <a:r>
                        <a:rPr sz="2000" b="0">
                          <a:solidFill>
                            <a:srgbClr val="FFFFFF"/>
                          </a:solidFill>
                          <a:latin typeface="Calibri"/>
                        </a:rPr>
                        <a:t>Selects</a:t>
                      </a:r>
                    </a:p>
                  </a:txBody>
                  <a:tcPr marL="73152" marR="73152" marT="27432" marB="27432" anchor="ctr">
                    <a:solidFill>
                      <a:srgbClr val="1F2A44"/>
                    </a:solidFill>
                  </a:tcPr>
                </a:tc>
                <a:extLst>
                  <a:ext uri="{0D108BD9-81ED-4DB2-BD59-A6C34878D82A}">
                    <a16:rowId xmlns:a16="http://schemas.microsoft.com/office/drawing/2014/main" val="10000"/>
                  </a:ext>
                </a:extLst>
              </a:tr>
              <a:tr h="640080">
                <a:tc>
                  <a:txBody>
                    <a:bodyPr/>
                    <a:lstStyle/>
                    <a:p>
                      <a:r>
                        <a:rPr sz="2000" b="0">
                          <a:solidFill>
                            <a:srgbClr val="0072B2"/>
                          </a:solidFill>
                          <a:latin typeface="Calibri"/>
                        </a:rPr>
                        <a:t>CARNIVAL</a:t>
                      </a:r>
                    </a:p>
                  </a:txBody>
                  <a:tcPr marL="73152" marR="73152" marT="27432" marB="27432" anchor="ctr">
                    <a:solidFill>
                      <a:srgbClr val="FFFFFF"/>
                    </a:solidFill>
                  </a:tcPr>
                </a:tc>
                <a:tc>
                  <a:txBody>
                    <a:bodyPr/>
                    <a:lstStyle/>
                    <a:p>
                      <a:r>
                        <a:rPr sz="2000" b="0">
                          <a:solidFill>
                            <a:srgbClr val="2B2B2B"/>
                          </a:solidFill>
                          <a:latin typeface="Calibri"/>
                        </a:rPr>
                        <a:t>signed directed graph</a:t>
                      </a:r>
                    </a:p>
                  </a:txBody>
                  <a:tcPr marL="73152" marR="73152" marT="27432" marB="27432" anchor="ctr">
                    <a:solidFill>
                      <a:srgbClr val="FFFFFF"/>
                    </a:solidFill>
                  </a:tcPr>
                </a:tc>
                <a:tc>
                  <a:txBody>
                    <a:bodyPr/>
                    <a:lstStyle/>
                    <a:p>
                      <a:r>
                        <a:rPr sz="2000" b="0">
                          <a:solidFill>
                            <a:srgbClr val="2B2B2B"/>
                          </a:solidFill>
                          <a:latin typeface="Calibri"/>
                        </a:rPr>
                        <a:t>TF activities</a:t>
                      </a:r>
                    </a:p>
                  </a:txBody>
                  <a:tcPr marL="73152" marR="73152" marT="27432" marB="27432" anchor="ctr">
                    <a:solidFill>
                      <a:srgbClr val="FFFFFF"/>
                    </a:solidFill>
                  </a:tcPr>
                </a:tc>
                <a:tc>
                  <a:txBody>
                    <a:bodyPr/>
                    <a:lstStyle/>
                    <a:p>
                      <a:r>
                        <a:rPr sz="2000" b="0">
                          <a:solidFill>
                            <a:srgbClr val="2B2B2B"/>
                          </a:solidFill>
                          <a:latin typeface="Calibri"/>
                        </a:rPr>
                        <a:t>sign-consistent paths</a:t>
                      </a:r>
                    </a:p>
                  </a:txBody>
                  <a:tcPr marL="73152" marR="73152" marT="27432" marB="27432" anchor="ctr">
                    <a:solidFill>
                      <a:srgbClr val="FFFFFF"/>
                    </a:solidFill>
                  </a:tcPr>
                </a:tc>
                <a:extLst>
                  <a:ext uri="{0D108BD9-81ED-4DB2-BD59-A6C34878D82A}">
                    <a16:rowId xmlns:a16="http://schemas.microsoft.com/office/drawing/2014/main" val="10001"/>
                  </a:ext>
                </a:extLst>
              </a:tr>
              <a:tr h="640080">
                <a:tc>
                  <a:txBody>
                    <a:bodyPr/>
                    <a:lstStyle/>
                    <a:p>
                      <a:r>
                        <a:rPr sz="2000" b="0">
                          <a:solidFill>
                            <a:srgbClr val="0072B2"/>
                          </a:solidFill>
                          <a:latin typeface="Calibri"/>
                        </a:rPr>
                        <a:t>FBA / sparse FBA</a:t>
                      </a:r>
                    </a:p>
                  </a:txBody>
                  <a:tcPr marL="73152" marR="73152" marT="27432" marB="27432" anchor="ctr">
                    <a:solidFill>
                      <a:srgbClr val="F3F4F6"/>
                    </a:solidFill>
                  </a:tcPr>
                </a:tc>
                <a:tc>
                  <a:txBody>
                    <a:bodyPr/>
                    <a:lstStyle/>
                    <a:p>
                      <a:r>
                        <a:rPr sz="2000" b="0">
                          <a:solidFill>
                            <a:srgbClr val="2B2B2B"/>
                          </a:solidFill>
                          <a:latin typeface="Calibri"/>
                        </a:rPr>
                        <a:t>hypergraph (reactions)</a:t>
                      </a:r>
                    </a:p>
                  </a:txBody>
                  <a:tcPr marL="73152" marR="73152" marT="27432" marB="27432" anchor="ctr">
                    <a:solidFill>
                      <a:srgbClr val="F3F4F6"/>
                    </a:solidFill>
                  </a:tcPr>
                </a:tc>
                <a:tc>
                  <a:txBody>
                    <a:bodyPr/>
                    <a:lstStyle/>
                    <a:p>
                      <a:r>
                        <a:rPr sz="2000" b="0">
                          <a:solidFill>
                            <a:srgbClr val="2B2B2B"/>
                          </a:solidFill>
                          <a:latin typeface="Calibri"/>
                        </a:rPr>
                        <a:t>flux constraints</a:t>
                      </a:r>
                    </a:p>
                  </a:txBody>
                  <a:tcPr marL="73152" marR="73152" marT="27432" marB="27432" anchor="ctr">
                    <a:solidFill>
                      <a:srgbClr val="F3F4F6"/>
                    </a:solidFill>
                  </a:tcPr>
                </a:tc>
                <a:tc>
                  <a:txBody>
                    <a:bodyPr/>
                    <a:lstStyle/>
                    <a:p>
                      <a:r>
                        <a:rPr sz="2000" b="0">
                          <a:solidFill>
                            <a:srgbClr val="2B2B2B"/>
                          </a:solidFill>
                          <a:latin typeface="Calibri"/>
                        </a:rPr>
                        <a:t>flux distribution</a:t>
                      </a:r>
                    </a:p>
                  </a:txBody>
                  <a:tcPr marL="73152" marR="73152" marT="27432" marB="27432" anchor="ctr">
                    <a:solidFill>
                      <a:srgbClr val="F3F4F6"/>
                    </a:solidFill>
                  </a:tcPr>
                </a:tc>
                <a:extLst>
                  <a:ext uri="{0D108BD9-81ED-4DB2-BD59-A6C34878D82A}">
                    <a16:rowId xmlns:a16="http://schemas.microsoft.com/office/drawing/2014/main" val="10002"/>
                  </a:ext>
                </a:extLst>
              </a:tr>
              <a:tr h="640080">
                <a:tc>
                  <a:txBody>
                    <a:bodyPr/>
                    <a:lstStyle/>
                    <a:p>
                      <a:r>
                        <a:rPr sz="2000" b="0">
                          <a:solidFill>
                            <a:srgbClr val="0072B2"/>
                          </a:solidFill>
                          <a:latin typeface="Calibri"/>
                        </a:rPr>
                        <a:t>iMAT</a:t>
                      </a:r>
                    </a:p>
                  </a:txBody>
                  <a:tcPr marL="73152" marR="73152" marT="27432" marB="27432" anchor="ctr">
                    <a:solidFill>
                      <a:srgbClr val="FFFFFF"/>
                    </a:solidFill>
                  </a:tcPr>
                </a:tc>
                <a:tc>
                  <a:txBody>
                    <a:bodyPr/>
                    <a:lstStyle/>
                    <a:p>
                      <a:r>
                        <a:rPr sz="2000" b="0">
                          <a:solidFill>
                            <a:srgbClr val="2B2B2B"/>
                          </a:solidFill>
                          <a:latin typeface="Calibri"/>
                        </a:rPr>
                        <a:t>hypergraph (reactions)</a:t>
                      </a:r>
                    </a:p>
                  </a:txBody>
                  <a:tcPr marL="73152" marR="73152" marT="27432" marB="27432" anchor="ctr">
                    <a:solidFill>
                      <a:srgbClr val="FFFFFF"/>
                    </a:solidFill>
                  </a:tcPr>
                </a:tc>
                <a:tc>
                  <a:txBody>
                    <a:bodyPr/>
                    <a:lstStyle/>
                    <a:p>
                      <a:r>
                        <a:rPr sz="2000" b="0">
                          <a:solidFill>
                            <a:srgbClr val="2B2B2B"/>
                          </a:solidFill>
                          <a:latin typeface="Calibri"/>
                        </a:rPr>
                        <a:t>expression</a:t>
                      </a:r>
                    </a:p>
                  </a:txBody>
                  <a:tcPr marL="73152" marR="73152" marT="27432" marB="27432" anchor="ctr">
                    <a:solidFill>
                      <a:srgbClr val="FFFFFF"/>
                    </a:solidFill>
                  </a:tcPr>
                </a:tc>
                <a:tc>
                  <a:txBody>
                    <a:bodyPr/>
                    <a:lstStyle/>
                    <a:p>
                      <a:r>
                        <a:rPr sz="2000" b="0">
                          <a:solidFill>
                            <a:srgbClr val="2B2B2B"/>
                          </a:solidFill>
                          <a:latin typeface="Calibri"/>
                        </a:rPr>
                        <a:t>active reactions</a:t>
                      </a:r>
                    </a:p>
                  </a:txBody>
                  <a:tcPr marL="73152" marR="73152" marT="27432" marB="27432" anchor="ctr">
                    <a:solidFill>
                      <a:srgbClr val="FFFFFF"/>
                    </a:solidFill>
                  </a:tcPr>
                </a:tc>
                <a:extLst>
                  <a:ext uri="{0D108BD9-81ED-4DB2-BD59-A6C34878D82A}">
                    <a16:rowId xmlns:a16="http://schemas.microsoft.com/office/drawing/2014/main" val="10003"/>
                  </a:ext>
                </a:extLst>
              </a:tr>
              <a:tr h="640080">
                <a:tc>
                  <a:txBody>
                    <a:bodyPr/>
                    <a:lstStyle/>
                    <a:p>
                      <a:r>
                        <a:rPr sz="2000" b="0">
                          <a:solidFill>
                            <a:srgbClr val="0072B2"/>
                          </a:solidFill>
                          <a:latin typeface="Calibri"/>
                        </a:rPr>
                        <a:t>Steiner / PCST</a:t>
                      </a:r>
                    </a:p>
                  </a:txBody>
                  <a:tcPr marL="73152" marR="73152" marT="27432" marB="27432" anchor="ctr">
                    <a:solidFill>
                      <a:srgbClr val="F3F4F6"/>
                    </a:solidFill>
                  </a:tcPr>
                </a:tc>
                <a:tc>
                  <a:txBody>
                    <a:bodyPr/>
                    <a:lstStyle/>
                    <a:p>
                      <a:r>
                        <a:rPr sz="2000" b="0">
                          <a:solidFill>
                            <a:srgbClr val="2B2B2B"/>
                          </a:solidFill>
                          <a:latin typeface="Calibri"/>
                        </a:rPr>
                        <a:t>undirected graph</a:t>
                      </a:r>
                    </a:p>
                  </a:txBody>
                  <a:tcPr marL="73152" marR="73152" marT="27432" marB="27432" anchor="ctr">
                    <a:solidFill>
                      <a:srgbClr val="F3F4F6"/>
                    </a:solidFill>
                  </a:tcPr>
                </a:tc>
                <a:tc>
                  <a:txBody>
                    <a:bodyPr/>
                    <a:lstStyle/>
                    <a:p>
                      <a:r>
                        <a:rPr sz="2000" b="0">
                          <a:solidFill>
                            <a:srgbClr val="2B2B2B"/>
                          </a:solidFill>
                          <a:latin typeface="Calibri"/>
                        </a:rPr>
                        <a:t>protein signals</a:t>
                      </a:r>
                    </a:p>
                  </a:txBody>
                  <a:tcPr marL="73152" marR="73152" marT="27432" marB="27432" anchor="ctr">
                    <a:solidFill>
                      <a:srgbClr val="F3F4F6"/>
                    </a:solidFill>
                  </a:tcPr>
                </a:tc>
                <a:tc>
                  <a:txBody>
                    <a:bodyPr/>
                    <a:lstStyle/>
                    <a:p>
                      <a:r>
                        <a:rPr sz="2000" b="0">
                          <a:solidFill>
                            <a:srgbClr val="2B2B2B"/>
                          </a:solidFill>
                          <a:latin typeface="Calibri"/>
                        </a:rPr>
                        <a:t>a tree</a:t>
                      </a:r>
                    </a:p>
                  </a:txBody>
                  <a:tcPr marL="73152" marR="73152" marT="27432" marB="27432" anchor="ctr">
                    <a:solidFill>
                      <a:srgbClr val="F3F4F6"/>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548640" y="5074920"/>
            <a:ext cx="11064240" cy="822960"/>
          </a:xfrm>
          <a:prstGeom prst="roundRect">
            <a:avLst>
              <a:gd name="adj" fmla="val 8000"/>
            </a:avLst>
          </a:prstGeom>
          <a:solidFill>
            <a:srgbClr val="FFFFFF"/>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31520" y="5120640"/>
            <a:ext cx="10698480" cy="731520"/>
          </a:xfrm>
          <a:prstGeom prst="rect">
            <a:avLst/>
          </a:prstGeom>
          <a:noFill/>
        </p:spPr>
        <p:txBody>
          <a:bodyPr wrap="square" lIns="45720" tIns="27432" rIns="45720" bIns="27432" anchor="ctr"/>
          <a:lstStyle/>
          <a:p>
            <a:pPr algn="ctr">
              <a:spcAft>
                <a:spcPts val="800"/>
              </a:spcAft>
            </a:pPr>
            <a:r>
              <a:rPr sz="2000" b="0" i="0">
                <a:solidFill>
                  <a:srgbClr val="2B2B2B"/>
                </a:solidFill>
                <a:latin typeface="Calibri"/>
              </a:rPr>
              <a:t>All choose edges under constraints → all are </a:t>
            </a:r>
            <a:r>
              <a:rPr sz="2000" b="0" i="0">
                <a:solidFill>
                  <a:srgbClr val="0072B2"/>
                </a:solidFill>
                <a:latin typeface="Calibri"/>
              </a:rPr>
              <a:t>(mixed-integer) linear programs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Outline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18</a:t>
            </a:r>
          </a:p>
        </p:txBody>
      </p:sp>
      <p:sp>
        <p:nvSpPr>
          <p:cNvPr id="6" name="Oval 5"/>
          <p:cNvSpPr/>
          <p:nvPr/>
        </p:nvSpPr>
        <p:spPr>
          <a:xfrm>
            <a:off x="886968" y="1645919"/>
            <a:ext cx="566928" cy="566928"/>
          </a:xfrm>
          <a:prstGeom prst="ellipse">
            <a:avLst/>
          </a:prstGeom>
          <a:solidFill>
            <a:srgbClr val="B8BDC6"/>
          </a:solidFill>
          <a:ln w="19050">
            <a:solidFill>
              <a:srgbClr val="B8BDC6"/>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1</a:t>
            </a:r>
          </a:p>
        </p:txBody>
      </p:sp>
      <p:sp>
        <p:nvSpPr>
          <p:cNvPr id="7" name="TextBox 6"/>
          <p:cNvSpPr txBox="1"/>
          <p:nvPr/>
        </p:nvSpPr>
        <p:spPr>
          <a:xfrm>
            <a:off x="1691640" y="1600200"/>
            <a:ext cx="8686800" cy="658368"/>
          </a:xfrm>
          <a:prstGeom prst="rect">
            <a:avLst/>
          </a:prstGeom>
          <a:noFill/>
        </p:spPr>
        <p:txBody>
          <a:bodyPr wrap="square" lIns="45720" tIns="27432" rIns="45720" bIns="27432" anchor="ctr"/>
          <a:lstStyle/>
          <a:p>
            <a:pPr algn="l">
              <a:spcAft>
                <a:spcPts val="800"/>
              </a:spcAft>
            </a:pPr>
            <a:r>
              <a:rPr sz="2000" b="0" i="0">
                <a:solidFill>
                  <a:srgbClr val="6B7280"/>
                </a:solidFill>
                <a:latin typeface="Calibri"/>
              </a:rPr>
              <a:t>Why network inference from prior knowledge?</a:t>
            </a:r>
          </a:p>
        </p:txBody>
      </p:sp>
      <p:sp>
        <p:nvSpPr>
          <p:cNvPr id="8" name="Oval 7"/>
          <p:cNvSpPr/>
          <p:nvPr/>
        </p:nvSpPr>
        <p:spPr>
          <a:xfrm>
            <a:off x="886968" y="2606039"/>
            <a:ext cx="566928" cy="566928"/>
          </a:xfrm>
          <a:prstGeom prst="ellipse">
            <a:avLst/>
          </a:prstGeom>
          <a:solidFill>
            <a:srgbClr val="B8BDC6"/>
          </a:solidFill>
          <a:ln w="19050">
            <a:solidFill>
              <a:srgbClr val="B8BDC6"/>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2</a:t>
            </a:r>
          </a:p>
        </p:txBody>
      </p:sp>
      <p:sp>
        <p:nvSpPr>
          <p:cNvPr id="9" name="TextBox 8"/>
          <p:cNvSpPr txBox="1"/>
          <p:nvPr/>
        </p:nvSpPr>
        <p:spPr>
          <a:xfrm>
            <a:off x="1691640" y="2560320"/>
            <a:ext cx="8686800" cy="658368"/>
          </a:xfrm>
          <a:prstGeom prst="rect">
            <a:avLst/>
          </a:prstGeom>
          <a:noFill/>
        </p:spPr>
        <p:txBody>
          <a:bodyPr wrap="square" lIns="45720" tIns="27432" rIns="45720" bIns="27432" anchor="ctr"/>
          <a:lstStyle/>
          <a:p>
            <a:pPr algn="l">
              <a:spcAft>
                <a:spcPts val="800"/>
              </a:spcAft>
            </a:pPr>
            <a:r>
              <a:rPr sz="2000" b="0" i="0">
                <a:solidFill>
                  <a:srgbClr val="6B7280"/>
                </a:solidFill>
                <a:latin typeface="Calibri"/>
              </a:rPr>
              <a:t>The methods CORNETO unifies</a:t>
            </a:r>
          </a:p>
        </p:txBody>
      </p:sp>
      <p:sp>
        <p:nvSpPr>
          <p:cNvPr id="10" name="Oval 9"/>
          <p:cNvSpPr/>
          <p:nvPr/>
        </p:nvSpPr>
        <p:spPr>
          <a:xfrm>
            <a:off x="886968" y="3566160"/>
            <a:ext cx="566928" cy="566928"/>
          </a:xfrm>
          <a:prstGeom prst="ellipse">
            <a:avLst/>
          </a:prstGeom>
          <a:solidFill>
            <a:srgbClr val="0072B2"/>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3</a:t>
            </a:r>
          </a:p>
        </p:txBody>
      </p:sp>
      <p:sp>
        <p:nvSpPr>
          <p:cNvPr id="11" name="Rectangle 10"/>
          <p:cNvSpPr/>
          <p:nvPr/>
        </p:nvSpPr>
        <p:spPr>
          <a:xfrm>
            <a:off x="566928" y="3538728"/>
            <a:ext cx="91440" cy="621792"/>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91640" y="3520440"/>
            <a:ext cx="8686800" cy="658368"/>
          </a:xfrm>
          <a:prstGeom prst="rect">
            <a:avLst/>
          </a:prstGeom>
          <a:noFill/>
        </p:spPr>
        <p:txBody>
          <a:bodyPr wrap="square" lIns="45720" tIns="27432" rIns="45720" bIns="27432" anchor="ctr"/>
          <a:lstStyle/>
          <a:p>
            <a:pPr algn="l">
              <a:spcAft>
                <a:spcPts val="800"/>
              </a:spcAft>
            </a:pPr>
            <a:r>
              <a:rPr sz="2000" b="0" i="0">
                <a:solidFill>
                  <a:srgbClr val="1F2A44"/>
                </a:solidFill>
                <a:latin typeface="Calibri"/>
              </a:rPr>
              <a:t>CORNETO: one optimisation problem</a:t>
            </a:r>
          </a:p>
        </p:txBody>
      </p:sp>
      <p:sp>
        <p:nvSpPr>
          <p:cNvPr id="13" name="Oval 12"/>
          <p:cNvSpPr/>
          <p:nvPr/>
        </p:nvSpPr>
        <p:spPr>
          <a:xfrm>
            <a:off x="886968" y="4526280"/>
            <a:ext cx="566928" cy="566928"/>
          </a:xfrm>
          <a:prstGeom prst="ellipse">
            <a:avLst/>
          </a:prstGeom>
          <a:solidFill>
            <a:srgbClr val="B8BDC6"/>
          </a:solidFill>
          <a:ln w="19050">
            <a:solidFill>
              <a:srgbClr val="B8BDC6"/>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4</a:t>
            </a:r>
          </a:p>
        </p:txBody>
      </p:sp>
      <p:sp>
        <p:nvSpPr>
          <p:cNvPr id="14" name="TextBox 13"/>
          <p:cNvSpPr txBox="1"/>
          <p:nvPr/>
        </p:nvSpPr>
        <p:spPr>
          <a:xfrm>
            <a:off x="1691640" y="4480560"/>
            <a:ext cx="8686800" cy="658368"/>
          </a:xfrm>
          <a:prstGeom prst="rect">
            <a:avLst/>
          </a:prstGeom>
          <a:noFill/>
        </p:spPr>
        <p:txBody>
          <a:bodyPr wrap="square" lIns="45720" tIns="27432" rIns="45720" bIns="27432" anchor="ctr"/>
          <a:lstStyle/>
          <a:p>
            <a:pPr algn="l">
              <a:spcAft>
                <a:spcPts val="800"/>
              </a:spcAft>
            </a:pPr>
            <a:r>
              <a:rPr sz="2000" b="0" i="0">
                <a:solidFill>
                  <a:srgbClr val="6B7280"/>
                </a:solidFill>
                <a:latin typeface="Calibri"/>
              </a:rPr>
              <a:t>Results and take-home</a:t>
            </a:r>
          </a:p>
        </p:txBody>
      </p:sp>
      <p:sp>
        <p:nvSpPr>
          <p:cNvPr id="15" name="Oval 14"/>
          <p:cNvSpPr/>
          <p:nvPr/>
        </p:nvSpPr>
        <p:spPr>
          <a:xfrm>
            <a:off x="886968" y="5486400"/>
            <a:ext cx="566928" cy="566928"/>
          </a:xfrm>
          <a:prstGeom prst="ellipse">
            <a:avLst/>
          </a:prstGeom>
          <a:solidFill>
            <a:srgbClr val="B8BDC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a:solidFill>
                  <a:srgbClr val="FFFFFF"/>
                </a:solidFill>
                <a:latin typeface="Calibri"/>
              </a:rPr>
              <a:t>5</a:t>
            </a:r>
          </a:p>
        </p:txBody>
      </p:sp>
      <p:sp>
        <p:nvSpPr>
          <p:cNvPr id="16" name="TextBox 15"/>
          <p:cNvSpPr txBox="1"/>
          <p:nvPr/>
        </p:nvSpPr>
        <p:spPr>
          <a:xfrm>
            <a:off x="1691640" y="5440680"/>
            <a:ext cx="8686800" cy="658368"/>
          </a:xfrm>
          <a:prstGeom prst="rect">
            <a:avLst/>
          </a:prstGeom>
          <a:noFill/>
        </p:spPr>
        <p:txBody>
          <a:bodyPr wrap="square" lIns="45720" tIns="27432" rIns="45720" bIns="27432" anchor="ctr">
            <a:spAutoFit/>
          </a:bodyPr>
          <a:lstStyle/>
          <a:p>
            <a:pPr algn="l">
              <a:spcAft>
                <a:spcPts val="800"/>
              </a:spcAft>
            </a:pPr>
            <a:r>
              <a:rPr sz="2000" b="0" i="0">
                <a:solidFill>
                  <a:srgbClr val="6B7280"/>
                </a:solidFill>
                <a:latin typeface="Calibri"/>
              </a:rPr>
              <a:t>Discussion: strengths and limitations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Idea 1: an edge is selected if it carries flow</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19</a:t>
            </a:r>
          </a:p>
        </p:txBody>
      </p:sp>
      <p:cxnSp>
        <p:nvCxnSpPr>
          <p:cNvPr id="6" name="Connector 5"/>
          <p:cNvCxnSpPr/>
          <p:nvPr/>
        </p:nvCxnSpPr>
        <p:spPr>
          <a:xfrm>
            <a:off x="274320" y="3657600"/>
            <a:ext cx="749808" cy="0"/>
          </a:xfrm>
          <a:prstGeom prst="line">
            <a:avLst/>
          </a:prstGeom>
          <a:ln w="44450">
            <a:solidFill>
              <a:srgbClr val="007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10912" y="3657600"/>
            <a:ext cx="841248" cy="0"/>
          </a:xfrm>
          <a:prstGeom prst="line">
            <a:avLst/>
          </a:prstGeom>
          <a:ln w="44450">
            <a:solidFill>
              <a:srgbClr val="007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37160" y="3063240"/>
            <a:ext cx="914400" cy="457200"/>
          </a:xfrm>
          <a:prstGeom prst="rect">
            <a:avLst/>
          </a:prstGeom>
          <a:noFill/>
        </p:spPr>
        <p:txBody>
          <a:bodyPr wrap="square" lIns="45720" tIns="27432" rIns="45720" bIns="27432" anchor="t"/>
          <a:lstStyle/>
          <a:p>
            <a:pPr algn="ctr">
              <a:spcAft>
                <a:spcPts val="800"/>
              </a:spcAft>
            </a:pPr>
            <a:r>
              <a:rPr sz="2000" b="0" i="0">
                <a:solidFill>
                  <a:srgbClr val="0072B2"/>
                </a:solidFill>
                <a:latin typeface="Calibri"/>
              </a:rPr>
              <a:t>+1</a:t>
            </a:r>
          </a:p>
        </p:txBody>
      </p:sp>
      <p:sp>
        <p:nvSpPr>
          <p:cNvPr id="9" name="TextBox 8"/>
          <p:cNvSpPr txBox="1"/>
          <p:nvPr/>
        </p:nvSpPr>
        <p:spPr>
          <a:xfrm>
            <a:off x="5120640" y="3063240"/>
            <a:ext cx="914400" cy="457200"/>
          </a:xfrm>
          <a:prstGeom prst="rect">
            <a:avLst/>
          </a:prstGeom>
          <a:noFill/>
        </p:spPr>
        <p:txBody>
          <a:bodyPr wrap="square" lIns="45720" tIns="27432" rIns="45720" bIns="27432" anchor="t"/>
          <a:lstStyle/>
          <a:p>
            <a:pPr algn="ctr">
              <a:spcAft>
                <a:spcPts val="800"/>
              </a:spcAft>
            </a:pPr>
            <a:r>
              <a:rPr sz="2000" b="0" i="0">
                <a:solidFill>
                  <a:srgbClr val="0072B2"/>
                </a:solidFill>
                <a:latin typeface="Calibri"/>
              </a:rPr>
              <a:t>−1</a:t>
            </a:r>
          </a:p>
        </p:txBody>
      </p:sp>
      <p:cxnSp>
        <p:nvCxnSpPr>
          <p:cNvPr id="10" name="Connector 9"/>
          <p:cNvCxnSpPr/>
          <p:nvPr/>
        </p:nvCxnSpPr>
        <p:spPr>
          <a:xfrm flipV="1">
            <a:off x="1638462" y="2677675"/>
            <a:ext cx="1089956" cy="787190"/>
          </a:xfrm>
          <a:prstGeom prst="line">
            <a:avLst/>
          </a:prstGeom>
          <a:ln w="44450">
            <a:solidFill>
              <a:srgbClr val="007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691639" y="2514600"/>
            <a:ext cx="548640" cy="411480"/>
          </a:xfrm>
          <a:prstGeom prst="rect">
            <a:avLst/>
          </a:prstGeom>
          <a:noFill/>
        </p:spPr>
        <p:txBody>
          <a:bodyPr wrap="square" lIns="45720" tIns="27432" rIns="45720" bIns="27432" anchor="t"/>
          <a:lstStyle/>
          <a:p>
            <a:pPr algn="ctr">
              <a:spcAft>
                <a:spcPts val="800"/>
              </a:spcAft>
            </a:pPr>
            <a:r>
              <a:rPr sz="2000" b="0" i="0">
                <a:solidFill>
                  <a:srgbClr val="6B7280"/>
                </a:solidFill>
                <a:latin typeface="Calibri"/>
              </a:rPr>
              <a:t>1</a:t>
            </a:r>
          </a:p>
        </p:txBody>
      </p:sp>
      <p:cxnSp>
        <p:nvCxnSpPr>
          <p:cNvPr id="12" name="Connector 11"/>
          <p:cNvCxnSpPr/>
          <p:nvPr/>
        </p:nvCxnSpPr>
        <p:spPr>
          <a:xfrm>
            <a:off x="1638462" y="3850334"/>
            <a:ext cx="1089956" cy="787190"/>
          </a:xfrm>
          <a:prstGeom prst="line">
            <a:avLst/>
          </a:prstGeom>
          <a:ln w="19050">
            <a:solidFill>
              <a:srgbClr val="AAB0B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39" y="4297680"/>
            <a:ext cx="548640" cy="411480"/>
          </a:xfrm>
          <a:prstGeom prst="rect">
            <a:avLst/>
          </a:prstGeom>
          <a:noFill/>
        </p:spPr>
        <p:txBody>
          <a:bodyPr wrap="square" lIns="45720" tIns="27432" rIns="45720" bIns="27432" anchor="t"/>
          <a:lstStyle/>
          <a:p>
            <a:pPr algn="ctr">
              <a:spcAft>
                <a:spcPts val="800"/>
              </a:spcAft>
            </a:pPr>
            <a:r>
              <a:rPr sz="2000" b="0" i="0">
                <a:solidFill>
                  <a:srgbClr val="6B7280"/>
                </a:solidFill>
                <a:latin typeface="Calibri"/>
              </a:rPr>
              <a:t>3</a:t>
            </a:r>
          </a:p>
        </p:txBody>
      </p:sp>
      <p:cxnSp>
        <p:nvCxnSpPr>
          <p:cNvPr id="14" name="Connector 13"/>
          <p:cNvCxnSpPr/>
          <p:nvPr/>
        </p:nvCxnSpPr>
        <p:spPr>
          <a:xfrm>
            <a:off x="3284382" y="2661614"/>
            <a:ext cx="1089956" cy="787190"/>
          </a:xfrm>
          <a:prstGeom prst="line">
            <a:avLst/>
          </a:prstGeom>
          <a:ln w="44450">
            <a:solidFill>
              <a:srgbClr val="007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794760" y="2514600"/>
            <a:ext cx="548640" cy="411480"/>
          </a:xfrm>
          <a:prstGeom prst="rect">
            <a:avLst/>
          </a:prstGeom>
          <a:noFill/>
        </p:spPr>
        <p:txBody>
          <a:bodyPr wrap="square" lIns="45720" tIns="27432" rIns="45720" bIns="27432" anchor="t"/>
          <a:lstStyle/>
          <a:p>
            <a:pPr algn="ctr">
              <a:spcAft>
                <a:spcPts val="800"/>
              </a:spcAft>
            </a:pPr>
            <a:r>
              <a:rPr sz="2000" b="0" i="0">
                <a:solidFill>
                  <a:srgbClr val="6B7280"/>
                </a:solidFill>
                <a:latin typeface="Calibri"/>
              </a:rPr>
              <a:t>1</a:t>
            </a:r>
          </a:p>
        </p:txBody>
      </p:sp>
      <p:cxnSp>
        <p:nvCxnSpPr>
          <p:cNvPr id="16" name="Connector 15"/>
          <p:cNvCxnSpPr/>
          <p:nvPr/>
        </p:nvCxnSpPr>
        <p:spPr>
          <a:xfrm flipV="1">
            <a:off x="3284382" y="3866395"/>
            <a:ext cx="1089956" cy="787190"/>
          </a:xfrm>
          <a:prstGeom prst="line">
            <a:avLst/>
          </a:prstGeom>
          <a:ln w="19050">
            <a:solidFill>
              <a:srgbClr val="AAB0B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794760" y="4297680"/>
            <a:ext cx="548640" cy="411480"/>
          </a:xfrm>
          <a:prstGeom prst="rect">
            <a:avLst/>
          </a:prstGeom>
          <a:noFill/>
        </p:spPr>
        <p:txBody>
          <a:bodyPr wrap="square" lIns="45720" tIns="27432" rIns="45720" bIns="27432" anchor="t"/>
          <a:lstStyle/>
          <a:p>
            <a:pPr algn="ctr">
              <a:spcAft>
                <a:spcPts val="800"/>
              </a:spcAft>
            </a:pPr>
            <a:r>
              <a:rPr sz="2000" b="0" i="0">
                <a:solidFill>
                  <a:srgbClr val="6B7280"/>
                </a:solidFill>
                <a:latin typeface="Calibri"/>
              </a:rPr>
              <a:t>1</a:t>
            </a:r>
          </a:p>
        </p:txBody>
      </p:sp>
      <p:cxnSp>
        <p:nvCxnSpPr>
          <p:cNvPr id="18" name="Connector 17"/>
          <p:cNvCxnSpPr/>
          <p:nvPr/>
        </p:nvCxnSpPr>
        <p:spPr>
          <a:xfrm>
            <a:off x="3017520" y="2798064"/>
            <a:ext cx="0" cy="1691640"/>
          </a:xfrm>
          <a:prstGeom prst="line">
            <a:avLst/>
          </a:prstGeom>
          <a:ln w="19050">
            <a:solidFill>
              <a:srgbClr val="AAB0B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71800" y="3429000"/>
            <a:ext cx="548640" cy="411480"/>
          </a:xfrm>
          <a:prstGeom prst="rect">
            <a:avLst/>
          </a:prstGeom>
          <a:noFill/>
        </p:spPr>
        <p:txBody>
          <a:bodyPr wrap="square" lIns="45720" tIns="27432" rIns="45720" bIns="27432" anchor="t"/>
          <a:lstStyle/>
          <a:p>
            <a:pPr algn="ctr">
              <a:spcAft>
                <a:spcPts val="800"/>
              </a:spcAft>
            </a:pPr>
            <a:r>
              <a:rPr sz="2000" b="0" i="0">
                <a:solidFill>
                  <a:srgbClr val="6B7280"/>
                </a:solidFill>
                <a:latin typeface="Calibri"/>
              </a:rPr>
              <a:t>1</a:t>
            </a:r>
          </a:p>
        </p:txBody>
      </p:sp>
      <p:sp>
        <p:nvSpPr>
          <p:cNvPr id="20" name="Oval 19"/>
          <p:cNvSpPr/>
          <p:nvPr/>
        </p:nvSpPr>
        <p:spPr>
          <a:xfrm>
            <a:off x="1042416" y="3328416"/>
            <a:ext cx="658368" cy="658368"/>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s</a:t>
            </a:r>
          </a:p>
        </p:txBody>
      </p:sp>
      <p:sp>
        <p:nvSpPr>
          <p:cNvPr id="21" name="Oval 20"/>
          <p:cNvSpPr/>
          <p:nvPr/>
        </p:nvSpPr>
        <p:spPr>
          <a:xfrm>
            <a:off x="2688336" y="2139696"/>
            <a:ext cx="658368" cy="658368"/>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a</a:t>
            </a:r>
          </a:p>
        </p:txBody>
      </p:sp>
      <p:sp>
        <p:nvSpPr>
          <p:cNvPr id="22" name="Oval 21"/>
          <p:cNvSpPr/>
          <p:nvPr/>
        </p:nvSpPr>
        <p:spPr>
          <a:xfrm>
            <a:off x="2688336" y="4517136"/>
            <a:ext cx="658368" cy="658368"/>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b</a:t>
            </a:r>
          </a:p>
        </p:txBody>
      </p:sp>
      <p:sp>
        <p:nvSpPr>
          <p:cNvPr id="23" name="Oval 22"/>
          <p:cNvSpPr/>
          <p:nvPr/>
        </p:nvSpPr>
        <p:spPr>
          <a:xfrm>
            <a:off x="4334255" y="3328416"/>
            <a:ext cx="658368" cy="658368"/>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t</a:t>
            </a:r>
          </a:p>
        </p:txBody>
      </p:sp>
      <p:sp>
        <p:nvSpPr>
          <p:cNvPr id="24" name="TextBox 23"/>
          <p:cNvSpPr txBox="1"/>
          <p:nvPr/>
        </p:nvSpPr>
        <p:spPr>
          <a:xfrm>
            <a:off x="548640" y="5486400"/>
            <a:ext cx="5486400" cy="457200"/>
          </a:xfrm>
          <a:prstGeom prst="rect">
            <a:avLst/>
          </a:prstGeom>
          <a:noFill/>
        </p:spPr>
        <p:txBody>
          <a:bodyPr wrap="square" lIns="45720" tIns="27432" rIns="45720" bIns="27432" anchor="t"/>
          <a:lstStyle/>
          <a:p>
            <a:pPr algn="ctr">
              <a:spcAft>
                <a:spcPts val="800"/>
              </a:spcAft>
            </a:pPr>
            <a:r>
              <a:rPr sz="2000" b="0" i="0">
                <a:solidFill>
                  <a:srgbClr val="6B7280"/>
                </a:solidFill>
                <a:latin typeface="Calibri"/>
              </a:rPr>
              <a:t>numbers = edge costs; blue = flow</a:t>
            </a:r>
          </a:p>
        </p:txBody>
      </p:sp>
      <p:sp>
        <p:nvSpPr>
          <p:cNvPr id="25" name="TextBox 24"/>
          <p:cNvSpPr txBox="1"/>
          <p:nvPr/>
        </p:nvSpPr>
        <p:spPr>
          <a:xfrm>
            <a:off x="6400800" y="1463040"/>
            <a:ext cx="5303520" cy="4572000"/>
          </a:xfrm>
          <a:prstGeom prst="rect">
            <a:avLst/>
          </a:prstGeom>
          <a:noFill/>
        </p:spPr>
        <p:txBody>
          <a:bodyPr wrap="square" lIns="45720" tIns="27432" rIns="45720" bIns="27432" anchor="t"/>
          <a:lstStyle/>
          <a:p>
            <a:pPr algn="l">
              <a:spcAft>
                <a:spcPts val="1200"/>
              </a:spcAft>
            </a:pPr>
            <a:r>
              <a:rPr sz="2000" b="0" i="0">
                <a:solidFill>
                  <a:srgbClr val="0072B2"/>
                </a:solidFill>
                <a:latin typeface="Calibri"/>
              </a:rPr>
              <a:t>Source / sink edges </a:t>
            </a:r>
            <a:r>
              <a:rPr sz="2000" b="0" i="0">
                <a:solidFill>
                  <a:srgbClr val="2B2B2B"/>
                </a:solidFill>
                <a:latin typeface="Calibri"/>
              </a:rPr>
              <a:t>inject and remove flow</a:t>
            </a:r>
          </a:p>
          <a:p>
            <a:pPr algn="l">
              <a:spcAft>
                <a:spcPts val="1200"/>
              </a:spcAft>
            </a:pPr>
            <a:r>
              <a:rPr sz="2000" b="0" i="0">
                <a:solidFill>
                  <a:srgbClr val="0072B2"/>
                </a:solidFill>
                <a:latin typeface="Calibri"/>
              </a:rPr>
              <a:t>Conservation: </a:t>
            </a:r>
            <a:r>
              <a:rPr sz="2000" b="0" i="0">
                <a:solidFill>
                  <a:srgbClr val="2B2B2B"/>
                </a:solidFill>
                <a:latin typeface="Calibri"/>
              </a:rPr>
              <a:t>in = out at every node</a:t>
            </a:r>
          </a:p>
          <a:p>
            <a:pPr algn="l">
              <a:spcAft>
                <a:spcPts val="1200"/>
              </a:spcAft>
            </a:pPr>
            <a:r>
              <a:rPr sz="2000" b="0" i="0">
                <a:solidFill>
                  <a:srgbClr val="2B2B2B"/>
                </a:solidFill>
                <a:latin typeface="Calibri"/>
              </a:rPr>
              <a:t>  </a:t>
            </a:r>
            <a:r>
              <a:rPr sz="2000" b="0" i="0">
                <a:solidFill>
                  <a:srgbClr val="1F2A44"/>
                </a:solidFill>
                <a:latin typeface="Cambria Math"/>
                <a:ea typeface="Cambria Math"/>
                <a:cs typeface="Cambria Math"/>
              </a:rPr>
              <a:t>A x = 0</a:t>
            </a:r>
          </a:p>
          <a:p>
            <a:pPr algn="l">
              <a:spcAft>
                <a:spcPts val="1200"/>
              </a:spcAft>
            </a:pPr>
            <a:r>
              <a:rPr sz="2000" b="0" i="0">
                <a:solidFill>
                  <a:srgbClr val="0072B2"/>
                </a:solidFill>
                <a:latin typeface="Calibri"/>
              </a:rPr>
              <a:t>Edge switch: </a:t>
            </a:r>
            <a:r>
              <a:rPr sz="2000" b="0" i="0">
                <a:solidFill>
                  <a:srgbClr val="2B2B2B"/>
                </a:solidFill>
                <a:latin typeface="Calibri"/>
              </a:rPr>
              <a:t>flow only if the edge is on</a:t>
            </a:r>
          </a:p>
          <a:p>
            <a:pPr algn="l">
              <a:spcAft>
                <a:spcPts val="1200"/>
              </a:spcAft>
            </a:pPr>
            <a:r>
              <a:rPr sz="2000" b="0" i="0">
                <a:solidFill>
                  <a:srgbClr val="2B2B2B"/>
                </a:solidFill>
                <a:latin typeface="Calibri"/>
              </a:rPr>
              <a:t>  </a:t>
            </a:r>
            <a:r>
              <a:rPr sz="2000" b="0" i="0">
                <a:solidFill>
                  <a:srgbClr val="1F2A44"/>
                </a:solidFill>
                <a:latin typeface="Cambria Math"/>
                <a:ea typeface="Cambria Math"/>
                <a:cs typeface="Cambria Math"/>
              </a:rPr>
              <a:t>0 ≤ xₑ ≤ uₑ yₑ ,   yₑ ∈ {0, 1}</a:t>
            </a:r>
            <a:r>
              <a:rPr sz="2000" b="0" i="0">
                <a:solidFill>
                  <a:srgbClr val="6B7280"/>
                </a:solidFill>
                <a:latin typeface="Calibri"/>
              </a:rPr>
              <a:t>   u = capacity</a:t>
            </a:r>
          </a:p>
          <a:p>
            <a:pPr algn="l">
              <a:spcAft>
                <a:spcPts val="1200"/>
              </a:spcAft>
            </a:pPr>
            <a:r>
              <a:rPr sz="2000" b="0" i="0">
                <a:solidFill>
                  <a:srgbClr val="D55E00"/>
                </a:solidFill>
                <a:latin typeface="Calibri"/>
              </a:rPr>
              <a:t>Shortest path </a:t>
            </a:r>
            <a:r>
              <a:rPr sz="2000" b="0" i="0">
                <a:solidFill>
                  <a:srgbClr val="2B2B2B"/>
                </a:solidFill>
                <a:latin typeface="Calibri"/>
              </a:rPr>
              <a:t>= cheapest unit of flow from s to 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74320"/>
            <a:ext cx="950976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The math: from flow LP to inference MILP</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20</a:t>
            </a:r>
          </a:p>
        </p:txBody>
      </p:sp>
      <p:sp>
        <p:nvSpPr>
          <p:cNvPr id="6" name="Rounded Rectangle 5"/>
          <p:cNvSpPr/>
          <p:nvPr/>
        </p:nvSpPr>
        <p:spPr>
          <a:xfrm>
            <a:off x="10287000" y="475488"/>
            <a:ext cx="1325880" cy="384048"/>
          </a:xfrm>
          <a:prstGeom prst="roundRect">
            <a:avLst>
              <a:gd name="adj" fmla="val 50000"/>
            </a:avLst>
          </a:prstGeom>
          <a:solidFill>
            <a:srgbClr val="E3EEF7"/>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200" b="1">
                <a:solidFill>
                  <a:srgbClr val="0072B2"/>
                </a:solidFill>
                <a:latin typeface="Calibri"/>
              </a:rPr>
              <a:t>THE MATH</a:t>
            </a:r>
          </a:p>
        </p:txBody>
      </p:sp>
      <p:sp>
        <p:nvSpPr>
          <p:cNvPr id="7" name="Rounded Rectangle 6"/>
          <p:cNvSpPr/>
          <p:nvPr/>
        </p:nvSpPr>
        <p:spPr>
          <a:xfrm>
            <a:off x="548640" y="1371600"/>
            <a:ext cx="6675120" cy="4434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mip.png"/>
          <p:cNvPicPr>
            <a:picLocks noChangeAspect="1"/>
          </p:cNvPicPr>
          <p:nvPr/>
        </p:nvPicPr>
        <p:blipFill>
          <a:blip r:embed="rId3"/>
          <a:stretch>
            <a:fillRect/>
          </a:stretch>
        </p:blipFill>
        <p:spPr>
          <a:xfrm>
            <a:off x="777240" y="1536192"/>
            <a:ext cx="5187696" cy="431292"/>
          </a:xfrm>
          <a:prstGeom prst="rect">
            <a:avLst/>
          </a:prstGeom>
        </p:spPr>
      </p:pic>
      <p:sp>
        <p:nvSpPr>
          <p:cNvPr id="9" name="TextBox 8"/>
          <p:cNvSpPr txBox="1"/>
          <p:nvPr/>
        </p:nvSpPr>
        <p:spPr>
          <a:xfrm>
            <a:off x="777240" y="1985771"/>
            <a:ext cx="630936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general mixed-integer program: LP if all variables are continuous</a:t>
            </a:r>
          </a:p>
        </p:txBody>
      </p:sp>
      <p:pic>
        <p:nvPicPr>
          <p:cNvPr id="10" name="Picture 9" descr="lp.png"/>
          <p:cNvPicPr>
            <a:picLocks noChangeAspect="1"/>
          </p:cNvPicPr>
          <p:nvPr/>
        </p:nvPicPr>
        <p:blipFill>
          <a:blip r:embed="rId4"/>
          <a:stretch>
            <a:fillRect/>
          </a:stretch>
        </p:blipFill>
        <p:spPr>
          <a:xfrm>
            <a:off x="777240" y="2470404"/>
            <a:ext cx="4128515" cy="423672"/>
          </a:xfrm>
          <a:prstGeom prst="rect">
            <a:avLst/>
          </a:prstGeom>
        </p:spPr>
      </p:pic>
      <p:sp>
        <p:nvSpPr>
          <p:cNvPr id="11" name="TextBox 10"/>
          <p:cNvSpPr txBox="1"/>
          <p:nvPr/>
        </p:nvSpPr>
        <p:spPr>
          <a:xfrm>
            <a:off x="777240" y="2912364"/>
            <a:ext cx="6309360" cy="292608"/>
          </a:xfrm>
          <a:prstGeom prst="rect">
            <a:avLst/>
          </a:prstGeom>
          <a:noFill/>
        </p:spPr>
        <p:txBody>
          <a:bodyPr wrap="square" lIns="45720" tIns="27432" rIns="45720" bIns="27432" anchor="t">
            <a:spAutoFit/>
          </a:bodyPr>
          <a:lstStyle/>
          <a:p>
            <a:pPr algn="l">
              <a:spcAft>
                <a:spcPts val="800"/>
              </a:spcAft>
            </a:pPr>
            <a:r>
              <a:rPr sz="1400" b="0" i="0" dirty="0">
                <a:solidFill>
                  <a:srgbClr val="6B7280"/>
                </a:solidFill>
                <a:latin typeface="Calibri"/>
              </a:rPr>
              <a:t>network flow (eq. 2): conservation + capacity</a:t>
            </a:r>
          </a:p>
        </p:txBody>
      </p:sp>
      <p:pic>
        <p:nvPicPr>
          <p:cNvPr id="12" name="Picture 11" descr="milp.png"/>
          <p:cNvPicPr>
            <a:picLocks noChangeAspect="1"/>
          </p:cNvPicPr>
          <p:nvPr/>
        </p:nvPicPr>
        <p:blipFill>
          <a:blip r:embed="rId5"/>
          <a:stretch>
            <a:fillRect/>
          </a:stretch>
        </p:blipFill>
        <p:spPr>
          <a:xfrm>
            <a:off x="777240" y="3396996"/>
            <a:ext cx="6263640" cy="426907"/>
          </a:xfrm>
          <a:prstGeom prst="rect">
            <a:avLst/>
          </a:prstGeom>
        </p:spPr>
      </p:pic>
      <p:sp>
        <p:nvSpPr>
          <p:cNvPr id="13" name="TextBox 12"/>
          <p:cNvSpPr txBox="1"/>
          <p:nvPr/>
        </p:nvSpPr>
        <p:spPr>
          <a:xfrm>
            <a:off x="777240" y="3842191"/>
            <a:ext cx="630936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add one binary per edge: flow only on selected edges</a:t>
            </a:r>
          </a:p>
        </p:txBody>
      </p:sp>
      <p:pic>
        <p:nvPicPr>
          <p:cNvPr id="14" name="Picture 13" descr="sp.png"/>
          <p:cNvPicPr>
            <a:picLocks noChangeAspect="1"/>
          </p:cNvPicPr>
          <p:nvPr/>
        </p:nvPicPr>
        <p:blipFill>
          <a:blip r:embed="rId6"/>
          <a:stretch>
            <a:fillRect/>
          </a:stretch>
        </p:blipFill>
        <p:spPr>
          <a:xfrm>
            <a:off x="777240" y="4326823"/>
            <a:ext cx="5478780" cy="423672"/>
          </a:xfrm>
          <a:prstGeom prst="rect">
            <a:avLst/>
          </a:prstGeom>
        </p:spPr>
      </p:pic>
      <p:sp>
        <p:nvSpPr>
          <p:cNvPr id="15" name="TextBox 14"/>
          <p:cNvSpPr txBox="1"/>
          <p:nvPr/>
        </p:nvSpPr>
        <p:spPr>
          <a:xfrm>
            <a:off x="777240" y="4768783"/>
            <a:ext cx="630936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shortest path (eq. 14): inject and extract one unit</a:t>
            </a:r>
          </a:p>
        </p:txBody>
      </p:sp>
      <p:sp>
        <p:nvSpPr>
          <p:cNvPr id="16" name="Rounded Rectangle 15"/>
          <p:cNvSpPr/>
          <p:nvPr/>
        </p:nvSpPr>
        <p:spPr>
          <a:xfrm>
            <a:off x="7498079" y="1371600"/>
            <a:ext cx="4142232" cy="246888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80960" y="1463040"/>
            <a:ext cx="3840480" cy="365760"/>
          </a:xfrm>
          <a:prstGeom prst="rect">
            <a:avLst/>
          </a:prstGeom>
          <a:noFill/>
        </p:spPr>
        <p:txBody>
          <a:bodyPr wrap="square" lIns="45720" tIns="27432" rIns="45720" bIns="27432" anchor="t">
            <a:spAutoFit/>
          </a:bodyPr>
          <a:lstStyle/>
          <a:p>
            <a:pPr algn="l">
              <a:spcAft>
                <a:spcPts val="800"/>
              </a:spcAft>
            </a:pPr>
            <a:r>
              <a:rPr sz="1700" b="1" i="0">
                <a:solidFill>
                  <a:srgbClr val="0072B2"/>
                </a:solidFill>
                <a:latin typeface="Calibri"/>
              </a:rPr>
              <a:t>Incidence matrix (eq. 1)</a:t>
            </a:r>
          </a:p>
        </p:txBody>
      </p:sp>
      <p:pic>
        <p:nvPicPr>
          <p:cNvPr id="18" name="Picture 17" descr="inc.png"/>
          <p:cNvPicPr>
            <a:picLocks noChangeAspect="1"/>
          </p:cNvPicPr>
          <p:nvPr/>
        </p:nvPicPr>
        <p:blipFill>
          <a:blip r:embed="rId7"/>
          <a:stretch>
            <a:fillRect/>
          </a:stretch>
        </p:blipFill>
        <p:spPr>
          <a:xfrm>
            <a:off x="7818120" y="2011680"/>
            <a:ext cx="2708148" cy="1193292"/>
          </a:xfrm>
          <a:prstGeom prst="rect">
            <a:avLst/>
          </a:prstGeom>
        </p:spPr>
      </p:pic>
      <p:sp>
        <p:nvSpPr>
          <p:cNvPr id="19" name="TextBox 18"/>
          <p:cNvSpPr txBox="1"/>
          <p:nvPr/>
        </p:nvSpPr>
        <p:spPr>
          <a:xfrm>
            <a:off x="7498079" y="4069080"/>
            <a:ext cx="4142232" cy="1737360"/>
          </a:xfrm>
          <a:prstGeom prst="rect">
            <a:avLst/>
          </a:prstGeom>
          <a:noFill/>
        </p:spPr>
        <p:txBody>
          <a:bodyPr wrap="square" lIns="45720" tIns="27432" rIns="45720" bIns="27432" anchor="t">
            <a:spAutoFit/>
          </a:bodyPr>
          <a:lstStyle/>
          <a:p>
            <a:pPr algn="l">
              <a:spcAft>
                <a:spcPts val="600"/>
              </a:spcAft>
            </a:pPr>
            <a:r>
              <a:rPr sz="1700" b="0" i="0">
                <a:solidFill>
                  <a:srgbClr val="0072B2"/>
                </a:solidFill>
                <a:latin typeface="Calibri"/>
              </a:rPr>
              <a:t>x: </a:t>
            </a:r>
            <a:r>
              <a:rPr sz="1700" b="0" i="0">
                <a:solidFill>
                  <a:srgbClr val="2B2B2B"/>
                </a:solidFill>
                <a:latin typeface="Calibri"/>
              </a:rPr>
              <a:t>flow per edge;  b: net in/outflow</a:t>
            </a:r>
          </a:p>
          <a:p>
            <a:pPr algn="l">
              <a:spcAft>
                <a:spcPts val="600"/>
              </a:spcAft>
            </a:pPr>
            <a:r>
              <a:rPr sz="1700" b="0" i="0">
                <a:solidFill>
                  <a:srgbClr val="0072B2"/>
                </a:solidFill>
                <a:latin typeface="Calibri"/>
              </a:rPr>
              <a:t>y: </a:t>
            </a:r>
            <a:r>
              <a:rPr sz="1700" b="0" i="0">
                <a:solidFill>
                  <a:srgbClr val="2B2B2B"/>
                </a:solidFill>
                <a:latin typeface="Calibri"/>
              </a:rPr>
              <a:t>edge on/off → the inferred network</a:t>
            </a:r>
          </a:p>
          <a:p>
            <a:pPr algn="l">
              <a:spcAft>
                <a:spcPts val="600"/>
              </a:spcAft>
            </a:pPr>
            <a:r>
              <a:rPr sz="1700" b="0" i="0">
                <a:solidFill>
                  <a:srgbClr val="0072B2"/>
                </a:solidFill>
                <a:latin typeface="Calibri"/>
              </a:rPr>
              <a:t>d: </a:t>
            </a:r>
            <a:r>
              <a:rPr sz="1700" b="0" i="0">
                <a:solidFill>
                  <a:srgbClr val="2B2B2B"/>
                </a:solidFill>
                <a:latin typeface="Calibri"/>
              </a:rPr>
              <a:t>fixed cost of using an edge</a:t>
            </a:r>
          </a:p>
          <a:p>
            <a:pPr algn="l">
              <a:spcAft>
                <a:spcPts val="600"/>
              </a:spcAft>
            </a:pPr>
            <a:r>
              <a:rPr sz="1700" b="0" i="0">
                <a:solidFill>
                  <a:srgbClr val="0072B2"/>
                </a:solidFill>
                <a:latin typeface="Calibri"/>
              </a:rPr>
              <a:t>Solvers: </a:t>
            </a:r>
            <a:r>
              <a:rPr sz="1700" b="0" i="0">
                <a:solidFill>
                  <a:srgbClr val="2B2B2B"/>
                </a:solidFill>
                <a:latin typeface="Calibri"/>
              </a:rPr>
              <a:t>HiGHS, SCIP, CBC, Gurobi, CPLEX return an optimality certificate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Idea 2: one incidence matrix describes every PKN</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21</a:t>
            </a:r>
          </a:p>
        </p:txBody>
      </p:sp>
      <p:sp>
        <p:nvSpPr>
          <p:cNvPr id="6" name="Rounded Rectangle 5"/>
          <p:cNvSpPr/>
          <p:nvPr/>
        </p:nvSpPr>
        <p:spPr>
          <a:xfrm>
            <a:off x="548640" y="1417320"/>
            <a:ext cx="3383280" cy="32461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48640" y="1508760"/>
            <a:ext cx="3383280" cy="457200"/>
          </a:xfrm>
          <a:prstGeom prst="rect">
            <a:avLst/>
          </a:prstGeom>
          <a:noFill/>
        </p:spPr>
        <p:txBody>
          <a:bodyPr wrap="square" lIns="45720" tIns="27432" rIns="45720" bIns="27432" anchor="t"/>
          <a:lstStyle/>
          <a:p>
            <a:pPr algn="ctr">
              <a:spcAft>
                <a:spcPts val="800"/>
              </a:spcAft>
            </a:pPr>
            <a:r>
              <a:rPr sz="2000" b="0" i="0">
                <a:solidFill>
                  <a:srgbClr val="0072B2"/>
                </a:solidFill>
                <a:latin typeface="Calibri"/>
              </a:rPr>
              <a:t>Graph edge</a:t>
            </a:r>
          </a:p>
        </p:txBody>
      </p:sp>
      <p:sp>
        <p:nvSpPr>
          <p:cNvPr id="8" name="Oval 7"/>
          <p:cNvSpPr/>
          <p:nvPr/>
        </p:nvSpPr>
        <p:spPr>
          <a:xfrm>
            <a:off x="950976" y="2276856"/>
            <a:ext cx="658368" cy="658368"/>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u</a:t>
            </a:r>
          </a:p>
        </p:txBody>
      </p:sp>
      <p:sp>
        <p:nvSpPr>
          <p:cNvPr id="9" name="Oval 8"/>
          <p:cNvSpPr/>
          <p:nvPr/>
        </p:nvSpPr>
        <p:spPr>
          <a:xfrm>
            <a:off x="2871216" y="2276856"/>
            <a:ext cx="658368" cy="658368"/>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v</a:t>
            </a:r>
          </a:p>
        </p:txBody>
      </p:sp>
      <p:cxnSp>
        <p:nvCxnSpPr>
          <p:cNvPr id="10" name="Connector 9"/>
          <p:cNvCxnSpPr/>
          <p:nvPr/>
        </p:nvCxnSpPr>
        <p:spPr>
          <a:xfrm>
            <a:off x="1609343" y="2606040"/>
            <a:ext cx="1234441" cy="0"/>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3291840"/>
            <a:ext cx="3383280" cy="1188720"/>
          </a:xfrm>
          <a:prstGeom prst="rect">
            <a:avLst/>
          </a:prstGeom>
          <a:noFill/>
        </p:spPr>
        <p:txBody>
          <a:bodyPr wrap="square" lIns="45720" tIns="27432" rIns="45720" bIns="27432" anchor="t"/>
          <a:lstStyle/>
          <a:p>
            <a:pPr algn="ctr">
              <a:spcAft>
                <a:spcPts val="400"/>
              </a:spcAft>
            </a:pPr>
            <a:r>
              <a:rPr sz="2000" b="0" i="0">
                <a:solidFill>
                  <a:srgbClr val="2B2B2B"/>
                </a:solidFill>
                <a:latin typeface="Calibri"/>
              </a:rPr>
              <a:t>u  </a:t>
            </a:r>
            <a:r>
              <a:rPr sz="2000" b="0" i="0">
                <a:solidFill>
                  <a:srgbClr val="2C6FB7"/>
                </a:solidFill>
                <a:latin typeface="Calibri"/>
              </a:rPr>
              <a:t>−1</a:t>
            </a:r>
          </a:p>
          <a:p>
            <a:pPr algn="ctr">
              <a:spcAft>
                <a:spcPts val="400"/>
              </a:spcAft>
            </a:pPr>
            <a:r>
              <a:rPr sz="2000" b="0" i="0">
                <a:solidFill>
                  <a:srgbClr val="2B2B2B"/>
                </a:solidFill>
                <a:latin typeface="Calibri"/>
              </a:rPr>
              <a:t>v  </a:t>
            </a:r>
            <a:r>
              <a:rPr sz="2000" b="0" i="0">
                <a:solidFill>
                  <a:srgbClr val="C0392B"/>
                </a:solidFill>
                <a:latin typeface="Calibri"/>
              </a:rPr>
              <a:t>+1</a:t>
            </a:r>
          </a:p>
        </p:txBody>
      </p:sp>
      <p:sp>
        <p:nvSpPr>
          <p:cNvPr id="12" name="Rounded Rectangle 11"/>
          <p:cNvSpPr/>
          <p:nvPr/>
        </p:nvSpPr>
        <p:spPr>
          <a:xfrm>
            <a:off x="4160520" y="1417320"/>
            <a:ext cx="4023360" cy="32461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160520" y="1508760"/>
            <a:ext cx="4023360" cy="457200"/>
          </a:xfrm>
          <a:prstGeom prst="rect">
            <a:avLst/>
          </a:prstGeom>
          <a:noFill/>
        </p:spPr>
        <p:txBody>
          <a:bodyPr wrap="square" lIns="45720" tIns="27432" rIns="45720" bIns="27432" anchor="t"/>
          <a:lstStyle/>
          <a:p>
            <a:pPr algn="ctr">
              <a:spcAft>
                <a:spcPts val="800"/>
              </a:spcAft>
            </a:pPr>
            <a:r>
              <a:rPr sz="2000" b="0" i="0">
                <a:solidFill>
                  <a:srgbClr val="0072B2"/>
                </a:solidFill>
                <a:latin typeface="Calibri"/>
              </a:rPr>
              <a:t>Reaction (hyperedge)</a:t>
            </a:r>
          </a:p>
        </p:txBody>
      </p:sp>
      <p:sp>
        <p:nvSpPr>
          <p:cNvPr id="14" name="Oval 13"/>
          <p:cNvSpPr/>
          <p:nvPr/>
        </p:nvSpPr>
        <p:spPr>
          <a:xfrm>
            <a:off x="4517136" y="1911096"/>
            <a:ext cx="658368" cy="658368"/>
          </a:xfrm>
          <a:prstGeom prst="ellipse">
            <a:avLst/>
          </a:prstGeom>
          <a:solidFill>
            <a:srgbClr val="FFF4DE"/>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M1</a:t>
            </a:r>
          </a:p>
        </p:txBody>
      </p:sp>
      <p:sp>
        <p:nvSpPr>
          <p:cNvPr id="15" name="Oval 14"/>
          <p:cNvSpPr/>
          <p:nvPr/>
        </p:nvSpPr>
        <p:spPr>
          <a:xfrm>
            <a:off x="4517136" y="2916936"/>
            <a:ext cx="658368" cy="658368"/>
          </a:xfrm>
          <a:prstGeom prst="ellipse">
            <a:avLst/>
          </a:prstGeom>
          <a:solidFill>
            <a:srgbClr val="FFF4DE"/>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M2</a:t>
            </a:r>
          </a:p>
        </p:txBody>
      </p:sp>
      <p:sp>
        <p:nvSpPr>
          <p:cNvPr id="16" name="Oval 15"/>
          <p:cNvSpPr/>
          <p:nvPr/>
        </p:nvSpPr>
        <p:spPr>
          <a:xfrm>
            <a:off x="7168895" y="2414016"/>
            <a:ext cx="658368" cy="658368"/>
          </a:xfrm>
          <a:prstGeom prst="ellipse">
            <a:avLst/>
          </a:prstGeom>
          <a:solidFill>
            <a:srgbClr val="FFF4DE"/>
          </a:solidFill>
          <a:ln w="19050">
            <a:solidFill>
              <a:srgbClr val="E69F00"/>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M3</a:t>
            </a:r>
          </a:p>
        </p:txBody>
      </p:sp>
      <p:cxnSp>
        <p:nvCxnSpPr>
          <p:cNvPr id="17" name="Connector 16"/>
          <p:cNvCxnSpPr/>
          <p:nvPr/>
        </p:nvCxnSpPr>
        <p:spPr>
          <a:xfrm>
            <a:off x="5175504" y="2331720"/>
            <a:ext cx="996696" cy="411480"/>
          </a:xfrm>
          <a:prstGeom prst="line">
            <a:avLst/>
          </a:prstGeom>
          <a:ln w="317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175504" y="2743200"/>
            <a:ext cx="996696" cy="411480"/>
          </a:xfrm>
          <a:prstGeom prst="line">
            <a:avLst/>
          </a:prstGeom>
          <a:ln w="317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72200" y="2743200"/>
            <a:ext cx="960120" cy="0"/>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349240" y="3017520"/>
            <a:ext cx="457200" cy="411480"/>
          </a:xfrm>
          <a:prstGeom prst="rect">
            <a:avLst/>
          </a:prstGeom>
          <a:noFill/>
        </p:spPr>
        <p:txBody>
          <a:bodyPr wrap="square" lIns="45720" tIns="27432" rIns="45720" bIns="27432" anchor="t"/>
          <a:lstStyle/>
          <a:p>
            <a:pPr algn="ctr">
              <a:spcAft>
                <a:spcPts val="800"/>
              </a:spcAft>
            </a:pPr>
            <a:r>
              <a:rPr sz="2000" b="0" i="0">
                <a:solidFill>
                  <a:srgbClr val="6B7280"/>
                </a:solidFill>
                <a:latin typeface="Calibri"/>
              </a:rPr>
              <a:t>2</a:t>
            </a:r>
          </a:p>
        </p:txBody>
      </p:sp>
      <p:sp>
        <p:nvSpPr>
          <p:cNvPr id="21" name="TextBox 20"/>
          <p:cNvSpPr txBox="1"/>
          <p:nvPr/>
        </p:nvSpPr>
        <p:spPr>
          <a:xfrm>
            <a:off x="4160520" y="3611880"/>
            <a:ext cx="4023360" cy="1005840"/>
          </a:xfrm>
          <a:prstGeom prst="rect">
            <a:avLst/>
          </a:prstGeom>
          <a:noFill/>
        </p:spPr>
        <p:txBody>
          <a:bodyPr wrap="square" lIns="45720" tIns="27432" rIns="45720" bIns="27432" anchor="t"/>
          <a:lstStyle/>
          <a:p>
            <a:pPr algn="ctr">
              <a:spcAft>
                <a:spcPts val="800"/>
              </a:spcAft>
            </a:pPr>
            <a:r>
              <a:rPr sz="2000" b="0" i="0">
                <a:solidFill>
                  <a:srgbClr val="2B2B2B"/>
                </a:solidFill>
                <a:latin typeface="Calibri"/>
              </a:rPr>
              <a:t>M1 </a:t>
            </a:r>
            <a:r>
              <a:rPr sz="2000" b="0" i="0">
                <a:solidFill>
                  <a:srgbClr val="2C6FB7"/>
                </a:solidFill>
                <a:latin typeface="Calibri"/>
              </a:rPr>
              <a:t>−1</a:t>
            </a:r>
            <a:r>
              <a:rPr sz="2000" b="0" i="0">
                <a:solidFill>
                  <a:srgbClr val="2B2B2B"/>
                </a:solidFill>
                <a:latin typeface="Calibri"/>
              </a:rPr>
              <a:t>   M2 </a:t>
            </a:r>
            <a:r>
              <a:rPr sz="2000" b="0" i="0">
                <a:solidFill>
                  <a:srgbClr val="2C6FB7"/>
                </a:solidFill>
                <a:latin typeface="Calibri"/>
              </a:rPr>
              <a:t>−2</a:t>
            </a:r>
            <a:r>
              <a:rPr sz="2000" b="0" i="0">
                <a:solidFill>
                  <a:srgbClr val="2B2B2B"/>
                </a:solidFill>
                <a:latin typeface="Calibri"/>
              </a:rPr>
              <a:t>   M3 </a:t>
            </a:r>
            <a:r>
              <a:rPr sz="2000" b="0" i="0">
                <a:solidFill>
                  <a:srgbClr val="C0392B"/>
                </a:solidFill>
                <a:latin typeface="Calibri"/>
              </a:rPr>
              <a:t>+1</a:t>
            </a:r>
          </a:p>
        </p:txBody>
      </p:sp>
      <p:sp>
        <p:nvSpPr>
          <p:cNvPr id="22" name="Rounded Rectangle 21"/>
          <p:cNvSpPr/>
          <p:nvPr/>
        </p:nvSpPr>
        <p:spPr>
          <a:xfrm>
            <a:off x="8412480" y="1417320"/>
            <a:ext cx="3200400" cy="32461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412480" y="1508760"/>
            <a:ext cx="3200400" cy="457200"/>
          </a:xfrm>
          <a:prstGeom prst="rect">
            <a:avLst/>
          </a:prstGeom>
          <a:noFill/>
        </p:spPr>
        <p:txBody>
          <a:bodyPr wrap="square" lIns="45720" tIns="27432" rIns="45720" bIns="27432" anchor="t"/>
          <a:lstStyle/>
          <a:p>
            <a:pPr algn="ctr">
              <a:spcAft>
                <a:spcPts val="800"/>
              </a:spcAft>
            </a:pPr>
            <a:r>
              <a:rPr sz="2000" b="0" i="0">
                <a:solidFill>
                  <a:srgbClr val="0072B2"/>
                </a:solidFill>
                <a:latin typeface="Calibri"/>
              </a:rPr>
              <a:t>Source / sink</a:t>
            </a:r>
          </a:p>
        </p:txBody>
      </p:sp>
      <p:sp>
        <p:nvSpPr>
          <p:cNvPr id="24" name="TextBox 23"/>
          <p:cNvSpPr txBox="1"/>
          <p:nvPr/>
        </p:nvSpPr>
        <p:spPr>
          <a:xfrm>
            <a:off x="8503920" y="2240280"/>
            <a:ext cx="548640" cy="548640"/>
          </a:xfrm>
          <a:prstGeom prst="rect">
            <a:avLst/>
          </a:prstGeom>
          <a:noFill/>
        </p:spPr>
        <p:txBody>
          <a:bodyPr wrap="square" lIns="45720" tIns="27432" rIns="45720" bIns="27432" anchor="ctr"/>
          <a:lstStyle/>
          <a:p>
            <a:pPr algn="ctr">
              <a:spcAft>
                <a:spcPts val="800"/>
              </a:spcAft>
            </a:pPr>
            <a:r>
              <a:rPr sz="2000" b="0" i="0">
                <a:solidFill>
                  <a:srgbClr val="1F2A44"/>
                </a:solidFill>
                <a:latin typeface="Cambria Math"/>
                <a:ea typeface="Cambria Math"/>
                <a:cs typeface="Cambria Math"/>
              </a:rPr>
              <a:t>∅</a:t>
            </a:r>
          </a:p>
        </p:txBody>
      </p:sp>
      <p:cxnSp>
        <p:nvCxnSpPr>
          <p:cNvPr id="25" name="Connector 24"/>
          <p:cNvCxnSpPr/>
          <p:nvPr/>
        </p:nvCxnSpPr>
        <p:spPr>
          <a:xfrm>
            <a:off x="9052560" y="2514600"/>
            <a:ext cx="594360" cy="0"/>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9683496" y="2185416"/>
            <a:ext cx="658368" cy="658368"/>
          </a:xfrm>
          <a:prstGeom prst="ellipse">
            <a:avLst/>
          </a:prstGeom>
          <a:solidFill>
            <a:srgbClr val="FFFFFF"/>
          </a:solidFill>
          <a:ln w="19050">
            <a:solidFill>
              <a:srgbClr val="1F2A44"/>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2B2B2B"/>
                </a:solidFill>
                <a:latin typeface="Calibri"/>
              </a:rPr>
              <a:t>v</a:t>
            </a:r>
          </a:p>
        </p:txBody>
      </p:sp>
      <p:cxnSp>
        <p:nvCxnSpPr>
          <p:cNvPr id="27" name="Connector 26"/>
          <p:cNvCxnSpPr/>
          <p:nvPr/>
        </p:nvCxnSpPr>
        <p:spPr>
          <a:xfrm>
            <a:off x="10378440" y="2514600"/>
            <a:ext cx="594360" cy="0"/>
          </a:xfrm>
          <a:prstGeom prst="line">
            <a:avLst/>
          </a:prstGeom>
          <a:ln w="317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0972800" y="2240280"/>
            <a:ext cx="548640" cy="548640"/>
          </a:xfrm>
          <a:prstGeom prst="rect">
            <a:avLst/>
          </a:prstGeom>
          <a:noFill/>
        </p:spPr>
        <p:txBody>
          <a:bodyPr wrap="square" lIns="45720" tIns="27432" rIns="45720" bIns="27432" anchor="ctr"/>
          <a:lstStyle/>
          <a:p>
            <a:pPr algn="ctr">
              <a:spcAft>
                <a:spcPts val="800"/>
              </a:spcAft>
            </a:pPr>
            <a:r>
              <a:rPr sz="2000" b="0" i="0">
                <a:solidFill>
                  <a:srgbClr val="1F2A44"/>
                </a:solidFill>
                <a:latin typeface="Cambria Math"/>
                <a:ea typeface="Cambria Math"/>
                <a:cs typeface="Cambria Math"/>
              </a:rPr>
              <a:t>∅</a:t>
            </a:r>
          </a:p>
        </p:txBody>
      </p:sp>
      <p:sp>
        <p:nvSpPr>
          <p:cNvPr id="29" name="TextBox 28"/>
          <p:cNvSpPr txBox="1"/>
          <p:nvPr/>
        </p:nvSpPr>
        <p:spPr>
          <a:xfrm>
            <a:off x="8412480" y="3291840"/>
            <a:ext cx="3200400" cy="1188720"/>
          </a:xfrm>
          <a:prstGeom prst="rect">
            <a:avLst/>
          </a:prstGeom>
          <a:noFill/>
        </p:spPr>
        <p:txBody>
          <a:bodyPr wrap="square" lIns="45720" tIns="27432" rIns="45720" bIns="27432" anchor="t"/>
          <a:lstStyle/>
          <a:p>
            <a:pPr algn="ctr">
              <a:spcAft>
                <a:spcPts val="400"/>
              </a:spcAft>
            </a:pPr>
            <a:r>
              <a:rPr sz="2000" b="0" i="0">
                <a:solidFill>
                  <a:srgbClr val="2B2B2B"/>
                </a:solidFill>
                <a:latin typeface="Calibri"/>
              </a:rPr>
              <a:t>empty tail or head</a:t>
            </a:r>
          </a:p>
          <a:p>
            <a:pPr algn="ctr">
              <a:spcAft>
                <a:spcPts val="400"/>
              </a:spcAft>
            </a:pPr>
            <a:r>
              <a:rPr sz="2000" b="0" i="0">
                <a:solidFill>
                  <a:srgbClr val="6B7280"/>
                </a:solidFill>
                <a:latin typeface="Calibri"/>
              </a:rPr>
              <a:t>(exchange reactions)</a:t>
            </a:r>
          </a:p>
        </p:txBody>
      </p:sp>
      <p:sp>
        <p:nvSpPr>
          <p:cNvPr id="30" name="TextBox 29"/>
          <p:cNvSpPr txBox="1"/>
          <p:nvPr/>
        </p:nvSpPr>
        <p:spPr>
          <a:xfrm>
            <a:off x="548640" y="4892040"/>
            <a:ext cx="11064240" cy="1371600"/>
          </a:xfrm>
          <a:prstGeom prst="rect">
            <a:avLst/>
          </a:prstGeom>
          <a:noFill/>
        </p:spPr>
        <p:txBody>
          <a:bodyPr wrap="square" lIns="45720" tIns="27432" rIns="45720" bIns="27432" anchor="t"/>
          <a:lstStyle/>
          <a:p>
            <a:pPr algn="l">
              <a:spcAft>
                <a:spcPts val="800"/>
              </a:spcAft>
            </a:pPr>
            <a:r>
              <a:rPr sz="2000" b="0" i="0">
                <a:solidFill>
                  <a:srgbClr val="2B2B2B"/>
                </a:solidFill>
                <a:latin typeface="Calibri"/>
              </a:rPr>
              <a:t>For metabolism the incidence matrix is the stoichiometric matrix:  </a:t>
            </a:r>
            <a:r>
              <a:rPr sz="2000" b="0" i="0">
                <a:solidFill>
                  <a:srgbClr val="1F2A44"/>
                </a:solidFill>
                <a:latin typeface="Cambria Math"/>
                <a:ea typeface="Cambria Math"/>
                <a:cs typeface="Cambria Math"/>
              </a:rPr>
              <a:t>A = S</a:t>
            </a:r>
          </a:p>
          <a:p>
            <a:pPr algn="l">
              <a:spcAft>
                <a:spcPts val="800"/>
              </a:spcAft>
            </a:pPr>
            <a:r>
              <a:rPr sz="2000" b="0" i="0">
                <a:solidFill>
                  <a:srgbClr val="2B2B2B"/>
                </a:solidFill>
                <a:latin typeface="Calibri"/>
              </a:rPr>
              <a:t>so FBA is just a flow on the hypergraph, and graphs are the special case of one tail and one head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74320"/>
            <a:ext cx="950976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The math: hypergraphs and many samples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22</a:t>
            </a:r>
          </a:p>
        </p:txBody>
      </p:sp>
      <p:sp>
        <p:nvSpPr>
          <p:cNvPr id="6" name="Rounded Rectangle 5"/>
          <p:cNvSpPr/>
          <p:nvPr/>
        </p:nvSpPr>
        <p:spPr>
          <a:xfrm>
            <a:off x="10287000" y="475488"/>
            <a:ext cx="1325880" cy="384048"/>
          </a:xfrm>
          <a:prstGeom prst="roundRect">
            <a:avLst>
              <a:gd name="adj" fmla="val 50000"/>
            </a:avLst>
          </a:prstGeom>
          <a:solidFill>
            <a:srgbClr val="E3EEF7"/>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200" b="1">
                <a:solidFill>
                  <a:srgbClr val="0072B2"/>
                </a:solidFill>
                <a:latin typeface="Calibri"/>
              </a:rPr>
              <a:t>THE MATH</a:t>
            </a:r>
          </a:p>
        </p:txBody>
      </p:sp>
      <p:sp>
        <p:nvSpPr>
          <p:cNvPr id="7" name="Rounded Rectangle 6"/>
          <p:cNvSpPr/>
          <p:nvPr/>
        </p:nvSpPr>
        <p:spPr>
          <a:xfrm>
            <a:off x="548640" y="1371600"/>
            <a:ext cx="11091672" cy="4434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hinc.png"/>
          <p:cNvPicPr>
            <a:picLocks noChangeAspect="1"/>
          </p:cNvPicPr>
          <p:nvPr/>
        </p:nvPicPr>
        <p:blipFill>
          <a:blip r:embed="rId3"/>
          <a:stretch>
            <a:fillRect/>
          </a:stretch>
        </p:blipFill>
        <p:spPr>
          <a:xfrm>
            <a:off x="822960" y="1554480"/>
            <a:ext cx="6886956" cy="827532"/>
          </a:xfrm>
          <a:prstGeom prst="rect">
            <a:avLst/>
          </a:prstGeom>
        </p:spPr>
      </p:pic>
      <p:sp>
        <p:nvSpPr>
          <p:cNvPr id="9" name="TextBox 8"/>
          <p:cNvSpPr txBox="1"/>
          <p:nvPr/>
        </p:nvSpPr>
        <p:spPr>
          <a:xfrm>
            <a:off x="822960" y="2400300"/>
            <a:ext cx="1042416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eq. 3: signed stoichiometric coefficients; for metabolism A = S</a:t>
            </a:r>
          </a:p>
        </p:txBody>
      </p:sp>
      <p:pic>
        <p:nvPicPr>
          <p:cNvPr id="10" name="Picture 9" descr="src.png"/>
          <p:cNvPicPr>
            <a:picLocks noChangeAspect="1"/>
          </p:cNvPicPr>
          <p:nvPr/>
        </p:nvPicPr>
        <p:blipFill>
          <a:blip r:embed="rId4"/>
          <a:stretch>
            <a:fillRect/>
          </a:stretch>
        </p:blipFill>
        <p:spPr>
          <a:xfrm>
            <a:off x="822960" y="2839212"/>
            <a:ext cx="7423404" cy="291084"/>
          </a:xfrm>
          <a:prstGeom prst="rect">
            <a:avLst/>
          </a:prstGeom>
        </p:spPr>
      </p:pic>
      <p:sp>
        <p:nvSpPr>
          <p:cNvPr id="11" name="TextBox 10"/>
          <p:cNvSpPr txBox="1"/>
          <p:nvPr/>
        </p:nvSpPr>
        <p:spPr>
          <a:xfrm>
            <a:off x="822960" y="3148584"/>
            <a:ext cx="1042416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external demands become edges with an empty tail or head</a:t>
            </a:r>
          </a:p>
        </p:txBody>
      </p:sp>
      <p:pic>
        <p:nvPicPr>
          <p:cNvPr id="12" name="Picture 11" descr="oflow.png"/>
          <p:cNvPicPr>
            <a:picLocks noChangeAspect="1"/>
          </p:cNvPicPr>
          <p:nvPr/>
        </p:nvPicPr>
        <p:blipFill>
          <a:blip r:embed="rId5"/>
          <a:stretch>
            <a:fillRect/>
          </a:stretch>
        </p:blipFill>
        <p:spPr>
          <a:xfrm>
            <a:off x="822960" y="3587496"/>
            <a:ext cx="6088380" cy="364236"/>
          </a:xfrm>
          <a:prstGeom prst="rect">
            <a:avLst/>
          </a:prstGeom>
        </p:spPr>
      </p:pic>
      <p:sp>
        <p:nvSpPr>
          <p:cNvPr id="13" name="TextBox 12"/>
          <p:cNvSpPr txBox="1"/>
          <p:nvPr/>
        </p:nvSpPr>
        <p:spPr>
          <a:xfrm>
            <a:off x="822960" y="3970019"/>
            <a:ext cx="1042416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eq. 8: one flow column per sample, bounds per edge and sample</a:t>
            </a:r>
          </a:p>
        </p:txBody>
      </p:sp>
      <p:pic>
        <p:nvPicPr>
          <p:cNvPr id="14" name="Picture 13" descr="mcf.png"/>
          <p:cNvPicPr>
            <a:picLocks noChangeAspect="1"/>
          </p:cNvPicPr>
          <p:nvPr/>
        </p:nvPicPr>
        <p:blipFill>
          <a:blip r:embed="rId6"/>
          <a:stretch>
            <a:fillRect/>
          </a:stretch>
        </p:blipFill>
        <p:spPr>
          <a:xfrm>
            <a:off x="822960" y="4408932"/>
            <a:ext cx="6670548" cy="309372"/>
          </a:xfrm>
          <a:prstGeom prst="rect">
            <a:avLst/>
          </a:prstGeom>
        </p:spPr>
      </p:pic>
      <p:sp>
        <p:nvSpPr>
          <p:cNvPr id="15" name="TextBox 14"/>
          <p:cNvSpPr txBox="1"/>
          <p:nvPr/>
        </p:nvSpPr>
        <p:spPr>
          <a:xfrm>
            <a:off x="822960" y="4736591"/>
            <a:ext cx="1042416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optional shared capacity across samples (multi-commodity), linearised with X⁺, X⁻</a:t>
            </a:r>
          </a:p>
        </p:txBody>
      </p:sp>
      <p:sp>
        <p:nvSpPr>
          <p:cNvPr id="16" name="TextBox 15"/>
          <p:cNvSpPr txBox="1"/>
          <p:nvPr/>
        </p:nvSpPr>
        <p:spPr>
          <a:xfrm>
            <a:off x="548640" y="5897880"/>
            <a:ext cx="11091672" cy="365760"/>
          </a:xfrm>
          <a:prstGeom prst="rect">
            <a:avLst/>
          </a:prstGeom>
          <a:noFill/>
        </p:spPr>
        <p:txBody>
          <a:bodyPr wrap="square" lIns="45720" tIns="27432" rIns="45720" bIns="27432" anchor="t">
            <a:spAutoFit/>
          </a:bodyPr>
          <a:lstStyle/>
          <a:p>
            <a:pPr algn="l">
              <a:spcAft>
                <a:spcPts val="800"/>
              </a:spcAft>
            </a:pPr>
            <a:r>
              <a:rPr sz="1200" b="0" i="0">
                <a:solidFill>
                  <a:srgbClr val="6B7280"/>
                </a:solidFill>
                <a:latin typeface="Calibri"/>
              </a:rPr>
              <a:t>A negative lower bound lets flow run backwards: reversible reactions, undirected edges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Every method = map data, edit the graph, constrain, solve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23</a:t>
            </a:r>
          </a:p>
        </p:txBody>
      </p:sp>
      <p:pic>
        <p:nvPicPr>
          <p:cNvPr id="6" name="Picture 5" descr="fig2ad.png"/>
          <p:cNvPicPr>
            <a:picLocks noChangeAspect="1"/>
          </p:cNvPicPr>
          <p:nvPr/>
        </p:nvPicPr>
        <p:blipFill>
          <a:blip r:embed="rId3"/>
          <a:stretch>
            <a:fillRect/>
          </a:stretch>
        </p:blipFill>
        <p:spPr>
          <a:xfrm>
            <a:off x="548640" y="1280160"/>
            <a:ext cx="11064240" cy="3825602"/>
          </a:xfrm>
          <a:prstGeom prst="rect">
            <a:avLst/>
          </a:prstGeom>
        </p:spPr>
      </p:pic>
      <p:sp>
        <p:nvSpPr>
          <p:cNvPr id="7" name="Rounded Rectangle 6"/>
          <p:cNvSpPr/>
          <p:nvPr/>
        </p:nvSpPr>
        <p:spPr>
          <a:xfrm>
            <a:off x="548640" y="5212080"/>
            <a:ext cx="2651760" cy="1005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48640" y="5230368"/>
            <a:ext cx="2651760" cy="960120"/>
          </a:xfrm>
          <a:prstGeom prst="rect">
            <a:avLst/>
          </a:prstGeom>
          <a:noFill/>
        </p:spPr>
        <p:txBody>
          <a:bodyPr wrap="square" lIns="45720" tIns="27432" rIns="45720" bIns="27432" anchor="ctr"/>
          <a:lstStyle/>
          <a:p>
            <a:pPr algn="ctr">
              <a:spcAft>
                <a:spcPts val="200"/>
              </a:spcAft>
            </a:pPr>
            <a:r>
              <a:rPr sz="2000" b="0" i="0">
                <a:solidFill>
                  <a:srgbClr val="0072B2"/>
                </a:solidFill>
                <a:latin typeface="Calibri"/>
              </a:rPr>
              <a:t>φ  map</a:t>
            </a:r>
          </a:p>
          <a:p>
            <a:pPr algn="ctr">
              <a:spcAft>
                <a:spcPts val="200"/>
              </a:spcAft>
            </a:pPr>
            <a:r>
              <a:rPr sz="2000" b="0" i="0">
                <a:solidFill>
                  <a:srgbClr val="2B2B2B"/>
                </a:solidFill>
                <a:latin typeface="Calibri"/>
              </a:rPr>
              <a:t>omics onto the PKN</a:t>
            </a:r>
          </a:p>
        </p:txBody>
      </p:sp>
      <p:sp>
        <p:nvSpPr>
          <p:cNvPr id="9" name="Rounded Rectangle 8"/>
          <p:cNvSpPr/>
          <p:nvPr/>
        </p:nvSpPr>
        <p:spPr>
          <a:xfrm>
            <a:off x="3337560" y="5212080"/>
            <a:ext cx="2651760" cy="1005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337560" y="5230368"/>
            <a:ext cx="2651760" cy="960120"/>
          </a:xfrm>
          <a:prstGeom prst="rect">
            <a:avLst/>
          </a:prstGeom>
          <a:noFill/>
        </p:spPr>
        <p:txBody>
          <a:bodyPr wrap="square" lIns="45720" tIns="27432" rIns="45720" bIns="27432" anchor="ctr"/>
          <a:lstStyle/>
          <a:p>
            <a:pPr algn="ctr">
              <a:spcAft>
                <a:spcPts val="200"/>
              </a:spcAft>
            </a:pPr>
            <a:r>
              <a:rPr sz="2000" b="0" i="0">
                <a:solidFill>
                  <a:srgbClr val="0072B2"/>
                </a:solidFill>
                <a:latin typeface="Calibri"/>
              </a:rPr>
              <a:t>ψ  edit</a:t>
            </a:r>
          </a:p>
          <a:p>
            <a:pPr algn="ctr">
              <a:spcAft>
                <a:spcPts val="200"/>
              </a:spcAft>
            </a:pPr>
            <a:r>
              <a:rPr sz="2000" b="0" i="0">
                <a:solidFill>
                  <a:srgbClr val="2B2B2B"/>
                </a:solidFill>
                <a:latin typeface="Calibri"/>
              </a:rPr>
              <a:t>add sources, sinks; prune</a:t>
            </a:r>
          </a:p>
        </p:txBody>
      </p:sp>
      <p:sp>
        <p:nvSpPr>
          <p:cNvPr id="11" name="Rounded Rectangle 10"/>
          <p:cNvSpPr/>
          <p:nvPr/>
        </p:nvSpPr>
        <p:spPr>
          <a:xfrm>
            <a:off x="6126479" y="5212080"/>
            <a:ext cx="2651760" cy="1005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126479" y="5230368"/>
            <a:ext cx="2651760" cy="960120"/>
          </a:xfrm>
          <a:prstGeom prst="rect">
            <a:avLst/>
          </a:prstGeom>
          <a:noFill/>
        </p:spPr>
        <p:txBody>
          <a:bodyPr wrap="square" lIns="45720" tIns="27432" rIns="45720" bIns="27432" anchor="ctr"/>
          <a:lstStyle/>
          <a:p>
            <a:pPr algn="ctr">
              <a:spcAft>
                <a:spcPts val="200"/>
              </a:spcAft>
            </a:pPr>
            <a:r>
              <a:rPr sz="2000" b="0" i="0">
                <a:solidFill>
                  <a:srgbClr val="0072B2"/>
                </a:solidFill>
                <a:latin typeface="Calibri"/>
              </a:rPr>
              <a:t>f, Ω  model</a:t>
            </a:r>
          </a:p>
          <a:p>
            <a:pPr algn="ctr">
              <a:spcAft>
                <a:spcPts val="200"/>
              </a:spcAft>
            </a:pPr>
            <a:r>
              <a:rPr sz="2000" b="0" i="0">
                <a:solidFill>
                  <a:srgbClr val="2B2B2B"/>
                </a:solidFill>
                <a:latin typeface="Calibri"/>
              </a:rPr>
              <a:t>objective + constraints</a:t>
            </a:r>
          </a:p>
        </p:txBody>
      </p:sp>
      <p:sp>
        <p:nvSpPr>
          <p:cNvPr id="13" name="Rounded Rectangle 12"/>
          <p:cNvSpPr/>
          <p:nvPr/>
        </p:nvSpPr>
        <p:spPr>
          <a:xfrm>
            <a:off x="8915399" y="5212080"/>
            <a:ext cx="2651760" cy="1005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915399" y="5230368"/>
            <a:ext cx="2651760" cy="960120"/>
          </a:xfrm>
          <a:prstGeom prst="rect">
            <a:avLst/>
          </a:prstGeom>
          <a:noFill/>
        </p:spPr>
        <p:txBody>
          <a:bodyPr wrap="square" lIns="45720" tIns="27432" rIns="45720" bIns="27432" anchor="ctr"/>
          <a:lstStyle/>
          <a:p>
            <a:pPr algn="ctr">
              <a:spcAft>
                <a:spcPts val="200"/>
              </a:spcAft>
            </a:pPr>
            <a:r>
              <a:rPr sz="2000" b="0" i="0">
                <a:solidFill>
                  <a:srgbClr val="0072B2"/>
                </a:solidFill>
                <a:latin typeface="Calibri"/>
              </a:rPr>
              <a:t>Solve</a:t>
            </a:r>
          </a:p>
          <a:p>
            <a:pPr algn="ctr">
              <a:spcAft>
                <a:spcPts val="200"/>
              </a:spcAft>
            </a:pPr>
            <a:r>
              <a:rPr sz="2000" b="0" i="0">
                <a:solidFill>
                  <a:srgbClr val="2B2B2B"/>
                </a:solidFill>
                <a:latin typeface="Calibri"/>
              </a:rPr>
              <a:t>optimal networks + proof</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950976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The math: map, edit, merge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24</a:t>
            </a:r>
          </a:p>
        </p:txBody>
      </p:sp>
      <p:sp>
        <p:nvSpPr>
          <p:cNvPr id="6" name="Rounded Rectangle 5"/>
          <p:cNvSpPr/>
          <p:nvPr/>
        </p:nvSpPr>
        <p:spPr>
          <a:xfrm>
            <a:off x="10287000" y="475488"/>
            <a:ext cx="1325880" cy="384048"/>
          </a:xfrm>
          <a:prstGeom prst="roundRect">
            <a:avLst>
              <a:gd name="adj" fmla="val 50000"/>
            </a:avLst>
          </a:prstGeom>
          <a:solidFill>
            <a:srgbClr val="E3EEF7"/>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200" b="1">
                <a:solidFill>
                  <a:srgbClr val="0072B2"/>
                </a:solidFill>
                <a:latin typeface="Calibri"/>
              </a:rPr>
              <a:t>THE MATH</a:t>
            </a:r>
          </a:p>
        </p:txBody>
      </p:sp>
      <p:sp>
        <p:nvSpPr>
          <p:cNvPr id="7" name="Rounded Rectangle 6"/>
          <p:cNvSpPr/>
          <p:nvPr/>
        </p:nvSpPr>
        <p:spPr>
          <a:xfrm>
            <a:off x="548640" y="1371600"/>
            <a:ext cx="11091672" cy="9601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444752"/>
            <a:ext cx="2011680" cy="411480"/>
          </a:xfrm>
          <a:prstGeom prst="rect">
            <a:avLst/>
          </a:prstGeom>
          <a:noFill/>
        </p:spPr>
        <p:txBody>
          <a:bodyPr wrap="square" lIns="45720" tIns="27432" rIns="45720" bIns="27432" anchor="t">
            <a:spAutoFit/>
          </a:bodyPr>
          <a:lstStyle/>
          <a:p>
            <a:pPr algn="l">
              <a:spcAft>
                <a:spcPts val="800"/>
              </a:spcAft>
            </a:pPr>
            <a:r>
              <a:rPr sz="1800" b="1" i="0">
                <a:solidFill>
                  <a:srgbClr val="0072B2"/>
                </a:solidFill>
                <a:latin typeface="Calibri"/>
              </a:rPr>
              <a:t>1  Map</a:t>
            </a:r>
          </a:p>
        </p:txBody>
      </p:sp>
      <p:pic>
        <p:nvPicPr>
          <p:cNvPr id="9" name="Picture 8" descr="phi.png"/>
          <p:cNvPicPr>
            <a:picLocks noChangeAspect="1"/>
          </p:cNvPicPr>
          <p:nvPr/>
        </p:nvPicPr>
        <p:blipFill>
          <a:blip r:embed="rId3"/>
          <a:stretch>
            <a:fillRect/>
          </a:stretch>
        </p:blipFill>
        <p:spPr>
          <a:xfrm>
            <a:off x="2788920" y="1463040"/>
            <a:ext cx="7296912" cy="364236"/>
          </a:xfrm>
          <a:prstGeom prst="rect">
            <a:avLst/>
          </a:prstGeom>
        </p:spPr>
      </p:pic>
      <p:sp>
        <p:nvSpPr>
          <p:cNvPr id="10" name="TextBox 9"/>
          <p:cNvSpPr txBox="1"/>
          <p:nvPr/>
        </p:nvSpPr>
        <p:spPr>
          <a:xfrm>
            <a:off x="2788920" y="1845564"/>
            <a:ext cx="868680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omics values per sample attached to vertices (and edges); e.g. GPR rules, TF activities</a:t>
            </a:r>
          </a:p>
        </p:txBody>
      </p:sp>
      <p:sp>
        <p:nvSpPr>
          <p:cNvPr id="11" name="Rounded Rectangle 10"/>
          <p:cNvSpPr/>
          <p:nvPr/>
        </p:nvSpPr>
        <p:spPr>
          <a:xfrm>
            <a:off x="548640" y="2459736"/>
            <a:ext cx="11091672" cy="9601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2532888"/>
            <a:ext cx="2011680" cy="411480"/>
          </a:xfrm>
          <a:prstGeom prst="rect">
            <a:avLst/>
          </a:prstGeom>
          <a:noFill/>
        </p:spPr>
        <p:txBody>
          <a:bodyPr wrap="square" lIns="45720" tIns="27432" rIns="45720" bIns="27432" anchor="t">
            <a:spAutoFit/>
          </a:bodyPr>
          <a:lstStyle/>
          <a:p>
            <a:pPr algn="l">
              <a:spcAft>
                <a:spcPts val="800"/>
              </a:spcAft>
            </a:pPr>
            <a:r>
              <a:rPr sz="1800" b="1" i="0">
                <a:solidFill>
                  <a:srgbClr val="0072B2"/>
                </a:solidFill>
                <a:latin typeface="Calibri"/>
              </a:rPr>
              <a:t>2  Edit</a:t>
            </a:r>
          </a:p>
        </p:txBody>
      </p:sp>
      <p:pic>
        <p:nvPicPr>
          <p:cNvPr id="13" name="Picture 12" descr="psi.png"/>
          <p:cNvPicPr>
            <a:picLocks noChangeAspect="1"/>
          </p:cNvPicPr>
          <p:nvPr/>
        </p:nvPicPr>
        <p:blipFill>
          <a:blip r:embed="rId4"/>
          <a:stretch>
            <a:fillRect/>
          </a:stretch>
        </p:blipFill>
        <p:spPr>
          <a:xfrm>
            <a:off x="2788920" y="2551176"/>
            <a:ext cx="3910583" cy="342900"/>
          </a:xfrm>
          <a:prstGeom prst="rect">
            <a:avLst/>
          </a:prstGeom>
        </p:spPr>
      </p:pic>
      <p:sp>
        <p:nvSpPr>
          <p:cNvPr id="14" name="TextBox 13"/>
          <p:cNvSpPr txBox="1"/>
          <p:nvPr/>
        </p:nvSpPr>
        <p:spPr>
          <a:xfrm>
            <a:off x="2788920" y="2912364"/>
            <a:ext cx="868680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remove Vr, Er (unreachable parts); add Va, Ea (sources, sinks)</a:t>
            </a:r>
          </a:p>
        </p:txBody>
      </p:sp>
      <p:sp>
        <p:nvSpPr>
          <p:cNvPr id="15" name="Rounded Rectangle 14"/>
          <p:cNvSpPr/>
          <p:nvPr/>
        </p:nvSpPr>
        <p:spPr>
          <a:xfrm>
            <a:off x="548640" y="3547872"/>
            <a:ext cx="11091672" cy="1345692"/>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3621024"/>
            <a:ext cx="2011680" cy="411480"/>
          </a:xfrm>
          <a:prstGeom prst="rect">
            <a:avLst/>
          </a:prstGeom>
          <a:noFill/>
        </p:spPr>
        <p:txBody>
          <a:bodyPr wrap="square" lIns="45720" tIns="27432" rIns="45720" bIns="27432" anchor="t">
            <a:spAutoFit/>
          </a:bodyPr>
          <a:lstStyle/>
          <a:p>
            <a:pPr algn="l">
              <a:spcAft>
                <a:spcPts val="800"/>
              </a:spcAft>
            </a:pPr>
            <a:r>
              <a:rPr sz="1800" b="1" i="0">
                <a:solidFill>
                  <a:srgbClr val="0072B2"/>
                </a:solidFill>
                <a:latin typeface="Calibri"/>
              </a:rPr>
              <a:t>3  Merge</a:t>
            </a:r>
          </a:p>
        </p:txBody>
      </p:sp>
      <p:pic>
        <p:nvPicPr>
          <p:cNvPr id="17" name="Picture 16" descr="union.png"/>
          <p:cNvPicPr>
            <a:picLocks noChangeAspect="1"/>
          </p:cNvPicPr>
          <p:nvPr/>
        </p:nvPicPr>
        <p:blipFill>
          <a:blip r:embed="rId5"/>
          <a:stretch>
            <a:fillRect/>
          </a:stretch>
        </p:blipFill>
        <p:spPr>
          <a:xfrm>
            <a:off x="2788920" y="3639312"/>
            <a:ext cx="2356104" cy="778764"/>
          </a:xfrm>
          <a:prstGeom prst="rect">
            <a:avLst/>
          </a:prstGeom>
        </p:spPr>
      </p:pic>
      <p:sp>
        <p:nvSpPr>
          <p:cNvPr id="18" name="TextBox 17"/>
          <p:cNvSpPr txBox="1"/>
          <p:nvPr/>
        </p:nvSpPr>
        <p:spPr>
          <a:xfrm>
            <a:off x="2788920" y="4436364"/>
            <a:ext cx="868680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one union hypergraph that holds every sample</a:t>
            </a:r>
          </a:p>
        </p:txBody>
      </p:sp>
      <p:sp>
        <p:nvSpPr>
          <p:cNvPr id="19" name="Rounded Rectangle 18"/>
          <p:cNvSpPr/>
          <p:nvPr/>
        </p:nvSpPr>
        <p:spPr>
          <a:xfrm>
            <a:off x="548640" y="5021580"/>
            <a:ext cx="11091672" cy="9601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5094732"/>
            <a:ext cx="2011680" cy="411480"/>
          </a:xfrm>
          <a:prstGeom prst="rect">
            <a:avLst/>
          </a:prstGeom>
          <a:noFill/>
        </p:spPr>
        <p:txBody>
          <a:bodyPr wrap="square" lIns="45720" tIns="27432" rIns="45720" bIns="27432" anchor="t">
            <a:spAutoFit/>
          </a:bodyPr>
          <a:lstStyle/>
          <a:p>
            <a:pPr algn="l">
              <a:spcAft>
                <a:spcPts val="800"/>
              </a:spcAft>
            </a:pPr>
            <a:r>
              <a:rPr sz="1800" b="1" i="0">
                <a:solidFill>
                  <a:srgbClr val="0072B2"/>
                </a:solidFill>
                <a:latin typeface="Calibri"/>
              </a:rPr>
              <a:t>4  Method</a:t>
            </a:r>
          </a:p>
        </p:txBody>
      </p:sp>
      <p:pic>
        <p:nvPicPr>
          <p:cNvPr id="21" name="Picture 20" descr="method.png"/>
          <p:cNvPicPr>
            <a:picLocks noChangeAspect="1"/>
          </p:cNvPicPr>
          <p:nvPr/>
        </p:nvPicPr>
        <p:blipFill>
          <a:blip r:embed="rId6"/>
          <a:stretch>
            <a:fillRect/>
          </a:stretch>
        </p:blipFill>
        <p:spPr>
          <a:xfrm>
            <a:off x="2788920" y="5113020"/>
            <a:ext cx="4114800" cy="291084"/>
          </a:xfrm>
          <a:prstGeom prst="rect">
            <a:avLst/>
          </a:prstGeom>
        </p:spPr>
      </p:pic>
      <p:sp>
        <p:nvSpPr>
          <p:cNvPr id="22" name="TextBox 21"/>
          <p:cNvSpPr txBox="1"/>
          <p:nvPr/>
        </p:nvSpPr>
        <p:spPr>
          <a:xfrm>
            <a:off x="2788920" y="5422392"/>
            <a:ext cx="868680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a method is its map, its edit and its problem (objective f, feasible set Ω)</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Idea 3: one template for every method and every sample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25</a:t>
            </a:r>
          </a:p>
        </p:txBody>
      </p:sp>
      <p:sp>
        <p:nvSpPr>
          <p:cNvPr id="6" name="Rounded Rectangle 5"/>
          <p:cNvSpPr/>
          <p:nvPr/>
        </p:nvSpPr>
        <p:spPr>
          <a:xfrm>
            <a:off x="548640" y="1417320"/>
            <a:ext cx="11064240" cy="23317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1554480"/>
            <a:ext cx="10515600" cy="2103120"/>
          </a:xfrm>
          <a:prstGeom prst="rect">
            <a:avLst/>
          </a:prstGeom>
          <a:noFill/>
        </p:spPr>
        <p:txBody>
          <a:bodyPr wrap="square" lIns="45720" tIns="27432" rIns="45720" bIns="27432" anchor="t"/>
          <a:lstStyle/>
          <a:p>
            <a:pPr algn="l">
              <a:spcAft>
                <a:spcPts val="800"/>
              </a:spcAft>
            </a:pPr>
            <a:r>
              <a:rPr sz="2000" b="0" i="0">
                <a:solidFill>
                  <a:srgbClr val="1F2A44"/>
                </a:solidFill>
                <a:latin typeface="Cambria Math"/>
                <a:ea typeface="Cambria Math"/>
                <a:cs typeface="Cambria Math"/>
              </a:rPr>
              <a:t>min   (1/n) Σᵢ f(X:,ᵢ , Y:,ᵢ)  +  </a:t>
            </a:r>
            <a:r>
              <a:rPr sz="2000" b="0" i="0">
                <a:solidFill>
                  <a:srgbClr val="D55E00"/>
                </a:solidFill>
                <a:latin typeface="Cambria Math"/>
                <a:ea typeface="Cambria Math"/>
                <a:cs typeface="Cambria Math"/>
              </a:rPr>
              <a:t>λ ‖Y 1ₙ‖₀</a:t>
            </a:r>
          </a:p>
          <a:p>
            <a:pPr algn="l">
              <a:spcAft>
                <a:spcPts val="800"/>
              </a:spcAft>
            </a:pPr>
            <a:r>
              <a:rPr sz="2000" b="0" i="0">
                <a:solidFill>
                  <a:srgbClr val="1F2A44"/>
                </a:solidFill>
                <a:latin typeface="Cambria Math"/>
                <a:ea typeface="Cambria Math"/>
                <a:cs typeface="Cambria Math"/>
              </a:rPr>
              <a:t>s.t.   A X = 0</a:t>
            </a:r>
            <a:r>
              <a:rPr sz="2000" b="0" i="0">
                <a:solidFill>
                  <a:srgbClr val="6B7280"/>
                </a:solidFill>
                <a:latin typeface="Calibri"/>
              </a:rPr>
              <a:t>     flow conservation in every sample</a:t>
            </a:r>
          </a:p>
          <a:p>
            <a:pPr algn="l">
              <a:spcAft>
                <a:spcPts val="800"/>
              </a:spcAft>
            </a:pPr>
            <a:r>
              <a:rPr sz="2000" b="0" i="0">
                <a:solidFill>
                  <a:srgbClr val="1F2A44"/>
                </a:solidFill>
                <a:latin typeface="Cambria Math"/>
                <a:ea typeface="Cambria Math"/>
                <a:cs typeface="Cambria Math"/>
              </a:rPr>
              <a:t>         Y = 0  ⇒  X = 0</a:t>
            </a:r>
            <a:r>
              <a:rPr sz="2000" b="0" i="0">
                <a:solidFill>
                  <a:srgbClr val="6B7280"/>
                </a:solidFill>
                <a:latin typeface="Calibri"/>
              </a:rPr>
              <a:t>     edges off carry no flow</a:t>
            </a:r>
          </a:p>
          <a:p>
            <a:pPr algn="l">
              <a:spcAft>
                <a:spcPts val="800"/>
              </a:spcAft>
            </a:pPr>
            <a:r>
              <a:rPr sz="2000" b="0" i="0">
                <a:solidFill>
                  <a:srgbClr val="1F2A44"/>
                </a:solidFill>
                <a:latin typeface="Cambria Math"/>
                <a:ea typeface="Cambria Math"/>
                <a:cs typeface="Cambria Math"/>
              </a:rPr>
              <a:t>         (X, Y) ∈ Ω(method)</a:t>
            </a:r>
            <a:r>
              <a:rPr sz="2000" b="0" i="0">
                <a:solidFill>
                  <a:srgbClr val="6B7280"/>
                </a:solidFill>
                <a:latin typeface="Calibri"/>
              </a:rPr>
              <a:t>     paths, trees, signs, FBA bounds …</a:t>
            </a:r>
          </a:p>
        </p:txBody>
      </p:sp>
      <p:sp>
        <p:nvSpPr>
          <p:cNvPr id="8" name="TextBox 7"/>
          <p:cNvSpPr txBox="1"/>
          <p:nvPr/>
        </p:nvSpPr>
        <p:spPr>
          <a:xfrm>
            <a:off x="548640" y="3977639"/>
            <a:ext cx="11064240" cy="2286000"/>
          </a:xfrm>
          <a:prstGeom prst="rect">
            <a:avLst/>
          </a:prstGeom>
          <a:noFill/>
        </p:spPr>
        <p:txBody>
          <a:bodyPr wrap="square" lIns="45720" tIns="27432" rIns="45720" bIns="27432" anchor="t"/>
          <a:lstStyle/>
          <a:p>
            <a:pPr algn="l">
              <a:spcAft>
                <a:spcPts val="1000"/>
              </a:spcAft>
            </a:pPr>
            <a:r>
              <a:rPr sz="2000" b="0" i="0">
                <a:solidFill>
                  <a:srgbClr val="0072B2"/>
                </a:solidFill>
                <a:latin typeface="Calibri"/>
              </a:rPr>
              <a:t>X, Y: </a:t>
            </a:r>
            <a:r>
              <a:rPr sz="2000" b="0" i="0">
                <a:solidFill>
                  <a:srgbClr val="2B2B2B"/>
                </a:solidFill>
                <a:latin typeface="Calibri"/>
              </a:rPr>
              <a:t>flows and on/off indicators, edges × samples</a:t>
            </a:r>
          </a:p>
          <a:p>
            <a:pPr algn="l">
              <a:spcAft>
                <a:spcPts val="1000"/>
              </a:spcAft>
            </a:pPr>
            <a:r>
              <a:rPr sz="2000" b="0" i="0">
                <a:solidFill>
                  <a:srgbClr val="0072B2"/>
                </a:solidFill>
                <a:latin typeface="Calibri"/>
              </a:rPr>
              <a:t>f: </a:t>
            </a:r>
            <a:r>
              <a:rPr sz="2000" b="0" i="0">
                <a:solidFill>
                  <a:srgbClr val="2B2B2B"/>
                </a:solidFill>
                <a:latin typeface="Calibri"/>
              </a:rPr>
              <a:t>the original method's objective, per sample</a:t>
            </a:r>
          </a:p>
          <a:p>
            <a:pPr algn="l">
              <a:spcAft>
                <a:spcPts val="1000"/>
              </a:spcAft>
            </a:pPr>
            <a:r>
              <a:rPr sz="2000" b="0" i="0">
                <a:solidFill>
                  <a:srgbClr val="D55E00"/>
                </a:solidFill>
                <a:latin typeface="Calibri"/>
              </a:rPr>
              <a:t>‖Y 1ₙ‖₀: </a:t>
            </a:r>
            <a:r>
              <a:rPr sz="2000" b="0" i="0">
                <a:solidFill>
                  <a:srgbClr val="2B2B2B"/>
                </a:solidFill>
                <a:latin typeface="Calibri"/>
              </a:rPr>
              <a:t>number of edges used in any sample</a:t>
            </a:r>
          </a:p>
          <a:p>
            <a:pPr algn="l">
              <a:spcAft>
                <a:spcPts val="1000"/>
              </a:spcAft>
            </a:pPr>
            <a:r>
              <a:rPr sz="2000" b="0" i="0">
                <a:solidFill>
                  <a:srgbClr val="D55E00"/>
                </a:solidFill>
                <a:latin typeface="Calibri"/>
              </a:rPr>
              <a:t>λ: </a:t>
            </a:r>
            <a:r>
              <a:rPr sz="2000" b="0" i="0">
                <a:solidFill>
                  <a:srgbClr val="2B2B2B"/>
                </a:solidFill>
                <a:latin typeface="Calibri"/>
              </a:rPr>
              <a:t>trade-off between data fit and one shared, sparse network</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74320"/>
            <a:ext cx="950976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The math: building blocks for Ω</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26</a:t>
            </a:r>
          </a:p>
        </p:txBody>
      </p:sp>
      <p:sp>
        <p:nvSpPr>
          <p:cNvPr id="6" name="Rounded Rectangle 5"/>
          <p:cNvSpPr/>
          <p:nvPr/>
        </p:nvSpPr>
        <p:spPr>
          <a:xfrm>
            <a:off x="10287000" y="475488"/>
            <a:ext cx="1325880" cy="384048"/>
          </a:xfrm>
          <a:prstGeom prst="roundRect">
            <a:avLst>
              <a:gd name="adj" fmla="val 50000"/>
            </a:avLst>
          </a:prstGeom>
          <a:solidFill>
            <a:srgbClr val="E3EEF7"/>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200" b="1">
                <a:solidFill>
                  <a:srgbClr val="0072B2"/>
                </a:solidFill>
                <a:latin typeface="Calibri"/>
              </a:rPr>
              <a:t>THE MATH</a:t>
            </a:r>
          </a:p>
        </p:txBody>
      </p:sp>
      <p:sp>
        <p:nvSpPr>
          <p:cNvPr id="7" name="Rounded Rectangle 6"/>
          <p:cNvSpPr/>
          <p:nvPr/>
        </p:nvSpPr>
        <p:spPr>
          <a:xfrm>
            <a:off x="548640" y="1371600"/>
            <a:ext cx="11091672" cy="894588"/>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444752"/>
            <a:ext cx="2103120" cy="411480"/>
          </a:xfrm>
          <a:prstGeom prst="rect">
            <a:avLst/>
          </a:prstGeom>
          <a:noFill/>
        </p:spPr>
        <p:txBody>
          <a:bodyPr wrap="square" lIns="45720" tIns="27432" rIns="45720" bIns="27432" anchor="t">
            <a:spAutoFit/>
          </a:bodyPr>
          <a:lstStyle/>
          <a:p>
            <a:pPr algn="l">
              <a:spcAft>
                <a:spcPts val="800"/>
              </a:spcAft>
            </a:pPr>
            <a:r>
              <a:rPr sz="1700" b="1" i="0">
                <a:solidFill>
                  <a:srgbClr val="0072B2"/>
                </a:solidFill>
                <a:latin typeface="Calibri"/>
              </a:rPr>
              <a:t>Off ⇒ no flow</a:t>
            </a:r>
          </a:p>
        </p:txBody>
      </p:sp>
      <p:pic>
        <p:nvPicPr>
          <p:cNvPr id="9" name="Picture 8" descr="free.png"/>
          <p:cNvPicPr>
            <a:picLocks noChangeAspect="1"/>
          </p:cNvPicPr>
          <p:nvPr/>
        </p:nvPicPr>
        <p:blipFill>
          <a:blip r:embed="rId3"/>
          <a:stretch>
            <a:fillRect/>
          </a:stretch>
        </p:blipFill>
        <p:spPr>
          <a:xfrm>
            <a:off x="2788920" y="1463040"/>
            <a:ext cx="4753356" cy="327660"/>
          </a:xfrm>
          <a:prstGeom prst="rect">
            <a:avLst/>
          </a:prstGeom>
        </p:spPr>
      </p:pic>
      <p:sp>
        <p:nvSpPr>
          <p:cNvPr id="10" name="TextBox 9"/>
          <p:cNvSpPr txBox="1"/>
          <p:nvPr/>
        </p:nvSpPr>
        <p:spPr>
          <a:xfrm>
            <a:off x="2788920" y="1808988"/>
            <a:ext cx="868680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eq. 9: an edge that is off carries no flow</a:t>
            </a:r>
          </a:p>
        </p:txBody>
      </p:sp>
      <p:sp>
        <p:nvSpPr>
          <p:cNvPr id="11" name="Rounded Rectangle 10"/>
          <p:cNvSpPr/>
          <p:nvPr/>
        </p:nvSpPr>
        <p:spPr>
          <a:xfrm>
            <a:off x="548640" y="2385060"/>
            <a:ext cx="11091672" cy="850392"/>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2458212"/>
            <a:ext cx="2103120" cy="411480"/>
          </a:xfrm>
          <a:prstGeom prst="rect">
            <a:avLst/>
          </a:prstGeom>
          <a:noFill/>
        </p:spPr>
        <p:txBody>
          <a:bodyPr wrap="square" lIns="45720" tIns="27432" rIns="45720" bIns="27432" anchor="t">
            <a:spAutoFit/>
          </a:bodyPr>
          <a:lstStyle/>
          <a:p>
            <a:pPr algn="l">
              <a:spcAft>
                <a:spcPts val="800"/>
              </a:spcAft>
            </a:pPr>
            <a:r>
              <a:rPr sz="1700" b="1" i="0">
                <a:solidFill>
                  <a:srgbClr val="0072B2"/>
                </a:solidFill>
                <a:latin typeface="Calibri"/>
              </a:rPr>
              <a:t>On ⇒ flow ≠ 0</a:t>
            </a:r>
          </a:p>
        </p:txBody>
      </p:sp>
      <p:pic>
        <p:nvPicPr>
          <p:cNvPr id="13" name="Picture 12" descr="nz.png"/>
          <p:cNvPicPr>
            <a:picLocks noChangeAspect="1"/>
          </p:cNvPicPr>
          <p:nvPr/>
        </p:nvPicPr>
        <p:blipFill>
          <a:blip r:embed="rId4"/>
          <a:stretch>
            <a:fillRect/>
          </a:stretch>
        </p:blipFill>
        <p:spPr>
          <a:xfrm>
            <a:off x="2788920" y="2476500"/>
            <a:ext cx="7514844" cy="283464"/>
          </a:xfrm>
          <a:prstGeom prst="rect">
            <a:avLst/>
          </a:prstGeom>
        </p:spPr>
      </p:pic>
      <p:sp>
        <p:nvSpPr>
          <p:cNvPr id="14" name="TextBox 13"/>
          <p:cNvSpPr txBox="1"/>
          <p:nvPr/>
        </p:nvSpPr>
        <p:spPr>
          <a:xfrm>
            <a:off x="2788920" y="2778252"/>
            <a:ext cx="868680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C1–C3: Y⁺ / Y⁻ choose the direction; ε is a small minimum flow</a:t>
            </a:r>
          </a:p>
        </p:txBody>
      </p:sp>
      <p:sp>
        <p:nvSpPr>
          <p:cNvPr id="15" name="Rounded Rectangle 14"/>
          <p:cNvSpPr/>
          <p:nvPr/>
        </p:nvSpPr>
        <p:spPr>
          <a:xfrm>
            <a:off x="548640" y="3354324"/>
            <a:ext cx="11091672" cy="894588"/>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3427476"/>
            <a:ext cx="2103120" cy="411480"/>
          </a:xfrm>
          <a:prstGeom prst="rect">
            <a:avLst/>
          </a:prstGeom>
          <a:noFill/>
        </p:spPr>
        <p:txBody>
          <a:bodyPr wrap="square" lIns="45720" tIns="27432" rIns="45720" bIns="27432" anchor="t">
            <a:spAutoFit/>
          </a:bodyPr>
          <a:lstStyle/>
          <a:p>
            <a:pPr algn="l">
              <a:spcAft>
                <a:spcPts val="800"/>
              </a:spcAft>
            </a:pPr>
            <a:r>
              <a:rPr sz="1700" b="1" i="0">
                <a:solidFill>
                  <a:srgbClr val="0072B2"/>
                </a:solidFill>
                <a:latin typeface="Calibri"/>
              </a:rPr>
              <a:t>Acyclic</a:t>
            </a:r>
          </a:p>
        </p:txBody>
      </p:sp>
      <p:pic>
        <p:nvPicPr>
          <p:cNvPr id="17" name="Picture 16" descr="acyc.png"/>
          <p:cNvPicPr>
            <a:picLocks noChangeAspect="1"/>
          </p:cNvPicPr>
          <p:nvPr/>
        </p:nvPicPr>
        <p:blipFill>
          <a:blip r:embed="rId5"/>
          <a:stretch>
            <a:fillRect/>
          </a:stretch>
        </p:blipFill>
        <p:spPr>
          <a:xfrm>
            <a:off x="2788920" y="3445764"/>
            <a:ext cx="7085076" cy="327660"/>
          </a:xfrm>
          <a:prstGeom prst="rect">
            <a:avLst/>
          </a:prstGeom>
        </p:spPr>
      </p:pic>
      <p:sp>
        <p:nvSpPr>
          <p:cNvPr id="18" name="TextBox 17"/>
          <p:cNvSpPr txBox="1"/>
          <p:nvPr/>
        </p:nvSpPr>
        <p:spPr>
          <a:xfrm>
            <a:off x="2788920" y="3791712"/>
            <a:ext cx="868680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C4–C5: L is a topological order; a used edge must go "downhill" (C6 mirrors it for Y⁻)</a:t>
            </a:r>
          </a:p>
        </p:txBody>
      </p:sp>
      <p:sp>
        <p:nvSpPr>
          <p:cNvPr id="19" name="Rounded Rectangle 18"/>
          <p:cNvSpPr/>
          <p:nvPr/>
        </p:nvSpPr>
        <p:spPr>
          <a:xfrm>
            <a:off x="548640" y="4367784"/>
            <a:ext cx="11091672" cy="1246632"/>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4440936"/>
            <a:ext cx="2103120" cy="411480"/>
          </a:xfrm>
          <a:prstGeom prst="rect">
            <a:avLst/>
          </a:prstGeom>
          <a:noFill/>
        </p:spPr>
        <p:txBody>
          <a:bodyPr wrap="square" lIns="45720" tIns="27432" rIns="45720" bIns="27432" anchor="t">
            <a:spAutoFit/>
          </a:bodyPr>
          <a:lstStyle/>
          <a:p>
            <a:pPr algn="l">
              <a:spcAft>
                <a:spcPts val="800"/>
              </a:spcAft>
            </a:pPr>
            <a:r>
              <a:rPr sz="1700" b="1" i="0">
                <a:solidFill>
                  <a:srgbClr val="0072B2"/>
                </a:solidFill>
                <a:latin typeface="Calibri"/>
              </a:rPr>
              <a:t>Tree</a:t>
            </a:r>
          </a:p>
        </p:txBody>
      </p:sp>
      <p:pic>
        <p:nvPicPr>
          <p:cNvPr id="21" name="Picture 20" descr="tree.png"/>
          <p:cNvPicPr>
            <a:picLocks noChangeAspect="1"/>
          </p:cNvPicPr>
          <p:nvPr/>
        </p:nvPicPr>
        <p:blipFill>
          <a:blip r:embed="rId6"/>
          <a:stretch>
            <a:fillRect/>
          </a:stretch>
        </p:blipFill>
        <p:spPr>
          <a:xfrm>
            <a:off x="2788920" y="4459224"/>
            <a:ext cx="4888992" cy="679704"/>
          </a:xfrm>
          <a:prstGeom prst="rect">
            <a:avLst/>
          </a:prstGeom>
        </p:spPr>
      </p:pic>
      <p:sp>
        <p:nvSpPr>
          <p:cNvPr id="22" name="TextBox 21"/>
          <p:cNvSpPr txBox="1"/>
          <p:nvPr/>
        </p:nvSpPr>
        <p:spPr>
          <a:xfrm>
            <a:off x="2788920" y="5157216"/>
            <a:ext cx="8686800" cy="292608"/>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eq. 12: acyclic and at most one incoming edge per vertex</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Each method is a choice of graph edits, constraints and objective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27</a:t>
            </a:r>
          </a:p>
        </p:txBody>
      </p:sp>
      <p:graphicFrame>
        <p:nvGraphicFramePr>
          <p:cNvPr id="6" name="Table 5"/>
          <p:cNvGraphicFramePr>
            <a:graphicFrameLocks noGrp="1"/>
          </p:cNvGraphicFramePr>
          <p:nvPr/>
        </p:nvGraphicFramePr>
        <p:xfrm>
          <a:off x="548640" y="1417320"/>
          <a:ext cx="11064240" cy="4279392"/>
        </p:xfrm>
        <a:graphic>
          <a:graphicData uri="http://schemas.openxmlformats.org/drawingml/2006/table">
            <a:tbl>
              <a:tblPr>
                <a:tableStyleId>{5C22544A-7EE6-4342-B048-85BDC9FD1C3A}</a:tableStyleId>
              </a:tblPr>
              <a:tblGrid>
                <a:gridCol w="22402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713232">
                <a:tc>
                  <a:txBody>
                    <a:bodyPr/>
                    <a:lstStyle/>
                    <a:p>
                      <a:r>
                        <a:rPr sz="2000" b="0">
                          <a:solidFill>
                            <a:srgbClr val="FFFFFF"/>
                          </a:solidFill>
                          <a:latin typeface="Calibri"/>
                        </a:rPr>
                        <a:t>Method</a:t>
                      </a:r>
                    </a:p>
                  </a:txBody>
                  <a:tcPr marL="73152" marR="73152" marT="27432" marB="27432" anchor="ctr">
                    <a:solidFill>
                      <a:srgbClr val="1F2A44"/>
                    </a:solidFill>
                  </a:tcPr>
                </a:tc>
                <a:tc>
                  <a:txBody>
                    <a:bodyPr/>
                    <a:lstStyle/>
                    <a:p>
                      <a:r>
                        <a:rPr sz="2000" b="0">
                          <a:solidFill>
                            <a:srgbClr val="FFFFFF"/>
                          </a:solidFill>
                          <a:latin typeface="Calibri"/>
                        </a:rPr>
                        <a:t>Graph edits (ψ)</a:t>
                      </a:r>
                    </a:p>
                  </a:txBody>
                  <a:tcPr marL="73152" marR="73152" marT="27432" marB="27432" anchor="ctr">
                    <a:solidFill>
                      <a:srgbClr val="1F2A44"/>
                    </a:solidFill>
                  </a:tcPr>
                </a:tc>
                <a:tc>
                  <a:txBody>
                    <a:bodyPr/>
                    <a:lstStyle/>
                    <a:p>
                      <a:r>
                        <a:rPr sz="2000" b="0">
                          <a:solidFill>
                            <a:srgbClr val="FFFFFF"/>
                          </a:solidFill>
                          <a:latin typeface="Calibri"/>
                        </a:rPr>
                        <a:t>Constraints (Ω)</a:t>
                      </a:r>
                    </a:p>
                  </a:txBody>
                  <a:tcPr marL="73152" marR="73152" marT="27432" marB="27432" anchor="ctr">
                    <a:solidFill>
                      <a:srgbClr val="1F2A44"/>
                    </a:solidFill>
                  </a:tcPr>
                </a:tc>
                <a:tc>
                  <a:txBody>
                    <a:bodyPr/>
                    <a:lstStyle/>
                    <a:p>
                      <a:r>
                        <a:rPr sz="2000" b="0">
                          <a:solidFill>
                            <a:srgbClr val="FFFFFF"/>
                          </a:solidFill>
                          <a:latin typeface="Calibri"/>
                        </a:rPr>
                        <a:t>Objective (f)</a:t>
                      </a:r>
                    </a:p>
                  </a:txBody>
                  <a:tcPr marL="73152" marR="73152" marT="27432" marB="27432" anchor="ctr">
                    <a:solidFill>
                      <a:srgbClr val="1F2A44"/>
                    </a:solidFill>
                  </a:tcPr>
                </a:tc>
                <a:extLst>
                  <a:ext uri="{0D108BD9-81ED-4DB2-BD59-A6C34878D82A}">
                    <a16:rowId xmlns:a16="http://schemas.microsoft.com/office/drawing/2014/main" val="10000"/>
                  </a:ext>
                </a:extLst>
              </a:tr>
              <a:tr h="713232">
                <a:tc>
                  <a:txBody>
                    <a:bodyPr/>
                    <a:lstStyle/>
                    <a:p>
                      <a:r>
                        <a:rPr sz="2000" b="0">
                          <a:solidFill>
                            <a:srgbClr val="0072B2"/>
                          </a:solidFill>
                          <a:latin typeface="Calibri"/>
                        </a:rPr>
                        <a:t>FBA</a:t>
                      </a:r>
                    </a:p>
                  </a:txBody>
                  <a:tcPr marL="73152" marR="73152" marT="27432" marB="27432" anchor="ctr">
                    <a:solidFill>
                      <a:srgbClr val="FFFFFF"/>
                    </a:solidFill>
                  </a:tcPr>
                </a:tc>
                <a:tc>
                  <a:txBody>
                    <a:bodyPr/>
                    <a:lstStyle/>
                    <a:p>
                      <a:r>
                        <a:rPr sz="2000" b="0">
                          <a:solidFill>
                            <a:srgbClr val="2B2B2B"/>
                          </a:solidFill>
                          <a:latin typeface="Calibri"/>
                        </a:rPr>
                        <a:t>none: exchange reactions</a:t>
                      </a:r>
                    </a:p>
                  </a:txBody>
                  <a:tcPr marL="73152" marR="73152" marT="27432" marB="27432" anchor="ctr">
                    <a:solidFill>
                      <a:srgbClr val="FFFFFF"/>
                    </a:solidFill>
                  </a:tcPr>
                </a:tc>
                <a:tc>
                  <a:txBody>
                    <a:bodyPr/>
                    <a:lstStyle/>
                    <a:p>
                      <a:r>
                        <a:rPr sz="2000" b="0">
                          <a:solidFill>
                            <a:srgbClr val="2B2B2B"/>
                          </a:solidFill>
                          <a:latin typeface="Calibri"/>
                        </a:rPr>
                        <a:t>flux bounds</a:t>
                      </a:r>
                    </a:p>
                  </a:txBody>
                  <a:tcPr marL="73152" marR="73152" marT="27432" marB="27432" anchor="ctr">
                    <a:solidFill>
                      <a:srgbClr val="FFFFFF"/>
                    </a:solidFill>
                  </a:tcPr>
                </a:tc>
                <a:tc>
                  <a:txBody>
                    <a:bodyPr/>
                    <a:lstStyle/>
                    <a:p>
                      <a:r>
                        <a:rPr sz="2000" b="0">
                          <a:solidFill>
                            <a:srgbClr val="2B2B2B"/>
                          </a:solidFill>
                          <a:latin typeface="Calibri"/>
                        </a:rPr>
                        <a:t>max biomass</a:t>
                      </a:r>
                    </a:p>
                  </a:txBody>
                  <a:tcPr marL="73152" marR="73152" marT="27432" marB="27432" anchor="ctr">
                    <a:solidFill>
                      <a:srgbClr val="FFFFFF"/>
                    </a:solidFill>
                  </a:tcPr>
                </a:tc>
                <a:extLst>
                  <a:ext uri="{0D108BD9-81ED-4DB2-BD59-A6C34878D82A}">
                    <a16:rowId xmlns:a16="http://schemas.microsoft.com/office/drawing/2014/main" val="10001"/>
                  </a:ext>
                </a:extLst>
              </a:tr>
              <a:tr h="713232">
                <a:tc>
                  <a:txBody>
                    <a:bodyPr/>
                    <a:lstStyle/>
                    <a:p>
                      <a:r>
                        <a:rPr sz="2000" b="0">
                          <a:solidFill>
                            <a:srgbClr val="0072B2"/>
                          </a:solidFill>
                          <a:latin typeface="Calibri"/>
                        </a:rPr>
                        <a:t>Sparse FBA</a:t>
                      </a:r>
                    </a:p>
                  </a:txBody>
                  <a:tcPr marL="73152" marR="73152" marT="27432" marB="27432" anchor="ctr">
                    <a:solidFill>
                      <a:srgbClr val="F3F4F6"/>
                    </a:solidFill>
                  </a:tcPr>
                </a:tc>
                <a:tc>
                  <a:txBody>
                    <a:bodyPr/>
                    <a:lstStyle/>
                    <a:p>
                      <a:r>
                        <a:rPr sz="2000" b="0">
                          <a:solidFill>
                            <a:srgbClr val="2B2B2B"/>
                          </a:solidFill>
                          <a:latin typeface="Calibri"/>
                        </a:rPr>
                        <a:t>none</a:t>
                      </a:r>
                    </a:p>
                  </a:txBody>
                  <a:tcPr marL="73152" marR="73152" marT="27432" marB="27432" anchor="ctr">
                    <a:solidFill>
                      <a:srgbClr val="F3F4F6"/>
                    </a:solidFill>
                  </a:tcPr>
                </a:tc>
                <a:tc>
                  <a:txBody>
                    <a:bodyPr/>
                    <a:lstStyle/>
                    <a:p>
                      <a:r>
                        <a:rPr sz="2000" b="0">
                          <a:solidFill>
                            <a:srgbClr val="2B2B2B"/>
                          </a:solidFill>
                          <a:latin typeface="Calibri"/>
                        </a:rPr>
                        <a:t>biomass ≥ x% of max</a:t>
                      </a:r>
                    </a:p>
                  </a:txBody>
                  <a:tcPr marL="73152" marR="73152" marT="27432" marB="27432" anchor="ctr">
                    <a:solidFill>
                      <a:srgbClr val="F3F4F6"/>
                    </a:solidFill>
                  </a:tcPr>
                </a:tc>
                <a:tc>
                  <a:txBody>
                    <a:bodyPr/>
                    <a:lstStyle/>
                    <a:p>
                      <a:r>
                        <a:rPr sz="2000" b="0">
                          <a:solidFill>
                            <a:srgbClr val="2B2B2B"/>
                          </a:solidFill>
                          <a:latin typeface="Calibri"/>
                        </a:rPr>
                        <a:t>fewest reactions</a:t>
                      </a:r>
                    </a:p>
                  </a:txBody>
                  <a:tcPr marL="73152" marR="73152" marT="27432" marB="27432" anchor="ctr">
                    <a:solidFill>
                      <a:srgbClr val="F3F4F6"/>
                    </a:solidFill>
                  </a:tcPr>
                </a:tc>
                <a:extLst>
                  <a:ext uri="{0D108BD9-81ED-4DB2-BD59-A6C34878D82A}">
                    <a16:rowId xmlns:a16="http://schemas.microsoft.com/office/drawing/2014/main" val="10002"/>
                  </a:ext>
                </a:extLst>
              </a:tr>
              <a:tr h="713232">
                <a:tc>
                  <a:txBody>
                    <a:bodyPr/>
                    <a:lstStyle/>
                    <a:p>
                      <a:r>
                        <a:rPr sz="2000" b="0">
                          <a:solidFill>
                            <a:srgbClr val="0072B2"/>
                          </a:solidFill>
                          <a:latin typeface="Calibri"/>
                        </a:rPr>
                        <a:t>iMAT</a:t>
                      </a:r>
                    </a:p>
                  </a:txBody>
                  <a:tcPr marL="73152" marR="73152" marT="27432" marB="27432" anchor="ctr">
                    <a:solidFill>
                      <a:srgbClr val="FFFFFF"/>
                    </a:solidFill>
                  </a:tcPr>
                </a:tc>
                <a:tc>
                  <a:txBody>
                    <a:bodyPr/>
                    <a:lstStyle/>
                    <a:p>
                      <a:r>
                        <a:rPr sz="2000" b="0">
                          <a:solidFill>
                            <a:srgbClr val="2B2B2B"/>
                          </a:solidFill>
                          <a:latin typeface="Calibri"/>
                        </a:rPr>
                        <a:t>none (data via GPR rules)</a:t>
                      </a:r>
                    </a:p>
                  </a:txBody>
                  <a:tcPr marL="73152" marR="73152" marT="27432" marB="27432" anchor="ctr">
                    <a:solidFill>
                      <a:srgbClr val="FFFFFF"/>
                    </a:solidFill>
                  </a:tcPr>
                </a:tc>
                <a:tc>
                  <a:txBody>
                    <a:bodyPr/>
                    <a:lstStyle/>
                    <a:p>
                      <a:r>
                        <a:rPr sz="2000" b="0">
                          <a:solidFill>
                            <a:srgbClr val="2B2B2B"/>
                          </a:solidFill>
                          <a:latin typeface="Calibri"/>
                        </a:rPr>
                        <a:t>flux on/off links</a:t>
                      </a:r>
                    </a:p>
                  </a:txBody>
                  <a:tcPr marL="73152" marR="73152" marT="27432" marB="27432" anchor="ctr">
                    <a:solidFill>
                      <a:srgbClr val="FFFFFF"/>
                    </a:solidFill>
                  </a:tcPr>
                </a:tc>
                <a:tc>
                  <a:txBody>
                    <a:bodyPr/>
                    <a:lstStyle/>
                    <a:p>
                      <a:r>
                        <a:rPr sz="2000" b="0">
                          <a:solidFill>
                            <a:srgbClr val="2B2B2B"/>
                          </a:solidFill>
                          <a:latin typeface="Calibri"/>
                        </a:rPr>
                        <a:t>high on, low off</a:t>
                      </a:r>
                    </a:p>
                  </a:txBody>
                  <a:tcPr marL="73152" marR="73152" marT="27432" marB="27432" anchor="ctr">
                    <a:solidFill>
                      <a:srgbClr val="FFFFFF"/>
                    </a:solidFill>
                  </a:tcPr>
                </a:tc>
                <a:extLst>
                  <a:ext uri="{0D108BD9-81ED-4DB2-BD59-A6C34878D82A}">
                    <a16:rowId xmlns:a16="http://schemas.microsoft.com/office/drawing/2014/main" val="10003"/>
                  </a:ext>
                </a:extLst>
              </a:tr>
              <a:tr h="713232">
                <a:tc>
                  <a:txBody>
                    <a:bodyPr/>
                    <a:lstStyle/>
                    <a:p>
                      <a:r>
                        <a:rPr sz="2000" b="0">
                          <a:solidFill>
                            <a:srgbClr val="0072B2"/>
                          </a:solidFill>
                          <a:latin typeface="Calibri"/>
                        </a:rPr>
                        <a:t>CARNIVAL</a:t>
                      </a:r>
                    </a:p>
                  </a:txBody>
                  <a:tcPr marL="73152" marR="73152" marT="27432" marB="27432" anchor="ctr">
                    <a:solidFill>
                      <a:srgbClr val="F3F4F6"/>
                    </a:solidFill>
                  </a:tcPr>
                </a:tc>
                <a:tc>
                  <a:txBody>
                    <a:bodyPr/>
                    <a:lstStyle/>
                    <a:p>
                      <a:r>
                        <a:rPr sz="2000" b="0">
                          <a:solidFill>
                            <a:srgbClr val="2B2B2B"/>
                          </a:solidFill>
                          <a:latin typeface="Calibri"/>
                        </a:rPr>
                        <a:t>sources at inputs, sinks at TFs</a:t>
                      </a:r>
                    </a:p>
                  </a:txBody>
                  <a:tcPr marL="73152" marR="73152" marT="27432" marB="27432" anchor="ctr">
                    <a:solidFill>
                      <a:srgbClr val="F3F4F6"/>
                    </a:solidFill>
                  </a:tcPr>
                </a:tc>
                <a:tc>
                  <a:txBody>
                    <a:bodyPr/>
                    <a:lstStyle/>
                    <a:p>
                      <a:r>
                        <a:rPr sz="2000" b="0">
                          <a:solidFill>
                            <a:srgbClr val="2B2B2B"/>
                          </a:solidFill>
                          <a:latin typeface="Calibri"/>
                        </a:rPr>
                        <a:t>tree + sign rules</a:t>
                      </a:r>
                    </a:p>
                  </a:txBody>
                  <a:tcPr marL="73152" marR="73152" marT="27432" marB="27432" anchor="ctr">
                    <a:solidFill>
                      <a:srgbClr val="F3F4F6"/>
                    </a:solidFill>
                  </a:tcPr>
                </a:tc>
                <a:tc>
                  <a:txBody>
                    <a:bodyPr/>
                    <a:lstStyle/>
                    <a:p>
                      <a:r>
                        <a:rPr sz="2000" b="0">
                          <a:solidFill>
                            <a:srgbClr val="2B2B2B"/>
                          </a:solidFill>
                          <a:latin typeface="Calibri"/>
                        </a:rPr>
                        <a:t>match TF activities</a:t>
                      </a:r>
                    </a:p>
                  </a:txBody>
                  <a:tcPr marL="73152" marR="73152" marT="27432" marB="27432" anchor="ctr">
                    <a:solidFill>
                      <a:srgbClr val="F3F4F6"/>
                    </a:solidFill>
                  </a:tcPr>
                </a:tc>
                <a:extLst>
                  <a:ext uri="{0D108BD9-81ED-4DB2-BD59-A6C34878D82A}">
                    <a16:rowId xmlns:a16="http://schemas.microsoft.com/office/drawing/2014/main" val="10004"/>
                  </a:ext>
                </a:extLst>
              </a:tr>
              <a:tr h="713232">
                <a:tc>
                  <a:txBody>
                    <a:bodyPr/>
                    <a:lstStyle/>
                    <a:p>
                      <a:r>
                        <a:rPr sz="2000" b="0">
                          <a:solidFill>
                            <a:srgbClr val="0072B2"/>
                          </a:solidFill>
                          <a:latin typeface="Calibri"/>
                        </a:rPr>
                        <a:t>Steiner / PCST</a:t>
                      </a:r>
                    </a:p>
                  </a:txBody>
                  <a:tcPr marL="73152" marR="73152" marT="27432" marB="27432" anchor="ctr">
                    <a:solidFill>
                      <a:srgbClr val="FFFFFF"/>
                    </a:solidFill>
                  </a:tcPr>
                </a:tc>
                <a:tc>
                  <a:txBody>
                    <a:bodyPr/>
                    <a:lstStyle/>
                    <a:p>
                      <a:r>
                        <a:rPr sz="2000" b="0">
                          <a:solidFill>
                            <a:srgbClr val="2B2B2B"/>
                          </a:solidFill>
                          <a:latin typeface="Calibri"/>
                        </a:rPr>
                        <a:t>source at root, sinks at terminals</a:t>
                      </a:r>
                    </a:p>
                  </a:txBody>
                  <a:tcPr marL="73152" marR="73152" marT="27432" marB="27432" anchor="ctr">
                    <a:solidFill>
                      <a:srgbClr val="FFFFFF"/>
                    </a:solidFill>
                  </a:tcPr>
                </a:tc>
                <a:tc>
                  <a:txBody>
                    <a:bodyPr/>
                    <a:lstStyle/>
                    <a:p>
                      <a:r>
                        <a:rPr sz="2000" b="0">
                          <a:solidFill>
                            <a:srgbClr val="2B2B2B"/>
                          </a:solidFill>
                          <a:latin typeface="Calibri"/>
                        </a:rPr>
                        <a:t>tree</a:t>
                      </a:r>
                    </a:p>
                  </a:txBody>
                  <a:tcPr marL="73152" marR="73152" marT="27432" marB="27432" anchor="ctr">
                    <a:solidFill>
                      <a:srgbClr val="FFFFFF"/>
                    </a:solidFill>
                  </a:tcPr>
                </a:tc>
                <a:tc>
                  <a:txBody>
                    <a:bodyPr/>
                    <a:lstStyle/>
                    <a:p>
                      <a:r>
                        <a:rPr sz="2000" b="0">
                          <a:solidFill>
                            <a:srgbClr val="2B2B2B"/>
                          </a:solidFill>
                          <a:latin typeface="Calibri"/>
                        </a:rPr>
                        <a:t>edge costs (− prizes)</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548640" y="5806440"/>
            <a:ext cx="11064240" cy="457200"/>
          </a:xfrm>
          <a:prstGeom prst="rect">
            <a:avLst/>
          </a:prstGeom>
          <a:noFill/>
        </p:spPr>
        <p:txBody>
          <a:bodyPr wrap="square" lIns="45720" tIns="27432" rIns="45720" bIns="27432" anchor="t"/>
          <a:lstStyle/>
          <a:p>
            <a:pPr algn="ctr">
              <a:spcAft>
                <a:spcPts val="800"/>
              </a:spcAft>
            </a:pPr>
            <a:r>
              <a:rPr sz="2000" b="0" i="0">
                <a:solidFill>
                  <a:srgbClr val="0072B2"/>
                </a:solidFill>
                <a:latin typeface="Calibri"/>
              </a:rPr>
              <a:t>Plug into the template → the multi-sample version comes for free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Joint inference: shared edges are cheaper</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28</a:t>
            </a:r>
          </a:p>
        </p:txBody>
      </p:sp>
      <p:pic>
        <p:nvPicPr>
          <p:cNvPr id="6" name="Picture 5" descr="fig2e.png"/>
          <p:cNvPicPr>
            <a:picLocks noChangeAspect="1"/>
          </p:cNvPicPr>
          <p:nvPr/>
        </p:nvPicPr>
        <p:blipFill>
          <a:blip r:embed="rId3"/>
          <a:stretch>
            <a:fillRect/>
          </a:stretch>
        </p:blipFill>
        <p:spPr>
          <a:xfrm>
            <a:off x="685800" y="1299824"/>
            <a:ext cx="10789920" cy="3737291"/>
          </a:xfrm>
          <a:prstGeom prst="rect">
            <a:avLst/>
          </a:prstGeom>
        </p:spPr>
      </p:pic>
      <p:sp>
        <p:nvSpPr>
          <p:cNvPr id="7" name="TextBox 6"/>
          <p:cNvSpPr txBox="1"/>
          <p:nvPr/>
        </p:nvSpPr>
        <p:spPr>
          <a:xfrm>
            <a:off x="548640" y="5166360"/>
            <a:ext cx="11064240" cy="1097280"/>
          </a:xfrm>
          <a:prstGeom prst="rect">
            <a:avLst/>
          </a:prstGeom>
          <a:noFill/>
        </p:spPr>
        <p:txBody>
          <a:bodyPr wrap="square" lIns="45720" tIns="27432" rIns="45720" bIns="27432" anchor="t"/>
          <a:lstStyle/>
          <a:p>
            <a:pPr algn="ctr">
              <a:spcAft>
                <a:spcPts val="800"/>
              </a:spcAft>
            </a:pPr>
            <a:r>
              <a:rPr sz="2000" b="0" i="0">
                <a:solidFill>
                  <a:srgbClr val="6B7280"/>
                </a:solidFill>
                <a:latin typeface="Calibri"/>
              </a:rPr>
              <a:t>Independent fits: </a:t>
            </a:r>
            <a:r>
              <a:rPr sz="2000" b="0" i="0">
                <a:solidFill>
                  <a:srgbClr val="2B2B2B"/>
                </a:solidFill>
                <a:latin typeface="Calibri"/>
              </a:rPr>
              <a:t>6 distinct edges, none shared</a:t>
            </a:r>
            <a:r>
              <a:rPr sz="2000" b="0" i="0">
                <a:solidFill>
                  <a:srgbClr val="0072B2"/>
                </a:solidFill>
                <a:latin typeface="Calibri"/>
              </a:rPr>
              <a:t>     Joint fit: </a:t>
            </a:r>
            <a:r>
              <a:rPr sz="2000" b="0" i="0">
                <a:solidFill>
                  <a:srgbClr val="2B2B2B"/>
                </a:solidFill>
                <a:latin typeface="Calibri"/>
              </a:rPr>
              <a:t>5 edges, one shared</a:t>
            </a:r>
          </a:p>
          <a:p>
            <a:pPr algn="ctr">
              <a:spcAft>
                <a:spcPts val="800"/>
              </a:spcAft>
            </a:pPr>
            <a:r>
              <a:rPr sz="2000" b="0" i="0">
                <a:solidFill>
                  <a:srgbClr val="1F2A44"/>
                </a:solidFill>
                <a:latin typeface="Cambria Math"/>
                <a:ea typeface="Cambria Math"/>
                <a:cs typeface="Cambria Math"/>
              </a:rPr>
              <a:t>λ = 0</a:t>
            </a:r>
            <a:r>
              <a:rPr sz="2000" b="0" i="0">
                <a:solidFill>
                  <a:srgbClr val="2B2B2B"/>
                </a:solidFill>
                <a:latin typeface="Calibri"/>
              </a:rPr>
              <a:t> → independent fits;  larger </a:t>
            </a:r>
            <a:r>
              <a:rPr sz="2000" b="0" i="0">
                <a:solidFill>
                  <a:srgbClr val="1F2A44"/>
                </a:solidFill>
                <a:latin typeface="Cambria Math"/>
                <a:ea typeface="Cambria Math"/>
                <a:cs typeface="Cambria Math"/>
              </a:rPr>
              <a:t>λ</a:t>
            </a:r>
            <a:r>
              <a:rPr sz="2000" b="0" i="0">
                <a:solidFill>
                  <a:srgbClr val="2B2B2B"/>
                </a:solidFill>
                <a:latin typeface="Calibri"/>
              </a:rPr>
              <a:t> → more shared structure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950976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The math: one penalty couples all samples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29</a:t>
            </a:r>
          </a:p>
        </p:txBody>
      </p:sp>
      <p:sp>
        <p:nvSpPr>
          <p:cNvPr id="6" name="Rounded Rectangle 5"/>
          <p:cNvSpPr/>
          <p:nvPr/>
        </p:nvSpPr>
        <p:spPr>
          <a:xfrm>
            <a:off x="10287000" y="475488"/>
            <a:ext cx="1325880" cy="384048"/>
          </a:xfrm>
          <a:prstGeom prst="roundRect">
            <a:avLst>
              <a:gd name="adj" fmla="val 50000"/>
            </a:avLst>
          </a:prstGeom>
          <a:solidFill>
            <a:srgbClr val="E3EEF7"/>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200" b="1">
                <a:solidFill>
                  <a:srgbClr val="0072B2"/>
                </a:solidFill>
                <a:latin typeface="Calibri"/>
              </a:rPr>
              <a:t>THE MATH</a:t>
            </a:r>
          </a:p>
        </p:txBody>
      </p:sp>
      <p:sp>
        <p:nvSpPr>
          <p:cNvPr id="7" name="Rounded Rectangle 6"/>
          <p:cNvSpPr/>
          <p:nvPr/>
        </p:nvSpPr>
        <p:spPr>
          <a:xfrm>
            <a:off x="548640" y="1371600"/>
            <a:ext cx="11091672" cy="11887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l0.png"/>
          <p:cNvPicPr>
            <a:picLocks noChangeAspect="1"/>
          </p:cNvPicPr>
          <p:nvPr/>
        </p:nvPicPr>
        <p:blipFill>
          <a:blip r:embed="rId3"/>
          <a:stretch>
            <a:fillRect/>
          </a:stretch>
        </p:blipFill>
        <p:spPr>
          <a:xfrm>
            <a:off x="822960" y="1554480"/>
            <a:ext cx="7293864" cy="810768"/>
          </a:xfrm>
          <a:prstGeom prst="rect">
            <a:avLst/>
          </a:prstGeom>
        </p:spPr>
      </p:pic>
      <p:sp>
        <p:nvSpPr>
          <p:cNvPr id="9" name="Rounded Rectangle 8"/>
          <p:cNvSpPr/>
          <p:nvPr/>
        </p:nvSpPr>
        <p:spPr>
          <a:xfrm>
            <a:off x="548640" y="2697480"/>
            <a:ext cx="11091672" cy="1005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n.png"/>
          <p:cNvPicPr>
            <a:picLocks noChangeAspect="1"/>
          </p:cNvPicPr>
          <p:nvPr/>
        </p:nvPicPr>
        <p:blipFill>
          <a:blip r:embed="rId4"/>
          <a:stretch>
            <a:fillRect/>
          </a:stretch>
        </p:blipFill>
        <p:spPr>
          <a:xfrm>
            <a:off x="822960" y="2898648"/>
            <a:ext cx="7676388" cy="620268"/>
          </a:xfrm>
          <a:prstGeom prst="rect">
            <a:avLst/>
          </a:prstGeom>
        </p:spPr>
      </p:pic>
      <p:sp>
        <p:nvSpPr>
          <p:cNvPr id="11" name="Rounded Rectangle 10"/>
          <p:cNvSpPr/>
          <p:nvPr/>
        </p:nvSpPr>
        <p:spPr>
          <a:xfrm>
            <a:off x="548640" y="3840480"/>
            <a:ext cx="11091672" cy="11887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904487"/>
            <a:ext cx="5486400" cy="320040"/>
          </a:xfrm>
          <a:prstGeom prst="rect">
            <a:avLst/>
          </a:prstGeom>
          <a:noFill/>
        </p:spPr>
        <p:txBody>
          <a:bodyPr wrap="square" lIns="45720" tIns="27432" rIns="45720" bIns="27432" anchor="t">
            <a:spAutoFit/>
          </a:bodyPr>
          <a:lstStyle/>
          <a:p>
            <a:pPr algn="l">
              <a:spcAft>
                <a:spcPts val="800"/>
              </a:spcAft>
            </a:pPr>
            <a:r>
              <a:rPr sz="1400" b="0" i="0">
                <a:solidFill>
                  <a:srgbClr val="6B7280"/>
                </a:solidFill>
                <a:latin typeface="Calibri"/>
              </a:rPr>
              <a:t>Example: multi-sample shortest paths (eq. 15)</a:t>
            </a:r>
          </a:p>
        </p:txBody>
      </p:sp>
      <p:pic>
        <p:nvPicPr>
          <p:cNvPr id="13" name="Picture 12" descr="msp.png"/>
          <p:cNvPicPr>
            <a:picLocks noChangeAspect="1"/>
          </p:cNvPicPr>
          <p:nvPr/>
        </p:nvPicPr>
        <p:blipFill>
          <a:blip r:embed="rId5"/>
          <a:stretch>
            <a:fillRect/>
          </a:stretch>
        </p:blipFill>
        <p:spPr>
          <a:xfrm>
            <a:off x="822960" y="4251960"/>
            <a:ext cx="8471916" cy="705612"/>
          </a:xfrm>
          <a:prstGeom prst="rect">
            <a:avLst/>
          </a:prstGeom>
        </p:spPr>
      </p:pic>
      <p:sp>
        <p:nvSpPr>
          <p:cNvPr id="14" name="TextBox 13"/>
          <p:cNvSpPr txBox="1"/>
          <p:nvPr/>
        </p:nvSpPr>
        <p:spPr>
          <a:xfrm>
            <a:off x="548640" y="5166360"/>
            <a:ext cx="11091672" cy="777240"/>
          </a:xfrm>
          <a:prstGeom prst="rect">
            <a:avLst/>
          </a:prstGeom>
          <a:noFill/>
        </p:spPr>
        <p:txBody>
          <a:bodyPr wrap="square" lIns="45720" tIns="27432" rIns="45720" bIns="27432" anchor="t">
            <a:spAutoFit/>
          </a:bodyPr>
          <a:lstStyle/>
          <a:p>
            <a:pPr algn="l">
              <a:spcAft>
                <a:spcPts val="800"/>
              </a:spcAft>
            </a:pPr>
            <a:r>
              <a:rPr sz="1700" b="0" i="0">
                <a:solidFill>
                  <a:srgbClr val="0072B2"/>
                </a:solidFill>
                <a:latin typeface="Calibri"/>
              </a:rPr>
              <a:t>n = 1, λ = 0: </a:t>
            </a:r>
            <a:r>
              <a:rPr sz="1700" b="0" i="0">
                <a:solidFill>
                  <a:srgbClr val="2B2B2B"/>
                </a:solidFill>
                <a:latin typeface="Calibri"/>
              </a:rPr>
              <a:t>the original method   </a:t>
            </a:r>
            <a:r>
              <a:rPr sz="1700" b="0" i="0">
                <a:solidFill>
                  <a:srgbClr val="0072B2"/>
                </a:solidFill>
                <a:latin typeface="Calibri"/>
              </a:rPr>
              <a:t>λ = 0: </a:t>
            </a:r>
            <a:r>
              <a:rPr sz="1700" b="0" i="0">
                <a:solidFill>
                  <a:srgbClr val="2B2B2B"/>
                </a:solidFill>
                <a:latin typeface="Calibri"/>
              </a:rPr>
              <a:t>n independent problems   </a:t>
            </a:r>
            <a:r>
              <a:rPr sz="1700" b="0" i="0">
                <a:solidFill>
                  <a:srgbClr val="D55E00"/>
                </a:solidFill>
                <a:latin typeface="Calibri"/>
              </a:rPr>
              <a:t>λ &gt; 0: </a:t>
            </a:r>
            <a:r>
              <a:rPr sz="1700" b="0" i="0">
                <a:solidFill>
                  <a:srgbClr val="2B2B2B"/>
                </a:solidFill>
                <a:latin typeface="Calibri"/>
              </a:rPr>
              <a:t>a shared edge is paid for once (Fig. 2e: 6 → 5 edges)</a:t>
            </a:r>
          </a:p>
        </p:txBody>
      </p:sp>
      <p:sp>
        <p:nvSpPr>
          <p:cNvPr id="15" name="TextBox 14"/>
          <p:cNvSpPr txBox="1"/>
          <p:nvPr/>
        </p:nvSpPr>
        <p:spPr>
          <a:xfrm>
            <a:off x="548640" y="5897880"/>
            <a:ext cx="11091672" cy="365760"/>
          </a:xfrm>
          <a:prstGeom prst="rect">
            <a:avLst/>
          </a:prstGeom>
          <a:noFill/>
        </p:spPr>
        <p:txBody>
          <a:bodyPr wrap="square" lIns="45720" tIns="27432" rIns="45720" bIns="27432" anchor="t">
            <a:spAutoFit/>
          </a:bodyPr>
          <a:lstStyle/>
          <a:p>
            <a:pPr algn="l">
              <a:spcAft>
                <a:spcPts val="800"/>
              </a:spcAft>
            </a:pPr>
            <a:r>
              <a:rPr sz="1200" b="0" i="0">
                <a:solidFill>
                  <a:srgbClr val="6B7280"/>
                </a:solidFill>
                <a:latin typeface="Calibri"/>
              </a:rPr>
              <a:t>Linearisation shown is one standard way to write the ℓ0 count as a MILP; the paper gives its own in the Supplementary Information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Same template, so problems can be composed</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30</a:t>
            </a:r>
          </a:p>
        </p:txBody>
      </p:sp>
      <p:sp>
        <p:nvSpPr>
          <p:cNvPr id="6" name="TextBox 5"/>
          <p:cNvSpPr txBox="1"/>
          <p:nvPr/>
        </p:nvSpPr>
        <p:spPr>
          <a:xfrm>
            <a:off x="548640" y="1554480"/>
            <a:ext cx="5120640" cy="2743200"/>
          </a:xfrm>
          <a:prstGeom prst="rect">
            <a:avLst/>
          </a:prstGeom>
          <a:noFill/>
        </p:spPr>
        <p:txBody>
          <a:bodyPr wrap="square" lIns="45720" tIns="27432" rIns="45720" bIns="27432" anchor="t"/>
          <a:lstStyle/>
          <a:p>
            <a:pPr algn="l">
              <a:spcAft>
                <a:spcPts val="1400"/>
              </a:spcAft>
            </a:pPr>
            <a:r>
              <a:rPr sz="2000" b="0" i="0">
                <a:solidFill>
                  <a:srgbClr val="1F2A44"/>
                </a:solidFill>
                <a:latin typeface="Cambria Math"/>
                <a:ea typeface="Cambria Math"/>
                <a:cs typeface="Cambria Math"/>
              </a:rPr>
              <a:t>f = α f₁ + β f₂</a:t>
            </a:r>
          </a:p>
          <a:p>
            <a:pPr algn="l">
              <a:spcAft>
                <a:spcPts val="1400"/>
              </a:spcAft>
            </a:pPr>
            <a:r>
              <a:rPr sz="2000" b="0" i="0">
                <a:solidFill>
                  <a:srgbClr val="1F2A44"/>
                </a:solidFill>
                <a:latin typeface="Cambria Math"/>
                <a:ea typeface="Cambria Math"/>
                <a:cs typeface="Cambria Math"/>
              </a:rPr>
              <a:t>Ω = Ω₁ ∩ Ω₂</a:t>
            </a:r>
          </a:p>
          <a:p>
            <a:pPr algn="l">
              <a:spcAft>
                <a:spcPts val="1400"/>
              </a:spcAft>
            </a:pPr>
            <a:r>
              <a:rPr sz="2000" b="0" i="0">
                <a:solidFill>
                  <a:srgbClr val="2B2B2B"/>
                </a:solidFill>
                <a:latin typeface="Calibri"/>
              </a:rPr>
              <a:t>Shared variables are merged</a:t>
            </a:r>
          </a:p>
        </p:txBody>
      </p:sp>
      <p:sp>
        <p:nvSpPr>
          <p:cNvPr id="7" name="Rounded Rectangle 6"/>
          <p:cNvSpPr/>
          <p:nvPr/>
        </p:nvSpPr>
        <p:spPr>
          <a:xfrm>
            <a:off x="6309360" y="1371600"/>
            <a:ext cx="5303520" cy="4160520"/>
          </a:xfrm>
          <a:prstGeom prst="roundRect">
            <a:avLst>
              <a:gd name="adj" fmla="val 8000"/>
            </a:avLst>
          </a:prstGeom>
          <a:noFill/>
          <a:ln w="19050">
            <a:solidFill>
              <a:srgbClr val="0072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Rounded Rectangle 7"/>
          <p:cNvSpPr/>
          <p:nvPr/>
        </p:nvSpPr>
        <p:spPr>
          <a:xfrm>
            <a:off x="6675120" y="1600200"/>
            <a:ext cx="4572000" cy="86868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675120" y="1600200"/>
            <a:ext cx="4572000" cy="868680"/>
          </a:xfrm>
          <a:prstGeom prst="rect">
            <a:avLst/>
          </a:prstGeom>
          <a:noFill/>
        </p:spPr>
        <p:txBody>
          <a:bodyPr wrap="square" lIns="45720" tIns="27432" rIns="45720" bIns="27432" anchor="ctr"/>
          <a:lstStyle/>
          <a:p>
            <a:pPr algn="ctr">
              <a:spcAft>
                <a:spcPts val="800"/>
              </a:spcAft>
            </a:pPr>
            <a:r>
              <a:rPr sz="2000" b="0" i="0">
                <a:solidFill>
                  <a:srgbClr val="0072B2"/>
                </a:solidFill>
                <a:latin typeface="Calibri"/>
              </a:rPr>
              <a:t>Signalling: </a:t>
            </a:r>
            <a:r>
              <a:rPr sz="2000" b="0" i="0">
                <a:solidFill>
                  <a:srgbClr val="2B2B2B"/>
                </a:solidFill>
                <a:latin typeface="Calibri"/>
              </a:rPr>
              <a:t>signed graph</a:t>
            </a:r>
          </a:p>
        </p:txBody>
      </p:sp>
      <p:cxnSp>
        <p:nvCxnSpPr>
          <p:cNvPr id="10" name="Connector 9"/>
          <p:cNvCxnSpPr/>
          <p:nvPr/>
        </p:nvCxnSpPr>
        <p:spPr>
          <a:xfrm>
            <a:off x="8961120" y="2487168"/>
            <a:ext cx="0" cy="329184"/>
          </a:xfrm>
          <a:prstGeom prst="line">
            <a:avLst/>
          </a:prstGeom>
          <a:ln w="2540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675120" y="2834640"/>
            <a:ext cx="4572000" cy="86868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675120" y="2834640"/>
            <a:ext cx="4572000" cy="868680"/>
          </a:xfrm>
          <a:prstGeom prst="rect">
            <a:avLst/>
          </a:prstGeom>
          <a:noFill/>
        </p:spPr>
        <p:txBody>
          <a:bodyPr wrap="square" lIns="45720" tIns="27432" rIns="45720" bIns="27432" anchor="ctr"/>
          <a:lstStyle/>
          <a:p>
            <a:pPr algn="ctr">
              <a:spcAft>
                <a:spcPts val="800"/>
              </a:spcAft>
            </a:pPr>
            <a:r>
              <a:rPr sz="2000" b="0" i="0">
                <a:solidFill>
                  <a:srgbClr val="0072B2"/>
                </a:solidFill>
                <a:latin typeface="Calibri"/>
              </a:rPr>
              <a:t>Gene regulation: </a:t>
            </a:r>
            <a:r>
              <a:rPr sz="2000" b="0" i="0">
                <a:solidFill>
                  <a:srgbClr val="2B2B2B"/>
                </a:solidFill>
                <a:latin typeface="Calibri"/>
              </a:rPr>
              <a:t>TF → genes</a:t>
            </a:r>
          </a:p>
        </p:txBody>
      </p:sp>
      <p:cxnSp>
        <p:nvCxnSpPr>
          <p:cNvPr id="13" name="Connector 12"/>
          <p:cNvCxnSpPr/>
          <p:nvPr/>
        </p:nvCxnSpPr>
        <p:spPr>
          <a:xfrm>
            <a:off x="8961120" y="3721608"/>
            <a:ext cx="0" cy="329183"/>
          </a:xfrm>
          <a:prstGeom prst="line">
            <a:avLst/>
          </a:prstGeom>
          <a:ln w="2540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675120" y="4069080"/>
            <a:ext cx="4572000" cy="86868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675120" y="4069080"/>
            <a:ext cx="4572000" cy="868680"/>
          </a:xfrm>
          <a:prstGeom prst="rect">
            <a:avLst/>
          </a:prstGeom>
          <a:noFill/>
        </p:spPr>
        <p:txBody>
          <a:bodyPr wrap="square" lIns="45720" tIns="27432" rIns="45720" bIns="27432" anchor="ctr"/>
          <a:lstStyle/>
          <a:p>
            <a:pPr algn="ctr">
              <a:spcAft>
                <a:spcPts val="800"/>
              </a:spcAft>
            </a:pPr>
            <a:r>
              <a:rPr sz="2000" b="0" i="0">
                <a:solidFill>
                  <a:srgbClr val="0072B2"/>
                </a:solidFill>
                <a:latin typeface="Calibri"/>
              </a:rPr>
              <a:t>Metabolism: </a:t>
            </a:r>
            <a:r>
              <a:rPr sz="2000" b="0" i="0">
                <a:solidFill>
                  <a:srgbClr val="2B2B2B"/>
                </a:solidFill>
                <a:latin typeface="Calibri"/>
              </a:rPr>
              <a:t>reaction hypergraph</a:t>
            </a:r>
          </a:p>
        </p:txBody>
      </p:sp>
      <p:sp>
        <p:nvSpPr>
          <p:cNvPr id="16" name="TextBox 15"/>
          <p:cNvSpPr txBox="1"/>
          <p:nvPr/>
        </p:nvSpPr>
        <p:spPr>
          <a:xfrm>
            <a:off x="6309360" y="5074920"/>
            <a:ext cx="5303520" cy="457200"/>
          </a:xfrm>
          <a:prstGeom prst="rect">
            <a:avLst/>
          </a:prstGeom>
          <a:noFill/>
        </p:spPr>
        <p:txBody>
          <a:bodyPr wrap="square" lIns="45720" tIns="27432" rIns="45720" bIns="27432" anchor="t"/>
          <a:lstStyle/>
          <a:p>
            <a:pPr algn="ctr">
              <a:spcAft>
                <a:spcPts val="800"/>
              </a:spcAft>
            </a:pPr>
            <a:r>
              <a:rPr sz="2000" b="0" i="0">
                <a:solidFill>
                  <a:srgbClr val="0072B2"/>
                </a:solidFill>
                <a:latin typeface="Calibri"/>
              </a:rPr>
              <a:t>one union hypergraph, one MILP</a:t>
            </a:r>
          </a:p>
        </p:txBody>
      </p:sp>
      <p:sp>
        <p:nvSpPr>
          <p:cNvPr id="17" name="Rounded Rectangle 16"/>
          <p:cNvSpPr/>
          <p:nvPr/>
        </p:nvSpPr>
        <p:spPr>
          <a:xfrm>
            <a:off x="548640" y="4206240"/>
            <a:ext cx="5303520" cy="1737360"/>
          </a:xfrm>
          <a:prstGeom prst="roundRect">
            <a:avLst>
              <a:gd name="adj" fmla="val 8000"/>
            </a:avLst>
          </a:prstGeom>
          <a:solidFill>
            <a:srgbClr val="FFFFFF"/>
          </a:solidFill>
          <a:ln w="19050">
            <a:solidFill>
              <a:srgbClr val="D55E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31520" y="4251960"/>
            <a:ext cx="4937760" cy="1645920"/>
          </a:xfrm>
          <a:prstGeom prst="rect">
            <a:avLst/>
          </a:prstGeom>
          <a:noFill/>
        </p:spPr>
        <p:txBody>
          <a:bodyPr wrap="square" lIns="45720" tIns="27432" rIns="45720" bIns="27432" anchor="ctr"/>
          <a:lstStyle/>
          <a:p>
            <a:pPr algn="l">
              <a:spcAft>
                <a:spcPts val="400"/>
              </a:spcAft>
            </a:pPr>
            <a:r>
              <a:rPr sz="2000" b="0" i="0">
                <a:solidFill>
                  <a:srgbClr val="D55E00"/>
                </a:solidFill>
                <a:latin typeface="Calibri"/>
              </a:rPr>
              <a:t>Caveat</a:t>
            </a:r>
          </a:p>
          <a:p>
            <a:pPr algn="l">
              <a:spcAft>
                <a:spcPts val="400"/>
              </a:spcAft>
            </a:pPr>
            <a:r>
              <a:rPr sz="2000" b="0" i="0">
                <a:solidFill>
                  <a:srgbClr val="2B2B2B"/>
                </a:solidFill>
                <a:latin typeface="Calibri"/>
              </a:rPr>
              <a:t>The paper solves each layer on its own; multi-layer inference is proposed as future work</a:t>
            </a:r>
          </a:p>
        </p:txBody>
      </p:sp>
      <p:sp>
        <p:nvSpPr>
          <p:cNvPr id="19" name="TextBox 18"/>
          <p:cNvSpPr txBox="1"/>
          <p:nvPr/>
        </p:nvSpPr>
        <p:spPr>
          <a:xfrm>
            <a:off x="548640" y="5989320"/>
            <a:ext cx="11064240" cy="365760"/>
          </a:xfrm>
          <a:prstGeom prst="rect">
            <a:avLst/>
          </a:prstGeom>
          <a:noFill/>
        </p:spPr>
        <p:txBody>
          <a:bodyPr wrap="square" lIns="45720" tIns="27432" rIns="45720" bIns="27432" anchor="t"/>
          <a:lstStyle/>
          <a:p>
            <a:pPr algn="l">
              <a:spcAft>
                <a:spcPts val="800"/>
              </a:spcAft>
            </a:pPr>
            <a:r>
              <a:rPr sz="1200" b="0" i="0" dirty="0">
                <a:solidFill>
                  <a:srgbClr val="6B7280"/>
                </a:solidFill>
                <a:latin typeface="Calibri"/>
              </a:rPr>
              <a:t>cf. COSMOS: </a:t>
            </a:r>
            <a:r>
              <a:rPr sz="1200" b="0" i="0" dirty="0" err="1">
                <a:solidFill>
                  <a:srgbClr val="6B7280"/>
                </a:solidFill>
                <a:latin typeface="Calibri"/>
              </a:rPr>
              <a:t>Dugourd</a:t>
            </a:r>
            <a:r>
              <a:rPr sz="1200" b="0" i="0" dirty="0">
                <a:solidFill>
                  <a:srgbClr val="6B7280"/>
                </a:solidFill>
                <a:latin typeface="Calibri"/>
              </a:rPr>
              <a:t> et al., Mol Syst Biol 2021</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Outline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31</a:t>
            </a:r>
          </a:p>
        </p:txBody>
      </p:sp>
      <p:sp>
        <p:nvSpPr>
          <p:cNvPr id="6" name="Oval 5"/>
          <p:cNvSpPr/>
          <p:nvPr/>
        </p:nvSpPr>
        <p:spPr>
          <a:xfrm>
            <a:off x="886968" y="1645919"/>
            <a:ext cx="566928" cy="566928"/>
          </a:xfrm>
          <a:prstGeom prst="ellipse">
            <a:avLst/>
          </a:prstGeom>
          <a:solidFill>
            <a:srgbClr val="B8BDC6"/>
          </a:solidFill>
          <a:ln w="19050">
            <a:solidFill>
              <a:srgbClr val="B8BDC6"/>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1</a:t>
            </a:r>
          </a:p>
        </p:txBody>
      </p:sp>
      <p:sp>
        <p:nvSpPr>
          <p:cNvPr id="7" name="TextBox 6"/>
          <p:cNvSpPr txBox="1"/>
          <p:nvPr/>
        </p:nvSpPr>
        <p:spPr>
          <a:xfrm>
            <a:off x="1691640" y="1600200"/>
            <a:ext cx="8686800" cy="658368"/>
          </a:xfrm>
          <a:prstGeom prst="rect">
            <a:avLst/>
          </a:prstGeom>
          <a:noFill/>
        </p:spPr>
        <p:txBody>
          <a:bodyPr wrap="square" lIns="45720" tIns="27432" rIns="45720" bIns="27432" anchor="ctr"/>
          <a:lstStyle/>
          <a:p>
            <a:pPr algn="l">
              <a:spcAft>
                <a:spcPts val="800"/>
              </a:spcAft>
            </a:pPr>
            <a:r>
              <a:rPr sz="2000" b="0" i="0">
                <a:solidFill>
                  <a:srgbClr val="6B7280"/>
                </a:solidFill>
                <a:latin typeface="Calibri"/>
              </a:rPr>
              <a:t>Why network inference from prior knowledge?</a:t>
            </a:r>
          </a:p>
        </p:txBody>
      </p:sp>
      <p:sp>
        <p:nvSpPr>
          <p:cNvPr id="8" name="Oval 7"/>
          <p:cNvSpPr/>
          <p:nvPr/>
        </p:nvSpPr>
        <p:spPr>
          <a:xfrm>
            <a:off x="886968" y="2606039"/>
            <a:ext cx="566928" cy="566928"/>
          </a:xfrm>
          <a:prstGeom prst="ellipse">
            <a:avLst/>
          </a:prstGeom>
          <a:solidFill>
            <a:srgbClr val="B8BDC6"/>
          </a:solidFill>
          <a:ln w="19050">
            <a:solidFill>
              <a:srgbClr val="B8BDC6"/>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2</a:t>
            </a:r>
          </a:p>
        </p:txBody>
      </p:sp>
      <p:sp>
        <p:nvSpPr>
          <p:cNvPr id="9" name="TextBox 8"/>
          <p:cNvSpPr txBox="1"/>
          <p:nvPr/>
        </p:nvSpPr>
        <p:spPr>
          <a:xfrm>
            <a:off x="1691640" y="2560320"/>
            <a:ext cx="8686800" cy="658368"/>
          </a:xfrm>
          <a:prstGeom prst="rect">
            <a:avLst/>
          </a:prstGeom>
          <a:noFill/>
        </p:spPr>
        <p:txBody>
          <a:bodyPr wrap="square" lIns="45720" tIns="27432" rIns="45720" bIns="27432" anchor="ctr"/>
          <a:lstStyle/>
          <a:p>
            <a:pPr algn="l">
              <a:spcAft>
                <a:spcPts val="800"/>
              </a:spcAft>
            </a:pPr>
            <a:r>
              <a:rPr sz="2000" b="0" i="0">
                <a:solidFill>
                  <a:srgbClr val="6B7280"/>
                </a:solidFill>
                <a:latin typeface="Calibri"/>
              </a:rPr>
              <a:t>The methods CORNETO unifies</a:t>
            </a:r>
          </a:p>
        </p:txBody>
      </p:sp>
      <p:sp>
        <p:nvSpPr>
          <p:cNvPr id="10" name="Oval 9"/>
          <p:cNvSpPr/>
          <p:nvPr/>
        </p:nvSpPr>
        <p:spPr>
          <a:xfrm>
            <a:off x="886968" y="3566160"/>
            <a:ext cx="566928" cy="566928"/>
          </a:xfrm>
          <a:prstGeom prst="ellipse">
            <a:avLst/>
          </a:prstGeom>
          <a:solidFill>
            <a:srgbClr val="B8BDC6"/>
          </a:solidFill>
          <a:ln w="19050">
            <a:solidFill>
              <a:srgbClr val="B8BDC6"/>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3</a:t>
            </a:r>
          </a:p>
        </p:txBody>
      </p:sp>
      <p:sp>
        <p:nvSpPr>
          <p:cNvPr id="11" name="TextBox 10"/>
          <p:cNvSpPr txBox="1"/>
          <p:nvPr/>
        </p:nvSpPr>
        <p:spPr>
          <a:xfrm>
            <a:off x="1691640" y="3520440"/>
            <a:ext cx="8686800" cy="658368"/>
          </a:xfrm>
          <a:prstGeom prst="rect">
            <a:avLst/>
          </a:prstGeom>
          <a:noFill/>
        </p:spPr>
        <p:txBody>
          <a:bodyPr wrap="square" lIns="45720" tIns="27432" rIns="45720" bIns="27432" anchor="ctr"/>
          <a:lstStyle/>
          <a:p>
            <a:pPr algn="l">
              <a:spcAft>
                <a:spcPts val="800"/>
              </a:spcAft>
            </a:pPr>
            <a:r>
              <a:rPr sz="2000" b="0" i="0">
                <a:solidFill>
                  <a:srgbClr val="6B7280"/>
                </a:solidFill>
                <a:latin typeface="Calibri"/>
              </a:rPr>
              <a:t>CORNETO: one optimisation problem</a:t>
            </a:r>
          </a:p>
        </p:txBody>
      </p:sp>
      <p:sp>
        <p:nvSpPr>
          <p:cNvPr id="12" name="Oval 11"/>
          <p:cNvSpPr/>
          <p:nvPr/>
        </p:nvSpPr>
        <p:spPr>
          <a:xfrm>
            <a:off x="886968" y="4526280"/>
            <a:ext cx="566928" cy="566928"/>
          </a:xfrm>
          <a:prstGeom prst="ellipse">
            <a:avLst/>
          </a:prstGeom>
          <a:solidFill>
            <a:srgbClr val="0072B2"/>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4</a:t>
            </a:r>
          </a:p>
        </p:txBody>
      </p:sp>
      <p:sp>
        <p:nvSpPr>
          <p:cNvPr id="13" name="Rectangle 12"/>
          <p:cNvSpPr/>
          <p:nvPr/>
        </p:nvSpPr>
        <p:spPr>
          <a:xfrm>
            <a:off x="566928" y="4498848"/>
            <a:ext cx="91440" cy="621792"/>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691640" y="4480560"/>
            <a:ext cx="8686800" cy="658368"/>
          </a:xfrm>
          <a:prstGeom prst="rect">
            <a:avLst/>
          </a:prstGeom>
          <a:noFill/>
        </p:spPr>
        <p:txBody>
          <a:bodyPr wrap="square" lIns="45720" tIns="27432" rIns="45720" bIns="27432" anchor="ctr"/>
          <a:lstStyle/>
          <a:p>
            <a:pPr algn="l">
              <a:spcAft>
                <a:spcPts val="800"/>
              </a:spcAft>
            </a:pPr>
            <a:r>
              <a:rPr sz="2000" b="0" i="0">
                <a:solidFill>
                  <a:srgbClr val="1F2A44"/>
                </a:solidFill>
                <a:latin typeface="Calibri"/>
              </a:rPr>
              <a:t>Results and take-home</a:t>
            </a:r>
          </a:p>
        </p:txBody>
      </p:sp>
      <p:sp>
        <p:nvSpPr>
          <p:cNvPr id="15" name="Oval 14"/>
          <p:cNvSpPr/>
          <p:nvPr/>
        </p:nvSpPr>
        <p:spPr>
          <a:xfrm>
            <a:off x="886968" y="5486400"/>
            <a:ext cx="566928" cy="566928"/>
          </a:xfrm>
          <a:prstGeom prst="ellipse">
            <a:avLst/>
          </a:prstGeom>
          <a:solidFill>
            <a:srgbClr val="B8BDC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a:solidFill>
                  <a:srgbClr val="FFFFFF"/>
                </a:solidFill>
                <a:latin typeface="Calibri"/>
              </a:rPr>
              <a:t>5</a:t>
            </a:r>
          </a:p>
        </p:txBody>
      </p:sp>
      <p:sp>
        <p:nvSpPr>
          <p:cNvPr id="16" name="TextBox 15"/>
          <p:cNvSpPr txBox="1"/>
          <p:nvPr/>
        </p:nvSpPr>
        <p:spPr>
          <a:xfrm>
            <a:off x="1691640" y="5440680"/>
            <a:ext cx="8686800" cy="658368"/>
          </a:xfrm>
          <a:prstGeom prst="rect">
            <a:avLst/>
          </a:prstGeom>
          <a:noFill/>
        </p:spPr>
        <p:txBody>
          <a:bodyPr wrap="square" lIns="45720" tIns="27432" rIns="45720" bIns="27432" anchor="ctr">
            <a:spAutoFit/>
          </a:bodyPr>
          <a:lstStyle/>
          <a:p>
            <a:pPr algn="l">
              <a:spcAft>
                <a:spcPts val="800"/>
              </a:spcAft>
            </a:pPr>
            <a:r>
              <a:rPr sz="2000" b="0" i="0">
                <a:solidFill>
                  <a:srgbClr val="6B7280"/>
                </a:solidFill>
                <a:latin typeface="Calibri"/>
              </a:rPr>
              <a:t>Discussion: strengths and limitations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Multi-sample sparse FBA: smaller networks, canonical routes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32</a:t>
            </a:r>
          </a:p>
        </p:txBody>
      </p:sp>
      <p:pic>
        <p:nvPicPr>
          <p:cNvPr id="6" name="Picture 5" descr="fig3ab.png"/>
          <p:cNvPicPr>
            <a:picLocks noChangeAspect="1"/>
          </p:cNvPicPr>
          <p:nvPr/>
        </p:nvPicPr>
        <p:blipFill>
          <a:blip r:embed="rId3"/>
          <a:stretch>
            <a:fillRect/>
          </a:stretch>
        </p:blipFill>
        <p:spPr>
          <a:xfrm>
            <a:off x="548640" y="1280160"/>
            <a:ext cx="4434405" cy="5029200"/>
          </a:xfrm>
          <a:prstGeom prst="rect">
            <a:avLst/>
          </a:prstGeom>
        </p:spPr>
      </p:pic>
      <p:sp>
        <p:nvSpPr>
          <p:cNvPr id="7" name="TextBox 6"/>
          <p:cNvSpPr txBox="1"/>
          <p:nvPr/>
        </p:nvSpPr>
        <p:spPr>
          <a:xfrm>
            <a:off x="5486400" y="1463040"/>
            <a:ext cx="6217920" cy="4572000"/>
          </a:xfrm>
          <a:prstGeom prst="rect">
            <a:avLst/>
          </a:prstGeom>
          <a:noFill/>
        </p:spPr>
        <p:txBody>
          <a:bodyPr wrap="square" lIns="45720" tIns="27432" rIns="45720" bIns="27432" anchor="t"/>
          <a:lstStyle/>
          <a:p>
            <a:pPr algn="l">
              <a:spcAft>
                <a:spcPts val="1800"/>
              </a:spcAft>
            </a:pPr>
            <a:r>
              <a:rPr sz="2000" b="0" i="0" dirty="0">
                <a:solidFill>
                  <a:srgbClr val="0072B2"/>
                </a:solidFill>
                <a:latin typeface="Calibri"/>
              </a:rPr>
              <a:t>Model: </a:t>
            </a:r>
            <a:r>
              <a:rPr sz="2000" b="0" i="0" dirty="0" err="1">
                <a:solidFill>
                  <a:srgbClr val="2B2B2B"/>
                </a:solidFill>
                <a:latin typeface="Calibri"/>
              </a:rPr>
              <a:t>MitoCore</a:t>
            </a:r>
            <a:r>
              <a:rPr sz="2000" b="0" i="0" dirty="0">
                <a:solidFill>
                  <a:srgbClr val="2B2B2B"/>
                </a:solidFill>
                <a:latin typeface="Calibri"/>
              </a:rPr>
              <a:t>, 555 reactions</a:t>
            </a:r>
          </a:p>
          <a:p>
            <a:pPr algn="l">
              <a:spcAft>
                <a:spcPts val="1800"/>
              </a:spcAft>
            </a:pPr>
            <a:r>
              <a:rPr sz="2000" b="0" i="0" dirty="0">
                <a:solidFill>
                  <a:srgbClr val="0072B2"/>
                </a:solidFill>
                <a:latin typeface="Calibri"/>
              </a:rPr>
              <a:t>Samples: </a:t>
            </a:r>
            <a:r>
              <a:rPr sz="2000" b="0" i="0" dirty="0">
                <a:solidFill>
                  <a:srgbClr val="2B2B2B"/>
                </a:solidFill>
                <a:latin typeface="Calibri"/>
              </a:rPr>
              <a:t>simulated enzyme knockouts</a:t>
            </a:r>
          </a:p>
          <a:p>
            <a:pPr algn="l">
              <a:spcAft>
                <a:spcPts val="1800"/>
              </a:spcAft>
            </a:pPr>
            <a:r>
              <a:rPr sz="2000" b="1" i="0" dirty="0">
                <a:solidFill>
                  <a:srgbClr val="0072B2"/>
                </a:solidFill>
                <a:latin typeface="Calibri"/>
              </a:rPr>
              <a:t>Fewer distinct reactions: </a:t>
            </a:r>
            <a:r>
              <a:rPr sz="2000" b="0" i="0" dirty="0">
                <a:solidFill>
                  <a:srgbClr val="2B2B2B"/>
                </a:solidFill>
                <a:latin typeface="Calibri"/>
              </a:rPr>
              <a:t>median −6% (≥90% biomass), −7% (≥50%), up to −30% (≥10%)</a:t>
            </a:r>
          </a:p>
          <a:p>
            <a:pPr algn="l">
              <a:spcAft>
                <a:spcPts val="1800"/>
              </a:spcAft>
            </a:pPr>
            <a:r>
              <a:rPr sz="2000" b="1" i="0" dirty="0">
                <a:solidFill>
                  <a:srgbClr val="0072B2"/>
                </a:solidFill>
                <a:latin typeface="Calibri"/>
              </a:rPr>
              <a:t>Joint fit </a:t>
            </a:r>
            <a:r>
              <a:rPr sz="2000" b="0" i="0" dirty="0">
                <a:solidFill>
                  <a:srgbClr val="2B2B2B"/>
                </a:solidFill>
                <a:latin typeface="Calibri"/>
              </a:rPr>
              <a:t>keeps canonical glycolysis (HEX1, PGI, PFK)</a:t>
            </a:r>
          </a:p>
        </p:txBody>
      </p:sp>
      <p:sp>
        <p:nvSpPr>
          <p:cNvPr id="8" name="TextBox 7"/>
          <p:cNvSpPr txBox="1"/>
          <p:nvPr/>
        </p:nvSpPr>
        <p:spPr>
          <a:xfrm>
            <a:off x="5486400" y="5897880"/>
            <a:ext cx="6217920" cy="365760"/>
          </a:xfrm>
          <a:prstGeom prst="rect">
            <a:avLst/>
          </a:prstGeom>
          <a:noFill/>
        </p:spPr>
        <p:txBody>
          <a:bodyPr wrap="square" lIns="45720" tIns="27432" rIns="45720" bIns="27432" anchor="t"/>
          <a:lstStyle/>
          <a:p>
            <a:pPr algn="l">
              <a:spcAft>
                <a:spcPts val="800"/>
              </a:spcAft>
            </a:pPr>
            <a:r>
              <a:rPr sz="1200" b="0" i="0">
                <a:solidFill>
                  <a:srgbClr val="6B7280"/>
                </a:solidFill>
                <a:latin typeface="Calibri"/>
              </a:rPr>
              <a:t>Fig. 3a,b; blue = multi-sample, orange = single-sample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Multi-sample iMAT: more precise context-specific models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33</a:t>
            </a:r>
          </a:p>
        </p:txBody>
      </p:sp>
      <p:pic>
        <p:nvPicPr>
          <p:cNvPr id="6" name="Picture 5" descr="fig4ad.png"/>
          <p:cNvPicPr>
            <a:picLocks noChangeAspect="1"/>
          </p:cNvPicPr>
          <p:nvPr/>
        </p:nvPicPr>
        <p:blipFill>
          <a:blip r:embed="rId3"/>
          <a:stretch>
            <a:fillRect/>
          </a:stretch>
        </p:blipFill>
        <p:spPr>
          <a:xfrm>
            <a:off x="548640" y="1325880"/>
            <a:ext cx="11064240" cy="2247424"/>
          </a:xfrm>
          <a:prstGeom prst="rect">
            <a:avLst/>
          </a:prstGeom>
        </p:spPr>
      </p:pic>
      <p:sp>
        <p:nvSpPr>
          <p:cNvPr id="7" name="TextBox 6"/>
          <p:cNvSpPr txBox="1"/>
          <p:nvPr/>
        </p:nvSpPr>
        <p:spPr>
          <a:xfrm>
            <a:off x="548640" y="3703320"/>
            <a:ext cx="11064240" cy="457200"/>
          </a:xfrm>
          <a:prstGeom prst="rect">
            <a:avLst/>
          </a:prstGeom>
          <a:noFill/>
        </p:spPr>
        <p:txBody>
          <a:bodyPr wrap="square" lIns="45720" tIns="27432" rIns="45720" bIns="27432" anchor="t"/>
          <a:lstStyle/>
          <a:p>
            <a:pPr algn="ctr">
              <a:spcAft>
                <a:spcPts val="800"/>
              </a:spcAft>
            </a:pPr>
            <a:r>
              <a:rPr sz="2000" b="0" i="0">
                <a:solidFill>
                  <a:srgbClr val="0072B2"/>
                </a:solidFill>
                <a:latin typeface="Calibri"/>
              </a:rPr>
              <a:t>Yeast: </a:t>
            </a:r>
            <a:r>
              <a:rPr sz="2000" b="0" i="0">
                <a:solidFill>
                  <a:srgbClr val="2B2B2B"/>
                </a:solidFill>
                <a:latin typeface="Calibri"/>
              </a:rPr>
              <a:t>12 enzyme knockouts  ·  </a:t>
            </a:r>
            <a:r>
              <a:rPr sz="2000" b="0" i="0">
                <a:solidFill>
                  <a:srgbClr val="1F2A44"/>
                </a:solidFill>
                <a:latin typeface="Cambria Math"/>
                <a:ea typeface="Cambria Math"/>
                <a:cs typeface="Cambria Math"/>
              </a:rPr>
              <a:t>λ = 1.5</a:t>
            </a:r>
            <a:r>
              <a:rPr sz="2000" b="0" i="0">
                <a:solidFill>
                  <a:srgbClr val="2B2B2B"/>
                </a:solidFill>
                <a:latin typeface="Calibri"/>
              </a:rPr>
              <a:t> chosen by 5-fold cross-validation</a:t>
            </a:r>
          </a:p>
        </p:txBody>
      </p:sp>
      <p:sp>
        <p:nvSpPr>
          <p:cNvPr id="8" name="Rounded Rectangle 7"/>
          <p:cNvSpPr/>
          <p:nvPr/>
        </p:nvSpPr>
        <p:spPr>
          <a:xfrm>
            <a:off x="548640" y="4343400"/>
            <a:ext cx="2651760" cy="13716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48640" y="4389120"/>
            <a:ext cx="2651760" cy="1280160"/>
          </a:xfrm>
          <a:prstGeom prst="rect">
            <a:avLst/>
          </a:prstGeom>
          <a:noFill/>
        </p:spPr>
        <p:txBody>
          <a:bodyPr wrap="square" lIns="45720" tIns="27432" rIns="45720" bIns="27432" anchor="ctr"/>
          <a:lstStyle/>
          <a:p>
            <a:pPr algn="ctr">
              <a:spcAft>
                <a:spcPts val="400"/>
              </a:spcAft>
            </a:pPr>
            <a:r>
              <a:rPr sz="2000" b="0" i="0">
                <a:solidFill>
                  <a:srgbClr val="6B7280"/>
                </a:solidFill>
                <a:latin typeface="Calibri"/>
              </a:rPr>
              <a:t>F1</a:t>
            </a:r>
          </a:p>
          <a:p>
            <a:pPr algn="ctr">
              <a:spcAft>
                <a:spcPts val="400"/>
              </a:spcAft>
            </a:pPr>
            <a:r>
              <a:rPr sz="2000" b="0" i="0">
                <a:solidFill>
                  <a:srgbClr val="0072B2"/>
                </a:solidFill>
                <a:latin typeface="Calibri"/>
              </a:rPr>
              <a:t>+6.6%</a:t>
            </a:r>
          </a:p>
        </p:txBody>
      </p:sp>
      <p:sp>
        <p:nvSpPr>
          <p:cNvPr id="10" name="Rounded Rectangle 9"/>
          <p:cNvSpPr/>
          <p:nvPr/>
        </p:nvSpPr>
        <p:spPr>
          <a:xfrm>
            <a:off x="3337560" y="4343400"/>
            <a:ext cx="2651760" cy="13716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337560" y="4389120"/>
            <a:ext cx="2651760" cy="1280160"/>
          </a:xfrm>
          <a:prstGeom prst="rect">
            <a:avLst/>
          </a:prstGeom>
          <a:noFill/>
        </p:spPr>
        <p:txBody>
          <a:bodyPr wrap="square" lIns="45720" tIns="27432" rIns="45720" bIns="27432" anchor="ctr"/>
          <a:lstStyle/>
          <a:p>
            <a:pPr algn="ctr">
              <a:spcAft>
                <a:spcPts val="400"/>
              </a:spcAft>
            </a:pPr>
            <a:r>
              <a:rPr sz="2000" b="0" i="0">
                <a:solidFill>
                  <a:srgbClr val="6B7280"/>
                </a:solidFill>
                <a:latin typeface="Calibri"/>
              </a:rPr>
              <a:t>Precision</a:t>
            </a:r>
          </a:p>
          <a:p>
            <a:pPr algn="ctr">
              <a:spcAft>
                <a:spcPts val="400"/>
              </a:spcAft>
            </a:pPr>
            <a:r>
              <a:rPr sz="2000" b="0" i="0">
                <a:solidFill>
                  <a:srgbClr val="0072B2"/>
                </a:solidFill>
                <a:latin typeface="Calibri"/>
              </a:rPr>
              <a:t>+29.6%</a:t>
            </a:r>
          </a:p>
        </p:txBody>
      </p:sp>
      <p:sp>
        <p:nvSpPr>
          <p:cNvPr id="12" name="Rounded Rectangle 11"/>
          <p:cNvSpPr/>
          <p:nvPr/>
        </p:nvSpPr>
        <p:spPr>
          <a:xfrm>
            <a:off x="6126479" y="4343400"/>
            <a:ext cx="2651760" cy="13716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126479" y="4389120"/>
            <a:ext cx="2651760" cy="1280160"/>
          </a:xfrm>
          <a:prstGeom prst="rect">
            <a:avLst/>
          </a:prstGeom>
          <a:noFill/>
        </p:spPr>
        <p:txBody>
          <a:bodyPr wrap="square" lIns="45720" tIns="27432" rIns="45720" bIns="27432" anchor="ctr"/>
          <a:lstStyle/>
          <a:p>
            <a:pPr algn="ctr">
              <a:spcAft>
                <a:spcPts val="400"/>
              </a:spcAft>
            </a:pPr>
            <a:r>
              <a:rPr sz="2000" b="0" i="0">
                <a:solidFill>
                  <a:srgbClr val="6B7280"/>
                </a:solidFill>
                <a:latin typeface="Calibri"/>
              </a:rPr>
              <a:t>Recall</a:t>
            </a:r>
          </a:p>
          <a:p>
            <a:pPr algn="ctr">
              <a:spcAft>
                <a:spcPts val="400"/>
              </a:spcAft>
            </a:pPr>
            <a:r>
              <a:rPr sz="2000" b="0" i="0">
                <a:solidFill>
                  <a:srgbClr val="D55E00"/>
                </a:solidFill>
                <a:latin typeface="Calibri"/>
              </a:rPr>
              <a:t>−8.6%</a:t>
            </a:r>
          </a:p>
        </p:txBody>
      </p:sp>
      <p:sp>
        <p:nvSpPr>
          <p:cNvPr id="14" name="Rounded Rectangle 13"/>
          <p:cNvSpPr/>
          <p:nvPr/>
        </p:nvSpPr>
        <p:spPr>
          <a:xfrm>
            <a:off x="8915399" y="4343400"/>
            <a:ext cx="2651760" cy="13716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915399" y="4389120"/>
            <a:ext cx="2651760" cy="1280160"/>
          </a:xfrm>
          <a:prstGeom prst="rect">
            <a:avLst/>
          </a:prstGeom>
          <a:noFill/>
        </p:spPr>
        <p:txBody>
          <a:bodyPr wrap="square" lIns="45720" tIns="27432" rIns="45720" bIns="27432" anchor="ctr"/>
          <a:lstStyle/>
          <a:p>
            <a:pPr algn="ctr">
              <a:spcAft>
                <a:spcPts val="400"/>
              </a:spcAft>
            </a:pPr>
            <a:r>
              <a:rPr sz="2000" b="0" i="0">
                <a:solidFill>
                  <a:srgbClr val="6B7280"/>
                </a:solidFill>
                <a:latin typeface="Calibri"/>
              </a:rPr>
              <a:t>Reactions</a:t>
            </a:r>
          </a:p>
          <a:p>
            <a:pPr algn="ctr">
              <a:spcAft>
                <a:spcPts val="400"/>
              </a:spcAft>
            </a:pPr>
            <a:r>
              <a:rPr sz="2000" b="0" i="0">
                <a:solidFill>
                  <a:srgbClr val="0072B2"/>
                </a:solidFill>
                <a:latin typeface="Calibri"/>
              </a:rPr>
              <a:t>≈2,070 → 861</a:t>
            </a:r>
          </a:p>
        </p:txBody>
      </p:sp>
      <p:sp>
        <p:nvSpPr>
          <p:cNvPr id="16" name="TextBox 15"/>
          <p:cNvSpPr txBox="1"/>
          <p:nvPr/>
        </p:nvSpPr>
        <p:spPr>
          <a:xfrm>
            <a:off x="548640" y="5897880"/>
            <a:ext cx="11064240" cy="365760"/>
          </a:xfrm>
          <a:prstGeom prst="rect">
            <a:avLst/>
          </a:prstGeom>
          <a:noFill/>
        </p:spPr>
        <p:txBody>
          <a:bodyPr wrap="square" lIns="45720" tIns="27432" rIns="45720" bIns="27432" anchor="t"/>
          <a:lstStyle/>
          <a:p>
            <a:pPr algn="l">
              <a:spcAft>
                <a:spcPts val="800"/>
              </a:spcAft>
            </a:pPr>
            <a:r>
              <a:rPr sz="1200" b="0" i="0">
                <a:solidFill>
                  <a:srgbClr val="6B7280"/>
                </a:solidFill>
                <a:latin typeface="Calibri"/>
              </a:rPr>
              <a:t>Fig. 4a–d; change relative to single-sample iMAT (λ = 0)</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A shared core: GSK3B, AKT1 and SRC drive TF activity</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35</a:t>
            </a:r>
          </a:p>
        </p:txBody>
      </p:sp>
      <p:pic>
        <p:nvPicPr>
          <p:cNvPr id="6" name="Picture 5" descr="fig5c.png"/>
          <p:cNvPicPr>
            <a:picLocks noChangeAspect="1"/>
          </p:cNvPicPr>
          <p:nvPr/>
        </p:nvPicPr>
        <p:blipFill>
          <a:blip r:embed="rId3"/>
          <a:stretch>
            <a:fillRect/>
          </a:stretch>
        </p:blipFill>
        <p:spPr>
          <a:xfrm>
            <a:off x="548640" y="1371600"/>
            <a:ext cx="11064240" cy="3042666"/>
          </a:xfrm>
          <a:prstGeom prst="rect">
            <a:avLst/>
          </a:prstGeom>
        </p:spPr>
      </p:pic>
      <p:sp>
        <p:nvSpPr>
          <p:cNvPr id="7" name="TextBox 6"/>
          <p:cNvSpPr txBox="1"/>
          <p:nvPr/>
        </p:nvSpPr>
        <p:spPr>
          <a:xfrm>
            <a:off x="548640" y="4572000"/>
            <a:ext cx="11064240" cy="1280160"/>
          </a:xfrm>
          <a:prstGeom prst="rect">
            <a:avLst/>
          </a:prstGeom>
          <a:noFill/>
        </p:spPr>
        <p:txBody>
          <a:bodyPr wrap="square" lIns="45720" tIns="27432" rIns="45720" bIns="27432" anchor="t"/>
          <a:lstStyle/>
          <a:p>
            <a:pPr algn="ctr">
              <a:spcAft>
                <a:spcPts val="800"/>
              </a:spcAft>
            </a:pPr>
            <a:r>
              <a:rPr sz="2000" b="0" i="0">
                <a:solidFill>
                  <a:srgbClr val="2B2B2B"/>
                </a:solidFill>
                <a:latin typeface="Calibri"/>
              </a:rPr>
              <a:t>Edges shared by all patients at </a:t>
            </a:r>
            <a:r>
              <a:rPr sz="2000" b="0" i="0">
                <a:solidFill>
                  <a:srgbClr val="1F2A44"/>
                </a:solidFill>
                <a:latin typeface="Cambria Math"/>
                <a:ea typeface="Cambria Math"/>
                <a:cs typeface="Cambria Math"/>
              </a:rPr>
              <a:t>λ = 0.8</a:t>
            </a:r>
          </a:p>
          <a:p>
            <a:pPr algn="ctr">
              <a:spcAft>
                <a:spcPts val="800"/>
              </a:spcAft>
            </a:pPr>
            <a:r>
              <a:rPr sz="2000" b="0" i="0">
                <a:solidFill>
                  <a:srgbClr val="6B7280"/>
                </a:solidFill>
                <a:latin typeface="Calibri"/>
              </a:rPr>
              <a:t>kept if present in ≥ 50% of 30 alternative solutions</a:t>
            </a:r>
          </a:p>
        </p:txBody>
      </p:sp>
      <p:sp>
        <p:nvSpPr>
          <p:cNvPr id="8" name="TextBox 7"/>
          <p:cNvSpPr txBox="1"/>
          <p:nvPr/>
        </p:nvSpPr>
        <p:spPr>
          <a:xfrm>
            <a:off x="548640" y="6035040"/>
            <a:ext cx="11064240" cy="365760"/>
          </a:xfrm>
          <a:prstGeom prst="rect">
            <a:avLst/>
          </a:prstGeom>
          <a:noFill/>
        </p:spPr>
        <p:txBody>
          <a:bodyPr wrap="square" lIns="45720" tIns="27432" rIns="45720" bIns="27432" anchor="t"/>
          <a:lstStyle/>
          <a:p>
            <a:pPr algn="l">
              <a:spcAft>
                <a:spcPts val="800"/>
              </a:spcAft>
            </a:pPr>
            <a:r>
              <a:rPr sz="1200" b="0" i="0">
                <a:solidFill>
                  <a:srgbClr val="6B7280"/>
                </a:solidFill>
                <a:latin typeface="Calibri"/>
              </a:rPr>
              <a:t>Fig. 5c; colour = mean TF activity across patients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Take-home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36</a:t>
            </a:r>
          </a:p>
        </p:txBody>
      </p:sp>
      <p:sp>
        <p:nvSpPr>
          <p:cNvPr id="6" name="Rounded Rectangle 5"/>
          <p:cNvSpPr/>
          <p:nvPr/>
        </p:nvSpPr>
        <p:spPr>
          <a:xfrm>
            <a:off x="548640" y="1417320"/>
            <a:ext cx="5394960" cy="3749039"/>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1554480"/>
            <a:ext cx="4937760" cy="3566160"/>
          </a:xfrm>
          <a:prstGeom prst="rect">
            <a:avLst/>
          </a:prstGeom>
          <a:noFill/>
        </p:spPr>
        <p:txBody>
          <a:bodyPr wrap="square" lIns="45720" tIns="27432" rIns="45720" bIns="27432" anchor="t"/>
          <a:lstStyle/>
          <a:p>
            <a:pPr algn="l">
              <a:spcAft>
                <a:spcPts val="1400"/>
              </a:spcAft>
            </a:pPr>
            <a:r>
              <a:rPr sz="2000" b="0" i="0" dirty="0">
                <a:solidFill>
                  <a:srgbClr val="0072B2"/>
                </a:solidFill>
                <a:latin typeface="Calibri"/>
              </a:rPr>
              <a:t>What CORNETO gives</a:t>
            </a:r>
          </a:p>
          <a:p>
            <a:pPr algn="l">
              <a:spcAft>
                <a:spcPts val="1400"/>
              </a:spcAft>
            </a:pPr>
            <a:r>
              <a:rPr sz="2000" b="0" i="0" dirty="0">
                <a:solidFill>
                  <a:srgbClr val="2B2B2B"/>
                </a:solidFill>
                <a:latin typeface="Calibri"/>
              </a:rPr>
              <a:t>•  One formulation for </a:t>
            </a:r>
            <a:r>
              <a:rPr sz="2000" b="0" i="0" dirty="0" err="1">
                <a:solidFill>
                  <a:srgbClr val="2B2B2B"/>
                </a:solidFill>
                <a:latin typeface="Calibri"/>
              </a:rPr>
              <a:t>signalling</a:t>
            </a:r>
            <a:r>
              <a:rPr sz="2000" b="0" i="0" dirty="0">
                <a:solidFill>
                  <a:srgbClr val="2B2B2B"/>
                </a:solidFill>
                <a:latin typeface="Calibri"/>
              </a:rPr>
              <a:t>, metabolism, PPI</a:t>
            </a:r>
          </a:p>
          <a:p>
            <a:pPr algn="l">
              <a:spcAft>
                <a:spcPts val="1400"/>
              </a:spcAft>
            </a:pPr>
            <a:r>
              <a:rPr sz="2000" b="0" i="0" dirty="0">
                <a:solidFill>
                  <a:srgbClr val="2B2B2B"/>
                </a:solidFill>
                <a:latin typeface="Calibri"/>
              </a:rPr>
              <a:t>•  Exact solvers, proof of optimality</a:t>
            </a:r>
          </a:p>
          <a:p>
            <a:pPr algn="l">
              <a:spcAft>
                <a:spcPts val="1400"/>
              </a:spcAft>
            </a:pPr>
            <a:r>
              <a:rPr sz="2000" b="0" i="0" dirty="0">
                <a:solidFill>
                  <a:srgbClr val="2B2B2B"/>
                </a:solidFill>
                <a:latin typeface="Calibri"/>
              </a:rPr>
              <a:t>•  Joint fits: sparser, more precise</a:t>
            </a:r>
          </a:p>
          <a:p>
            <a:pPr algn="l">
              <a:spcAft>
                <a:spcPts val="1400"/>
              </a:spcAft>
            </a:pPr>
            <a:r>
              <a:rPr sz="2000" b="0" i="0" dirty="0">
                <a:solidFill>
                  <a:srgbClr val="2B2B2B"/>
                </a:solidFill>
                <a:latin typeface="Calibri"/>
              </a:rPr>
              <a:t>•  Open Python library (corneto.org)</a:t>
            </a:r>
          </a:p>
        </p:txBody>
      </p:sp>
      <p:sp>
        <p:nvSpPr>
          <p:cNvPr id="8" name="Rounded Rectangle 7"/>
          <p:cNvSpPr/>
          <p:nvPr/>
        </p:nvSpPr>
        <p:spPr>
          <a:xfrm>
            <a:off x="6217920" y="1417320"/>
            <a:ext cx="5394960" cy="3749039"/>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492240" y="1554480"/>
            <a:ext cx="4937760" cy="3566160"/>
          </a:xfrm>
          <a:prstGeom prst="rect">
            <a:avLst/>
          </a:prstGeom>
          <a:noFill/>
        </p:spPr>
        <p:txBody>
          <a:bodyPr wrap="square" lIns="45720" tIns="27432" rIns="45720" bIns="27432" anchor="t"/>
          <a:lstStyle/>
          <a:p>
            <a:pPr algn="l">
              <a:spcAft>
                <a:spcPts val="1400"/>
              </a:spcAft>
            </a:pPr>
            <a:r>
              <a:rPr sz="2000" b="0" i="0">
                <a:solidFill>
                  <a:srgbClr val="D55E00"/>
                </a:solidFill>
                <a:latin typeface="Calibri"/>
              </a:rPr>
              <a:t>What it does not solve</a:t>
            </a:r>
          </a:p>
          <a:p>
            <a:pPr algn="l">
              <a:spcAft>
                <a:spcPts val="1400"/>
              </a:spcAft>
            </a:pPr>
            <a:r>
              <a:rPr sz="2000" b="0" i="0">
                <a:solidFill>
                  <a:srgbClr val="2B2B2B"/>
                </a:solidFill>
                <a:latin typeface="Calibri"/>
              </a:rPr>
              <a:t>•  NP-hard: slow for many samples or large PKNs</a:t>
            </a:r>
          </a:p>
          <a:p>
            <a:pPr algn="l">
              <a:spcAft>
                <a:spcPts val="1400"/>
              </a:spcAft>
            </a:pPr>
            <a:r>
              <a:rPr sz="2000" b="0" i="0">
                <a:solidFill>
                  <a:srgbClr val="2B2B2B"/>
                </a:solidFill>
                <a:latin typeface="Calibri"/>
              </a:rPr>
              <a:t>•  λ must be tuned; assumes shared structure</a:t>
            </a:r>
          </a:p>
          <a:p>
            <a:pPr algn="l">
              <a:spcAft>
                <a:spcPts val="1400"/>
              </a:spcAft>
            </a:pPr>
            <a:r>
              <a:rPr sz="2000" b="0" i="0">
                <a:solidFill>
                  <a:srgbClr val="2B2B2B"/>
                </a:solidFill>
                <a:latin typeface="Calibri"/>
              </a:rPr>
              <a:t>•  Steady state only</a:t>
            </a:r>
          </a:p>
          <a:p>
            <a:pPr algn="l">
              <a:spcAft>
                <a:spcPts val="1400"/>
              </a:spcAft>
            </a:pPr>
            <a:r>
              <a:rPr sz="2000" b="0" i="0">
                <a:solidFill>
                  <a:srgbClr val="2B2B2B"/>
                </a:solidFill>
                <a:latin typeface="Calibri"/>
              </a:rPr>
              <a:t>•  Only edges already in the PKN</a:t>
            </a:r>
          </a:p>
          <a:p>
            <a:pPr algn="l">
              <a:spcAft>
                <a:spcPts val="1400"/>
              </a:spcAft>
            </a:pPr>
            <a:r>
              <a:rPr sz="2000" b="0" i="0">
                <a:solidFill>
                  <a:srgbClr val="2B2B2B"/>
                </a:solidFill>
                <a:latin typeface="Calibri"/>
              </a:rPr>
              <a:t>•  Several optimal networks: sample them</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Outline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37</a:t>
            </a:r>
          </a:p>
        </p:txBody>
      </p:sp>
      <p:sp>
        <p:nvSpPr>
          <p:cNvPr id="6" name="Oval 5"/>
          <p:cNvSpPr/>
          <p:nvPr/>
        </p:nvSpPr>
        <p:spPr>
          <a:xfrm>
            <a:off x="886968" y="1645920"/>
            <a:ext cx="566928" cy="566928"/>
          </a:xfrm>
          <a:prstGeom prst="ellipse">
            <a:avLst/>
          </a:prstGeom>
          <a:solidFill>
            <a:srgbClr val="B8BDC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a:solidFill>
                  <a:srgbClr val="FFFFFF"/>
                </a:solidFill>
                <a:latin typeface="Calibri"/>
              </a:rPr>
              <a:t>1</a:t>
            </a:r>
          </a:p>
        </p:txBody>
      </p:sp>
      <p:sp>
        <p:nvSpPr>
          <p:cNvPr id="7" name="TextBox 6"/>
          <p:cNvSpPr txBox="1"/>
          <p:nvPr/>
        </p:nvSpPr>
        <p:spPr>
          <a:xfrm>
            <a:off x="1691640" y="1600200"/>
            <a:ext cx="8686800" cy="658368"/>
          </a:xfrm>
          <a:prstGeom prst="rect">
            <a:avLst/>
          </a:prstGeom>
          <a:noFill/>
        </p:spPr>
        <p:txBody>
          <a:bodyPr wrap="square" lIns="45720" tIns="27432" rIns="45720" bIns="27432" anchor="ctr">
            <a:spAutoFit/>
          </a:bodyPr>
          <a:lstStyle/>
          <a:p>
            <a:pPr algn="l">
              <a:spcAft>
                <a:spcPts val="800"/>
              </a:spcAft>
            </a:pPr>
            <a:r>
              <a:rPr sz="2000" b="0" i="0">
                <a:solidFill>
                  <a:srgbClr val="6B7280"/>
                </a:solidFill>
                <a:latin typeface="Calibri"/>
              </a:rPr>
              <a:t>Why network inference from prior knowledge?</a:t>
            </a:r>
          </a:p>
        </p:txBody>
      </p:sp>
      <p:sp>
        <p:nvSpPr>
          <p:cNvPr id="8" name="Oval 7"/>
          <p:cNvSpPr/>
          <p:nvPr/>
        </p:nvSpPr>
        <p:spPr>
          <a:xfrm>
            <a:off x="886968" y="2606040"/>
            <a:ext cx="566928" cy="566928"/>
          </a:xfrm>
          <a:prstGeom prst="ellipse">
            <a:avLst/>
          </a:prstGeom>
          <a:solidFill>
            <a:srgbClr val="B8BDC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a:solidFill>
                  <a:srgbClr val="FFFFFF"/>
                </a:solidFill>
                <a:latin typeface="Calibri"/>
              </a:rPr>
              <a:t>2</a:t>
            </a:r>
          </a:p>
        </p:txBody>
      </p:sp>
      <p:sp>
        <p:nvSpPr>
          <p:cNvPr id="9" name="TextBox 8"/>
          <p:cNvSpPr txBox="1"/>
          <p:nvPr/>
        </p:nvSpPr>
        <p:spPr>
          <a:xfrm>
            <a:off x="1691640" y="2560320"/>
            <a:ext cx="8686800" cy="658368"/>
          </a:xfrm>
          <a:prstGeom prst="rect">
            <a:avLst/>
          </a:prstGeom>
          <a:noFill/>
        </p:spPr>
        <p:txBody>
          <a:bodyPr wrap="square" lIns="45720" tIns="27432" rIns="45720" bIns="27432" anchor="ctr">
            <a:spAutoFit/>
          </a:bodyPr>
          <a:lstStyle/>
          <a:p>
            <a:pPr algn="l">
              <a:spcAft>
                <a:spcPts val="800"/>
              </a:spcAft>
            </a:pPr>
            <a:r>
              <a:rPr sz="2000" b="0" i="0">
                <a:solidFill>
                  <a:srgbClr val="6B7280"/>
                </a:solidFill>
                <a:latin typeface="Calibri"/>
              </a:rPr>
              <a:t>The methods CORNETO unifies</a:t>
            </a:r>
          </a:p>
        </p:txBody>
      </p:sp>
      <p:sp>
        <p:nvSpPr>
          <p:cNvPr id="10" name="Oval 9"/>
          <p:cNvSpPr/>
          <p:nvPr/>
        </p:nvSpPr>
        <p:spPr>
          <a:xfrm>
            <a:off x="886968" y="3566160"/>
            <a:ext cx="566928" cy="566928"/>
          </a:xfrm>
          <a:prstGeom prst="ellipse">
            <a:avLst/>
          </a:prstGeom>
          <a:solidFill>
            <a:srgbClr val="B8BDC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a:solidFill>
                  <a:srgbClr val="FFFFFF"/>
                </a:solidFill>
                <a:latin typeface="Calibri"/>
              </a:rPr>
              <a:t>3</a:t>
            </a:r>
          </a:p>
        </p:txBody>
      </p:sp>
      <p:sp>
        <p:nvSpPr>
          <p:cNvPr id="11" name="TextBox 10"/>
          <p:cNvSpPr txBox="1"/>
          <p:nvPr/>
        </p:nvSpPr>
        <p:spPr>
          <a:xfrm>
            <a:off x="1691640" y="3520440"/>
            <a:ext cx="8686800" cy="658368"/>
          </a:xfrm>
          <a:prstGeom prst="rect">
            <a:avLst/>
          </a:prstGeom>
          <a:noFill/>
        </p:spPr>
        <p:txBody>
          <a:bodyPr wrap="square" lIns="45720" tIns="27432" rIns="45720" bIns="27432" anchor="ctr">
            <a:spAutoFit/>
          </a:bodyPr>
          <a:lstStyle/>
          <a:p>
            <a:pPr algn="l">
              <a:spcAft>
                <a:spcPts val="800"/>
              </a:spcAft>
            </a:pPr>
            <a:r>
              <a:rPr sz="2000" b="0" i="0">
                <a:solidFill>
                  <a:srgbClr val="6B7280"/>
                </a:solidFill>
                <a:latin typeface="Calibri"/>
              </a:rPr>
              <a:t>CORNETO: one optimisation problem</a:t>
            </a:r>
          </a:p>
        </p:txBody>
      </p:sp>
      <p:sp>
        <p:nvSpPr>
          <p:cNvPr id="12" name="Oval 11"/>
          <p:cNvSpPr/>
          <p:nvPr/>
        </p:nvSpPr>
        <p:spPr>
          <a:xfrm>
            <a:off x="886968" y="4526280"/>
            <a:ext cx="566928" cy="566928"/>
          </a:xfrm>
          <a:prstGeom prst="ellipse">
            <a:avLst/>
          </a:prstGeom>
          <a:solidFill>
            <a:srgbClr val="B8BDC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a:solidFill>
                  <a:srgbClr val="FFFFFF"/>
                </a:solidFill>
                <a:latin typeface="Calibri"/>
              </a:rPr>
              <a:t>4</a:t>
            </a:r>
          </a:p>
        </p:txBody>
      </p:sp>
      <p:sp>
        <p:nvSpPr>
          <p:cNvPr id="13" name="TextBox 12"/>
          <p:cNvSpPr txBox="1"/>
          <p:nvPr/>
        </p:nvSpPr>
        <p:spPr>
          <a:xfrm>
            <a:off x="1691640" y="4480560"/>
            <a:ext cx="8686800" cy="658368"/>
          </a:xfrm>
          <a:prstGeom prst="rect">
            <a:avLst/>
          </a:prstGeom>
          <a:noFill/>
        </p:spPr>
        <p:txBody>
          <a:bodyPr wrap="square" lIns="45720" tIns="27432" rIns="45720" bIns="27432" anchor="ctr">
            <a:spAutoFit/>
          </a:bodyPr>
          <a:lstStyle/>
          <a:p>
            <a:pPr algn="l">
              <a:spcAft>
                <a:spcPts val="800"/>
              </a:spcAft>
            </a:pPr>
            <a:r>
              <a:rPr sz="2000" b="0" i="0">
                <a:solidFill>
                  <a:srgbClr val="6B7280"/>
                </a:solidFill>
                <a:latin typeface="Calibri"/>
              </a:rPr>
              <a:t>Results and take-home</a:t>
            </a:r>
          </a:p>
        </p:txBody>
      </p:sp>
      <p:sp>
        <p:nvSpPr>
          <p:cNvPr id="14" name="Oval 13"/>
          <p:cNvSpPr/>
          <p:nvPr/>
        </p:nvSpPr>
        <p:spPr>
          <a:xfrm>
            <a:off x="886968" y="5486400"/>
            <a:ext cx="566928" cy="566928"/>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a:solidFill>
                  <a:srgbClr val="FFFFFF"/>
                </a:solidFill>
                <a:latin typeface="Calibri"/>
              </a:rPr>
              <a:t>5</a:t>
            </a:r>
          </a:p>
        </p:txBody>
      </p:sp>
      <p:sp>
        <p:nvSpPr>
          <p:cNvPr id="15" name="TextBox 14"/>
          <p:cNvSpPr txBox="1"/>
          <p:nvPr/>
        </p:nvSpPr>
        <p:spPr>
          <a:xfrm>
            <a:off x="1691640" y="5440680"/>
            <a:ext cx="8686800" cy="658368"/>
          </a:xfrm>
          <a:prstGeom prst="rect">
            <a:avLst/>
          </a:prstGeom>
          <a:noFill/>
        </p:spPr>
        <p:txBody>
          <a:bodyPr wrap="square" lIns="45720" tIns="27432" rIns="45720" bIns="27432" anchor="ctr">
            <a:spAutoFit/>
          </a:bodyPr>
          <a:lstStyle/>
          <a:p>
            <a:pPr algn="l">
              <a:spcAft>
                <a:spcPts val="800"/>
              </a:spcAft>
            </a:pPr>
            <a:r>
              <a:rPr sz="2000" b="0" i="0">
                <a:solidFill>
                  <a:srgbClr val="1F2A44"/>
                </a:solidFill>
                <a:latin typeface="Calibri"/>
              </a:rPr>
              <a:t>Discussion: strengths and limitations</a:t>
            </a:r>
          </a:p>
        </p:txBody>
      </p:sp>
      <p:sp>
        <p:nvSpPr>
          <p:cNvPr id="16" name="Rectangle 15"/>
          <p:cNvSpPr/>
          <p:nvPr/>
        </p:nvSpPr>
        <p:spPr>
          <a:xfrm>
            <a:off x="566928" y="5458968"/>
            <a:ext cx="91440" cy="621792"/>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Discussion: strengths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dirty="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38</a:t>
            </a:r>
          </a:p>
        </p:txBody>
      </p:sp>
      <p:sp>
        <p:nvSpPr>
          <p:cNvPr id="6" name="Rounded Rectangle 5"/>
          <p:cNvSpPr/>
          <p:nvPr/>
        </p:nvSpPr>
        <p:spPr>
          <a:xfrm>
            <a:off x="548640" y="1417320"/>
            <a:ext cx="3520440" cy="2148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49808" y="1618488"/>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1</a:t>
            </a:r>
          </a:p>
        </p:txBody>
      </p:sp>
      <p:sp>
        <p:nvSpPr>
          <p:cNvPr id="8" name="TextBox 7"/>
          <p:cNvSpPr txBox="1"/>
          <p:nvPr/>
        </p:nvSpPr>
        <p:spPr>
          <a:xfrm>
            <a:off x="1325880" y="1600200"/>
            <a:ext cx="2606040" cy="502920"/>
          </a:xfrm>
          <a:prstGeom prst="rect">
            <a:avLst/>
          </a:prstGeom>
          <a:noFill/>
        </p:spPr>
        <p:txBody>
          <a:bodyPr wrap="square" lIns="45720" tIns="27432" rIns="45720" bIns="27432" anchor="ctr">
            <a:spAutoFit/>
          </a:bodyPr>
          <a:lstStyle/>
          <a:p>
            <a:pPr algn="l">
              <a:spcAft>
                <a:spcPts val="800"/>
              </a:spcAft>
            </a:pPr>
            <a:r>
              <a:rPr sz="1800" b="1" i="0">
                <a:solidFill>
                  <a:srgbClr val="0072B2"/>
                </a:solidFill>
                <a:latin typeface="Calibri"/>
              </a:rPr>
              <a:t>One formulation</a:t>
            </a:r>
          </a:p>
        </p:txBody>
      </p:sp>
      <p:sp>
        <p:nvSpPr>
          <p:cNvPr id="9" name="TextBox 8"/>
          <p:cNvSpPr txBox="1"/>
          <p:nvPr/>
        </p:nvSpPr>
        <p:spPr>
          <a:xfrm>
            <a:off x="749808" y="2194560"/>
            <a:ext cx="3154680" cy="1280160"/>
          </a:xfrm>
          <a:prstGeom prst="rect">
            <a:avLst/>
          </a:prstGeom>
          <a:noFill/>
        </p:spPr>
        <p:txBody>
          <a:bodyPr wrap="square" lIns="45720" tIns="27432" rIns="45720" bIns="27432" anchor="t">
            <a:spAutoFit/>
          </a:bodyPr>
          <a:lstStyle/>
          <a:p>
            <a:pPr algn="l">
              <a:spcAft>
                <a:spcPts val="800"/>
              </a:spcAft>
            </a:pPr>
            <a:r>
              <a:rPr sz="1600" b="0" i="0">
                <a:solidFill>
                  <a:srgbClr val="2B2B2B"/>
                </a:solidFill>
                <a:latin typeface="Calibri"/>
              </a:rPr>
              <a:t>FBA, sFBA, iMAT, CARNIVAL, Steiner / PCST and knowledge-primed neural nets as flows plus constraints (Table 1)</a:t>
            </a:r>
          </a:p>
        </p:txBody>
      </p:sp>
      <p:sp>
        <p:nvSpPr>
          <p:cNvPr id="10" name="Rounded Rectangle 9"/>
          <p:cNvSpPr/>
          <p:nvPr/>
        </p:nvSpPr>
        <p:spPr>
          <a:xfrm>
            <a:off x="4334255" y="1417320"/>
            <a:ext cx="3520440" cy="2148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535423" y="1618488"/>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2</a:t>
            </a:r>
          </a:p>
        </p:txBody>
      </p:sp>
      <p:sp>
        <p:nvSpPr>
          <p:cNvPr id="12" name="TextBox 11"/>
          <p:cNvSpPr txBox="1"/>
          <p:nvPr/>
        </p:nvSpPr>
        <p:spPr>
          <a:xfrm>
            <a:off x="5111495" y="1600200"/>
            <a:ext cx="2606040" cy="502920"/>
          </a:xfrm>
          <a:prstGeom prst="rect">
            <a:avLst/>
          </a:prstGeom>
          <a:noFill/>
        </p:spPr>
        <p:txBody>
          <a:bodyPr wrap="square" lIns="45720" tIns="27432" rIns="45720" bIns="27432" anchor="ctr">
            <a:spAutoFit/>
          </a:bodyPr>
          <a:lstStyle/>
          <a:p>
            <a:pPr algn="l">
              <a:spcAft>
                <a:spcPts val="800"/>
              </a:spcAft>
            </a:pPr>
            <a:r>
              <a:rPr sz="1800" b="1" i="0">
                <a:solidFill>
                  <a:srgbClr val="0072B2"/>
                </a:solidFill>
                <a:latin typeface="Calibri"/>
              </a:rPr>
              <a:t>Multi-sample for free</a:t>
            </a:r>
          </a:p>
        </p:txBody>
      </p:sp>
      <p:sp>
        <p:nvSpPr>
          <p:cNvPr id="13" name="TextBox 12"/>
          <p:cNvSpPr txBox="1"/>
          <p:nvPr/>
        </p:nvSpPr>
        <p:spPr>
          <a:xfrm>
            <a:off x="4535423" y="2194560"/>
            <a:ext cx="3154680" cy="1280160"/>
          </a:xfrm>
          <a:prstGeom prst="rect">
            <a:avLst/>
          </a:prstGeom>
          <a:noFill/>
        </p:spPr>
        <p:txBody>
          <a:bodyPr wrap="square" lIns="45720" tIns="27432" rIns="45720" bIns="27432" anchor="t">
            <a:spAutoFit/>
          </a:bodyPr>
          <a:lstStyle/>
          <a:p>
            <a:pPr algn="l">
              <a:spcAft>
                <a:spcPts val="800"/>
              </a:spcAft>
            </a:pPr>
            <a:r>
              <a:rPr sz="1600" b="0" i="0">
                <a:solidFill>
                  <a:srgbClr val="2B2B2B"/>
                </a:solidFill>
                <a:latin typeface="Calibri"/>
              </a:rPr>
              <a:t>one λ term turns any implemented method into a joint one; λ = 0 recovers the original</a:t>
            </a:r>
          </a:p>
        </p:txBody>
      </p:sp>
      <p:sp>
        <p:nvSpPr>
          <p:cNvPr id="14" name="Rounded Rectangle 13"/>
          <p:cNvSpPr/>
          <p:nvPr/>
        </p:nvSpPr>
        <p:spPr>
          <a:xfrm>
            <a:off x="8119871" y="1417320"/>
            <a:ext cx="3520440" cy="2148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321040" y="1618488"/>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3</a:t>
            </a:r>
          </a:p>
        </p:txBody>
      </p:sp>
      <p:sp>
        <p:nvSpPr>
          <p:cNvPr id="16" name="TextBox 15"/>
          <p:cNvSpPr txBox="1"/>
          <p:nvPr/>
        </p:nvSpPr>
        <p:spPr>
          <a:xfrm>
            <a:off x="8897111" y="1600200"/>
            <a:ext cx="2606040" cy="502920"/>
          </a:xfrm>
          <a:prstGeom prst="rect">
            <a:avLst/>
          </a:prstGeom>
          <a:noFill/>
        </p:spPr>
        <p:txBody>
          <a:bodyPr wrap="square" lIns="45720" tIns="27432" rIns="45720" bIns="27432" anchor="ctr">
            <a:spAutoFit/>
          </a:bodyPr>
          <a:lstStyle/>
          <a:p>
            <a:pPr algn="l">
              <a:spcAft>
                <a:spcPts val="800"/>
              </a:spcAft>
            </a:pPr>
            <a:r>
              <a:rPr sz="1800" b="1" i="0">
                <a:solidFill>
                  <a:srgbClr val="0072B2"/>
                </a:solidFill>
                <a:latin typeface="Calibri"/>
              </a:rPr>
              <a:t>Exact and solver-agnostic</a:t>
            </a:r>
          </a:p>
        </p:txBody>
      </p:sp>
      <p:sp>
        <p:nvSpPr>
          <p:cNvPr id="17" name="TextBox 16"/>
          <p:cNvSpPr txBox="1"/>
          <p:nvPr/>
        </p:nvSpPr>
        <p:spPr>
          <a:xfrm>
            <a:off x="8321040" y="2194560"/>
            <a:ext cx="3154680" cy="1280160"/>
          </a:xfrm>
          <a:prstGeom prst="rect">
            <a:avLst/>
          </a:prstGeom>
          <a:noFill/>
        </p:spPr>
        <p:txBody>
          <a:bodyPr wrap="square" lIns="45720" tIns="27432" rIns="45720" bIns="27432" anchor="t">
            <a:spAutoFit/>
          </a:bodyPr>
          <a:lstStyle/>
          <a:p>
            <a:pPr algn="l">
              <a:spcAft>
                <a:spcPts val="800"/>
              </a:spcAft>
            </a:pPr>
            <a:r>
              <a:rPr sz="1600" b="0" i="0">
                <a:solidFill>
                  <a:srgbClr val="2B2B2B"/>
                </a:solidFill>
                <a:latin typeface="Calibri"/>
              </a:rPr>
              <a:t>MILPs with optimality certificates; CVXPY / PICOS backends, HiGHS, SCIP, Gurobi, CPLEX</a:t>
            </a:r>
          </a:p>
        </p:txBody>
      </p:sp>
      <p:sp>
        <p:nvSpPr>
          <p:cNvPr id="18" name="Rounded Rectangle 17"/>
          <p:cNvSpPr/>
          <p:nvPr/>
        </p:nvSpPr>
        <p:spPr>
          <a:xfrm>
            <a:off x="548640" y="3840480"/>
            <a:ext cx="3520440" cy="2148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49808" y="4041648"/>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4</a:t>
            </a:r>
          </a:p>
        </p:txBody>
      </p:sp>
      <p:sp>
        <p:nvSpPr>
          <p:cNvPr id="20" name="TextBox 19"/>
          <p:cNvSpPr txBox="1"/>
          <p:nvPr/>
        </p:nvSpPr>
        <p:spPr>
          <a:xfrm>
            <a:off x="1325880" y="4023360"/>
            <a:ext cx="2606040" cy="502920"/>
          </a:xfrm>
          <a:prstGeom prst="rect">
            <a:avLst/>
          </a:prstGeom>
          <a:noFill/>
        </p:spPr>
        <p:txBody>
          <a:bodyPr wrap="square" lIns="45720" tIns="27432" rIns="45720" bIns="27432" anchor="ctr">
            <a:spAutoFit/>
          </a:bodyPr>
          <a:lstStyle/>
          <a:p>
            <a:pPr algn="l">
              <a:spcAft>
                <a:spcPts val="800"/>
              </a:spcAft>
            </a:pPr>
            <a:r>
              <a:rPr sz="1800" b="1" i="0">
                <a:solidFill>
                  <a:srgbClr val="0072B2"/>
                </a:solidFill>
                <a:latin typeface="Calibri"/>
              </a:rPr>
              <a:t>Measured gains</a:t>
            </a:r>
          </a:p>
        </p:txBody>
      </p:sp>
      <p:sp>
        <p:nvSpPr>
          <p:cNvPr id="21" name="TextBox 20"/>
          <p:cNvSpPr txBox="1"/>
          <p:nvPr/>
        </p:nvSpPr>
        <p:spPr>
          <a:xfrm>
            <a:off x="749808" y="4617720"/>
            <a:ext cx="3154680" cy="1280160"/>
          </a:xfrm>
          <a:prstGeom prst="rect">
            <a:avLst/>
          </a:prstGeom>
          <a:noFill/>
        </p:spPr>
        <p:txBody>
          <a:bodyPr wrap="square" lIns="45720" tIns="27432" rIns="45720" bIns="27432" anchor="t">
            <a:spAutoFit/>
          </a:bodyPr>
          <a:lstStyle/>
          <a:p>
            <a:pPr algn="l">
              <a:spcAft>
                <a:spcPts val="800"/>
              </a:spcAft>
            </a:pPr>
            <a:r>
              <a:rPr sz="1600" b="0" i="0" dirty="0" err="1">
                <a:solidFill>
                  <a:srgbClr val="2B2B2B"/>
                </a:solidFill>
                <a:latin typeface="Calibri"/>
              </a:rPr>
              <a:t>iMAT</a:t>
            </a:r>
            <a:r>
              <a:rPr sz="1600" b="0" i="0" dirty="0">
                <a:solidFill>
                  <a:srgbClr val="2B2B2B"/>
                </a:solidFill>
                <a:latin typeface="Calibri"/>
              </a:rPr>
              <a:t>: precision +29.6%, F1 +6.6%; </a:t>
            </a:r>
            <a:r>
              <a:rPr sz="1600" b="0" i="0" dirty="0" err="1">
                <a:solidFill>
                  <a:srgbClr val="2B2B2B"/>
                </a:solidFill>
                <a:latin typeface="Calibri"/>
              </a:rPr>
              <a:t>sFBA</a:t>
            </a:r>
            <a:r>
              <a:rPr sz="1600" b="0" i="0" dirty="0">
                <a:solidFill>
                  <a:srgbClr val="2B2B2B"/>
                </a:solidFill>
                <a:latin typeface="Calibri"/>
              </a:rPr>
              <a:t>: up to 30% fewer reactions; CARNIVAL: larger cross-patient core</a:t>
            </a:r>
          </a:p>
        </p:txBody>
      </p:sp>
      <p:sp>
        <p:nvSpPr>
          <p:cNvPr id="22" name="Rounded Rectangle 21"/>
          <p:cNvSpPr/>
          <p:nvPr/>
        </p:nvSpPr>
        <p:spPr>
          <a:xfrm>
            <a:off x="4334255" y="3840480"/>
            <a:ext cx="3520440" cy="2148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535423" y="4041648"/>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5</a:t>
            </a:r>
          </a:p>
        </p:txBody>
      </p:sp>
      <p:sp>
        <p:nvSpPr>
          <p:cNvPr id="24" name="TextBox 23"/>
          <p:cNvSpPr txBox="1"/>
          <p:nvPr/>
        </p:nvSpPr>
        <p:spPr>
          <a:xfrm>
            <a:off x="5111495" y="4023360"/>
            <a:ext cx="2606040" cy="502920"/>
          </a:xfrm>
          <a:prstGeom prst="rect">
            <a:avLst/>
          </a:prstGeom>
          <a:noFill/>
        </p:spPr>
        <p:txBody>
          <a:bodyPr wrap="square" lIns="45720" tIns="27432" rIns="45720" bIns="27432" anchor="ctr">
            <a:spAutoFit/>
          </a:bodyPr>
          <a:lstStyle/>
          <a:p>
            <a:pPr algn="l">
              <a:spcAft>
                <a:spcPts val="800"/>
              </a:spcAft>
            </a:pPr>
            <a:r>
              <a:rPr sz="1800" b="1" i="0">
                <a:solidFill>
                  <a:srgbClr val="0072B2"/>
                </a:solidFill>
                <a:latin typeface="Calibri"/>
              </a:rPr>
              <a:t>Hypergraphs natively</a:t>
            </a:r>
          </a:p>
        </p:txBody>
      </p:sp>
      <p:sp>
        <p:nvSpPr>
          <p:cNvPr id="25" name="TextBox 24"/>
          <p:cNvSpPr txBox="1"/>
          <p:nvPr/>
        </p:nvSpPr>
        <p:spPr>
          <a:xfrm>
            <a:off x="4535423" y="4617720"/>
            <a:ext cx="3154680" cy="1280160"/>
          </a:xfrm>
          <a:prstGeom prst="rect">
            <a:avLst/>
          </a:prstGeom>
          <a:noFill/>
        </p:spPr>
        <p:txBody>
          <a:bodyPr wrap="square" lIns="45720" tIns="27432" rIns="45720" bIns="27432" anchor="t">
            <a:spAutoFit/>
          </a:bodyPr>
          <a:lstStyle/>
          <a:p>
            <a:pPr algn="l">
              <a:spcAft>
                <a:spcPts val="800"/>
              </a:spcAft>
            </a:pPr>
            <a:r>
              <a:rPr sz="1600" b="0" i="0" dirty="0">
                <a:solidFill>
                  <a:srgbClr val="2B2B2B"/>
                </a:solidFill>
                <a:latin typeface="Calibri"/>
              </a:rPr>
              <a:t>A = S, so stoichiometry, </a:t>
            </a:r>
            <a:r>
              <a:rPr sz="1600" b="0" i="0" dirty="0" err="1">
                <a:solidFill>
                  <a:srgbClr val="2B2B2B"/>
                </a:solidFill>
                <a:latin typeface="Calibri"/>
              </a:rPr>
              <a:t>signalling</a:t>
            </a:r>
            <a:r>
              <a:rPr sz="1600" b="0" i="0" dirty="0">
                <a:solidFill>
                  <a:srgbClr val="2B2B2B"/>
                </a:solidFill>
                <a:latin typeface="Calibri"/>
              </a:rPr>
              <a:t> and PPI share one representation</a:t>
            </a:r>
          </a:p>
        </p:txBody>
      </p:sp>
      <p:sp>
        <p:nvSpPr>
          <p:cNvPr id="26" name="Rounded Rectangle 25"/>
          <p:cNvSpPr/>
          <p:nvPr/>
        </p:nvSpPr>
        <p:spPr>
          <a:xfrm>
            <a:off x="8119871" y="3840480"/>
            <a:ext cx="3520440" cy="2148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321040" y="4041648"/>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6</a:t>
            </a:r>
          </a:p>
        </p:txBody>
      </p:sp>
      <p:sp>
        <p:nvSpPr>
          <p:cNvPr id="28" name="TextBox 27"/>
          <p:cNvSpPr txBox="1"/>
          <p:nvPr/>
        </p:nvSpPr>
        <p:spPr>
          <a:xfrm>
            <a:off x="8897111" y="4023360"/>
            <a:ext cx="2606040" cy="502920"/>
          </a:xfrm>
          <a:prstGeom prst="rect">
            <a:avLst/>
          </a:prstGeom>
          <a:noFill/>
        </p:spPr>
        <p:txBody>
          <a:bodyPr wrap="square" lIns="45720" tIns="27432" rIns="45720" bIns="27432" anchor="ctr">
            <a:spAutoFit/>
          </a:bodyPr>
          <a:lstStyle/>
          <a:p>
            <a:pPr algn="l">
              <a:spcAft>
                <a:spcPts val="800"/>
              </a:spcAft>
            </a:pPr>
            <a:r>
              <a:rPr sz="1800" b="1" i="0">
                <a:solidFill>
                  <a:srgbClr val="0072B2"/>
                </a:solidFill>
                <a:latin typeface="Calibri"/>
              </a:rPr>
              <a:t>Composable and open</a:t>
            </a:r>
          </a:p>
        </p:txBody>
      </p:sp>
      <p:sp>
        <p:nvSpPr>
          <p:cNvPr id="29" name="TextBox 28"/>
          <p:cNvSpPr txBox="1"/>
          <p:nvPr/>
        </p:nvSpPr>
        <p:spPr>
          <a:xfrm>
            <a:off x="8321040" y="4617720"/>
            <a:ext cx="3154680" cy="1280160"/>
          </a:xfrm>
          <a:prstGeom prst="rect">
            <a:avLst/>
          </a:prstGeom>
          <a:noFill/>
        </p:spPr>
        <p:txBody>
          <a:bodyPr wrap="square" lIns="45720" tIns="27432" rIns="45720" bIns="27432" anchor="t">
            <a:spAutoFit/>
          </a:bodyPr>
          <a:lstStyle/>
          <a:p>
            <a:pPr algn="l">
              <a:spcAft>
                <a:spcPts val="800"/>
              </a:spcAft>
            </a:pPr>
            <a:r>
              <a:rPr sz="1600" b="0" i="0" dirty="0">
                <a:solidFill>
                  <a:srgbClr val="2B2B2B"/>
                </a:solidFill>
                <a:latin typeface="Calibri"/>
              </a:rPr>
              <a:t>f = αf₁ + βf₂, Ω = Ω₁ ∩ Ω₂; GPL-3 Python library with notebooks for every figure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Discussion: limitations the authors name</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39</a:t>
            </a:r>
          </a:p>
        </p:txBody>
      </p:sp>
      <p:sp>
        <p:nvSpPr>
          <p:cNvPr id="6" name="Rounded Rectangle 5"/>
          <p:cNvSpPr/>
          <p:nvPr/>
        </p:nvSpPr>
        <p:spPr>
          <a:xfrm>
            <a:off x="548640" y="1371600"/>
            <a:ext cx="11091672" cy="448056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1609344"/>
            <a:ext cx="384048" cy="384048"/>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a:t>
            </a:r>
          </a:p>
        </p:txBody>
      </p:sp>
      <p:sp>
        <p:nvSpPr>
          <p:cNvPr id="8" name="TextBox 7"/>
          <p:cNvSpPr txBox="1"/>
          <p:nvPr/>
        </p:nvSpPr>
        <p:spPr>
          <a:xfrm>
            <a:off x="1325880" y="1536192"/>
            <a:ext cx="2377440" cy="566928"/>
          </a:xfrm>
          <a:prstGeom prst="rect">
            <a:avLst/>
          </a:prstGeom>
          <a:noFill/>
        </p:spPr>
        <p:txBody>
          <a:bodyPr wrap="square" lIns="45720" tIns="27432" rIns="45720" bIns="27432" anchor="ctr">
            <a:spAutoFit/>
          </a:bodyPr>
          <a:lstStyle/>
          <a:p>
            <a:pPr algn="l">
              <a:spcAft>
                <a:spcPts val="800"/>
              </a:spcAft>
            </a:pPr>
            <a:r>
              <a:rPr sz="1800" b="1" i="0">
                <a:solidFill>
                  <a:srgbClr val="D55E00"/>
                </a:solidFill>
                <a:latin typeface="Calibri"/>
              </a:rPr>
              <a:t>Scalability</a:t>
            </a:r>
          </a:p>
        </p:txBody>
      </p:sp>
      <p:sp>
        <p:nvSpPr>
          <p:cNvPr id="9" name="TextBox 8"/>
          <p:cNvSpPr txBox="1"/>
          <p:nvPr/>
        </p:nvSpPr>
        <p:spPr>
          <a:xfrm>
            <a:off x="3703320" y="1668845"/>
            <a:ext cx="7818120" cy="301621"/>
          </a:xfrm>
          <a:prstGeom prst="rect">
            <a:avLst/>
          </a:prstGeom>
          <a:noFill/>
        </p:spPr>
        <p:txBody>
          <a:bodyPr wrap="square" lIns="45720" tIns="27432" rIns="45720" bIns="27432" anchor="ctr">
            <a:spAutoFit/>
          </a:bodyPr>
          <a:lstStyle/>
          <a:p>
            <a:pPr algn="l">
              <a:spcAft>
                <a:spcPts val="0"/>
              </a:spcAft>
            </a:pPr>
            <a:r>
              <a:rPr sz="1600" b="0" i="0" dirty="0">
                <a:solidFill>
                  <a:srgbClr val="2B2B2B"/>
                </a:solidFill>
                <a:latin typeface="Calibri"/>
              </a:rPr>
              <a:t>NP-hard; cost grows steeply with samples and PKN size. </a:t>
            </a:r>
          </a:p>
        </p:txBody>
      </p:sp>
      <p:sp>
        <p:nvSpPr>
          <p:cNvPr id="10" name="Oval 9"/>
          <p:cNvSpPr/>
          <p:nvPr/>
        </p:nvSpPr>
        <p:spPr>
          <a:xfrm>
            <a:off x="777240" y="2322576"/>
            <a:ext cx="384048" cy="384048"/>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a:t>
            </a:r>
          </a:p>
        </p:txBody>
      </p:sp>
      <p:sp>
        <p:nvSpPr>
          <p:cNvPr id="11" name="TextBox 10"/>
          <p:cNvSpPr txBox="1"/>
          <p:nvPr/>
        </p:nvSpPr>
        <p:spPr>
          <a:xfrm>
            <a:off x="1325880" y="2249424"/>
            <a:ext cx="2377440" cy="566928"/>
          </a:xfrm>
          <a:prstGeom prst="rect">
            <a:avLst/>
          </a:prstGeom>
          <a:noFill/>
        </p:spPr>
        <p:txBody>
          <a:bodyPr wrap="square" lIns="45720" tIns="27432" rIns="45720" bIns="27432" anchor="ctr">
            <a:spAutoFit/>
          </a:bodyPr>
          <a:lstStyle/>
          <a:p>
            <a:pPr algn="l">
              <a:spcAft>
                <a:spcPts val="800"/>
              </a:spcAft>
            </a:pPr>
            <a:r>
              <a:rPr sz="1800" b="1" i="0">
                <a:solidFill>
                  <a:srgbClr val="D55E00"/>
                </a:solidFill>
                <a:latin typeface="Calibri"/>
              </a:rPr>
              <a:t>Steady state only</a:t>
            </a:r>
          </a:p>
        </p:txBody>
      </p:sp>
      <p:sp>
        <p:nvSpPr>
          <p:cNvPr id="12" name="TextBox 11"/>
          <p:cNvSpPr txBox="1"/>
          <p:nvPr/>
        </p:nvSpPr>
        <p:spPr>
          <a:xfrm>
            <a:off x="3703320" y="2382077"/>
            <a:ext cx="7818120" cy="301621"/>
          </a:xfrm>
          <a:prstGeom prst="rect">
            <a:avLst/>
          </a:prstGeom>
          <a:noFill/>
        </p:spPr>
        <p:txBody>
          <a:bodyPr wrap="square" lIns="45720" tIns="27432" rIns="45720" bIns="27432" anchor="ctr">
            <a:spAutoFit/>
          </a:bodyPr>
          <a:lstStyle/>
          <a:p>
            <a:pPr algn="l">
              <a:spcAft>
                <a:spcPts val="0"/>
              </a:spcAft>
            </a:pPr>
            <a:r>
              <a:rPr sz="1600" b="0" i="0" dirty="0">
                <a:solidFill>
                  <a:srgbClr val="2B2B2B"/>
                </a:solidFill>
                <a:latin typeface="Calibri"/>
              </a:rPr>
              <a:t>flow conservation assumes steady state</a:t>
            </a:r>
          </a:p>
        </p:txBody>
      </p:sp>
      <p:sp>
        <p:nvSpPr>
          <p:cNvPr id="13" name="Oval 12"/>
          <p:cNvSpPr/>
          <p:nvPr/>
        </p:nvSpPr>
        <p:spPr>
          <a:xfrm>
            <a:off x="777240" y="3035808"/>
            <a:ext cx="384048" cy="384048"/>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a:t>
            </a:r>
          </a:p>
        </p:txBody>
      </p:sp>
      <p:sp>
        <p:nvSpPr>
          <p:cNvPr id="14" name="TextBox 13"/>
          <p:cNvSpPr txBox="1"/>
          <p:nvPr/>
        </p:nvSpPr>
        <p:spPr>
          <a:xfrm>
            <a:off x="1325880" y="2962656"/>
            <a:ext cx="2377440" cy="566928"/>
          </a:xfrm>
          <a:prstGeom prst="rect">
            <a:avLst/>
          </a:prstGeom>
          <a:noFill/>
        </p:spPr>
        <p:txBody>
          <a:bodyPr wrap="square" lIns="45720" tIns="27432" rIns="45720" bIns="27432" anchor="ctr">
            <a:spAutoFit/>
          </a:bodyPr>
          <a:lstStyle/>
          <a:p>
            <a:pPr algn="l">
              <a:spcAft>
                <a:spcPts val="800"/>
              </a:spcAft>
            </a:pPr>
            <a:r>
              <a:rPr sz="1800" b="1" i="0">
                <a:solidFill>
                  <a:srgbClr val="D55E00"/>
                </a:solidFill>
                <a:latin typeface="Calibri"/>
              </a:rPr>
              <a:t>λ must be tuned</a:t>
            </a:r>
          </a:p>
        </p:txBody>
      </p:sp>
      <p:sp>
        <p:nvSpPr>
          <p:cNvPr id="15" name="TextBox 14"/>
          <p:cNvSpPr txBox="1"/>
          <p:nvPr/>
        </p:nvSpPr>
        <p:spPr>
          <a:xfrm>
            <a:off x="3703320" y="3095309"/>
            <a:ext cx="7818120" cy="301621"/>
          </a:xfrm>
          <a:prstGeom prst="rect">
            <a:avLst/>
          </a:prstGeom>
          <a:noFill/>
        </p:spPr>
        <p:txBody>
          <a:bodyPr wrap="square" lIns="45720" tIns="27432" rIns="45720" bIns="27432" anchor="ctr">
            <a:spAutoFit/>
          </a:bodyPr>
          <a:lstStyle/>
          <a:p>
            <a:pPr algn="l">
              <a:spcAft>
                <a:spcPts val="0"/>
              </a:spcAft>
            </a:pPr>
            <a:r>
              <a:rPr sz="1600" b="0" i="0" dirty="0">
                <a:solidFill>
                  <a:srgbClr val="2B2B2B"/>
                </a:solidFill>
                <a:latin typeface="Calibri"/>
              </a:rPr>
              <a:t>problem-specific hyperparameter</a:t>
            </a:r>
          </a:p>
        </p:txBody>
      </p:sp>
      <p:sp>
        <p:nvSpPr>
          <p:cNvPr id="16" name="Oval 15"/>
          <p:cNvSpPr/>
          <p:nvPr/>
        </p:nvSpPr>
        <p:spPr>
          <a:xfrm>
            <a:off x="777240" y="3749039"/>
            <a:ext cx="384048" cy="384048"/>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a:t>
            </a:r>
          </a:p>
        </p:txBody>
      </p:sp>
      <p:sp>
        <p:nvSpPr>
          <p:cNvPr id="17" name="TextBox 16"/>
          <p:cNvSpPr txBox="1"/>
          <p:nvPr/>
        </p:nvSpPr>
        <p:spPr>
          <a:xfrm>
            <a:off x="1325880" y="3675887"/>
            <a:ext cx="2377440" cy="566928"/>
          </a:xfrm>
          <a:prstGeom prst="rect">
            <a:avLst/>
          </a:prstGeom>
          <a:noFill/>
        </p:spPr>
        <p:txBody>
          <a:bodyPr wrap="square" lIns="45720" tIns="27432" rIns="45720" bIns="27432" anchor="ctr">
            <a:spAutoFit/>
          </a:bodyPr>
          <a:lstStyle/>
          <a:p>
            <a:pPr algn="l">
              <a:spcAft>
                <a:spcPts val="800"/>
              </a:spcAft>
            </a:pPr>
            <a:r>
              <a:rPr sz="1800" b="1" i="0">
                <a:solidFill>
                  <a:srgbClr val="D55E00"/>
                </a:solidFill>
                <a:latin typeface="Calibri"/>
              </a:rPr>
              <a:t>Shared structure</a:t>
            </a:r>
          </a:p>
        </p:txBody>
      </p:sp>
      <p:sp>
        <p:nvSpPr>
          <p:cNvPr id="18" name="TextBox 17"/>
          <p:cNvSpPr txBox="1"/>
          <p:nvPr/>
        </p:nvSpPr>
        <p:spPr>
          <a:xfrm>
            <a:off x="3703320" y="3675887"/>
            <a:ext cx="7818120" cy="566928"/>
          </a:xfrm>
          <a:prstGeom prst="rect">
            <a:avLst/>
          </a:prstGeom>
          <a:noFill/>
        </p:spPr>
        <p:txBody>
          <a:bodyPr wrap="square" lIns="45720" tIns="27432" rIns="45720" bIns="27432" anchor="ctr">
            <a:spAutoFit/>
          </a:bodyPr>
          <a:lstStyle/>
          <a:p>
            <a:pPr algn="l">
              <a:spcAft>
                <a:spcPts val="0"/>
              </a:spcAft>
            </a:pPr>
            <a:r>
              <a:rPr sz="1600" b="0" i="0" dirty="0">
                <a:solidFill>
                  <a:srgbClr val="2B2B2B"/>
                </a:solidFill>
                <a:latin typeface="Calibri"/>
              </a:rPr>
              <a:t>the penalty assumes samples share network structure (same organism, related patients, same perturbation)</a:t>
            </a:r>
          </a:p>
        </p:txBody>
      </p:sp>
      <p:sp>
        <p:nvSpPr>
          <p:cNvPr id="19" name="Oval 18"/>
          <p:cNvSpPr/>
          <p:nvPr/>
        </p:nvSpPr>
        <p:spPr>
          <a:xfrm>
            <a:off x="777240" y="4462272"/>
            <a:ext cx="384048" cy="384048"/>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a:t>
            </a:r>
          </a:p>
        </p:txBody>
      </p:sp>
      <p:sp>
        <p:nvSpPr>
          <p:cNvPr id="20" name="TextBox 19"/>
          <p:cNvSpPr txBox="1"/>
          <p:nvPr/>
        </p:nvSpPr>
        <p:spPr>
          <a:xfrm>
            <a:off x="1325880" y="4389120"/>
            <a:ext cx="2377440" cy="566928"/>
          </a:xfrm>
          <a:prstGeom prst="rect">
            <a:avLst/>
          </a:prstGeom>
          <a:noFill/>
        </p:spPr>
        <p:txBody>
          <a:bodyPr wrap="square" lIns="45720" tIns="27432" rIns="45720" bIns="27432" anchor="ctr">
            <a:spAutoFit/>
          </a:bodyPr>
          <a:lstStyle/>
          <a:p>
            <a:pPr algn="l">
              <a:spcAft>
                <a:spcPts val="800"/>
              </a:spcAft>
            </a:pPr>
            <a:r>
              <a:rPr sz="1800" b="1" i="0">
                <a:solidFill>
                  <a:srgbClr val="D55E00"/>
                </a:solidFill>
                <a:latin typeface="Calibri"/>
              </a:rPr>
              <a:t>Multi-layer</a:t>
            </a:r>
          </a:p>
        </p:txBody>
      </p:sp>
      <p:sp>
        <p:nvSpPr>
          <p:cNvPr id="21" name="TextBox 20"/>
          <p:cNvSpPr txBox="1"/>
          <p:nvPr/>
        </p:nvSpPr>
        <p:spPr>
          <a:xfrm>
            <a:off x="3703320" y="4389120"/>
            <a:ext cx="7818120" cy="566928"/>
          </a:xfrm>
          <a:prstGeom prst="rect">
            <a:avLst/>
          </a:prstGeom>
          <a:noFill/>
        </p:spPr>
        <p:txBody>
          <a:bodyPr wrap="square" lIns="45720" tIns="27432" rIns="45720" bIns="27432" anchor="ctr">
            <a:spAutoFit/>
          </a:bodyPr>
          <a:lstStyle/>
          <a:p>
            <a:pPr algn="l">
              <a:spcAft>
                <a:spcPts val="0"/>
              </a:spcAft>
            </a:pPr>
            <a:r>
              <a:rPr sz="1600" b="0" i="0" dirty="0">
                <a:solidFill>
                  <a:srgbClr val="2B2B2B"/>
                </a:solidFill>
                <a:latin typeface="Calibri"/>
              </a:rPr>
              <a:t>joint </a:t>
            </a:r>
            <a:r>
              <a:rPr sz="1600" b="0" i="0" dirty="0" err="1">
                <a:solidFill>
                  <a:srgbClr val="2B2B2B"/>
                </a:solidFill>
                <a:latin typeface="Calibri"/>
              </a:rPr>
              <a:t>signalling</a:t>
            </a:r>
            <a:r>
              <a:rPr sz="1600" b="0" i="0" dirty="0">
                <a:solidFill>
                  <a:srgbClr val="2B2B2B"/>
                </a:solidFill>
                <a:latin typeface="Calibri"/>
              </a:rPr>
              <a:t> + gene regulation + metabolism is proposed, not demonstrated</a:t>
            </a:r>
          </a:p>
        </p:txBody>
      </p:sp>
      <p:sp>
        <p:nvSpPr>
          <p:cNvPr id="22" name="Oval 21"/>
          <p:cNvSpPr/>
          <p:nvPr/>
        </p:nvSpPr>
        <p:spPr>
          <a:xfrm>
            <a:off x="777240" y="5175504"/>
            <a:ext cx="384048" cy="384048"/>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a:t>
            </a:r>
          </a:p>
        </p:txBody>
      </p:sp>
      <p:sp>
        <p:nvSpPr>
          <p:cNvPr id="23" name="TextBox 22"/>
          <p:cNvSpPr txBox="1"/>
          <p:nvPr/>
        </p:nvSpPr>
        <p:spPr>
          <a:xfrm>
            <a:off x="1325880" y="5102352"/>
            <a:ext cx="2377440" cy="566928"/>
          </a:xfrm>
          <a:prstGeom prst="rect">
            <a:avLst/>
          </a:prstGeom>
          <a:noFill/>
        </p:spPr>
        <p:txBody>
          <a:bodyPr wrap="square" lIns="45720" tIns="27432" rIns="45720" bIns="27432" anchor="ctr">
            <a:spAutoFit/>
          </a:bodyPr>
          <a:lstStyle/>
          <a:p>
            <a:pPr algn="l">
              <a:spcAft>
                <a:spcPts val="800"/>
              </a:spcAft>
            </a:pPr>
            <a:r>
              <a:rPr sz="1800" b="1" i="0">
                <a:solidFill>
                  <a:srgbClr val="D55E00"/>
                </a:solidFill>
                <a:latin typeface="Calibri"/>
              </a:rPr>
              <a:t>Non-uniqueness</a:t>
            </a:r>
          </a:p>
        </p:txBody>
      </p:sp>
      <p:sp>
        <p:nvSpPr>
          <p:cNvPr id="24" name="TextBox 23"/>
          <p:cNvSpPr txBox="1"/>
          <p:nvPr/>
        </p:nvSpPr>
        <p:spPr>
          <a:xfrm>
            <a:off x="3703320" y="5102352"/>
            <a:ext cx="7818120" cy="566928"/>
          </a:xfrm>
          <a:prstGeom prst="rect">
            <a:avLst/>
          </a:prstGeom>
          <a:noFill/>
        </p:spPr>
        <p:txBody>
          <a:bodyPr wrap="square" lIns="45720" tIns="27432" rIns="45720" bIns="27432" anchor="ctr">
            <a:spAutoFit/>
          </a:bodyPr>
          <a:lstStyle/>
          <a:p>
            <a:pPr algn="l">
              <a:spcAft>
                <a:spcPts val="0"/>
              </a:spcAft>
            </a:pPr>
            <a:r>
              <a:rPr sz="1600" b="0" i="0" dirty="0">
                <a:solidFill>
                  <a:srgbClr val="2B2B2B"/>
                </a:solidFill>
                <a:latin typeface="Calibri"/>
              </a:rPr>
              <a:t>several networks fit equally well: 30 seeds, keep edges in ≥ 50% (Fig. 5c)</a:t>
            </a:r>
          </a:p>
        </p:txBody>
      </p:sp>
      <p:sp>
        <p:nvSpPr>
          <p:cNvPr id="25" name="TextBox 24"/>
          <p:cNvSpPr txBox="1"/>
          <p:nvPr/>
        </p:nvSpPr>
        <p:spPr>
          <a:xfrm>
            <a:off x="548640" y="5897880"/>
            <a:ext cx="11091672" cy="365760"/>
          </a:xfrm>
          <a:prstGeom prst="rect">
            <a:avLst/>
          </a:prstGeom>
          <a:noFill/>
        </p:spPr>
        <p:txBody>
          <a:bodyPr wrap="square" lIns="45720" tIns="27432" rIns="45720" bIns="27432" anchor="t">
            <a:spAutoFit/>
          </a:bodyPr>
          <a:lstStyle/>
          <a:p>
            <a:pPr algn="r">
              <a:spcAft>
                <a:spcPts val="800"/>
              </a:spcAft>
            </a:pPr>
            <a:r>
              <a:rPr sz="1200" b="0" i="0">
                <a:solidFill>
                  <a:srgbClr val="6B7280"/>
                </a:solidFill>
                <a:latin typeface="Calibri"/>
              </a:rPr>
              <a:t>Discussion section of the paper and Fig. 5c</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Discussion: a critical reading</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40</a:t>
            </a:r>
          </a:p>
        </p:txBody>
      </p:sp>
      <p:graphicFrame>
        <p:nvGraphicFramePr>
          <p:cNvPr id="6" name="Table 5"/>
          <p:cNvGraphicFramePr>
            <a:graphicFrameLocks noGrp="1"/>
          </p:cNvGraphicFramePr>
          <p:nvPr/>
        </p:nvGraphicFramePr>
        <p:xfrm>
          <a:off x="548640" y="1371600"/>
          <a:ext cx="11091672" cy="438912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627017">
                <a:tc>
                  <a:txBody>
                    <a:bodyPr/>
                    <a:lstStyle/>
                    <a:p>
                      <a:r>
                        <a:rPr sz="1600" b="1">
                          <a:solidFill>
                            <a:srgbClr val="FFFFFF"/>
                          </a:solidFill>
                          <a:latin typeface="Calibri"/>
                        </a:rPr>
                        <a:t>Claim in the paper</a:t>
                      </a:r>
                    </a:p>
                  </a:txBody>
                  <a:tcPr marL="109728" marR="109728" marT="54864" marB="54864" anchor="ctr">
                    <a:solidFill>
                      <a:srgbClr val="1F2A44"/>
                    </a:solidFill>
                  </a:tcPr>
                </a:tc>
                <a:tc>
                  <a:txBody>
                    <a:bodyPr/>
                    <a:lstStyle/>
                    <a:p>
                      <a:r>
                        <a:rPr sz="1600" b="1">
                          <a:solidFill>
                            <a:srgbClr val="FFFFFF"/>
                          </a:solidFill>
                          <a:latin typeface="Calibri"/>
                        </a:rPr>
                        <a:t>Caveat (our reading)</a:t>
                      </a:r>
                    </a:p>
                  </a:txBody>
                  <a:tcPr marL="109728" marR="109728" marT="54864" marB="54864" anchor="ctr">
                    <a:solidFill>
                      <a:srgbClr val="1F2A44"/>
                    </a:solidFill>
                  </a:tcPr>
                </a:tc>
                <a:extLst>
                  <a:ext uri="{0D108BD9-81ED-4DB2-BD59-A6C34878D82A}">
                    <a16:rowId xmlns:a16="http://schemas.microsoft.com/office/drawing/2014/main" val="10000"/>
                  </a:ext>
                </a:extLst>
              </a:tr>
              <a:tr h="627017">
                <a:tc>
                  <a:txBody>
                    <a:bodyPr/>
                    <a:lstStyle/>
                    <a:p>
                      <a:r>
                        <a:rPr sz="1500" b="0">
                          <a:solidFill>
                            <a:srgbClr val="1F2A44"/>
                          </a:solidFill>
                          <a:latin typeface="Calibri"/>
                        </a:rPr>
                        <a:t>Multi-sample sFBA gives smaller networks</a:t>
                      </a:r>
                    </a:p>
                  </a:txBody>
                  <a:tcPr marL="109728" marR="109728" marT="54864" marB="54864" anchor="ctr">
                    <a:solidFill>
                      <a:srgbClr val="FFFFFF"/>
                    </a:solidFill>
                  </a:tcPr>
                </a:tc>
                <a:tc>
                  <a:txBody>
                    <a:bodyPr/>
                    <a:lstStyle/>
                    <a:p>
                      <a:r>
                        <a:rPr sz="1500" b="0">
                          <a:solidFill>
                            <a:srgbClr val="2B2B2B"/>
                          </a:solidFill>
                          <a:latin typeface="Calibri"/>
                        </a:rPr>
                        <a:t>simulated knockouts of the same model; smaller is not shown to be more correct</a:t>
                      </a:r>
                    </a:p>
                  </a:txBody>
                  <a:tcPr marL="109728" marR="109728" marT="54864" marB="54864" anchor="ctr">
                    <a:solidFill>
                      <a:srgbClr val="FFFFFF"/>
                    </a:solidFill>
                  </a:tcPr>
                </a:tc>
                <a:extLst>
                  <a:ext uri="{0D108BD9-81ED-4DB2-BD59-A6C34878D82A}">
                    <a16:rowId xmlns:a16="http://schemas.microsoft.com/office/drawing/2014/main" val="10001"/>
                  </a:ext>
                </a:extLst>
              </a:tr>
              <a:tr h="627017">
                <a:tc>
                  <a:txBody>
                    <a:bodyPr/>
                    <a:lstStyle/>
                    <a:p>
                      <a:r>
                        <a:rPr sz="1500" b="0">
                          <a:solidFill>
                            <a:srgbClr val="1F2A44"/>
                          </a:solidFill>
                          <a:latin typeface="Calibri"/>
                        </a:rPr>
                        <a:t>iMAT precision +29.6%, F1 +6.6%</a:t>
                      </a:r>
                    </a:p>
                  </a:txBody>
                  <a:tcPr marL="109728" marR="109728" marT="54864" marB="54864" anchor="ctr">
                    <a:solidFill>
                      <a:srgbClr val="F3F4F6"/>
                    </a:solidFill>
                  </a:tcPr>
                </a:tc>
                <a:tc>
                  <a:txBody>
                    <a:bodyPr/>
                    <a:lstStyle/>
                    <a:p>
                      <a:r>
                        <a:rPr sz="1500" b="0">
                          <a:solidFill>
                            <a:srgbClr val="2B2B2B"/>
                          </a:solidFill>
                          <a:latin typeface="Calibri"/>
                        </a:rPr>
                        <a:t>cross-validation on held-out reaction scores from the same data; recall −8.6%</a:t>
                      </a:r>
                    </a:p>
                  </a:txBody>
                  <a:tcPr marL="109728" marR="109728" marT="54864" marB="54864" anchor="ctr">
                    <a:solidFill>
                      <a:srgbClr val="F3F4F6"/>
                    </a:solidFill>
                  </a:tcPr>
                </a:tc>
                <a:extLst>
                  <a:ext uri="{0D108BD9-81ED-4DB2-BD59-A6C34878D82A}">
                    <a16:rowId xmlns:a16="http://schemas.microsoft.com/office/drawing/2014/main" val="10002"/>
                  </a:ext>
                </a:extLst>
              </a:tr>
              <a:tr h="627017">
                <a:tc>
                  <a:txBody>
                    <a:bodyPr/>
                    <a:lstStyle/>
                    <a:p>
                      <a:r>
                        <a:rPr sz="1500" b="0">
                          <a:solidFill>
                            <a:srgbClr val="1F2A44"/>
                          </a:solidFill>
                          <a:latin typeface="Calibri"/>
                        </a:rPr>
                        <a:t>More kinase-supported shared CARNIVAL edges</a:t>
                      </a:r>
                    </a:p>
                  </a:txBody>
                  <a:tcPr marL="109728" marR="109728" marT="54864" marB="54864" anchor="ctr">
                    <a:solidFill>
                      <a:srgbClr val="FFFFFF"/>
                    </a:solidFill>
                  </a:tcPr>
                </a:tc>
                <a:tc>
                  <a:txBody>
                    <a:bodyPr/>
                    <a:lstStyle/>
                    <a:p>
                      <a:r>
                        <a:rPr sz="1500" b="0">
                          <a:solidFill>
                            <a:srgbClr val="2B2B2B"/>
                          </a:solidFill>
                          <a:latin typeface="Calibri"/>
                        </a:rPr>
                        <a:t>proxy validation: kinase activities are inferred too; proportions stay below ~3% (Fig. 5b)</a:t>
                      </a:r>
                    </a:p>
                  </a:txBody>
                  <a:tcPr marL="109728" marR="109728" marT="54864" marB="54864" anchor="ctr">
                    <a:solidFill>
                      <a:srgbClr val="FFFFFF"/>
                    </a:solidFill>
                  </a:tcPr>
                </a:tc>
                <a:extLst>
                  <a:ext uri="{0D108BD9-81ED-4DB2-BD59-A6C34878D82A}">
                    <a16:rowId xmlns:a16="http://schemas.microsoft.com/office/drawing/2014/main" val="10003"/>
                  </a:ext>
                </a:extLst>
              </a:tr>
              <a:tr h="627017">
                <a:tc>
                  <a:txBody>
                    <a:bodyPr/>
                    <a:lstStyle/>
                    <a:p>
                      <a:r>
                        <a:rPr sz="1500" b="0">
                          <a:solidFill>
                            <a:srgbClr val="1F2A44"/>
                          </a:solidFill>
                          <a:latin typeface="Calibri"/>
                        </a:rPr>
                        <a:t>Joint inference beats single-sample</a:t>
                      </a:r>
                    </a:p>
                  </a:txBody>
                  <a:tcPr marL="109728" marR="109728" marT="54864" marB="54864" anchor="ctr">
                    <a:solidFill>
                      <a:srgbClr val="F3F4F6"/>
                    </a:solidFill>
                  </a:tcPr>
                </a:tc>
                <a:tc>
                  <a:txBody>
                    <a:bodyPr/>
                    <a:lstStyle/>
                    <a:p>
                      <a:r>
                        <a:rPr sz="1500" b="0">
                          <a:solidFill>
                            <a:srgbClr val="2B2B2B"/>
                          </a:solidFill>
                          <a:latin typeface="Calibri"/>
                        </a:rPr>
                        <a:t>main-text benchmarks compare CORNETO with itself; no rewired-PKN or label-permutation nulls</a:t>
                      </a:r>
                    </a:p>
                  </a:txBody>
                  <a:tcPr marL="109728" marR="109728" marT="54864" marB="54864" anchor="ctr">
                    <a:solidFill>
                      <a:srgbClr val="F3F4F6"/>
                    </a:solidFill>
                  </a:tcPr>
                </a:tc>
                <a:extLst>
                  <a:ext uri="{0D108BD9-81ED-4DB2-BD59-A6C34878D82A}">
                    <a16:rowId xmlns:a16="http://schemas.microsoft.com/office/drawing/2014/main" val="10004"/>
                  </a:ext>
                </a:extLst>
              </a:tr>
              <a:tr h="627017">
                <a:tc>
                  <a:txBody>
                    <a:bodyPr/>
                    <a:lstStyle/>
                    <a:p>
                      <a:r>
                        <a:rPr sz="1500" b="0">
                          <a:solidFill>
                            <a:srgbClr val="1F2A44"/>
                          </a:solidFill>
                          <a:latin typeface="Calibri"/>
                        </a:rPr>
                        <a:t>Data mapped onto the PKN</a:t>
                      </a:r>
                    </a:p>
                  </a:txBody>
                  <a:tcPr marL="109728" marR="109728" marT="54864" marB="54864" anchor="ctr">
                    <a:solidFill>
                      <a:srgbClr val="FFFFFF"/>
                    </a:solidFill>
                  </a:tcPr>
                </a:tc>
                <a:tc>
                  <a:txBody>
                    <a:bodyPr/>
                    <a:lstStyle/>
                    <a:p>
                      <a:r>
                        <a:rPr sz="1500" b="0">
                          <a:solidFill>
                            <a:srgbClr val="2B2B2B"/>
                          </a:solidFill>
                          <a:latin typeface="Calibri"/>
                        </a:rPr>
                        <a:t>inputs (TF activities, reaction scores) are model outputs; their uncertainty is not propagated</a:t>
                      </a:r>
                    </a:p>
                  </a:txBody>
                  <a:tcPr marL="109728" marR="109728" marT="54864" marB="54864" anchor="ctr">
                    <a:solidFill>
                      <a:srgbClr val="FFFFFF"/>
                    </a:solidFill>
                  </a:tcPr>
                </a:tc>
                <a:extLst>
                  <a:ext uri="{0D108BD9-81ED-4DB2-BD59-A6C34878D82A}">
                    <a16:rowId xmlns:a16="http://schemas.microsoft.com/office/drawing/2014/main" val="10005"/>
                  </a:ext>
                </a:extLst>
              </a:tr>
              <a:tr h="627018">
                <a:tc>
                  <a:txBody>
                    <a:bodyPr/>
                    <a:lstStyle/>
                    <a:p>
                      <a:r>
                        <a:rPr sz="1500" b="0">
                          <a:solidFill>
                            <a:srgbClr val="1F2A44"/>
                          </a:solidFill>
                          <a:latin typeface="Calibri"/>
                        </a:rPr>
                        <a:t>NP-hard, solver-agnostic</a:t>
                      </a:r>
                    </a:p>
                  </a:txBody>
                  <a:tcPr marL="109728" marR="109728" marT="54864" marB="54864" anchor="ctr">
                    <a:solidFill>
                      <a:srgbClr val="F3F4F6"/>
                    </a:solidFill>
                  </a:tcPr>
                </a:tc>
                <a:tc>
                  <a:txBody>
                    <a:bodyPr/>
                    <a:lstStyle/>
                    <a:p>
                      <a:r>
                        <a:rPr sz="1500" b="0">
                          <a:solidFill>
                            <a:srgbClr val="2B2B2B"/>
                          </a:solidFill>
                          <a:latin typeface="Calibri"/>
                        </a:rPr>
                        <a:t>no run-time or scaling numbers in the main text</a:t>
                      </a:r>
                    </a:p>
                  </a:txBody>
                  <a:tcPr marL="109728" marR="109728" marT="54864" marB="54864" anchor="ctr">
                    <a:solidFill>
                      <a:srgbClr val="F3F4F6"/>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48640" y="5897880"/>
            <a:ext cx="11091672" cy="365760"/>
          </a:xfrm>
          <a:prstGeom prst="rect">
            <a:avLst/>
          </a:prstGeom>
          <a:noFill/>
        </p:spPr>
        <p:txBody>
          <a:bodyPr wrap="square" lIns="45720" tIns="27432" rIns="45720" bIns="27432" anchor="t">
            <a:spAutoFit/>
          </a:bodyPr>
          <a:lstStyle/>
          <a:p>
            <a:pPr algn="r">
              <a:spcAft>
                <a:spcPts val="800"/>
              </a:spcAft>
            </a:pPr>
            <a:r>
              <a:rPr sz="1200" b="0" i="0">
                <a:solidFill>
                  <a:srgbClr val="6B7280"/>
                </a:solidFill>
                <a:latin typeface="Calibri"/>
              </a:rPr>
              <a:t>Right column: our assessment, not statements from the paper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For discussion</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41</a:t>
            </a:r>
          </a:p>
        </p:txBody>
      </p:sp>
      <p:sp>
        <p:nvSpPr>
          <p:cNvPr id="6" name="Oval 5"/>
          <p:cNvSpPr/>
          <p:nvPr/>
        </p:nvSpPr>
        <p:spPr>
          <a:xfrm>
            <a:off x="768095" y="1728216"/>
            <a:ext cx="566928" cy="566928"/>
          </a:xfrm>
          <a:prstGeom prst="ellipse">
            <a:avLst/>
          </a:prstGeom>
          <a:solidFill>
            <a:srgbClr val="0072B2"/>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1</a:t>
            </a:r>
          </a:p>
        </p:txBody>
      </p:sp>
      <p:sp>
        <p:nvSpPr>
          <p:cNvPr id="7" name="TextBox 6"/>
          <p:cNvSpPr txBox="1"/>
          <p:nvPr/>
        </p:nvSpPr>
        <p:spPr>
          <a:xfrm>
            <a:off x="1600200" y="1600200"/>
            <a:ext cx="9966960" cy="868680"/>
          </a:xfrm>
          <a:prstGeom prst="rect">
            <a:avLst/>
          </a:prstGeom>
          <a:noFill/>
        </p:spPr>
        <p:txBody>
          <a:bodyPr wrap="square" lIns="45720" tIns="27432" rIns="45720" bIns="27432" anchor="ctr"/>
          <a:lstStyle/>
          <a:p>
            <a:pPr algn="l">
              <a:spcAft>
                <a:spcPts val="800"/>
              </a:spcAft>
            </a:pPr>
            <a:r>
              <a:rPr sz="2000" b="0" i="0">
                <a:solidFill>
                  <a:srgbClr val="2B2B2B"/>
                </a:solidFill>
                <a:latin typeface="Calibri"/>
              </a:rPr>
              <a:t>How should λ be chosen when there is no ground truth?</a:t>
            </a:r>
          </a:p>
        </p:txBody>
      </p:sp>
      <p:sp>
        <p:nvSpPr>
          <p:cNvPr id="8" name="Oval 7"/>
          <p:cNvSpPr/>
          <p:nvPr/>
        </p:nvSpPr>
        <p:spPr>
          <a:xfrm>
            <a:off x="768095" y="3099816"/>
            <a:ext cx="566928" cy="566928"/>
          </a:xfrm>
          <a:prstGeom prst="ellipse">
            <a:avLst/>
          </a:prstGeom>
          <a:solidFill>
            <a:srgbClr val="0072B2"/>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2</a:t>
            </a:r>
          </a:p>
        </p:txBody>
      </p:sp>
      <p:sp>
        <p:nvSpPr>
          <p:cNvPr id="9" name="TextBox 8"/>
          <p:cNvSpPr txBox="1"/>
          <p:nvPr/>
        </p:nvSpPr>
        <p:spPr>
          <a:xfrm>
            <a:off x="1600200" y="2971800"/>
            <a:ext cx="9966960" cy="868680"/>
          </a:xfrm>
          <a:prstGeom prst="rect">
            <a:avLst/>
          </a:prstGeom>
          <a:noFill/>
        </p:spPr>
        <p:txBody>
          <a:bodyPr wrap="square" lIns="45720" tIns="27432" rIns="45720" bIns="27432" anchor="ctr"/>
          <a:lstStyle/>
          <a:p>
            <a:pPr algn="l">
              <a:spcAft>
                <a:spcPts val="800"/>
              </a:spcAft>
            </a:pPr>
            <a:r>
              <a:rPr sz="2000" b="0" i="0" dirty="0">
                <a:solidFill>
                  <a:srgbClr val="2B2B2B"/>
                </a:solidFill>
                <a:latin typeface="Calibri"/>
              </a:rPr>
              <a:t>When is 'samples share structure' wrong</a:t>
            </a:r>
            <a:r>
              <a:rPr lang="en-US" sz="2000" dirty="0">
                <a:solidFill>
                  <a:srgbClr val="2B2B2B"/>
                </a:solidFill>
                <a:latin typeface="Calibri"/>
              </a:rPr>
              <a:t>?</a:t>
            </a:r>
            <a:endParaRPr sz="2000" b="0" i="0" dirty="0">
              <a:solidFill>
                <a:srgbClr val="2B2B2B"/>
              </a:solidFill>
              <a:latin typeface="Calibri"/>
            </a:endParaRPr>
          </a:p>
        </p:txBody>
      </p:sp>
      <p:sp>
        <p:nvSpPr>
          <p:cNvPr id="10" name="Oval 9"/>
          <p:cNvSpPr/>
          <p:nvPr/>
        </p:nvSpPr>
        <p:spPr>
          <a:xfrm>
            <a:off x="768095" y="4471416"/>
            <a:ext cx="566928" cy="566928"/>
          </a:xfrm>
          <a:prstGeom prst="ellipse">
            <a:avLst/>
          </a:prstGeom>
          <a:solidFill>
            <a:srgbClr val="0072B2"/>
          </a:solidFill>
          <a:ln w="19050">
            <a:solidFill>
              <a:srgbClr val="0072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0">
                <a:solidFill>
                  <a:srgbClr val="FFFFFF"/>
                </a:solidFill>
                <a:latin typeface="Calibri"/>
              </a:rPr>
              <a:t>3</a:t>
            </a:r>
          </a:p>
        </p:txBody>
      </p:sp>
      <p:sp>
        <p:nvSpPr>
          <p:cNvPr id="11" name="TextBox 10"/>
          <p:cNvSpPr txBox="1"/>
          <p:nvPr/>
        </p:nvSpPr>
        <p:spPr>
          <a:xfrm>
            <a:off x="1600200" y="4343400"/>
            <a:ext cx="9966960" cy="868680"/>
          </a:xfrm>
          <a:prstGeom prst="rect">
            <a:avLst/>
          </a:prstGeom>
          <a:noFill/>
        </p:spPr>
        <p:txBody>
          <a:bodyPr wrap="square" lIns="45720" tIns="27432" rIns="45720" bIns="27432" anchor="ctr"/>
          <a:lstStyle/>
          <a:p>
            <a:pPr algn="l">
              <a:spcAft>
                <a:spcPts val="800"/>
              </a:spcAft>
            </a:pPr>
            <a:r>
              <a:rPr sz="2000" b="0" i="0">
                <a:solidFill>
                  <a:srgbClr val="2B2B2B"/>
                </a:solidFill>
                <a:latin typeface="Calibri"/>
              </a:rPr>
              <a:t>Can signalling, gene regulation and metabolism be solved as one joint problem?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lstStyle/>
          <a:p>
            <a:pPr algn="l">
              <a:spcAft>
                <a:spcPts val="800"/>
              </a:spcAft>
            </a:pPr>
            <a:r>
              <a:rPr sz="3200" b="0" i="0">
                <a:solidFill>
                  <a:srgbClr val="1F2A44"/>
                </a:solidFill>
                <a:latin typeface="Calibri Light"/>
              </a:rPr>
              <a:t>References</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lstStyle/>
          <a:p>
            <a:pPr algn="l">
              <a:spcAft>
                <a:spcPts val="800"/>
              </a:spcAft>
            </a:pPr>
            <a:r>
              <a:rPr sz="1200" b="0" i="0">
                <a:solidFill>
                  <a:srgbClr val="6B7280"/>
                </a:solidFill>
                <a:latin typeface="Calibri"/>
              </a:rPr>
              <a:t>Rodriguez-Mier, Garrido-Rodriguez, Gabor &amp; Saez-Rodriguez, Nat Mach Intell 7:1168 (2025)</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lstStyle/>
          <a:p>
            <a:pPr algn="r">
              <a:spcAft>
                <a:spcPts val="800"/>
              </a:spcAft>
            </a:pPr>
            <a:r>
              <a:rPr sz="1200" b="0" i="0">
                <a:solidFill>
                  <a:srgbClr val="6B7280"/>
                </a:solidFill>
                <a:latin typeface="Calibri"/>
              </a:rPr>
              <a:t>42</a:t>
            </a:r>
          </a:p>
        </p:txBody>
      </p:sp>
      <p:sp>
        <p:nvSpPr>
          <p:cNvPr id="6" name="TextBox 5"/>
          <p:cNvSpPr txBox="1"/>
          <p:nvPr/>
        </p:nvSpPr>
        <p:spPr>
          <a:xfrm>
            <a:off x="548640" y="1371600"/>
            <a:ext cx="11064240" cy="4846320"/>
          </a:xfrm>
          <a:prstGeom prst="rect">
            <a:avLst/>
          </a:prstGeom>
          <a:noFill/>
        </p:spPr>
        <p:txBody>
          <a:bodyPr wrap="square" lIns="45720" tIns="27432" rIns="45720" bIns="27432" anchor="t"/>
          <a:lstStyle/>
          <a:p>
            <a:pPr algn="l">
              <a:spcAft>
                <a:spcPts val="600"/>
              </a:spcAft>
            </a:pPr>
            <a:r>
              <a:rPr sz="1200" b="0" i="0">
                <a:solidFill>
                  <a:srgbClr val="2B2B2B"/>
                </a:solidFill>
                <a:latin typeface="Calibri"/>
              </a:rPr>
              <a:t>Rodriguez-Mier P, Garrido-Rodriguez M, Gabor A, Saez-Rodriguez J. Unifying multi-sample network inference from prior knowledge and omics data with CORNETO. Nat Mach Intell 7, 1168–1186 (2025). Figures reused under CC BY 4.0.</a:t>
            </a:r>
          </a:p>
          <a:p>
            <a:pPr algn="l">
              <a:spcAft>
                <a:spcPts val="600"/>
              </a:spcAft>
            </a:pPr>
            <a:r>
              <a:rPr sz="1200" b="0" i="0">
                <a:solidFill>
                  <a:srgbClr val="2B2B2B"/>
                </a:solidFill>
                <a:latin typeface="Calibri"/>
              </a:rPr>
              <a:t>Liu A et al. From expression footprints to causal pathways: contextualizing large signaling networks with CARNIVAL. NPJ Syst Biol Appl 5, 40 (2019).</a:t>
            </a:r>
          </a:p>
          <a:p>
            <a:pPr algn="l">
              <a:spcAft>
                <a:spcPts val="600"/>
              </a:spcAft>
            </a:pPr>
            <a:r>
              <a:rPr sz="1200" b="0" i="0">
                <a:solidFill>
                  <a:srgbClr val="2B2B2B"/>
                </a:solidFill>
                <a:latin typeface="Calibri"/>
              </a:rPr>
              <a:t>Badia-i-Mompel P et al. decoupleR: ensemble of computational methods to infer biological activities from omics data. Bioinform Adv 2, vbac016 (2022).</a:t>
            </a:r>
          </a:p>
          <a:p>
            <a:pPr algn="l">
              <a:spcAft>
                <a:spcPts val="600"/>
              </a:spcAft>
            </a:pPr>
            <a:r>
              <a:rPr sz="1200" b="0" i="0">
                <a:solidFill>
                  <a:srgbClr val="2B2B2B"/>
                </a:solidFill>
                <a:latin typeface="Calibri"/>
              </a:rPr>
              <a:t>Türei D, Korcsmáros T, Saez-Rodriguez J. OmniPath: guidelines and gateway for literature-curated signaling pathway resources. Nat Methods 13, 966–967 (2016).</a:t>
            </a:r>
          </a:p>
          <a:p>
            <a:pPr algn="l">
              <a:spcAft>
                <a:spcPts val="600"/>
              </a:spcAft>
            </a:pPr>
            <a:r>
              <a:rPr sz="1200" b="0" i="0">
                <a:solidFill>
                  <a:srgbClr val="2B2B2B"/>
                </a:solidFill>
                <a:latin typeface="Calibri"/>
              </a:rPr>
              <a:t>Orth JD, Thiele I, Palsson BØ. What is flux balance analysis? Nat Biotechnol 28, 245–248 (2010).</a:t>
            </a:r>
          </a:p>
          <a:p>
            <a:pPr algn="l">
              <a:spcAft>
                <a:spcPts val="600"/>
              </a:spcAft>
            </a:pPr>
            <a:r>
              <a:rPr sz="1200" b="0" i="0">
                <a:solidFill>
                  <a:srgbClr val="2B2B2B"/>
                </a:solidFill>
                <a:latin typeface="Calibri"/>
              </a:rPr>
              <a:t>Shlomi T et al. Network-based prediction of human tissue-specific metabolism. Nat Biotechnol 26, 1003–1010 (2008).</a:t>
            </a:r>
          </a:p>
          <a:p>
            <a:pPr algn="l">
              <a:spcAft>
                <a:spcPts val="600"/>
              </a:spcAft>
            </a:pPr>
            <a:r>
              <a:rPr sz="1200" b="0" i="0">
                <a:solidFill>
                  <a:srgbClr val="2B2B2B"/>
                </a:solidFill>
                <a:latin typeface="Calibri"/>
              </a:rPr>
              <a:t>Tuncbag N et al. Simultaneous reconstruction of multiple signaling pathways via the prize-collecting Steiner forest problem. J Comput Biol 20, 124–136 (2013).</a:t>
            </a:r>
          </a:p>
          <a:p>
            <a:pPr algn="l">
              <a:spcAft>
                <a:spcPts val="600"/>
              </a:spcAft>
            </a:pPr>
            <a:r>
              <a:rPr sz="1200" b="0" i="0">
                <a:solidFill>
                  <a:srgbClr val="2B2B2B"/>
                </a:solidFill>
                <a:latin typeface="Calibri"/>
              </a:rPr>
              <a:t>Dugourd A et al. Causal integration of multi-omics data with prior knowledge to generate mechanistic hypotheses. Mol Syst Biol 17, e9730 (2021).</a:t>
            </a:r>
          </a:p>
          <a:p>
            <a:pPr algn="l">
              <a:spcAft>
                <a:spcPts val="600"/>
              </a:spcAft>
            </a:pPr>
            <a:r>
              <a:rPr sz="1200" b="0" i="0">
                <a:solidFill>
                  <a:srgbClr val="2B2B2B"/>
                </a:solidFill>
                <a:latin typeface="Calibri"/>
              </a:rPr>
              <a:t>Gillette MA et al. Proteogenomic characterization reveals therapeutic vulnerabilities in lung adenocarcinoma. Cell 182, 200–225 (2020).</a:t>
            </a:r>
          </a:p>
          <a:p>
            <a:pPr algn="l">
              <a:spcAft>
                <a:spcPts val="600"/>
              </a:spcAft>
            </a:pPr>
            <a:r>
              <a:rPr sz="1200" b="0" i="0">
                <a:solidFill>
                  <a:srgbClr val="2B2B2B"/>
                </a:solidFill>
                <a:latin typeface="Calibri"/>
              </a:rPr>
              <a:t>Kemmeren P et al. Large-scale genetic perturbations reveal regulatory networks and an abundance of gene-specific repressors. Cell 157, 740–752 (2014).</a:t>
            </a:r>
          </a:p>
          <a:p>
            <a:pPr algn="l">
              <a:spcAft>
                <a:spcPts val="600"/>
              </a:spcAft>
            </a:pPr>
            <a:r>
              <a:rPr sz="1200" b="0" i="0">
                <a:solidFill>
                  <a:srgbClr val="2B2B2B"/>
                </a:solidFill>
                <a:latin typeface="Calibri"/>
              </a:rPr>
              <a:t>Diosdi A, Theis FJ, Horvath P. Towards 3D-oid models that integrate molecular, morphological and spatial cellular features. Nat Rev Mol Cell Biol (2026), doi:10.1038/s41580-026-01025-4 (appendix).</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56032" cy="6858000"/>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005840"/>
            <a:ext cx="10607040" cy="548640"/>
          </a:xfrm>
          <a:prstGeom prst="rect">
            <a:avLst/>
          </a:prstGeom>
          <a:noFill/>
        </p:spPr>
        <p:txBody>
          <a:bodyPr wrap="square" lIns="45720" tIns="27432" rIns="45720" bIns="27432" anchor="t">
            <a:spAutoFit/>
          </a:bodyPr>
          <a:lstStyle/>
          <a:p>
            <a:pPr algn="l">
              <a:spcAft>
                <a:spcPts val="800"/>
              </a:spcAft>
            </a:pPr>
            <a:r>
              <a:rPr sz="2000" b="1" i="0">
                <a:solidFill>
                  <a:srgbClr val="0072B2"/>
                </a:solidFill>
                <a:latin typeface="Calibri"/>
              </a:rPr>
              <a:t>Appendix</a:t>
            </a:r>
          </a:p>
        </p:txBody>
      </p:sp>
      <p:sp>
        <p:nvSpPr>
          <p:cNvPr id="4" name="TextBox 3"/>
          <p:cNvSpPr txBox="1"/>
          <p:nvPr/>
        </p:nvSpPr>
        <p:spPr>
          <a:xfrm>
            <a:off x="822960" y="1554480"/>
            <a:ext cx="10607040" cy="1828800"/>
          </a:xfrm>
          <a:prstGeom prst="rect">
            <a:avLst/>
          </a:prstGeom>
          <a:noFill/>
        </p:spPr>
        <p:txBody>
          <a:bodyPr wrap="square" lIns="45720" tIns="27432" rIns="45720" bIns="27432" anchor="t">
            <a:spAutoFit/>
          </a:bodyPr>
          <a:lstStyle/>
          <a:p>
            <a:pPr algn="l">
              <a:spcAft>
                <a:spcPts val="800"/>
              </a:spcAft>
            </a:pPr>
            <a:r>
              <a:rPr sz="3200" b="0" i="0">
                <a:solidFill>
                  <a:srgbClr val="1F2A44"/>
                </a:solidFill>
                <a:latin typeface="Calibri Light"/>
              </a:rPr>
              <a:t>Towards 3D-oid models that integrate molecular, morphological and spatial cellular features</a:t>
            </a:r>
          </a:p>
        </p:txBody>
      </p:sp>
      <p:cxnSp>
        <p:nvCxnSpPr>
          <p:cNvPr id="5" name="Connector 4"/>
          <p:cNvCxnSpPr/>
          <p:nvPr/>
        </p:nvCxnSpPr>
        <p:spPr>
          <a:xfrm>
            <a:off x="841248" y="3611880"/>
            <a:ext cx="137160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3840480"/>
            <a:ext cx="10607040" cy="1097280"/>
          </a:xfrm>
          <a:prstGeom prst="rect">
            <a:avLst/>
          </a:prstGeom>
          <a:noFill/>
        </p:spPr>
        <p:txBody>
          <a:bodyPr wrap="square" lIns="45720" tIns="27432" rIns="45720" bIns="27432" anchor="t">
            <a:spAutoFit/>
          </a:bodyPr>
          <a:lstStyle/>
          <a:p>
            <a:pPr algn="l">
              <a:spcAft>
                <a:spcPts val="800"/>
              </a:spcAft>
            </a:pPr>
            <a:r>
              <a:rPr sz="2000" b="0" i="0">
                <a:solidFill>
                  <a:srgbClr val="2B2B2B"/>
                </a:solidFill>
                <a:latin typeface="Calibri"/>
              </a:rPr>
              <a:t>Diosdi, Theis &amp; Horvath</a:t>
            </a:r>
          </a:p>
          <a:p>
            <a:pPr algn="l">
              <a:spcAft>
                <a:spcPts val="800"/>
              </a:spcAft>
            </a:pPr>
            <a:r>
              <a:rPr sz="2000" b="0" i="0">
                <a:solidFill>
                  <a:srgbClr val="6B7280"/>
                </a:solidFill>
                <a:latin typeface="Calibri"/>
              </a:rPr>
              <a:t>Nature Reviews Molecular Cell Biology, Comment, published online 4 September 2026  ·  doi:10.1038/s41580-026-01025-4</a:t>
            </a:r>
          </a:p>
        </p:txBody>
      </p:sp>
      <p:sp>
        <p:nvSpPr>
          <p:cNvPr id="7" name="TextBox 6"/>
          <p:cNvSpPr txBox="1"/>
          <p:nvPr/>
        </p:nvSpPr>
        <p:spPr>
          <a:xfrm>
            <a:off x="822960" y="5760720"/>
            <a:ext cx="10607040" cy="457200"/>
          </a:xfrm>
          <a:prstGeom prst="rect">
            <a:avLst/>
          </a:prstGeom>
          <a:noFill/>
        </p:spPr>
        <p:txBody>
          <a:bodyPr wrap="square" lIns="45720" tIns="27432" rIns="45720" bIns="27432" anchor="t">
            <a:spAutoFit/>
          </a:bodyPr>
          <a:lstStyle/>
          <a:p>
            <a:pPr algn="l">
              <a:spcAft>
                <a:spcPts val="800"/>
              </a:spcAft>
            </a:pPr>
            <a:r>
              <a:rPr sz="2000" b="0" i="0">
                <a:solidFill>
                  <a:srgbClr val="6B7280"/>
                </a:solidFill>
                <a:latin typeface="Calibri"/>
              </a:rPr>
              <a:t>A two-page opinion piece: no new data</a:t>
            </a:r>
          </a:p>
        </p:txBody>
      </p:sp>
      <p:sp>
        <p:nvSpPr>
          <p:cNvPr id="8" name="TextBox 7"/>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43</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A cell = omics + morphology + microenvironment</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Diosdi, Theis &amp; Horvath, Nat Rev Mol Cell Biol (2026)  ·  doi:10.1038/s41580-026-01025-4</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44</a:t>
            </a:r>
          </a:p>
        </p:txBody>
      </p:sp>
      <p:sp>
        <p:nvSpPr>
          <p:cNvPr id="6" name="Oval 5"/>
          <p:cNvSpPr/>
          <p:nvPr/>
        </p:nvSpPr>
        <p:spPr>
          <a:xfrm>
            <a:off x="960120" y="1325880"/>
            <a:ext cx="2651760" cy="2651760"/>
          </a:xfrm>
          <a:prstGeom prst="ellipse">
            <a:avLst/>
          </a:prstGeom>
          <a:solidFill>
            <a:srgbClr val="E3EEF7"/>
          </a:solidFill>
          <a:ln w="25400">
            <a:solidFill>
              <a:srgbClr val="0072B2"/>
            </a:solid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700" b="1">
                <a:solidFill>
                  <a:srgbClr val="1F2A44"/>
                </a:solidFill>
                <a:latin typeface="Calibri"/>
              </a:rPr>
              <a:t>Omics profile</a:t>
            </a:r>
          </a:p>
        </p:txBody>
      </p:sp>
      <p:sp>
        <p:nvSpPr>
          <p:cNvPr id="7" name="TextBox 6"/>
          <p:cNvSpPr txBox="1"/>
          <p:nvPr/>
        </p:nvSpPr>
        <p:spPr>
          <a:xfrm>
            <a:off x="731520" y="4023360"/>
            <a:ext cx="3108960" cy="548640"/>
          </a:xfrm>
          <a:prstGeom prst="rect">
            <a:avLst/>
          </a:prstGeom>
          <a:noFill/>
        </p:spPr>
        <p:txBody>
          <a:bodyPr wrap="square" lIns="45720" tIns="27432" rIns="45720" bIns="27432" anchor="t">
            <a:spAutoFit/>
          </a:bodyPr>
          <a:lstStyle/>
          <a:p>
            <a:pPr algn="ctr">
              <a:spcAft>
                <a:spcPts val="800"/>
              </a:spcAft>
            </a:pPr>
            <a:r>
              <a:rPr sz="1500" b="0" i="0">
                <a:solidFill>
                  <a:srgbClr val="6B7280"/>
                </a:solidFill>
                <a:latin typeface="Calibri"/>
              </a:rPr>
              <a:t>molecule abundance, localisation, interactions, dynamics</a:t>
            </a:r>
          </a:p>
        </p:txBody>
      </p:sp>
      <p:sp>
        <p:nvSpPr>
          <p:cNvPr id="8" name="Oval 7"/>
          <p:cNvSpPr/>
          <p:nvPr/>
        </p:nvSpPr>
        <p:spPr>
          <a:xfrm>
            <a:off x="4572000" y="1325880"/>
            <a:ext cx="2651760" cy="2651760"/>
          </a:xfrm>
          <a:prstGeom prst="ellipse">
            <a:avLst/>
          </a:prstGeom>
          <a:solidFill>
            <a:srgbClr val="FBE3D4"/>
          </a:solidFill>
          <a:ln w="25400">
            <a:solidFill>
              <a:srgbClr val="D55E00"/>
            </a:solid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700" b="1">
                <a:solidFill>
                  <a:srgbClr val="1F2A44"/>
                </a:solidFill>
                <a:latin typeface="Calibri"/>
              </a:rPr>
              <a:t>Morphology</a:t>
            </a:r>
          </a:p>
        </p:txBody>
      </p:sp>
      <p:sp>
        <p:nvSpPr>
          <p:cNvPr id="9" name="TextBox 8"/>
          <p:cNvSpPr txBox="1"/>
          <p:nvPr/>
        </p:nvSpPr>
        <p:spPr>
          <a:xfrm>
            <a:off x="4343400" y="4023360"/>
            <a:ext cx="3108960" cy="548640"/>
          </a:xfrm>
          <a:prstGeom prst="rect">
            <a:avLst/>
          </a:prstGeom>
          <a:noFill/>
        </p:spPr>
        <p:txBody>
          <a:bodyPr wrap="square" lIns="45720" tIns="27432" rIns="45720" bIns="27432" anchor="t">
            <a:spAutoFit/>
          </a:bodyPr>
          <a:lstStyle/>
          <a:p>
            <a:pPr algn="ctr">
              <a:spcAft>
                <a:spcPts val="800"/>
              </a:spcAft>
            </a:pPr>
            <a:r>
              <a:rPr sz="1500" b="0" i="0">
                <a:solidFill>
                  <a:srgbClr val="6B7280"/>
                </a:solidFill>
                <a:latin typeface="Calibri"/>
              </a:rPr>
              <a:t>3D shape and phenotype from imaging</a:t>
            </a:r>
          </a:p>
        </p:txBody>
      </p:sp>
      <p:sp>
        <p:nvSpPr>
          <p:cNvPr id="10" name="Oval 9"/>
          <p:cNvSpPr/>
          <p:nvPr/>
        </p:nvSpPr>
        <p:spPr>
          <a:xfrm>
            <a:off x="8183880" y="1325880"/>
            <a:ext cx="2651760" cy="2651760"/>
          </a:xfrm>
          <a:prstGeom prst="ellipse">
            <a:avLst/>
          </a:prstGeom>
          <a:solidFill>
            <a:srgbClr val="E6F2EC"/>
          </a:solidFill>
          <a:ln w="25400">
            <a:solidFill>
              <a:srgbClr val="009E73"/>
            </a:solid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700" b="1">
                <a:solidFill>
                  <a:srgbClr val="1F2A44"/>
                </a:solidFill>
                <a:latin typeface="Calibri"/>
              </a:rPr>
              <a:t>Microenvironment</a:t>
            </a:r>
          </a:p>
        </p:txBody>
      </p:sp>
      <p:sp>
        <p:nvSpPr>
          <p:cNvPr id="11" name="TextBox 10"/>
          <p:cNvSpPr txBox="1"/>
          <p:nvPr/>
        </p:nvSpPr>
        <p:spPr>
          <a:xfrm>
            <a:off x="7955280" y="4023360"/>
            <a:ext cx="3108960" cy="548640"/>
          </a:xfrm>
          <a:prstGeom prst="rect">
            <a:avLst/>
          </a:prstGeom>
          <a:noFill/>
        </p:spPr>
        <p:txBody>
          <a:bodyPr wrap="square" lIns="45720" tIns="27432" rIns="45720" bIns="27432" anchor="t">
            <a:spAutoFit/>
          </a:bodyPr>
          <a:lstStyle/>
          <a:p>
            <a:pPr algn="ctr">
              <a:spcAft>
                <a:spcPts val="800"/>
              </a:spcAft>
            </a:pPr>
            <a:r>
              <a:rPr sz="1500" b="0" i="0">
                <a:solidFill>
                  <a:srgbClr val="6B7280"/>
                </a:solidFill>
                <a:latin typeface="Calibri"/>
              </a:rPr>
              <a:t>spatial context and neighbourhood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64240" cy="777240"/>
          </a:xfrm>
          <a:prstGeom prst="rect">
            <a:avLst/>
          </a:prstGeom>
          <a:noFill/>
        </p:spPr>
        <p:txBody>
          <a:bodyPr wrap="square" lIns="45720" tIns="27432" rIns="45720" bIns="27432" anchor="ctr">
            <a:spAutoFit/>
          </a:bodyPr>
          <a:lstStyle/>
          <a:p>
            <a:pPr algn="l">
              <a:spcAft>
                <a:spcPts val="800"/>
              </a:spcAft>
            </a:pPr>
            <a:r>
              <a:rPr sz="3200" b="0" i="0">
                <a:solidFill>
                  <a:srgbClr val="1F2A44"/>
                </a:solidFill>
                <a:latin typeface="Calibri Light"/>
              </a:rPr>
              <a:t>Three pathways towards integrated 3D-oid biology</a:t>
            </a:r>
          </a:p>
        </p:txBody>
      </p:sp>
      <p:cxnSp>
        <p:nvCxnSpPr>
          <p:cNvPr id="3" name="Connector 2"/>
          <p:cNvCxnSpPr/>
          <p:nvPr/>
        </p:nvCxnSpPr>
        <p:spPr>
          <a:xfrm>
            <a:off x="566928" y="1097280"/>
            <a:ext cx="118872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612128"/>
            <a:ext cx="9875520" cy="292608"/>
          </a:xfrm>
          <a:prstGeom prst="rect">
            <a:avLst/>
          </a:prstGeom>
          <a:noFill/>
        </p:spPr>
        <p:txBody>
          <a:bodyPr wrap="square" lIns="45720" tIns="27432" rIns="45720" bIns="27432" anchor="ctr">
            <a:spAutoFit/>
          </a:bodyPr>
          <a:lstStyle/>
          <a:p>
            <a:pPr algn="l">
              <a:spcAft>
                <a:spcPts val="800"/>
              </a:spcAft>
            </a:pPr>
            <a:r>
              <a:rPr sz="1200" b="0" i="0">
                <a:solidFill>
                  <a:srgbClr val="6B7280"/>
                </a:solidFill>
                <a:latin typeface="Calibri"/>
              </a:rPr>
              <a:t>Diosdi, Theis &amp; Horvath, Nat Rev Mol Cell Biol (2026)  ·  doi:10.1038/s41580-026-01025-4</a:t>
            </a:r>
          </a:p>
        </p:txBody>
      </p:sp>
      <p:sp>
        <p:nvSpPr>
          <p:cNvPr id="5" name="TextBox 4"/>
          <p:cNvSpPr txBox="1"/>
          <p:nvPr/>
        </p:nvSpPr>
        <p:spPr>
          <a:xfrm>
            <a:off x="10972800" y="6400800"/>
            <a:ext cx="667512" cy="292608"/>
          </a:xfrm>
          <a:prstGeom prst="rect">
            <a:avLst/>
          </a:prstGeom>
          <a:noFill/>
        </p:spPr>
        <p:txBody>
          <a:bodyPr wrap="square" lIns="45720" tIns="27432" rIns="45720" bIns="27432" anchor="ctr">
            <a:spAutoFit/>
          </a:bodyPr>
          <a:lstStyle/>
          <a:p>
            <a:pPr algn="r">
              <a:spcAft>
                <a:spcPts val="800"/>
              </a:spcAft>
            </a:pPr>
            <a:r>
              <a:rPr sz="1200" b="0" i="0">
                <a:solidFill>
                  <a:srgbClr val="6B7280"/>
                </a:solidFill>
                <a:latin typeface="Calibri"/>
              </a:rPr>
              <a:t>45</a:t>
            </a:r>
          </a:p>
        </p:txBody>
      </p:sp>
      <p:sp>
        <p:nvSpPr>
          <p:cNvPr id="6" name="Rounded Rectangle 5"/>
          <p:cNvSpPr/>
          <p:nvPr/>
        </p:nvSpPr>
        <p:spPr>
          <a:xfrm>
            <a:off x="548640" y="1417320"/>
            <a:ext cx="3520440" cy="4434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49808" y="1600200"/>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1</a:t>
            </a:r>
          </a:p>
        </p:txBody>
      </p:sp>
      <p:sp>
        <p:nvSpPr>
          <p:cNvPr id="8" name="TextBox 7"/>
          <p:cNvSpPr txBox="1"/>
          <p:nvPr/>
        </p:nvSpPr>
        <p:spPr>
          <a:xfrm>
            <a:off x="1325880" y="1572768"/>
            <a:ext cx="2606040" cy="502920"/>
          </a:xfrm>
          <a:prstGeom prst="rect">
            <a:avLst/>
          </a:prstGeom>
          <a:noFill/>
        </p:spPr>
        <p:txBody>
          <a:bodyPr wrap="square" lIns="45720" tIns="27432" rIns="45720" bIns="27432" anchor="ctr">
            <a:spAutoFit/>
          </a:bodyPr>
          <a:lstStyle/>
          <a:p>
            <a:pPr algn="l">
              <a:spcAft>
                <a:spcPts val="800"/>
              </a:spcAft>
            </a:pPr>
            <a:r>
              <a:rPr sz="1800" b="1" i="0">
                <a:solidFill>
                  <a:srgbClr val="0072B2"/>
                </a:solidFill>
                <a:latin typeface="Calibri"/>
              </a:rPr>
              <a:t>Model systems</a:t>
            </a:r>
          </a:p>
        </p:txBody>
      </p:sp>
      <p:sp>
        <p:nvSpPr>
          <p:cNvPr id="9" name="TextBox 8"/>
          <p:cNvSpPr txBox="1"/>
          <p:nvPr/>
        </p:nvSpPr>
        <p:spPr>
          <a:xfrm>
            <a:off x="749808" y="2240280"/>
            <a:ext cx="3154680" cy="3520440"/>
          </a:xfrm>
          <a:prstGeom prst="rect">
            <a:avLst/>
          </a:prstGeom>
          <a:noFill/>
        </p:spPr>
        <p:txBody>
          <a:bodyPr wrap="square" lIns="45720" tIns="27432" rIns="45720" bIns="27432" anchor="t">
            <a:spAutoFit/>
          </a:bodyPr>
          <a:lstStyle/>
          <a:p>
            <a:pPr marL="228600" indent="-228600" algn="l">
              <a:spcAft>
                <a:spcPts val="1000"/>
              </a:spcAft>
              <a:buChar char="•"/>
            </a:pPr>
            <a:r>
              <a:rPr sz="1500" b="0" i="0">
                <a:solidFill>
                  <a:srgbClr val="2B2B2B"/>
                </a:solidFill>
                <a:latin typeface="Calibri"/>
              </a:rPr>
              <a:t>3D-oids: spheroids, organoids, assembloids, connectoids</a:t>
            </a:r>
          </a:p>
          <a:p>
            <a:pPr marL="228600" indent="-228600" algn="l">
              <a:spcAft>
                <a:spcPts val="1000"/>
              </a:spcAft>
              <a:buChar char="•"/>
            </a:pPr>
            <a:r>
              <a:rPr sz="1500" b="0" i="0">
                <a:solidFill>
                  <a:srgbClr val="2B2B2B"/>
                </a:solidFill>
                <a:latin typeface="Calibri"/>
              </a:rPr>
              <a:t>Reproducible “keystone” 3D-oids as reference models, compared with native tissue</a:t>
            </a:r>
          </a:p>
          <a:p>
            <a:pPr marL="228600" indent="-228600" algn="l">
              <a:spcAft>
                <a:spcPts val="1000"/>
              </a:spcAft>
              <a:buChar char="•"/>
            </a:pPr>
            <a:r>
              <a:rPr sz="1500" b="0" i="0">
                <a:solidFill>
                  <a:srgbClr val="2B2B2B"/>
                </a:solidFill>
                <a:latin typeface="Calibri"/>
              </a:rPr>
              <a:t>Partly step away from patient-specific models to gain standardisation</a:t>
            </a:r>
          </a:p>
          <a:p>
            <a:pPr marL="228600" indent="-228600" algn="l">
              <a:spcAft>
                <a:spcPts val="1000"/>
              </a:spcAft>
              <a:buChar char="•"/>
            </a:pPr>
            <a:r>
              <a:rPr sz="1500" b="0" i="0">
                <a:solidFill>
                  <a:srgbClr val="2B2B2B"/>
                </a:solidFill>
                <a:latin typeface="Calibri"/>
              </a:rPr>
              <a:t>Add complexity (vascularisation, bioprinting) only per targeted hypothesis</a:t>
            </a:r>
          </a:p>
        </p:txBody>
      </p:sp>
      <p:sp>
        <p:nvSpPr>
          <p:cNvPr id="10" name="Rounded Rectangle 9"/>
          <p:cNvSpPr/>
          <p:nvPr/>
        </p:nvSpPr>
        <p:spPr>
          <a:xfrm>
            <a:off x="4334255" y="1417320"/>
            <a:ext cx="3520440" cy="4434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535423" y="1600200"/>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2</a:t>
            </a:r>
          </a:p>
        </p:txBody>
      </p:sp>
      <p:sp>
        <p:nvSpPr>
          <p:cNvPr id="12" name="TextBox 11"/>
          <p:cNvSpPr txBox="1"/>
          <p:nvPr/>
        </p:nvSpPr>
        <p:spPr>
          <a:xfrm>
            <a:off x="5111495" y="1572768"/>
            <a:ext cx="2606040" cy="502920"/>
          </a:xfrm>
          <a:prstGeom prst="rect">
            <a:avLst/>
          </a:prstGeom>
          <a:noFill/>
        </p:spPr>
        <p:txBody>
          <a:bodyPr wrap="square" lIns="45720" tIns="27432" rIns="45720" bIns="27432" anchor="ctr">
            <a:spAutoFit/>
          </a:bodyPr>
          <a:lstStyle/>
          <a:p>
            <a:pPr algn="l">
              <a:spcAft>
                <a:spcPts val="800"/>
              </a:spcAft>
            </a:pPr>
            <a:r>
              <a:rPr sz="1800" b="1" i="0">
                <a:solidFill>
                  <a:srgbClr val="0072B2"/>
                </a:solidFill>
                <a:latin typeface="Calibri"/>
              </a:rPr>
              <a:t>Imaging and analysis</a:t>
            </a:r>
          </a:p>
        </p:txBody>
      </p:sp>
      <p:sp>
        <p:nvSpPr>
          <p:cNvPr id="13" name="TextBox 12"/>
          <p:cNvSpPr txBox="1"/>
          <p:nvPr/>
        </p:nvSpPr>
        <p:spPr>
          <a:xfrm>
            <a:off x="4535423" y="2240280"/>
            <a:ext cx="3154680" cy="3520440"/>
          </a:xfrm>
          <a:prstGeom prst="rect">
            <a:avLst/>
          </a:prstGeom>
          <a:noFill/>
        </p:spPr>
        <p:txBody>
          <a:bodyPr wrap="square" lIns="45720" tIns="27432" rIns="45720" bIns="27432" anchor="t">
            <a:spAutoFit/>
          </a:bodyPr>
          <a:lstStyle/>
          <a:p>
            <a:pPr marL="228600" indent="-228600" algn="l">
              <a:spcAft>
                <a:spcPts val="1000"/>
              </a:spcAft>
              <a:buChar char="•"/>
            </a:pPr>
            <a:r>
              <a:rPr sz="1500" b="0" i="0" dirty="0">
                <a:solidFill>
                  <a:srgbClr val="2B2B2B"/>
                </a:solidFill>
                <a:latin typeface="Calibri"/>
              </a:rPr>
              <a:t>Precision micromanipulators to place, remove or replace single cells: 3D-oid “editing”</a:t>
            </a:r>
          </a:p>
          <a:p>
            <a:pPr marL="228600" indent="-228600" algn="l">
              <a:spcAft>
                <a:spcPts val="1000"/>
              </a:spcAft>
              <a:buChar char="•"/>
            </a:pPr>
            <a:r>
              <a:rPr sz="1500" b="0" i="0" dirty="0">
                <a:solidFill>
                  <a:srgbClr val="2B2B2B"/>
                </a:solidFill>
                <a:latin typeface="Calibri"/>
              </a:rPr>
              <a:t>High-content 3D screening combined with mass spectrometry and sequencing</a:t>
            </a:r>
          </a:p>
          <a:p>
            <a:pPr marL="228600" indent="-228600" algn="l">
              <a:spcAft>
                <a:spcPts val="1000"/>
              </a:spcAft>
              <a:buChar char="•"/>
            </a:pPr>
            <a:r>
              <a:rPr sz="1500" b="0" i="0" dirty="0">
                <a:solidFill>
                  <a:srgbClr val="2B2B2B"/>
                </a:solidFill>
                <a:latin typeface="Calibri"/>
              </a:rPr>
              <a:t>AI for image analysis and finding latent patterns</a:t>
            </a:r>
          </a:p>
        </p:txBody>
      </p:sp>
      <p:sp>
        <p:nvSpPr>
          <p:cNvPr id="14" name="Rounded Rectangle 13"/>
          <p:cNvSpPr/>
          <p:nvPr/>
        </p:nvSpPr>
        <p:spPr>
          <a:xfrm>
            <a:off x="8119871" y="1417320"/>
            <a:ext cx="3520440" cy="443484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321040" y="1600200"/>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a:solidFill>
                  <a:srgbClr val="FFFFFF"/>
                </a:solidFill>
                <a:latin typeface="Calibri"/>
              </a:rPr>
              <a:t>3</a:t>
            </a:r>
          </a:p>
        </p:txBody>
      </p:sp>
      <p:sp>
        <p:nvSpPr>
          <p:cNvPr id="16" name="TextBox 15"/>
          <p:cNvSpPr txBox="1"/>
          <p:nvPr/>
        </p:nvSpPr>
        <p:spPr>
          <a:xfrm>
            <a:off x="8897111" y="1572768"/>
            <a:ext cx="2606040" cy="502920"/>
          </a:xfrm>
          <a:prstGeom prst="rect">
            <a:avLst/>
          </a:prstGeom>
          <a:noFill/>
        </p:spPr>
        <p:txBody>
          <a:bodyPr wrap="square" lIns="45720" tIns="27432" rIns="45720" bIns="27432" anchor="ctr">
            <a:spAutoFit/>
          </a:bodyPr>
          <a:lstStyle/>
          <a:p>
            <a:pPr algn="l">
              <a:spcAft>
                <a:spcPts val="800"/>
              </a:spcAft>
            </a:pPr>
            <a:r>
              <a:rPr sz="1800" b="1" i="0">
                <a:solidFill>
                  <a:srgbClr val="0072B2"/>
                </a:solidFill>
                <a:latin typeface="Calibri"/>
              </a:rPr>
              <a:t>Data integration</a:t>
            </a:r>
          </a:p>
        </p:txBody>
      </p:sp>
      <p:sp>
        <p:nvSpPr>
          <p:cNvPr id="17" name="TextBox 16"/>
          <p:cNvSpPr txBox="1"/>
          <p:nvPr/>
        </p:nvSpPr>
        <p:spPr>
          <a:xfrm>
            <a:off x="8321040" y="2240280"/>
            <a:ext cx="3154680" cy="3520440"/>
          </a:xfrm>
          <a:prstGeom prst="rect">
            <a:avLst/>
          </a:prstGeom>
          <a:noFill/>
        </p:spPr>
        <p:txBody>
          <a:bodyPr wrap="square" lIns="45720" tIns="27432" rIns="45720" bIns="27432" anchor="t">
            <a:spAutoFit/>
          </a:bodyPr>
          <a:lstStyle/>
          <a:p>
            <a:pPr marL="228600" indent="-228600" algn="l">
              <a:spcAft>
                <a:spcPts val="1000"/>
              </a:spcAft>
              <a:buChar char="•"/>
            </a:pPr>
            <a:r>
              <a:rPr sz="1500" b="0" i="0" dirty="0">
                <a:solidFill>
                  <a:srgbClr val="2B2B2B"/>
                </a:solidFill>
                <a:latin typeface="Calibri"/>
              </a:rPr>
              <a:t>Robust, comprehensive tools for multimodal data are still missing</a:t>
            </a:r>
          </a:p>
          <a:p>
            <a:pPr marL="228600" indent="-228600" algn="l">
              <a:spcAft>
                <a:spcPts val="1000"/>
              </a:spcAft>
              <a:buChar char="•"/>
            </a:pPr>
            <a:r>
              <a:rPr sz="1500" b="0" i="0" dirty="0">
                <a:solidFill>
                  <a:srgbClr val="2B2B2B"/>
                </a:solidFill>
                <a:latin typeface="Calibri"/>
              </a:rPr>
              <a:t>Goal: </a:t>
            </a:r>
            <a:r>
              <a:rPr sz="1500" b="0" i="0" dirty="0" err="1">
                <a:solidFill>
                  <a:srgbClr val="2B2B2B"/>
                </a:solidFill>
                <a:latin typeface="Calibri"/>
              </a:rPr>
              <a:t>generalisable</a:t>
            </a:r>
            <a:r>
              <a:rPr sz="1500" b="0" i="0" dirty="0">
                <a:solidFill>
                  <a:srgbClr val="2B2B2B"/>
                </a:solidFill>
                <a:latin typeface="Calibri"/>
              </a:rPr>
              <a:t> AI models over molecular, </a:t>
            </a:r>
            <a:r>
              <a:rPr sz="1500" b="0" i="0" dirty="0" err="1">
                <a:solidFill>
                  <a:srgbClr val="2B2B2B"/>
                </a:solidFill>
                <a:latin typeface="Calibri"/>
              </a:rPr>
              <a:t>neighbourhood</a:t>
            </a:r>
            <a:r>
              <a:rPr sz="1500" b="0" i="0" dirty="0">
                <a:solidFill>
                  <a:srgbClr val="2B2B2B"/>
                </a:solidFill>
                <a:latin typeface="Calibri"/>
              </a:rPr>
              <a:t> and image features</a:t>
            </a:r>
          </a:p>
          <a:p>
            <a:pPr marL="228600" indent="-228600" algn="l">
              <a:spcAft>
                <a:spcPts val="1000"/>
              </a:spcAft>
              <a:buChar char="•"/>
            </a:pPr>
            <a:r>
              <a:rPr sz="1500" b="0" i="0" dirty="0">
                <a:solidFill>
                  <a:srgbClr val="2B2B2B"/>
                </a:solidFill>
                <a:latin typeface="Calibri"/>
              </a:rPr>
              <a:t>Connect existing domain pipelines rather than replace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970</TotalTime>
  <Words>7715</Words>
  <Application>Microsoft Office PowerPoint</Application>
  <PresentationFormat>Widescreen</PresentationFormat>
  <Paragraphs>631</Paragraphs>
  <Slides>44</Slides>
  <Notes>43</Notes>
  <HiddenSlides>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Calibri</vt:lpstr>
      <vt:lpstr>Calibri Light</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Seyedhashemirizi, Sadegh (Stud. FSE)</cp:lastModifiedBy>
  <cp:revision>6</cp:revision>
  <dcterms:created xsi:type="dcterms:W3CDTF">2013-01-27T09:14:16Z</dcterms:created>
  <dcterms:modified xsi:type="dcterms:W3CDTF">2026-10-14T11:28:43Z</dcterms:modified>
  <cp:category/>
</cp:coreProperties>
</file>