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1809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CORNETO = Constrained Optimisation for the Recovery of NETworks from Omics. Saez-Rodriguez lab, Nature Machine Intelligence, July 2025. Theme of today: multi-omics integration and network inference.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parts: the problem, the building blocks, CORNETO's formulation, then results.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Data-driven network inference (correlation, ML) needs many samples and only gives associations. Knowledge-driven inference starts from a prior knowledge network (PKN) and keeps the part of it that explains the data. This is what CARNIVAL, iMAT, Steiner trees etc. all do.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Signalling, metabolism and PPI each have their own tools, data types and code. Most analyse one sample at a time, so they cannot separate shared mechanisms from sample-specific ones, and several networks often explain the data equally well (non-identifiability).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1. Any PKN type (top), any omics layer mapped onto it, one optimisation problem (LP/MILP), and n context-specific networks out, inferred jointly. Bottom row: the four applications in the paper.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the framework: the ingredients it unifies.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mechanistic to associative. Metabolic networks are hypergraphs because a reaction links several metabolites with stoichiometry. Signalling PKNs (e.g. OmniPath) are signed and directed. Kinase-substrate networks are directed, PPI networks undirected. TF regulons (CollecTRI) are also signed directed graphs.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regulon is a signed TF -&gt; target network (CollecTRI, DoRothEA). decoupler scores each TF from the changes of its targets, e.g. the univariate linear model (ULM): regress gene-level statistics on the signed regulon weights and use the t-value as activity. Result: one TF activity per sample. These are the 'measured' nodes CARNIVAL tries to explain. In the paper decoupler is used on CPTAC transcriptomics.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Signed directed PKN. Each node gets a state up/down/off. A selected edge passes the parent's state times the edge sign to the child. The ILP finds the smallest subnetwork whose TF states best match the decoupler activities (mismatch weighted by |activity|). Grey dashed edges are in the PKN but not selected; e.g. K2-&gt;K4 would make K4 up, contradicting TF2. Inverse CARNIVAL: if the perturbation is unknown, every root node of the PKN may start a signal.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Stoichiometric matrix S (metabolites x reactions). Steady state S v = 0: every metabolite is produced as fast as it is consumed. Flux bounds encode reversibility, nutrients, knockouts. Objective: maximise biomass, an LP. Sparse FBA: the fewest active reactions that still give at least x% of the optimal biomass, a MILP. Here A-&gt;B-&gt;C is the minimal route; A-&gt;D-&gt;C is an equivalent alternative (FBA solutions are often not unique).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Gene-protein-reaction (GPR) rules turn gene expression into reaction scores: highly expressed, lowly expressed, or uncertain. iMAT maximises the number of high reactions that carry flux plus low reactions that are blocked, subject to the FBA constraints. Here v2 is lowly expressed, so the solution routes flux through B instead of D. MILP; one sample at a time in the original method.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Undirected PPI network. Terminals = proteins with a signal (e.g. differentially abundant). Steiner tree: the cheapest tree connecting all terminals; the extra nodes it needs (Steiner nodes) are candidate mediators. Prize-collecting Steiner tree (PCST): terminals are optional, each has a prize, each edge a cost; minimise edge costs minus collected prizes.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four select a subset of edges (or reactions) of a PKN under constraints, scored against data. That shared structure is what CORNETO exploits: all can be written as (mixed-integer) linear programs.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ideas: flows, hypergraphs, and one template with a shared sparsity penalty.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Network flows: a source edge injects flow, a sink edge removes it, and every internal node conserves flow (A x = 0 with A the incidence matrix). A binary indicator y_e switches each edge on or off; flow is allowed only on edges that are on. The selected edges are the inferred network. Example: shortest path = send one unit of flow from s to t at minimum cost (here s-a-t, cost 2). Paths, trees and DAGs all come from extra constraints on the same variables.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CORNETO works on directed hypergraphs: each hyperedge has a tail set and a head set, and each vertex has a signed coefficient in the incidence matrix. A graph edge is the special case with one tail (-1) and one head (+1). A reaction M1 + 2 M2 -&gt; M3 has coefficients -1, -2, +1, so the incidence matrix IS the stoichiometric matrix and A x = 0 is the FBA steady state. Sources and sinks are hyperedges with an empty tail or head (like exchange reactions). This is why one flow formulation covers signalling, PPI and metabolism.</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2a-d. (a) phi maps omics data onto the PKN, giving one annotated graph per sample. (b) psi edits the graph: adds source and sink edges where flow should enter and leave, prunes unreachable parts. (c) The graphs are merged into one union graph; CORNETO creates flow variables X and indicator variables Y, adds method-specific constraints and the structured sparsity term (orange). (d) Any supported solver (HiGHS, Gurobi, SCIP, CPLEX...) returns the n networks with a certificate of optimality.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Equation 13. X: flows, one row per edge of the union graph, one column per sample. Y: binary edge indicators of the same shape. f is the method's own objective per sample, averaged over samples. The new term lambda * ||Y 1_n||_0 counts the edges that are used in at least one sample. Penalising that pushes samples to reuse the same edges, while still allowing sample-specific ones if the data demand it. lambda = 0 gives n independent single-sample problems.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the Methods section. FBA needs no data mapping or graph edits (exchange reactions already exist); f = -c'x, lambda = 0. sFBA: biomass &gt;= x% of optimum and lambda &gt; 0, so lambda just switches sparsity on. iMAT: data mapped via GPR rules; objective penalises high reactions off and low reactions on. CARNIVAL: source edges at the perturbed nodes (all roots in inverse CARNIVAL), sink edges at TFs; tree constraint plus sign-consistency constraints on activation/inhibition variables. Steiner: source at the root, sinks at the other terminals, tree constraint, minimise edge costs; PCST also subtracts prizes.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2e. Two samples share a PKN; we only know receptors (top) and TF states (bottom; red up, blue down). Fitted independently, the two networks share no edge: 6 distinct edges in the union. Fitted jointly with the structured penalty, both networks reuse e6 and the union has only 5 edges, while explaining the same TF states. Assumption: samples share structure, e.g. related patients or perturbations in one cell type.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 composition (Methods): weighted sum of objectives, intersection of feasible sets; variables that appear in both problems are identified, i.e. shared. Because signalling, gene regulation and metabolism are all flows on one (hyper)graph, they could in principle be stacked into one union hypergraph and one MILP. Caveat: the paper applies each layer separately; joint multi-layer inference (signalling + metabolism, as in COSMOS) is named in the Discussion as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re-implemented methods, each single- vs multi-sample.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MitoCore model (555 reactions, 441 metabolites). Samples = simulated single-enzyme knockouts; 2, 4, 8 or 16 samples, 10 random subsets each. Joint sFBA gives fewer distinct reactions; median reduction 6.02% at &gt;=90% biomass, 7.21% at &gt;=50%, up to 30% at &gt;=10% (looser constraint = more alternative routes). (b) The joint fit picks canonical glycolysis (HEX1, PGI, PFK...) more consistently; single-sample fits wander to alternative, equally optimal routes, exaggerating differences between samples.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Yeast deletion microarrays (Kemmeren 2014), 12 enzyme knockouts with metabolic rewiring, Yeast-GEM. lambda chosen by 5-fold cross-validation on held-out reaction scores; best F1 at lambda = 1.5 (lambda = 0 is the original iMAT). F1 +6.62%, precision +29.62%, recall -8.62%; reactions ~2,072 -&gt; ~861 on average; false positives -38.8%. Trade-off: fewer false positives, slightly lower recall.</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CPTAC lung adenocarcinoma. TF activities from transcriptomics with decoupler; inverse CARNIVAL (inputs unknown) single vs multi-sample. Validation set: kinases deregulated (top quartile |activity|) in &gt;=50% of patients, from phosphoproteomics, which was not used for fitting. Multi-sample: the union shrinks less in nodes, the intersection across patients grows (single-sample intersection collapses to ~0), and a larger share of intersection edges comes from deregulated kinases. Error bands: 10 seeds.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Figure 5c: edges in the intersection of all patient networks at lambda = 0.8. Because optimal solutions are not unique, the joint inference was repeated 30 times with different seeds and an edge was kept if it appeared in at least 50% of the alternative solutions. Colour = mean TF activity across patients.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Strengths: one formulation and API for signalling, metabolism and PPI; exact solvers with optimality certificates; joint fits give sparser, more precise, more consistent networks. Limitations from the Discussion: NP-hard, cost grows with samples and PKN size; lambda is problem-specific and must be tuned, and the penalty assumes samples share structure; steady state only; only edges already in the PKN can be selected; several optimal networks exist, so sample alternatives and report edge frequencies.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questions for the group.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22960" y="1280160"/>
            <a:ext cx="10607040" cy="2103120"/>
          </a:xfrm>
          <a:prstGeom prst="rect">
            <a:avLst/>
          </a:prstGeom>
          <a:noFill/>
        </p:spPr>
        <p:txBody>
          <a:bodyPr wrap="square" lIns="45720" tIns="27432" rIns="45720" bIns="27432" anchor="b"/>
          <a:lstStyle/>
          <a:p>
            <a:pPr algn="l">
              <a:spcAft>
                <a:spcPts val="800"/>
              </a:spcAft>
            </a:pPr>
            <a:r>
              <a:rPr sz="3200" b="0" i="0">
                <a:solidFill>
                  <a:srgbClr val="1F2A44"/>
                </a:solidFill>
                <a:latin typeface="Calibri Light"/>
              </a:rPr>
              <a:t>CORNETO: unifying multi-sample network inference from prior knowledge and omics</a:t>
            </a:r>
          </a:p>
        </p:txBody>
      </p:sp>
      <p:cxnSp>
        <p:nvCxnSpPr>
          <p:cNvPr id="4" name="Connector 3"/>
          <p:cNvCxnSpPr/>
          <p:nvPr/>
        </p:nvCxnSpPr>
        <p:spPr>
          <a:xfrm>
            <a:off x="841248" y="3611880"/>
            <a:ext cx="137160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3840480"/>
            <a:ext cx="10607040" cy="1097280"/>
          </a:xfrm>
          <a:prstGeom prst="rect">
            <a:avLst/>
          </a:prstGeom>
          <a:noFill/>
        </p:spPr>
        <p:txBody>
          <a:bodyPr wrap="square" lIns="45720" tIns="27432" rIns="45720" bIns="27432" anchor="t"/>
          <a:lstStyle/>
          <a:p>
            <a:pPr algn="l">
              <a:spcAft>
                <a:spcPts val="800"/>
              </a:spcAft>
            </a:pPr>
            <a:r>
              <a:rPr sz="2000" b="0" i="0">
                <a:solidFill>
                  <a:srgbClr val="2B2B2B"/>
                </a:solidFill>
                <a:latin typeface="Calibri"/>
              </a:rPr>
              <a:t>Rodriguez-Mier, Garrido-Rodriguez, Gabor &amp; Saez-Rodriguez</a:t>
            </a:r>
          </a:p>
          <a:p>
            <a:pPr algn="l">
              <a:spcAft>
                <a:spcPts val="800"/>
              </a:spcAft>
            </a:pPr>
            <a:r>
              <a:rPr sz="2000" b="0" i="0">
                <a:solidFill>
                  <a:srgbClr val="6B7280"/>
                </a:solidFill>
                <a:latin typeface="Calibri"/>
              </a:rPr>
              <a:t>Nature Machine Intelligence 7, 1168–1186 (2025)  ·  doi:10.1038/s42256-025-01069-9</a:t>
            </a:r>
          </a:p>
        </p:txBody>
      </p:sp>
      <p:sp>
        <p:nvSpPr>
          <p:cNvPr id="6" name="TextBox 5"/>
          <p:cNvSpPr txBox="1"/>
          <p:nvPr/>
        </p:nvSpPr>
        <p:spPr>
          <a:xfrm>
            <a:off x="822960" y="5760720"/>
            <a:ext cx="10607040" cy="457200"/>
          </a:xfrm>
          <a:prstGeom prst="rect">
            <a:avLst/>
          </a:prstGeom>
          <a:noFill/>
        </p:spPr>
        <p:txBody>
          <a:bodyPr wrap="square" lIns="45720" tIns="27432" rIns="45720" bIns="27432" anchor="t"/>
          <a:lstStyle/>
          <a:p>
            <a:pPr algn="l">
              <a:spcAft>
                <a:spcPts val="800"/>
              </a:spcAft>
            </a:pPr>
            <a:r>
              <a:rPr sz="2000" b="0" i="0">
                <a:solidFill>
                  <a:srgbClr val="6B7280"/>
                </a:solidFill>
                <a:latin typeface="Calibri"/>
              </a:rPr>
              <a:t>Journal club  ·  multi-omics integration and network inference  ·  Sadegh Seyedhashemirizi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a:t>
            </a:r>
          </a:p>
        </p:txBody>
      </p:sp>
      <p:sp>
        <p:nvSpPr>
          <p:cNvPr id="6" name="Oval 5"/>
          <p:cNvSpPr/>
          <p:nvPr/>
        </p:nvSpPr>
        <p:spPr>
          <a:xfrm>
            <a:off x="886968" y="1645919"/>
            <a:ext cx="566928" cy="566928"/>
          </a:xfrm>
          <a:prstGeom prst="ellipse">
            <a:avLst/>
          </a:prstGeom>
          <a:solidFill>
            <a:srgbClr val="0072B2"/>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1</a:t>
            </a:r>
          </a:p>
        </p:txBody>
      </p:sp>
      <p:sp>
        <p:nvSpPr>
          <p:cNvPr id="7" name="Rectangle 6"/>
          <p:cNvSpPr/>
          <p:nvPr/>
        </p:nvSpPr>
        <p:spPr>
          <a:xfrm>
            <a:off x="566928" y="1618488"/>
            <a:ext cx="91440" cy="621792"/>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691640" y="1600200"/>
            <a:ext cx="8686800" cy="658368"/>
          </a:xfrm>
          <a:prstGeom prst="rect">
            <a:avLst/>
          </a:prstGeom>
          <a:noFill/>
        </p:spPr>
        <p:txBody>
          <a:bodyPr wrap="square" lIns="45720" tIns="27432" rIns="45720" bIns="27432" anchor="ctr"/>
          <a:lstStyle/>
          <a:p>
            <a:pPr algn="l">
              <a:spcAft>
                <a:spcPts val="800"/>
              </a:spcAft>
            </a:pPr>
            <a:r>
              <a:rPr sz="2000" b="0" i="0">
                <a:solidFill>
                  <a:srgbClr val="1F2A44"/>
                </a:solidFill>
                <a:latin typeface="Calibri"/>
              </a:rPr>
              <a:t>Why network inference from prior knowledge?</a:t>
            </a:r>
          </a:p>
        </p:txBody>
      </p:sp>
      <p:sp>
        <p:nvSpPr>
          <p:cNvPr id="9" name="Oval 8"/>
          <p:cNvSpPr/>
          <p:nvPr/>
        </p:nvSpPr>
        <p:spPr>
          <a:xfrm>
            <a:off x="886968" y="2606039"/>
            <a:ext cx="566928" cy="566928"/>
          </a:xfrm>
          <a:prstGeom prst="ellipse">
            <a:avLst/>
          </a:prstGeom>
          <a:solidFill>
            <a:srgbClr val="B8BDC6"/>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2</a:t>
            </a:r>
          </a:p>
        </p:txBody>
      </p:sp>
      <p:sp>
        <p:nvSpPr>
          <p:cNvPr id="10" name="TextBox 9"/>
          <p:cNvSpPr txBox="1"/>
          <p:nvPr/>
        </p:nvSpPr>
        <p:spPr>
          <a:xfrm>
            <a:off x="1691640" y="2560320"/>
            <a:ext cx="8686800" cy="658368"/>
          </a:xfrm>
          <a:prstGeom prst="rect">
            <a:avLst/>
          </a:prstGeom>
          <a:noFill/>
        </p:spPr>
        <p:txBody>
          <a:bodyPr wrap="square" lIns="45720" tIns="27432" rIns="45720" bIns="27432" anchor="ctr"/>
          <a:lstStyle/>
          <a:p>
            <a:pPr algn="l">
              <a:spcAft>
                <a:spcPts val="800"/>
              </a:spcAft>
            </a:pPr>
            <a:r>
              <a:rPr sz="2000" b="0" i="0">
                <a:solidFill>
                  <a:srgbClr val="6B7280"/>
                </a:solidFill>
                <a:latin typeface="Calibri"/>
              </a:rPr>
              <a:t>The methods CORNETO unifies</a:t>
            </a:r>
          </a:p>
        </p:txBody>
      </p:sp>
      <p:sp>
        <p:nvSpPr>
          <p:cNvPr id="11" name="Oval 10"/>
          <p:cNvSpPr/>
          <p:nvPr/>
        </p:nvSpPr>
        <p:spPr>
          <a:xfrm>
            <a:off x="886968" y="3566160"/>
            <a:ext cx="566928" cy="566928"/>
          </a:xfrm>
          <a:prstGeom prst="ellipse">
            <a:avLst/>
          </a:prstGeom>
          <a:solidFill>
            <a:srgbClr val="B8BDC6"/>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3</a:t>
            </a:r>
          </a:p>
        </p:txBody>
      </p:sp>
      <p:sp>
        <p:nvSpPr>
          <p:cNvPr id="12" name="TextBox 11"/>
          <p:cNvSpPr txBox="1"/>
          <p:nvPr/>
        </p:nvSpPr>
        <p:spPr>
          <a:xfrm>
            <a:off x="1691640" y="3520440"/>
            <a:ext cx="8686800" cy="658368"/>
          </a:xfrm>
          <a:prstGeom prst="rect">
            <a:avLst/>
          </a:prstGeom>
          <a:noFill/>
        </p:spPr>
        <p:txBody>
          <a:bodyPr wrap="square" lIns="45720" tIns="27432" rIns="45720" bIns="27432" anchor="ctr"/>
          <a:lstStyle/>
          <a:p>
            <a:pPr algn="l">
              <a:spcAft>
                <a:spcPts val="800"/>
              </a:spcAft>
            </a:pPr>
            <a:r>
              <a:rPr sz="2000" b="0" i="0">
                <a:solidFill>
                  <a:srgbClr val="6B7280"/>
                </a:solidFill>
                <a:latin typeface="Calibri"/>
              </a:rPr>
              <a:t>CORNETO: one optimisation problem</a:t>
            </a:r>
          </a:p>
        </p:txBody>
      </p:sp>
      <p:sp>
        <p:nvSpPr>
          <p:cNvPr id="13" name="Oval 12"/>
          <p:cNvSpPr/>
          <p:nvPr/>
        </p:nvSpPr>
        <p:spPr>
          <a:xfrm>
            <a:off x="886968" y="4526280"/>
            <a:ext cx="566928" cy="566928"/>
          </a:xfrm>
          <a:prstGeom prst="ellipse">
            <a:avLst/>
          </a:prstGeom>
          <a:solidFill>
            <a:srgbClr val="B8BDC6"/>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4</a:t>
            </a:r>
          </a:p>
        </p:txBody>
      </p:sp>
      <p:sp>
        <p:nvSpPr>
          <p:cNvPr id="14" name="TextBox 13"/>
          <p:cNvSpPr txBox="1"/>
          <p:nvPr/>
        </p:nvSpPr>
        <p:spPr>
          <a:xfrm>
            <a:off x="1691640" y="4480560"/>
            <a:ext cx="8686800" cy="658368"/>
          </a:xfrm>
          <a:prstGeom prst="rect">
            <a:avLst/>
          </a:prstGeom>
          <a:noFill/>
        </p:spPr>
        <p:txBody>
          <a:bodyPr wrap="square" lIns="45720" tIns="27432" rIns="45720" bIns="27432" anchor="ctr"/>
          <a:lstStyle/>
          <a:p>
            <a:pPr algn="l">
              <a:spcAft>
                <a:spcPts val="800"/>
              </a:spcAft>
            </a:pPr>
            <a:r>
              <a:rPr sz="2000" b="0" i="0">
                <a:solidFill>
                  <a:srgbClr val="6B7280"/>
                </a:solidFill>
                <a:latin typeface="Calibri"/>
              </a:rPr>
              <a:t>Results and take-home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Omics give lists of changes; we want mechanisms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3</a:t>
            </a:r>
          </a:p>
        </p:txBody>
      </p:sp>
      <p:sp>
        <p:nvSpPr>
          <p:cNvPr id="6" name="Rounded Rectangle 5"/>
          <p:cNvSpPr/>
          <p:nvPr/>
        </p:nvSpPr>
        <p:spPr>
          <a:xfrm>
            <a:off x="548640" y="1463040"/>
            <a:ext cx="5394960" cy="3200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59" y="1645920"/>
            <a:ext cx="4846320" cy="457200"/>
          </a:xfrm>
          <a:prstGeom prst="rect">
            <a:avLst/>
          </a:prstGeom>
          <a:noFill/>
        </p:spPr>
        <p:txBody>
          <a:bodyPr wrap="square" lIns="45720" tIns="27432" rIns="45720" bIns="27432" anchor="t"/>
          <a:lstStyle/>
          <a:p>
            <a:pPr algn="l">
              <a:spcAft>
                <a:spcPts val="800"/>
              </a:spcAft>
            </a:pPr>
            <a:r>
              <a:rPr sz="2000" b="0" i="0">
                <a:solidFill>
                  <a:srgbClr val="6B7280"/>
                </a:solidFill>
                <a:latin typeface="Calibri"/>
              </a:rPr>
              <a:t>Data-driven</a:t>
            </a:r>
          </a:p>
        </p:txBody>
      </p:sp>
      <p:sp>
        <p:nvSpPr>
          <p:cNvPr id="8" name="TextBox 7"/>
          <p:cNvSpPr txBox="1"/>
          <p:nvPr/>
        </p:nvSpPr>
        <p:spPr>
          <a:xfrm>
            <a:off x="822959" y="2240280"/>
            <a:ext cx="4846320" cy="2286000"/>
          </a:xfrm>
          <a:prstGeom prst="rect">
            <a:avLst/>
          </a:prstGeom>
          <a:noFill/>
        </p:spPr>
        <p:txBody>
          <a:bodyPr wrap="square" lIns="45720" tIns="27432" rIns="45720" bIns="27432" anchor="t"/>
          <a:lstStyle/>
          <a:p>
            <a:pPr algn="l">
              <a:spcAft>
                <a:spcPts val="1400"/>
              </a:spcAft>
            </a:pPr>
            <a:r>
              <a:rPr sz="2000" b="0" i="0" dirty="0">
                <a:solidFill>
                  <a:srgbClr val="2B2B2B"/>
                </a:solidFill>
                <a:latin typeface="Calibri"/>
              </a:rPr>
              <a:t>•  Correlation, machine learning</a:t>
            </a:r>
          </a:p>
          <a:p>
            <a:pPr algn="l">
              <a:spcAft>
                <a:spcPts val="1400"/>
              </a:spcAft>
            </a:pPr>
            <a:r>
              <a:rPr lang="en-US" sz="2000" b="0" i="0" dirty="0">
                <a:solidFill>
                  <a:srgbClr val="2B2B2B"/>
                </a:solidFill>
                <a:latin typeface="Calibri"/>
              </a:rPr>
              <a:t>•  Associations</a:t>
            </a:r>
          </a:p>
        </p:txBody>
      </p:sp>
      <p:sp>
        <p:nvSpPr>
          <p:cNvPr id="9" name="Rounded Rectangle 8"/>
          <p:cNvSpPr/>
          <p:nvPr/>
        </p:nvSpPr>
        <p:spPr>
          <a:xfrm>
            <a:off x="6217920" y="1463040"/>
            <a:ext cx="5394960" cy="32004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92240" y="1645920"/>
            <a:ext cx="484632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Knowledge-driven</a:t>
            </a:r>
          </a:p>
        </p:txBody>
      </p:sp>
      <p:sp>
        <p:nvSpPr>
          <p:cNvPr id="11" name="TextBox 10"/>
          <p:cNvSpPr txBox="1"/>
          <p:nvPr/>
        </p:nvSpPr>
        <p:spPr>
          <a:xfrm>
            <a:off x="6492240" y="2240280"/>
            <a:ext cx="4846320" cy="2286000"/>
          </a:xfrm>
          <a:prstGeom prst="rect">
            <a:avLst/>
          </a:prstGeom>
          <a:noFill/>
        </p:spPr>
        <p:txBody>
          <a:bodyPr wrap="square" lIns="45720" tIns="27432" rIns="45720" bIns="27432" anchor="t"/>
          <a:lstStyle/>
          <a:p>
            <a:pPr algn="l">
              <a:spcAft>
                <a:spcPts val="1400"/>
              </a:spcAft>
            </a:pPr>
            <a:r>
              <a:rPr sz="2000" b="0" i="0" dirty="0">
                <a:solidFill>
                  <a:srgbClr val="2B2B2B"/>
                </a:solidFill>
                <a:latin typeface="Calibri"/>
              </a:rPr>
              <a:t>•  Start from a prior knowledge network (PKN)</a:t>
            </a:r>
          </a:p>
          <a:p>
            <a:pPr algn="l">
              <a:spcAft>
                <a:spcPts val="1400"/>
              </a:spcAft>
            </a:pPr>
            <a:r>
              <a:rPr sz="2000" b="0" i="0" dirty="0">
                <a:solidFill>
                  <a:srgbClr val="2B2B2B"/>
                </a:solidFill>
                <a:latin typeface="Calibri"/>
              </a:rPr>
              <a:t>•  Map omics data onto it</a:t>
            </a:r>
          </a:p>
          <a:p>
            <a:pPr algn="l">
              <a:spcAft>
                <a:spcPts val="1400"/>
              </a:spcAft>
            </a:pPr>
            <a:r>
              <a:rPr sz="2000" b="0" i="0" dirty="0">
                <a:solidFill>
                  <a:srgbClr val="2B2B2B"/>
                </a:solidFill>
                <a:latin typeface="Calibri"/>
              </a:rPr>
              <a:t>•  Keep the subnetwork that explains the data</a:t>
            </a:r>
          </a:p>
        </p:txBody>
      </p:sp>
      <p:sp>
        <p:nvSpPr>
          <p:cNvPr id="12" name="Rounded Rectangle 11"/>
          <p:cNvSpPr/>
          <p:nvPr/>
        </p:nvSpPr>
        <p:spPr>
          <a:xfrm>
            <a:off x="548640" y="4983480"/>
            <a:ext cx="11064240" cy="868680"/>
          </a:xfrm>
          <a:prstGeom prst="roundRect">
            <a:avLst>
              <a:gd name="adj" fmla="val 8000"/>
            </a:avLst>
          </a:prstGeom>
          <a:solidFill>
            <a:srgbClr val="FFFFFF"/>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1520" y="5029200"/>
            <a:ext cx="10698480" cy="777240"/>
          </a:xfrm>
          <a:prstGeom prst="rect">
            <a:avLst/>
          </a:prstGeom>
          <a:noFill/>
        </p:spPr>
        <p:txBody>
          <a:bodyPr wrap="square" lIns="45720" tIns="27432" rIns="45720" bIns="27432" anchor="ctr"/>
          <a:lstStyle/>
          <a:p>
            <a:pPr algn="ctr">
              <a:spcAft>
                <a:spcPts val="800"/>
              </a:spcAft>
            </a:pPr>
            <a:r>
              <a:rPr sz="2000" b="0" i="0">
                <a:solidFill>
                  <a:srgbClr val="0072B2"/>
                </a:solidFill>
                <a:latin typeface="Calibri"/>
              </a:rPr>
              <a:t>Network inference</a:t>
            </a:r>
            <a:r>
              <a:rPr sz="2000" b="0" i="0">
                <a:solidFill>
                  <a:srgbClr val="2B2B2B"/>
                </a:solidFill>
                <a:latin typeface="Calibri"/>
              </a:rPr>
              <a:t> = choosing a context-specific subnetwork of the PKN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But every method lives in its own silo</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4</a:t>
            </a:r>
          </a:p>
        </p:txBody>
      </p:sp>
      <p:sp>
        <p:nvSpPr>
          <p:cNvPr id="6" name="Rounded Rectangle 5"/>
          <p:cNvSpPr/>
          <p:nvPr/>
        </p:nvSpPr>
        <p:spPr>
          <a:xfrm>
            <a:off x="548640" y="146304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1554480"/>
            <a:ext cx="352044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Signalling</a:t>
            </a:r>
          </a:p>
        </p:txBody>
      </p:sp>
      <p:sp>
        <p:nvSpPr>
          <p:cNvPr id="8" name="TextBox 7"/>
          <p:cNvSpPr txBox="1"/>
          <p:nvPr/>
        </p:nvSpPr>
        <p:spPr>
          <a:xfrm>
            <a:off x="548640" y="2103120"/>
            <a:ext cx="3520440" cy="54864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CARNIVAL</a:t>
            </a:r>
          </a:p>
        </p:txBody>
      </p:sp>
      <p:sp>
        <p:nvSpPr>
          <p:cNvPr id="9" name="Rounded Rectangle 8"/>
          <p:cNvSpPr/>
          <p:nvPr/>
        </p:nvSpPr>
        <p:spPr>
          <a:xfrm>
            <a:off x="4297679" y="146304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297679" y="1554480"/>
            <a:ext cx="352044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Metabolism</a:t>
            </a:r>
          </a:p>
        </p:txBody>
      </p:sp>
      <p:sp>
        <p:nvSpPr>
          <p:cNvPr id="11" name="TextBox 10"/>
          <p:cNvSpPr txBox="1"/>
          <p:nvPr/>
        </p:nvSpPr>
        <p:spPr>
          <a:xfrm>
            <a:off x="4297679" y="2103120"/>
            <a:ext cx="3520440" cy="54864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FBA, iMAT</a:t>
            </a:r>
          </a:p>
        </p:txBody>
      </p:sp>
      <p:sp>
        <p:nvSpPr>
          <p:cNvPr id="12" name="Rounded Rectangle 11"/>
          <p:cNvSpPr/>
          <p:nvPr/>
        </p:nvSpPr>
        <p:spPr>
          <a:xfrm>
            <a:off x="8046719" y="1463040"/>
            <a:ext cx="3520440" cy="1417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046719" y="1554480"/>
            <a:ext cx="352044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Protein interactions</a:t>
            </a:r>
          </a:p>
        </p:txBody>
      </p:sp>
      <p:sp>
        <p:nvSpPr>
          <p:cNvPr id="14" name="TextBox 13"/>
          <p:cNvSpPr txBox="1"/>
          <p:nvPr/>
        </p:nvSpPr>
        <p:spPr>
          <a:xfrm>
            <a:off x="8046719" y="2103120"/>
            <a:ext cx="3520440" cy="54864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Steiner trees</a:t>
            </a:r>
          </a:p>
        </p:txBody>
      </p:sp>
      <p:sp>
        <p:nvSpPr>
          <p:cNvPr id="15" name="TextBox 14"/>
          <p:cNvSpPr txBox="1"/>
          <p:nvPr/>
        </p:nvSpPr>
        <p:spPr>
          <a:xfrm>
            <a:off x="548640" y="3108960"/>
            <a:ext cx="11064240" cy="1188720"/>
          </a:xfrm>
          <a:prstGeom prst="rect">
            <a:avLst/>
          </a:prstGeom>
          <a:noFill/>
        </p:spPr>
        <p:txBody>
          <a:bodyPr wrap="square" lIns="45720" tIns="27432" rIns="45720" bIns="27432" anchor="t"/>
          <a:lstStyle/>
          <a:p>
            <a:pPr algn="l">
              <a:spcAft>
                <a:spcPts val="1000"/>
              </a:spcAft>
            </a:pPr>
            <a:r>
              <a:rPr sz="2000" b="0" i="0">
                <a:solidFill>
                  <a:srgbClr val="2B2B2B"/>
                </a:solidFill>
                <a:latin typeface="Calibri"/>
              </a:rPr>
              <a:t>•  Own data type, own code, one sample at a time</a:t>
            </a:r>
          </a:p>
          <a:p>
            <a:pPr algn="l">
              <a:spcAft>
                <a:spcPts val="1000"/>
              </a:spcAft>
            </a:pPr>
            <a:r>
              <a:rPr sz="2000" b="0" i="0">
                <a:solidFill>
                  <a:srgbClr val="2B2B2B"/>
                </a:solidFill>
                <a:latin typeface="Calibri"/>
              </a:rPr>
              <a:t>•  Shared vs sample-specific mechanisms are hard to separate</a:t>
            </a:r>
          </a:p>
        </p:txBody>
      </p:sp>
      <p:sp>
        <p:nvSpPr>
          <p:cNvPr id="16" name="Rounded Rectangle 15"/>
          <p:cNvSpPr/>
          <p:nvPr/>
        </p:nvSpPr>
        <p:spPr>
          <a:xfrm>
            <a:off x="548640" y="4526280"/>
            <a:ext cx="11064240" cy="1371600"/>
          </a:xfrm>
          <a:prstGeom prst="roundRect">
            <a:avLst>
              <a:gd name="adj" fmla="val 8000"/>
            </a:avLst>
          </a:prstGeom>
          <a:solidFill>
            <a:srgbClr val="FFFFFF"/>
          </a:solid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2960" y="4572000"/>
            <a:ext cx="10515600" cy="1280160"/>
          </a:xfrm>
          <a:prstGeom prst="rect">
            <a:avLst/>
          </a:prstGeom>
          <a:noFill/>
        </p:spPr>
        <p:txBody>
          <a:bodyPr wrap="square" lIns="45720" tIns="27432" rIns="45720" bIns="27432" anchor="ctr"/>
          <a:lstStyle/>
          <a:p>
            <a:pPr algn="l">
              <a:spcAft>
                <a:spcPts val="600"/>
              </a:spcAft>
            </a:pPr>
            <a:r>
              <a:rPr sz="2000" b="0" i="0">
                <a:solidFill>
                  <a:srgbClr val="D55E00"/>
                </a:solidFill>
                <a:latin typeface="Calibri"/>
              </a:rPr>
              <a:t>Question</a:t>
            </a:r>
          </a:p>
          <a:p>
            <a:pPr algn="l">
              <a:spcAft>
                <a:spcPts val="600"/>
              </a:spcAft>
            </a:pPr>
            <a:r>
              <a:rPr sz="2000" b="0" i="0">
                <a:solidFill>
                  <a:srgbClr val="2B2B2B"/>
                </a:solidFill>
                <a:latin typeface="Calibri"/>
              </a:rPr>
              <a:t>Can one optimisation problem express all of them, and fit many samples jointly?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CORNETO: map data onto a PKN, solve one optimisation problem</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5</a:t>
            </a:r>
          </a:p>
        </p:txBody>
      </p:sp>
      <p:pic>
        <p:nvPicPr>
          <p:cNvPr id="6" name="Picture 5" descr="fig1.png"/>
          <p:cNvPicPr>
            <a:picLocks noChangeAspect="1"/>
          </p:cNvPicPr>
          <p:nvPr/>
        </p:nvPicPr>
        <p:blipFill>
          <a:blip r:embed="rId3"/>
          <a:stretch>
            <a:fillRect/>
          </a:stretch>
        </p:blipFill>
        <p:spPr>
          <a:xfrm>
            <a:off x="548640" y="1280160"/>
            <a:ext cx="5794455" cy="4892040"/>
          </a:xfrm>
          <a:prstGeom prst="rect">
            <a:avLst/>
          </a:prstGeom>
        </p:spPr>
      </p:pic>
      <p:sp>
        <p:nvSpPr>
          <p:cNvPr id="7" name="TextBox 6"/>
          <p:cNvSpPr txBox="1"/>
          <p:nvPr/>
        </p:nvSpPr>
        <p:spPr>
          <a:xfrm>
            <a:off x="6720840" y="1737360"/>
            <a:ext cx="4937760" cy="4114800"/>
          </a:xfrm>
          <a:prstGeom prst="rect">
            <a:avLst/>
          </a:prstGeom>
          <a:noFill/>
        </p:spPr>
        <p:txBody>
          <a:bodyPr wrap="square" lIns="45720" tIns="27432" rIns="45720" bIns="27432" anchor="t"/>
          <a:lstStyle/>
          <a:p>
            <a:pPr algn="l">
              <a:spcAft>
                <a:spcPts val="1600"/>
              </a:spcAft>
            </a:pPr>
            <a:r>
              <a:rPr sz="2000" b="0" i="0">
                <a:solidFill>
                  <a:srgbClr val="2B2B2B"/>
                </a:solidFill>
                <a:latin typeface="Calibri"/>
              </a:rPr>
              <a:t>•  Any PKN: graphs to hypergraphs</a:t>
            </a:r>
          </a:p>
          <a:p>
            <a:pPr algn="l">
              <a:spcAft>
                <a:spcPts val="1600"/>
              </a:spcAft>
            </a:pPr>
            <a:r>
              <a:rPr sz="2000" b="0" i="0">
                <a:solidFill>
                  <a:srgbClr val="2B2B2B"/>
                </a:solidFill>
                <a:latin typeface="Calibri"/>
              </a:rPr>
              <a:t>•  Any omics layer, mapped onto nodes or edges</a:t>
            </a:r>
          </a:p>
          <a:p>
            <a:pPr algn="l">
              <a:spcAft>
                <a:spcPts val="1600"/>
              </a:spcAft>
            </a:pPr>
            <a:r>
              <a:rPr sz="2000" b="0" i="0">
                <a:solidFill>
                  <a:srgbClr val="2B2B2B"/>
                </a:solidFill>
                <a:latin typeface="Calibri"/>
              </a:rPr>
              <a:t>•  All samples solved together</a:t>
            </a:r>
          </a:p>
          <a:p>
            <a:pPr algn="l">
              <a:spcAft>
                <a:spcPts val="1600"/>
              </a:spcAft>
            </a:pPr>
            <a:r>
              <a:rPr sz="2000" b="0" i="0">
                <a:solidFill>
                  <a:srgbClr val="2B2B2B"/>
                </a:solidFill>
                <a:latin typeface="Calibri"/>
              </a:rPr>
              <a:t>•  Exact solvers: LP / MILP</a:t>
            </a:r>
          </a:p>
          <a:p>
            <a:pPr algn="l">
              <a:spcAft>
                <a:spcPts val="1600"/>
              </a:spcAft>
            </a:pPr>
            <a:r>
              <a:rPr sz="2000" b="0" i="0">
                <a:solidFill>
                  <a:srgbClr val="2B2B2B"/>
                </a:solidFill>
                <a:latin typeface="Calibri"/>
              </a:rPr>
              <a:t>•  Python library, solver-agnostic</a:t>
            </a:r>
          </a:p>
        </p:txBody>
      </p:sp>
      <p:sp>
        <p:nvSpPr>
          <p:cNvPr id="8" name="TextBox 7"/>
          <p:cNvSpPr txBox="1"/>
          <p:nvPr/>
        </p:nvSpPr>
        <p:spPr>
          <a:xfrm>
            <a:off x="6720840" y="5852160"/>
            <a:ext cx="493776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1, CC BY 4.0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6</a:t>
            </a:r>
          </a:p>
        </p:txBody>
      </p:sp>
      <p:sp>
        <p:nvSpPr>
          <p:cNvPr id="6" name="Oval 5"/>
          <p:cNvSpPr/>
          <p:nvPr/>
        </p:nvSpPr>
        <p:spPr>
          <a:xfrm>
            <a:off x="886968" y="1645919"/>
            <a:ext cx="566928" cy="566928"/>
          </a:xfrm>
          <a:prstGeom prst="ellipse">
            <a:avLst/>
          </a:prstGeom>
          <a:solidFill>
            <a:srgbClr val="B8BDC6"/>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1</a:t>
            </a:r>
          </a:p>
        </p:txBody>
      </p:sp>
      <p:sp>
        <p:nvSpPr>
          <p:cNvPr id="7" name="TextBox 6"/>
          <p:cNvSpPr txBox="1"/>
          <p:nvPr/>
        </p:nvSpPr>
        <p:spPr>
          <a:xfrm>
            <a:off x="1691640" y="1600200"/>
            <a:ext cx="8686800" cy="658368"/>
          </a:xfrm>
          <a:prstGeom prst="rect">
            <a:avLst/>
          </a:prstGeom>
          <a:noFill/>
        </p:spPr>
        <p:txBody>
          <a:bodyPr wrap="square" lIns="45720" tIns="27432" rIns="45720" bIns="27432" anchor="ctr"/>
          <a:lstStyle/>
          <a:p>
            <a:pPr algn="l">
              <a:spcAft>
                <a:spcPts val="800"/>
              </a:spcAft>
            </a:pPr>
            <a:r>
              <a:rPr sz="2000" b="0" i="0">
                <a:solidFill>
                  <a:srgbClr val="6B7280"/>
                </a:solidFill>
                <a:latin typeface="Calibri"/>
              </a:rPr>
              <a:t>Why network inference from prior knowledge?</a:t>
            </a:r>
          </a:p>
        </p:txBody>
      </p:sp>
      <p:sp>
        <p:nvSpPr>
          <p:cNvPr id="8" name="Oval 7"/>
          <p:cNvSpPr/>
          <p:nvPr/>
        </p:nvSpPr>
        <p:spPr>
          <a:xfrm>
            <a:off x="886968" y="2606039"/>
            <a:ext cx="566928" cy="566928"/>
          </a:xfrm>
          <a:prstGeom prst="ellipse">
            <a:avLst/>
          </a:prstGeom>
          <a:solidFill>
            <a:srgbClr val="0072B2"/>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2</a:t>
            </a:r>
          </a:p>
        </p:txBody>
      </p:sp>
      <p:sp>
        <p:nvSpPr>
          <p:cNvPr id="9" name="Rectangle 8"/>
          <p:cNvSpPr/>
          <p:nvPr/>
        </p:nvSpPr>
        <p:spPr>
          <a:xfrm>
            <a:off x="566928" y="2578608"/>
            <a:ext cx="91440" cy="621792"/>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691640" y="2560320"/>
            <a:ext cx="8686800" cy="658368"/>
          </a:xfrm>
          <a:prstGeom prst="rect">
            <a:avLst/>
          </a:prstGeom>
          <a:noFill/>
        </p:spPr>
        <p:txBody>
          <a:bodyPr wrap="square" lIns="45720" tIns="27432" rIns="45720" bIns="27432" anchor="ctr"/>
          <a:lstStyle/>
          <a:p>
            <a:pPr algn="l">
              <a:spcAft>
                <a:spcPts val="800"/>
              </a:spcAft>
            </a:pPr>
            <a:r>
              <a:rPr sz="2000" b="0" i="0">
                <a:solidFill>
                  <a:srgbClr val="1F2A44"/>
                </a:solidFill>
                <a:latin typeface="Calibri"/>
              </a:rPr>
              <a:t>The methods CORNETO unifies</a:t>
            </a:r>
          </a:p>
        </p:txBody>
      </p:sp>
      <p:sp>
        <p:nvSpPr>
          <p:cNvPr id="11" name="Oval 10"/>
          <p:cNvSpPr/>
          <p:nvPr/>
        </p:nvSpPr>
        <p:spPr>
          <a:xfrm>
            <a:off x="886968" y="3566160"/>
            <a:ext cx="566928" cy="566928"/>
          </a:xfrm>
          <a:prstGeom prst="ellipse">
            <a:avLst/>
          </a:prstGeom>
          <a:solidFill>
            <a:srgbClr val="B8BDC6"/>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3</a:t>
            </a:r>
          </a:p>
        </p:txBody>
      </p:sp>
      <p:sp>
        <p:nvSpPr>
          <p:cNvPr id="12" name="TextBox 11"/>
          <p:cNvSpPr txBox="1"/>
          <p:nvPr/>
        </p:nvSpPr>
        <p:spPr>
          <a:xfrm>
            <a:off x="1691640" y="3520440"/>
            <a:ext cx="8686800" cy="658368"/>
          </a:xfrm>
          <a:prstGeom prst="rect">
            <a:avLst/>
          </a:prstGeom>
          <a:noFill/>
        </p:spPr>
        <p:txBody>
          <a:bodyPr wrap="square" lIns="45720" tIns="27432" rIns="45720" bIns="27432" anchor="ctr"/>
          <a:lstStyle/>
          <a:p>
            <a:pPr algn="l">
              <a:spcAft>
                <a:spcPts val="800"/>
              </a:spcAft>
            </a:pPr>
            <a:r>
              <a:rPr sz="2000" b="0" i="0">
                <a:solidFill>
                  <a:srgbClr val="6B7280"/>
                </a:solidFill>
                <a:latin typeface="Calibri"/>
              </a:rPr>
              <a:t>CORNETO: one optimisation problem</a:t>
            </a:r>
          </a:p>
        </p:txBody>
      </p:sp>
      <p:sp>
        <p:nvSpPr>
          <p:cNvPr id="13" name="Oval 12"/>
          <p:cNvSpPr/>
          <p:nvPr/>
        </p:nvSpPr>
        <p:spPr>
          <a:xfrm>
            <a:off x="886968" y="4526280"/>
            <a:ext cx="566928" cy="566928"/>
          </a:xfrm>
          <a:prstGeom prst="ellipse">
            <a:avLst/>
          </a:prstGeom>
          <a:solidFill>
            <a:srgbClr val="B8BDC6"/>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4</a:t>
            </a:r>
          </a:p>
        </p:txBody>
      </p:sp>
      <p:sp>
        <p:nvSpPr>
          <p:cNvPr id="14" name="TextBox 13"/>
          <p:cNvSpPr txBox="1"/>
          <p:nvPr/>
        </p:nvSpPr>
        <p:spPr>
          <a:xfrm>
            <a:off x="1691640" y="4480560"/>
            <a:ext cx="8686800" cy="658368"/>
          </a:xfrm>
          <a:prstGeom prst="rect">
            <a:avLst/>
          </a:prstGeom>
          <a:noFill/>
        </p:spPr>
        <p:txBody>
          <a:bodyPr wrap="square" lIns="45720" tIns="27432" rIns="45720" bIns="27432" anchor="ctr"/>
          <a:lstStyle/>
          <a:p>
            <a:pPr algn="l">
              <a:spcAft>
                <a:spcPts val="800"/>
              </a:spcAft>
            </a:pPr>
            <a:r>
              <a:rPr sz="2000" b="0" i="0">
                <a:solidFill>
                  <a:srgbClr val="6B7280"/>
                </a:solidFill>
                <a:latin typeface="Calibri"/>
              </a:rPr>
              <a:t>Results and take-home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Prior knowledge networks come in four shapes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7</a:t>
            </a:r>
          </a:p>
        </p:txBody>
      </p:sp>
      <p:pic>
        <p:nvPicPr>
          <p:cNvPr id="6" name="Picture 5" descr="fig2_pkns.png"/>
          <p:cNvPicPr>
            <a:picLocks noChangeAspect="1"/>
          </p:cNvPicPr>
          <p:nvPr/>
        </p:nvPicPr>
        <p:blipFill>
          <a:blip r:embed="rId3"/>
          <a:stretch>
            <a:fillRect/>
          </a:stretch>
        </p:blipFill>
        <p:spPr>
          <a:xfrm>
            <a:off x="822960" y="1325880"/>
            <a:ext cx="6766560" cy="2741623"/>
          </a:xfrm>
          <a:prstGeom prst="rect">
            <a:avLst/>
          </a:prstGeom>
        </p:spPr>
      </p:pic>
      <p:sp>
        <p:nvSpPr>
          <p:cNvPr id="7" name="TextBox 6"/>
          <p:cNvSpPr txBox="1"/>
          <p:nvPr/>
        </p:nvSpPr>
        <p:spPr>
          <a:xfrm>
            <a:off x="7955279" y="1600200"/>
            <a:ext cx="3749039" cy="2377440"/>
          </a:xfrm>
          <a:prstGeom prst="rect">
            <a:avLst/>
          </a:prstGeom>
          <a:noFill/>
        </p:spPr>
        <p:txBody>
          <a:bodyPr wrap="square" lIns="45720" tIns="27432" rIns="45720" bIns="27432" anchor="t"/>
          <a:lstStyle/>
          <a:p>
            <a:pPr algn="l">
              <a:spcAft>
                <a:spcPts val="1400"/>
              </a:spcAft>
            </a:pPr>
            <a:r>
              <a:rPr sz="2000" b="0" i="0">
                <a:solidFill>
                  <a:srgbClr val="0072B2"/>
                </a:solidFill>
                <a:latin typeface="Calibri"/>
              </a:rPr>
              <a:t>Left: </a:t>
            </a:r>
            <a:r>
              <a:rPr sz="2000" b="0" i="0">
                <a:solidFill>
                  <a:srgbClr val="2B2B2B"/>
                </a:solidFill>
                <a:latin typeface="Calibri"/>
              </a:rPr>
              <a:t>more mechanistic detail</a:t>
            </a:r>
          </a:p>
          <a:p>
            <a:pPr algn="l">
              <a:spcAft>
                <a:spcPts val="1400"/>
              </a:spcAft>
            </a:pPr>
            <a:r>
              <a:rPr sz="2000" b="0" i="0">
                <a:solidFill>
                  <a:srgbClr val="0072B2"/>
                </a:solidFill>
                <a:latin typeface="Calibri"/>
              </a:rPr>
              <a:t>Right: </a:t>
            </a:r>
            <a:r>
              <a:rPr sz="2000" b="0" i="0">
                <a:solidFill>
                  <a:srgbClr val="2B2B2B"/>
                </a:solidFill>
                <a:latin typeface="Calibri"/>
              </a:rPr>
              <a:t>more coverage, fewer assumptions</a:t>
            </a:r>
          </a:p>
        </p:txBody>
      </p:sp>
      <p:sp>
        <p:nvSpPr>
          <p:cNvPr id="8" name="TextBox 7"/>
          <p:cNvSpPr txBox="1"/>
          <p:nvPr/>
        </p:nvSpPr>
        <p:spPr>
          <a:xfrm>
            <a:off x="822960" y="4251960"/>
            <a:ext cx="274320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Hypergraph</a:t>
            </a:r>
          </a:p>
        </p:txBody>
      </p:sp>
      <p:sp>
        <p:nvSpPr>
          <p:cNvPr id="9" name="TextBox 8"/>
          <p:cNvSpPr txBox="1"/>
          <p:nvPr/>
        </p:nvSpPr>
        <p:spPr>
          <a:xfrm>
            <a:off x="3566160" y="4251960"/>
            <a:ext cx="8046720" cy="457200"/>
          </a:xfrm>
          <a:prstGeom prst="rect">
            <a:avLst/>
          </a:prstGeom>
          <a:noFill/>
        </p:spPr>
        <p:txBody>
          <a:bodyPr wrap="square" lIns="45720" tIns="27432" rIns="45720" bIns="27432" anchor="t"/>
          <a:lstStyle/>
          <a:p>
            <a:pPr algn="l">
              <a:spcAft>
                <a:spcPts val="800"/>
              </a:spcAft>
            </a:pPr>
            <a:r>
              <a:rPr sz="2000" b="0" i="0">
                <a:solidFill>
                  <a:srgbClr val="2B2B2B"/>
                </a:solidFill>
                <a:latin typeface="Calibri"/>
              </a:rPr>
              <a:t>genome-scale metabolic models</a:t>
            </a:r>
          </a:p>
        </p:txBody>
      </p:sp>
      <p:sp>
        <p:nvSpPr>
          <p:cNvPr id="10" name="TextBox 9"/>
          <p:cNvSpPr txBox="1"/>
          <p:nvPr/>
        </p:nvSpPr>
        <p:spPr>
          <a:xfrm>
            <a:off x="822960" y="4727448"/>
            <a:ext cx="274320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Signed directed</a:t>
            </a:r>
          </a:p>
        </p:txBody>
      </p:sp>
      <p:sp>
        <p:nvSpPr>
          <p:cNvPr id="11" name="TextBox 10"/>
          <p:cNvSpPr txBox="1"/>
          <p:nvPr/>
        </p:nvSpPr>
        <p:spPr>
          <a:xfrm>
            <a:off x="3566160" y="4727448"/>
            <a:ext cx="8046720" cy="457200"/>
          </a:xfrm>
          <a:prstGeom prst="rect">
            <a:avLst/>
          </a:prstGeom>
          <a:noFill/>
        </p:spPr>
        <p:txBody>
          <a:bodyPr wrap="square" lIns="45720" tIns="27432" rIns="45720" bIns="27432" anchor="t"/>
          <a:lstStyle/>
          <a:p>
            <a:pPr algn="l">
              <a:spcAft>
                <a:spcPts val="800"/>
              </a:spcAft>
            </a:pPr>
            <a:r>
              <a:rPr sz="2000" b="0" i="0">
                <a:solidFill>
                  <a:srgbClr val="2B2B2B"/>
                </a:solidFill>
                <a:latin typeface="Calibri"/>
              </a:rPr>
              <a:t>signalling, e.g. OmniPath</a:t>
            </a:r>
          </a:p>
        </p:txBody>
      </p:sp>
      <p:sp>
        <p:nvSpPr>
          <p:cNvPr id="12" name="TextBox 11"/>
          <p:cNvSpPr txBox="1"/>
          <p:nvPr/>
        </p:nvSpPr>
        <p:spPr>
          <a:xfrm>
            <a:off x="822960" y="5202936"/>
            <a:ext cx="274320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Directed</a:t>
            </a:r>
          </a:p>
        </p:txBody>
      </p:sp>
      <p:sp>
        <p:nvSpPr>
          <p:cNvPr id="13" name="TextBox 12"/>
          <p:cNvSpPr txBox="1"/>
          <p:nvPr/>
        </p:nvSpPr>
        <p:spPr>
          <a:xfrm>
            <a:off x="3566160" y="5202936"/>
            <a:ext cx="8046720" cy="457200"/>
          </a:xfrm>
          <a:prstGeom prst="rect">
            <a:avLst/>
          </a:prstGeom>
          <a:noFill/>
        </p:spPr>
        <p:txBody>
          <a:bodyPr wrap="square" lIns="45720" tIns="27432" rIns="45720" bIns="27432" anchor="t"/>
          <a:lstStyle/>
          <a:p>
            <a:pPr algn="l">
              <a:spcAft>
                <a:spcPts val="800"/>
              </a:spcAft>
            </a:pPr>
            <a:r>
              <a:rPr sz="2000" b="0" i="0">
                <a:solidFill>
                  <a:srgbClr val="2B2B2B"/>
                </a:solidFill>
                <a:latin typeface="Calibri"/>
              </a:rPr>
              <a:t>kinase–substrate</a:t>
            </a:r>
          </a:p>
        </p:txBody>
      </p:sp>
      <p:sp>
        <p:nvSpPr>
          <p:cNvPr id="14" name="TextBox 13"/>
          <p:cNvSpPr txBox="1"/>
          <p:nvPr/>
        </p:nvSpPr>
        <p:spPr>
          <a:xfrm>
            <a:off x="822960" y="5678424"/>
            <a:ext cx="2743200" cy="45720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Undirected</a:t>
            </a:r>
          </a:p>
        </p:txBody>
      </p:sp>
      <p:sp>
        <p:nvSpPr>
          <p:cNvPr id="15" name="TextBox 14"/>
          <p:cNvSpPr txBox="1"/>
          <p:nvPr/>
        </p:nvSpPr>
        <p:spPr>
          <a:xfrm>
            <a:off x="3566160" y="5678424"/>
            <a:ext cx="8046720" cy="457200"/>
          </a:xfrm>
          <a:prstGeom prst="rect">
            <a:avLst/>
          </a:prstGeom>
          <a:noFill/>
        </p:spPr>
        <p:txBody>
          <a:bodyPr wrap="square" lIns="45720" tIns="27432" rIns="45720" bIns="27432" anchor="t"/>
          <a:lstStyle/>
          <a:p>
            <a:pPr algn="l">
              <a:spcAft>
                <a:spcPts val="800"/>
              </a:spcAft>
            </a:pPr>
            <a:r>
              <a:rPr sz="2000" b="0" i="0">
                <a:solidFill>
                  <a:srgbClr val="2B2B2B"/>
                </a:solidFill>
                <a:latin typeface="Calibri"/>
              </a:rPr>
              <a:t>protein–protein interactions</a:t>
            </a:r>
          </a:p>
        </p:txBody>
      </p:sp>
      <p:sp>
        <p:nvSpPr>
          <p:cNvPr id="16" name="TextBox 15"/>
          <p:cNvSpPr txBox="1"/>
          <p:nvPr/>
        </p:nvSpPr>
        <p:spPr>
          <a:xfrm>
            <a:off x="7955279" y="3657600"/>
            <a:ext cx="3749039"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2 (PKNs), CC BY 4.0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Step 0 — decoupler: transcription factor activity from its targets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8</a:t>
            </a:r>
          </a:p>
        </p:txBody>
      </p:sp>
      <p:sp>
        <p:nvSpPr>
          <p:cNvPr id="6" name="Oval 5"/>
          <p:cNvSpPr/>
          <p:nvPr/>
        </p:nvSpPr>
        <p:spPr>
          <a:xfrm>
            <a:off x="2514600" y="1600200"/>
            <a:ext cx="822960" cy="822960"/>
          </a:xfrm>
          <a:prstGeom prst="ellipse">
            <a:avLst/>
          </a:prstGeom>
          <a:solidFill>
            <a:srgbClr val="C0392B"/>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TF</a:t>
            </a:r>
          </a:p>
        </p:txBody>
      </p:sp>
      <p:cxnSp>
        <p:nvCxnSpPr>
          <p:cNvPr id="7" name="Connector 6"/>
          <p:cNvCxnSpPr/>
          <p:nvPr/>
        </p:nvCxnSpPr>
        <p:spPr>
          <a:xfrm flipH="1">
            <a:off x="1172360" y="2295796"/>
            <a:ext cx="1456073" cy="1389889"/>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585216" y="360273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g1</a:t>
            </a:r>
          </a:p>
        </p:txBody>
      </p:sp>
      <p:cxnSp>
        <p:nvCxnSpPr>
          <p:cNvPr id="9" name="Connector 8"/>
          <p:cNvCxnSpPr/>
          <p:nvPr/>
        </p:nvCxnSpPr>
        <p:spPr>
          <a:xfrm flipH="1">
            <a:off x="2085712" y="2376181"/>
            <a:ext cx="649438" cy="1239837"/>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591056" y="360273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g2</a:t>
            </a:r>
          </a:p>
        </p:txBody>
      </p:sp>
      <p:cxnSp>
        <p:nvCxnSpPr>
          <p:cNvPr id="11" name="Connector 10"/>
          <p:cNvCxnSpPr/>
          <p:nvPr/>
        </p:nvCxnSpPr>
        <p:spPr>
          <a:xfrm>
            <a:off x="2926080" y="2423160"/>
            <a:ext cx="0" cy="1152143"/>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596896" y="360273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g3</a:t>
            </a:r>
          </a:p>
        </p:txBody>
      </p:sp>
      <p:cxnSp>
        <p:nvCxnSpPr>
          <p:cNvPr id="13" name="Connector 12"/>
          <p:cNvCxnSpPr/>
          <p:nvPr/>
        </p:nvCxnSpPr>
        <p:spPr>
          <a:xfrm>
            <a:off x="3117009" y="2376181"/>
            <a:ext cx="649438" cy="1239837"/>
          </a:xfrm>
          <a:prstGeom prst="line">
            <a:avLst/>
          </a:prstGeom>
          <a:ln w="31750">
            <a:solidFill>
              <a:srgbClr val="2C6F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602736" y="3602736"/>
            <a:ext cx="658368" cy="658368"/>
          </a:xfrm>
          <a:prstGeom prst="ellipse">
            <a:avLst/>
          </a:prstGeom>
          <a:solidFill>
            <a:srgbClr val="A9CBE8"/>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g4</a:t>
            </a:r>
          </a:p>
        </p:txBody>
      </p:sp>
      <p:cxnSp>
        <p:nvCxnSpPr>
          <p:cNvPr id="15" name="Connector 14"/>
          <p:cNvCxnSpPr/>
          <p:nvPr/>
        </p:nvCxnSpPr>
        <p:spPr>
          <a:xfrm>
            <a:off x="3223726" y="2295796"/>
            <a:ext cx="1456073" cy="1389889"/>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608576" y="360273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g5</a:t>
            </a:r>
          </a:p>
        </p:txBody>
      </p:sp>
      <p:sp>
        <p:nvSpPr>
          <p:cNvPr id="17" name="TextBox 16"/>
          <p:cNvSpPr txBox="1"/>
          <p:nvPr/>
        </p:nvSpPr>
        <p:spPr>
          <a:xfrm>
            <a:off x="548640" y="4480560"/>
            <a:ext cx="4937760" cy="1280160"/>
          </a:xfrm>
          <a:prstGeom prst="rect">
            <a:avLst/>
          </a:prstGeom>
          <a:noFill/>
        </p:spPr>
        <p:txBody>
          <a:bodyPr wrap="square" lIns="45720" tIns="27432" rIns="45720" bIns="27432" anchor="t"/>
          <a:lstStyle/>
          <a:p>
            <a:pPr algn="ctr">
              <a:spcAft>
                <a:spcPts val="600"/>
              </a:spcAft>
            </a:pPr>
            <a:r>
              <a:rPr sz="2000" b="0" i="0">
                <a:solidFill>
                  <a:srgbClr val="C0392B"/>
                </a:solidFill>
                <a:latin typeface="Calibri"/>
              </a:rPr>
              <a:t>red</a:t>
            </a:r>
            <a:r>
              <a:rPr sz="2000" b="0" i="0">
                <a:solidFill>
                  <a:srgbClr val="2B2B2B"/>
                </a:solidFill>
                <a:latin typeface="Calibri"/>
              </a:rPr>
              <a:t> activation / up   </a:t>
            </a:r>
            <a:r>
              <a:rPr sz="2000" b="0" i="0">
                <a:solidFill>
                  <a:srgbClr val="2C6FB7"/>
                </a:solidFill>
                <a:latin typeface="Calibri"/>
              </a:rPr>
              <a:t>blue</a:t>
            </a:r>
            <a:r>
              <a:rPr sz="2000" b="0" i="0">
                <a:solidFill>
                  <a:srgbClr val="2B2B2B"/>
                </a:solidFill>
                <a:latin typeface="Calibri"/>
              </a:rPr>
              <a:t> repression / down</a:t>
            </a:r>
          </a:p>
          <a:p>
            <a:pPr algn="ctr">
              <a:spcAft>
                <a:spcPts val="600"/>
              </a:spcAft>
            </a:pPr>
            <a:r>
              <a:rPr sz="2000" b="0" i="0">
                <a:solidFill>
                  <a:srgbClr val="6B7280"/>
                </a:solidFill>
                <a:latin typeface="Calibri"/>
              </a:rPr>
              <a:t>target changes → TF score</a:t>
            </a:r>
          </a:p>
        </p:txBody>
      </p:sp>
      <p:sp>
        <p:nvSpPr>
          <p:cNvPr id="18" name="TextBox 17"/>
          <p:cNvSpPr txBox="1"/>
          <p:nvPr/>
        </p:nvSpPr>
        <p:spPr>
          <a:xfrm>
            <a:off x="6035040" y="1554480"/>
            <a:ext cx="5669280" cy="4389120"/>
          </a:xfrm>
          <a:prstGeom prst="rect">
            <a:avLst/>
          </a:prstGeom>
          <a:noFill/>
        </p:spPr>
        <p:txBody>
          <a:bodyPr wrap="square" lIns="45720" tIns="27432" rIns="45720" bIns="27432" anchor="t"/>
          <a:lstStyle/>
          <a:p>
            <a:pPr algn="l">
              <a:spcAft>
                <a:spcPts val="1600"/>
              </a:spcAft>
            </a:pPr>
            <a:r>
              <a:rPr sz="2000" b="0" i="0">
                <a:solidFill>
                  <a:srgbClr val="0072B2"/>
                </a:solidFill>
                <a:latin typeface="Calibri"/>
              </a:rPr>
              <a:t>Regulon: </a:t>
            </a:r>
            <a:r>
              <a:rPr sz="2000" b="0" i="0">
                <a:solidFill>
                  <a:srgbClr val="2B2B2B"/>
                </a:solidFill>
                <a:latin typeface="Calibri"/>
              </a:rPr>
              <a:t>signed TF → target edges (CollecTRI, DoRothEA)</a:t>
            </a:r>
          </a:p>
          <a:p>
            <a:pPr algn="l">
              <a:spcAft>
                <a:spcPts val="1600"/>
              </a:spcAft>
            </a:pPr>
            <a:r>
              <a:rPr sz="2000" b="0" i="0">
                <a:solidFill>
                  <a:srgbClr val="0072B2"/>
                </a:solidFill>
                <a:latin typeface="Calibri"/>
              </a:rPr>
              <a:t>Score: </a:t>
            </a:r>
            <a:r>
              <a:rPr sz="2000" b="0" i="0">
                <a:solidFill>
                  <a:srgbClr val="2B2B2B"/>
                </a:solidFill>
                <a:latin typeface="Calibri"/>
              </a:rPr>
              <a:t>fit target gene statistics on regulon weights (e.g. univariate linear model)</a:t>
            </a:r>
          </a:p>
          <a:p>
            <a:pPr algn="l">
              <a:spcAft>
                <a:spcPts val="1600"/>
              </a:spcAft>
            </a:pPr>
            <a:r>
              <a:rPr sz="2000" b="0" i="0">
                <a:solidFill>
                  <a:srgbClr val="0072B2"/>
                </a:solidFill>
                <a:latin typeface="Calibri"/>
              </a:rPr>
              <a:t>Output: </a:t>
            </a:r>
            <a:r>
              <a:rPr sz="2000" b="0" i="0">
                <a:solidFill>
                  <a:srgbClr val="2B2B2B"/>
                </a:solidFill>
                <a:latin typeface="Calibri"/>
              </a:rPr>
              <a:t>one activity per TF per sample</a:t>
            </a:r>
          </a:p>
          <a:p>
            <a:pPr algn="l">
              <a:spcAft>
                <a:spcPts val="1600"/>
              </a:spcAft>
            </a:pPr>
            <a:r>
              <a:rPr sz="2000" b="0" i="0">
                <a:solidFill>
                  <a:srgbClr val="0072B2"/>
                </a:solidFill>
                <a:latin typeface="Calibri"/>
              </a:rPr>
              <a:t>Used as: </a:t>
            </a:r>
            <a:r>
              <a:rPr sz="2000" b="0" i="0">
                <a:solidFill>
                  <a:srgbClr val="2B2B2B"/>
                </a:solidFill>
                <a:latin typeface="Calibri"/>
              </a:rPr>
              <a:t>the measured nodes for CARNIVAL</a:t>
            </a:r>
          </a:p>
        </p:txBody>
      </p:sp>
      <p:sp>
        <p:nvSpPr>
          <p:cNvPr id="19" name="TextBox 18"/>
          <p:cNvSpPr txBox="1"/>
          <p:nvPr/>
        </p:nvSpPr>
        <p:spPr>
          <a:xfrm>
            <a:off x="6035040" y="5897880"/>
            <a:ext cx="566928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Badia-i-Mompel et al., Bioinform Adv 2022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CARNIVAL: sign-consistent paths from inputs to TFs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9</a:t>
            </a:r>
          </a:p>
        </p:txBody>
      </p:sp>
      <p:cxnSp>
        <p:nvCxnSpPr>
          <p:cNvPr id="6" name="Connector 5"/>
          <p:cNvCxnSpPr/>
          <p:nvPr/>
        </p:nvCxnSpPr>
        <p:spPr>
          <a:xfrm flipH="1">
            <a:off x="3365667" y="3108858"/>
            <a:ext cx="786491" cy="758402"/>
          </a:xfrm>
          <a:prstGeom prst="line">
            <a:avLst/>
          </a:prstGeom>
          <a:ln w="19050">
            <a:solidFill>
              <a:srgbClr val="AAB0B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370123" y="4298969"/>
            <a:ext cx="1260376" cy="850754"/>
          </a:xfrm>
          <a:prstGeom prst="line">
            <a:avLst/>
          </a:prstGeom>
          <a:ln w="19050">
            <a:solidFill>
              <a:srgbClr val="AAB0B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2090125" y="1915633"/>
            <a:ext cx="777611" cy="722067"/>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350183" y="1915633"/>
            <a:ext cx="777611" cy="722067"/>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279083" y="3163554"/>
            <a:ext cx="381898" cy="644452"/>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5761" y="3108858"/>
            <a:ext cx="786491" cy="758402"/>
          </a:xfrm>
          <a:prstGeom prst="line">
            <a:avLst/>
          </a:prstGeom>
          <a:ln w="38100">
            <a:solidFill>
              <a:srgbClr val="2C6FB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966661" y="4440429"/>
            <a:ext cx="82377" cy="556045"/>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978341" y="4440429"/>
            <a:ext cx="82377" cy="556045"/>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460530" y="3201705"/>
            <a:ext cx="399869" cy="1799411"/>
          </a:xfrm>
          <a:prstGeom prst="line">
            <a:avLst/>
          </a:prstGeom>
          <a:ln w="38100">
            <a:solidFill>
              <a:srgbClr val="2C6F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2779776" y="136245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In</a:t>
            </a:r>
          </a:p>
        </p:txBody>
      </p:sp>
      <p:sp>
        <p:nvSpPr>
          <p:cNvPr id="16" name="Oval 15"/>
          <p:cNvSpPr/>
          <p:nvPr/>
        </p:nvSpPr>
        <p:spPr>
          <a:xfrm>
            <a:off x="1499616" y="255117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K1</a:t>
            </a:r>
          </a:p>
        </p:txBody>
      </p:sp>
      <p:sp>
        <p:nvSpPr>
          <p:cNvPr id="17" name="Oval 16"/>
          <p:cNvSpPr/>
          <p:nvPr/>
        </p:nvSpPr>
        <p:spPr>
          <a:xfrm>
            <a:off x="4059935" y="2551176"/>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K2</a:t>
            </a:r>
          </a:p>
        </p:txBody>
      </p:sp>
      <p:sp>
        <p:nvSpPr>
          <p:cNvPr id="18" name="Oval 17"/>
          <p:cNvSpPr/>
          <p:nvPr/>
        </p:nvSpPr>
        <p:spPr>
          <a:xfrm>
            <a:off x="768096" y="3785615"/>
            <a:ext cx="658368" cy="658368"/>
          </a:xfrm>
          <a:prstGeom prst="ellipse">
            <a:avLst/>
          </a:prstGeom>
          <a:solidFill>
            <a:srgbClr val="F4B6AE"/>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K3</a:t>
            </a:r>
          </a:p>
        </p:txBody>
      </p:sp>
      <p:sp>
        <p:nvSpPr>
          <p:cNvPr id="19" name="Oval 18"/>
          <p:cNvSpPr/>
          <p:nvPr/>
        </p:nvSpPr>
        <p:spPr>
          <a:xfrm>
            <a:off x="2779776" y="3785615"/>
            <a:ext cx="658368" cy="658368"/>
          </a:xfrm>
          <a:prstGeom prst="ellipse">
            <a:avLst/>
          </a:prstGeom>
          <a:solidFill>
            <a:srgbClr val="A9CBE8"/>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K4</a:t>
            </a:r>
          </a:p>
        </p:txBody>
      </p:sp>
      <p:sp>
        <p:nvSpPr>
          <p:cNvPr id="20" name="Oval 19"/>
          <p:cNvSpPr/>
          <p:nvPr/>
        </p:nvSpPr>
        <p:spPr>
          <a:xfrm>
            <a:off x="548640" y="4983479"/>
            <a:ext cx="731520" cy="731520"/>
          </a:xfrm>
          <a:prstGeom prst="ellipse">
            <a:avLst/>
          </a:prstGeom>
          <a:solidFill>
            <a:srgbClr val="C0392B"/>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TF1</a:t>
            </a:r>
          </a:p>
        </p:txBody>
      </p:sp>
      <p:sp>
        <p:nvSpPr>
          <p:cNvPr id="21" name="Oval 20"/>
          <p:cNvSpPr/>
          <p:nvPr/>
        </p:nvSpPr>
        <p:spPr>
          <a:xfrm>
            <a:off x="2560320" y="4983479"/>
            <a:ext cx="731520" cy="731520"/>
          </a:xfrm>
          <a:prstGeom prst="ellipse">
            <a:avLst/>
          </a:prstGeom>
          <a:solidFill>
            <a:srgbClr val="2C6FB7"/>
          </a:solidFill>
          <a:ln w="19050">
            <a:solidFill>
              <a:srgbClr val="2C6FB7"/>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TF2</a:t>
            </a:r>
          </a:p>
        </p:txBody>
      </p:sp>
      <p:sp>
        <p:nvSpPr>
          <p:cNvPr id="22" name="Oval 21"/>
          <p:cNvSpPr/>
          <p:nvPr/>
        </p:nvSpPr>
        <p:spPr>
          <a:xfrm>
            <a:off x="4572000" y="4983479"/>
            <a:ext cx="731520" cy="731520"/>
          </a:xfrm>
          <a:prstGeom prst="ellipse">
            <a:avLst/>
          </a:prstGeom>
          <a:solidFill>
            <a:srgbClr val="2C6FB7"/>
          </a:solidFill>
          <a:ln w="19050">
            <a:solidFill>
              <a:srgbClr val="2C6FB7"/>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TF3</a:t>
            </a:r>
          </a:p>
        </p:txBody>
      </p:sp>
      <p:sp>
        <p:nvSpPr>
          <p:cNvPr id="23" name="TextBox 22"/>
          <p:cNvSpPr txBox="1"/>
          <p:nvPr/>
        </p:nvSpPr>
        <p:spPr>
          <a:xfrm>
            <a:off x="365760" y="5760720"/>
            <a:ext cx="5486400" cy="457200"/>
          </a:xfrm>
          <a:prstGeom prst="rect">
            <a:avLst/>
          </a:prstGeom>
          <a:noFill/>
        </p:spPr>
        <p:txBody>
          <a:bodyPr wrap="square" lIns="45720" tIns="27432" rIns="45720" bIns="27432" anchor="t"/>
          <a:lstStyle/>
          <a:p>
            <a:pPr algn="ctr">
              <a:spcAft>
                <a:spcPts val="800"/>
              </a:spcAft>
            </a:pPr>
            <a:r>
              <a:rPr sz="2000" b="0" i="0">
                <a:solidFill>
                  <a:srgbClr val="C0392B"/>
                </a:solidFill>
                <a:latin typeface="Calibri"/>
              </a:rPr>
              <a:t>red</a:t>
            </a:r>
            <a:r>
              <a:rPr sz="2000" b="0" i="0">
                <a:solidFill>
                  <a:srgbClr val="2B2B2B"/>
                </a:solidFill>
                <a:latin typeface="Calibri"/>
              </a:rPr>
              <a:t> activation / up   </a:t>
            </a:r>
            <a:r>
              <a:rPr sz="2000" b="0" i="0">
                <a:solidFill>
                  <a:srgbClr val="2C6FB7"/>
                </a:solidFill>
                <a:latin typeface="Calibri"/>
              </a:rPr>
              <a:t>blue</a:t>
            </a:r>
            <a:r>
              <a:rPr sz="2000" b="0" i="0">
                <a:solidFill>
                  <a:srgbClr val="2B2B2B"/>
                </a:solidFill>
                <a:latin typeface="Calibri"/>
              </a:rPr>
              <a:t> inhibition / down</a:t>
            </a:r>
          </a:p>
        </p:txBody>
      </p:sp>
      <p:sp>
        <p:nvSpPr>
          <p:cNvPr id="24" name="TextBox 23"/>
          <p:cNvSpPr txBox="1"/>
          <p:nvPr/>
        </p:nvSpPr>
        <p:spPr>
          <a:xfrm>
            <a:off x="6035040" y="1463040"/>
            <a:ext cx="5669280" cy="4572000"/>
          </a:xfrm>
          <a:prstGeom prst="rect">
            <a:avLst/>
          </a:prstGeom>
          <a:noFill/>
        </p:spPr>
        <p:txBody>
          <a:bodyPr wrap="square" lIns="45720" tIns="27432" rIns="45720" bIns="27432" anchor="t"/>
          <a:lstStyle/>
          <a:p>
            <a:pPr algn="l">
              <a:spcAft>
                <a:spcPts val="1600"/>
              </a:spcAft>
            </a:pPr>
            <a:r>
              <a:rPr sz="2000" b="0" i="0">
                <a:solidFill>
                  <a:srgbClr val="0072B2"/>
                </a:solidFill>
                <a:latin typeface="Calibri"/>
              </a:rPr>
              <a:t>Node state: </a:t>
            </a:r>
            <a:r>
              <a:rPr sz="2000" b="0" i="0">
                <a:solidFill>
                  <a:srgbClr val="2B2B2B"/>
                </a:solidFill>
                <a:latin typeface="Calibri"/>
              </a:rPr>
              <a:t>up, down or off</a:t>
            </a:r>
          </a:p>
          <a:p>
            <a:pPr algn="l">
              <a:spcAft>
                <a:spcPts val="1600"/>
              </a:spcAft>
            </a:pPr>
            <a:r>
              <a:rPr sz="2000" b="0" i="0">
                <a:solidFill>
                  <a:srgbClr val="0072B2"/>
                </a:solidFill>
                <a:latin typeface="Calibri"/>
              </a:rPr>
              <a:t>Edge rule: </a:t>
            </a:r>
            <a:r>
              <a:rPr sz="2000" b="0" i="0">
                <a:solidFill>
                  <a:srgbClr val="2B2B2B"/>
                </a:solidFill>
                <a:latin typeface="Calibri"/>
              </a:rPr>
              <a:t>child = edge sign × parent</a:t>
            </a:r>
          </a:p>
          <a:p>
            <a:pPr algn="l">
              <a:spcAft>
                <a:spcPts val="1600"/>
              </a:spcAft>
            </a:pPr>
            <a:r>
              <a:rPr sz="2000" b="0" i="0">
                <a:solidFill>
                  <a:srgbClr val="0072B2"/>
                </a:solidFill>
                <a:latin typeface="Calibri"/>
              </a:rPr>
              <a:t>Fit: </a:t>
            </a:r>
            <a:r>
              <a:rPr sz="2000" b="0" i="0">
                <a:solidFill>
                  <a:srgbClr val="2B2B2B"/>
                </a:solidFill>
                <a:latin typeface="Calibri"/>
              </a:rPr>
              <a:t>match TF activities with few edges</a:t>
            </a:r>
          </a:p>
          <a:p>
            <a:pPr algn="l">
              <a:spcAft>
                <a:spcPts val="1600"/>
              </a:spcAft>
            </a:pPr>
            <a:r>
              <a:rPr sz="2000" b="0" i="0">
                <a:solidFill>
                  <a:srgbClr val="0072B2"/>
                </a:solidFill>
                <a:latin typeface="Calibri"/>
              </a:rPr>
              <a:t>Solver: </a:t>
            </a:r>
            <a:r>
              <a:rPr sz="2000" b="0" i="0">
                <a:solidFill>
                  <a:srgbClr val="2B2B2B"/>
                </a:solidFill>
                <a:latin typeface="Calibri"/>
              </a:rPr>
              <a:t>integer linear program</a:t>
            </a:r>
          </a:p>
          <a:p>
            <a:pPr algn="l">
              <a:spcAft>
                <a:spcPts val="1600"/>
              </a:spcAft>
            </a:pPr>
            <a:r>
              <a:rPr sz="2000" b="0" i="0">
                <a:solidFill>
                  <a:srgbClr val="D55E00"/>
                </a:solidFill>
                <a:latin typeface="Calibri"/>
              </a:rPr>
              <a:t>Inverse CARNIVAL: </a:t>
            </a:r>
            <a:r>
              <a:rPr sz="2000" b="0" i="0">
                <a:solidFill>
                  <a:srgbClr val="2B2B2B"/>
                </a:solidFill>
                <a:latin typeface="Calibri"/>
              </a:rPr>
              <a:t>inputs unknown, so any root node may start a signal</a:t>
            </a:r>
          </a:p>
        </p:txBody>
      </p:sp>
      <p:sp>
        <p:nvSpPr>
          <p:cNvPr id="25" name="TextBox 24"/>
          <p:cNvSpPr txBox="1"/>
          <p:nvPr/>
        </p:nvSpPr>
        <p:spPr>
          <a:xfrm>
            <a:off x="6035040" y="5897880"/>
            <a:ext cx="566928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Liu et al., NPJ Syst Biol Appl 2019; dashed = PKN edge not selected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FBA: fluxes through a metabolic network at steady state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10</a:t>
            </a:r>
          </a:p>
        </p:txBody>
      </p:sp>
      <p:cxnSp>
        <p:nvCxnSpPr>
          <p:cNvPr id="6" name="Connector 5"/>
          <p:cNvCxnSpPr/>
          <p:nvPr/>
        </p:nvCxnSpPr>
        <p:spPr>
          <a:xfrm>
            <a:off x="457200" y="3657600"/>
            <a:ext cx="923543"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97180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v0</a:t>
            </a:r>
          </a:p>
        </p:txBody>
      </p:sp>
      <p:cxnSp>
        <p:nvCxnSpPr>
          <p:cNvPr id="8" name="Connector 7"/>
          <p:cNvCxnSpPr/>
          <p:nvPr/>
        </p:nvCxnSpPr>
        <p:spPr>
          <a:xfrm flipV="1">
            <a:off x="1995147" y="2644933"/>
            <a:ext cx="1017423" cy="807953"/>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783079" y="242316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v1</a:t>
            </a:r>
          </a:p>
        </p:txBody>
      </p:sp>
      <p:cxnSp>
        <p:nvCxnSpPr>
          <p:cNvPr id="10" name="Connector 9"/>
          <p:cNvCxnSpPr/>
          <p:nvPr/>
        </p:nvCxnSpPr>
        <p:spPr>
          <a:xfrm>
            <a:off x="1995147" y="3862313"/>
            <a:ext cx="1017423" cy="807953"/>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83079" y="4160520"/>
            <a:ext cx="685800" cy="411480"/>
          </a:xfrm>
          <a:prstGeom prst="rect">
            <a:avLst/>
          </a:prstGeom>
          <a:noFill/>
        </p:spPr>
        <p:txBody>
          <a:bodyPr wrap="square" lIns="45720" tIns="27432" rIns="45720" bIns="27432" anchor="t"/>
          <a:lstStyle/>
          <a:p>
            <a:pPr algn="ctr">
              <a:spcAft>
                <a:spcPts val="800"/>
              </a:spcAft>
            </a:pPr>
            <a:r>
              <a:rPr sz="2000" b="0" i="0">
                <a:solidFill>
                  <a:srgbClr val="AAB0BA"/>
                </a:solidFill>
                <a:latin typeface="Calibri"/>
              </a:rPr>
              <a:t>v2</a:t>
            </a:r>
          </a:p>
        </p:txBody>
      </p:sp>
      <p:cxnSp>
        <p:nvCxnSpPr>
          <p:cNvPr id="12" name="Connector 11"/>
          <p:cNvCxnSpPr/>
          <p:nvPr/>
        </p:nvCxnSpPr>
        <p:spPr>
          <a:xfrm>
            <a:off x="3549627" y="2627873"/>
            <a:ext cx="1017423" cy="807953"/>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886200" y="242316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v3</a:t>
            </a:r>
          </a:p>
        </p:txBody>
      </p:sp>
      <p:cxnSp>
        <p:nvCxnSpPr>
          <p:cNvPr id="14" name="Connector 13"/>
          <p:cNvCxnSpPr/>
          <p:nvPr/>
        </p:nvCxnSpPr>
        <p:spPr>
          <a:xfrm flipV="1">
            <a:off x="3549627" y="3879373"/>
            <a:ext cx="1017423" cy="807953"/>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886200" y="4160520"/>
            <a:ext cx="685800" cy="411480"/>
          </a:xfrm>
          <a:prstGeom prst="rect">
            <a:avLst/>
          </a:prstGeom>
          <a:noFill/>
        </p:spPr>
        <p:txBody>
          <a:bodyPr wrap="square" lIns="45720" tIns="27432" rIns="45720" bIns="27432" anchor="t"/>
          <a:lstStyle/>
          <a:p>
            <a:pPr algn="ctr">
              <a:spcAft>
                <a:spcPts val="800"/>
              </a:spcAft>
            </a:pPr>
            <a:r>
              <a:rPr sz="2000" b="0" i="0">
                <a:solidFill>
                  <a:srgbClr val="AAB0BA"/>
                </a:solidFill>
                <a:latin typeface="Calibri"/>
              </a:rPr>
              <a:t>v4</a:t>
            </a:r>
          </a:p>
        </p:txBody>
      </p:sp>
      <p:cxnSp>
        <p:nvCxnSpPr>
          <p:cNvPr id="16" name="Connector 15"/>
          <p:cNvCxnSpPr/>
          <p:nvPr/>
        </p:nvCxnSpPr>
        <p:spPr>
          <a:xfrm>
            <a:off x="5175504" y="3657600"/>
            <a:ext cx="740664"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0" y="297180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bio</a:t>
            </a:r>
          </a:p>
        </p:txBody>
      </p:sp>
      <p:sp>
        <p:nvSpPr>
          <p:cNvPr id="18" name="Oval 17"/>
          <p:cNvSpPr/>
          <p:nvPr/>
        </p:nvSpPr>
        <p:spPr>
          <a:xfrm>
            <a:off x="1408176" y="33284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A</a:t>
            </a:r>
          </a:p>
        </p:txBody>
      </p:sp>
      <p:sp>
        <p:nvSpPr>
          <p:cNvPr id="19" name="Oval 18"/>
          <p:cNvSpPr/>
          <p:nvPr/>
        </p:nvSpPr>
        <p:spPr>
          <a:xfrm>
            <a:off x="2962656" y="209397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B</a:t>
            </a:r>
          </a:p>
        </p:txBody>
      </p:sp>
      <p:sp>
        <p:nvSpPr>
          <p:cNvPr id="20" name="Oval 19"/>
          <p:cNvSpPr/>
          <p:nvPr/>
        </p:nvSpPr>
        <p:spPr>
          <a:xfrm>
            <a:off x="2962656" y="4562855"/>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D</a:t>
            </a:r>
          </a:p>
        </p:txBody>
      </p:sp>
      <p:sp>
        <p:nvSpPr>
          <p:cNvPr id="21" name="Oval 20"/>
          <p:cNvSpPr/>
          <p:nvPr/>
        </p:nvSpPr>
        <p:spPr>
          <a:xfrm>
            <a:off x="4517136" y="33284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C</a:t>
            </a:r>
          </a:p>
        </p:txBody>
      </p:sp>
      <p:sp>
        <p:nvSpPr>
          <p:cNvPr id="22" name="TextBox 21"/>
          <p:cNvSpPr txBox="1"/>
          <p:nvPr/>
        </p:nvSpPr>
        <p:spPr>
          <a:xfrm>
            <a:off x="548640" y="5440680"/>
            <a:ext cx="566928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dark = one optimal flux route</a:t>
            </a:r>
          </a:p>
        </p:txBody>
      </p:sp>
      <p:sp>
        <p:nvSpPr>
          <p:cNvPr id="23" name="TextBox 22"/>
          <p:cNvSpPr txBox="1"/>
          <p:nvPr/>
        </p:nvSpPr>
        <p:spPr>
          <a:xfrm>
            <a:off x="6400800" y="1463040"/>
            <a:ext cx="5303520" cy="4572000"/>
          </a:xfrm>
          <a:prstGeom prst="rect">
            <a:avLst/>
          </a:prstGeom>
          <a:noFill/>
        </p:spPr>
        <p:txBody>
          <a:bodyPr wrap="square" lIns="45720" tIns="27432" rIns="45720" bIns="27432" anchor="t"/>
          <a:lstStyle/>
          <a:p>
            <a:pPr algn="l">
              <a:spcAft>
                <a:spcPts val="1800"/>
              </a:spcAft>
            </a:pPr>
            <a:r>
              <a:rPr sz="2000" b="0" i="0">
                <a:solidFill>
                  <a:srgbClr val="0072B2"/>
                </a:solidFill>
                <a:latin typeface="Calibri"/>
              </a:rPr>
              <a:t>Steady state: </a:t>
            </a:r>
            <a:r>
              <a:rPr sz="2000" b="0" i="0">
                <a:solidFill>
                  <a:srgbClr val="2B2B2B"/>
                </a:solidFill>
                <a:latin typeface="Calibri"/>
              </a:rPr>
              <a:t>S v = 0</a:t>
            </a:r>
          </a:p>
          <a:p>
            <a:pPr algn="l">
              <a:spcAft>
                <a:spcPts val="1800"/>
              </a:spcAft>
            </a:pPr>
            <a:r>
              <a:rPr sz="2000" b="0" i="0">
                <a:solidFill>
                  <a:srgbClr val="0072B2"/>
                </a:solidFill>
                <a:latin typeface="Calibri"/>
              </a:rPr>
              <a:t>Bounds: </a:t>
            </a:r>
            <a:r>
              <a:rPr sz="2000" b="0" i="0">
                <a:solidFill>
                  <a:srgbClr val="2B2B2B"/>
                </a:solidFill>
                <a:latin typeface="Calibri"/>
              </a:rPr>
              <a:t>lb ≤ v ≤ ub</a:t>
            </a:r>
          </a:p>
          <a:p>
            <a:pPr algn="l">
              <a:spcAft>
                <a:spcPts val="1800"/>
              </a:spcAft>
            </a:pPr>
            <a:r>
              <a:rPr sz="2000" b="0" i="0">
                <a:solidFill>
                  <a:srgbClr val="0072B2"/>
                </a:solidFill>
                <a:latin typeface="Calibri"/>
              </a:rPr>
              <a:t>Objective: </a:t>
            </a:r>
            <a:r>
              <a:rPr sz="2000" b="0" i="0">
                <a:solidFill>
                  <a:srgbClr val="2B2B2B"/>
                </a:solidFill>
                <a:latin typeface="Calibri"/>
              </a:rPr>
              <a:t>maximise biomass flux (LP)</a:t>
            </a:r>
          </a:p>
          <a:p>
            <a:pPr algn="l">
              <a:spcAft>
                <a:spcPts val="1800"/>
              </a:spcAft>
            </a:pPr>
            <a:r>
              <a:rPr sz="2000" b="0" i="0">
                <a:solidFill>
                  <a:srgbClr val="D55E00"/>
                </a:solidFill>
                <a:latin typeface="Calibri"/>
              </a:rPr>
              <a:t>Sparse FBA: </a:t>
            </a:r>
            <a:r>
              <a:rPr sz="2000" b="0" i="0">
                <a:solidFill>
                  <a:srgbClr val="2B2B2B"/>
                </a:solidFill>
                <a:latin typeface="Calibri"/>
              </a:rPr>
              <a:t>fewest active reactions with biomass ≥ x% of max (MILP)</a:t>
            </a:r>
          </a:p>
        </p:txBody>
      </p:sp>
      <p:sp>
        <p:nvSpPr>
          <p:cNvPr id="24" name="TextBox 23"/>
          <p:cNvSpPr txBox="1"/>
          <p:nvPr/>
        </p:nvSpPr>
        <p:spPr>
          <a:xfrm>
            <a:off x="6400800" y="5897880"/>
            <a:ext cx="530352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Orth, Thiele &amp; Palsson, Nat Biotechnol 2010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iMAT: a metabolic network that agrees with expression</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11</a:t>
            </a:r>
          </a:p>
        </p:txBody>
      </p:sp>
      <p:cxnSp>
        <p:nvCxnSpPr>
          <p:cNvPr id="6" name="Connector 5"/>
          <p:cNvCxnSpPr/>
          <p:nvPr/>
        </p:nvCxnSpPr>
        <p:spPr>
          <a:xfrm>
            <a:off x="457200" y="3657600"/>
            <a:ext cx="923543"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97180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v0</a:t>
            </a:r>
          </a:p>
        </p:txBody>
      </p:sp>
      <p:cxnSp>
        <p:nvCxnSpPr>
          <p:cNvPr id="8" name="Connector 7"/>
          <p:cNvCxnSpPr/>
          <p:nvPr/>
        </p:nvCxnSpPr>
        <p:spPr>
          <a:xfrm flipV="1">
            <a:off x="1995147" y="2644933"/>
            <a:ext cx="1017423" cy="807953"/>
          </a:xfrm>
          <a:prstGeom prst="line">
            <a:avLst/>
          </a:prstGeom>
          <a:ln w="444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783079" y="2423160"/>
            <a:ext cx="685800" cy="411480"/>
          </a:xfrm>
          <a:prstGeom prst="rect">
            <a:avLst/>
          </a:prstGeom>
          <a:noFill/>
        </p:spPr>
        <p:txBody>
          <a:bodyPr wrap="square" lIns="45720" tIns="27432" rIns="45720" bIns="27432" anchor="t"/>
          <a:lstStyle/>
          <a:p>
            <a:pPr algn="ctr">
              <a:spcAft>
                <a:spcPts val="800"/>
              </a:spcAft>
            </a:pPr>
            <a:r>
              <a:rPr sz="2000" b="0" i="0">
                <a:solidFill>
                  <a:srgbClr val="C0392B"/>
                </a:solidFill>
                <a:latin typeface="Calibri"/>
              </a:rPr>
              <a:t>v1</a:t>
            </a:r>
          </a:p>
        </p:txBody>
      </p:sp>
      <p:cxnSp>
        <p:nvCxnSpPr>
          <p:cNvPr id="10" name="Connector 9"/>
          <p:cNvCxnSpPr/>
          <p:nvPr/>
        </p:nvCxnSpPr>
        <p:spPr>
          <a:xfrm>
            <a:off x="1995147" y="3862313"/>
            <a:ext cx="1017423" cy="807953"/>
          </a:xfrm>
          <a:prstGeom prst="line">
            <a:avLst/>
          </a:prstGeom>
          <a:ln w="19050">
            <a:solidFill>
              <a:srgbClr val="2C6FB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83079" y="4160520"/>
            <a:ext cx="685800" cy="411480"/>
          </a:xfrm>
          <a:prstGeom prst="rect">
            <a:avLst/>
          </a:prstGeom>
          <a:noFill/>
        </p:spPr>
        <p:txBody>
          <a:bodyPr wrap="square" lIns="45720" tIns="27432" rIns="45720" bIns="27432" anchor="t"/>
          <a:lstStyle/>
          <a:p>
            <a:pPr algn="ctr">
              <a:spcAft>
                <a:spcPts val="800"/>
              </a:spcAft>
            </a:pPr>
            <a:r>
              <a:rPr sz="2000" b="0" i="0">
                <a:solidFill>
                  <a:srgbClr val="2C6FB7"/>
                </a:solidFill>
                <a:latin typeface="Calibri"/>
              </a:rPr>
              <a:t>v2</a:t>
            </a:r>
          </a:p>
        </p:txBody>
      </p:sp>
      <p:cxnSp>
        <p:nvCxnSpPr>
          <p:cNvPr id="12" name="Connector 11"/>
          <p:cNvCxnSpPr/>
          <p:nvPr/>
        </p:nvCxnSpPr>
        <p:spPr>
          <a:xfrm>
            <a:off x="3549627" y="2627873"/>
            <a:ext cx="1017423" cy="807953"/>
          </a:xfrm>
          <a:prstGeom prst="line">
            <a:avLst/>
          </a:prstGeom>
          <a:ln w="444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886200" y="2423160"/>
            <a:ext cx="685800" cy="411480"/>
          </a:xfrm>
          <a:prstGeom prst="rect">
            <a:avLst/>
          </a:prstGeom>
          <a:noFill/>
        </p:spPr>
        <p:txBody>
          <a:bodyPr wrap="square" lIns="45720" tIns="27432" rIns="45720" bIns="27432" anchor="t"/>
          <a:lstStyle/>
          <a:p>
            <a:pPr algn="ctr">
              <a:spcAft>
                <a:spcPts val="800"/>
              </a:spcAft>
            </a:pPr>
            <a:r>
              <a:rPr sz="2000" b="0" i="0">
                <a:solidFill>
                  <a:srgbClr val="C0392B"/>
                </a:solidFill>
                <a:latin typeface="Calibri"/>
              </a:rPr>
              <a:t>v3</a:t>
            </a:r>
          </a:p>
        </p:txBody>
      </p:sp>
      <p:cxnSp>
        <p:nvCxnSpPr>
          <p:cNvPr id="14" name="Connector 13"/>
          <p:cNvCxnSpPr/>
          <p:nvPr/>
        </p:nvCxnSpPr>
        <p:spPr>
          <a:xfrm flipV="1">
            <a:off x="3549627" y="3879373"/>
            <a:ext cx="1017423" cy="807953"/>
          </a:xfrm>
          <a:prstGeom prst="line">
            <a:avLst/>
          </a:prstGeom>
          <a:ln w="19050">
            <a:solidFill>
              <a:srgbClr val="8A90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886200" y="4160520"/>
            <a:ext cx="685800" cy="411480"/>
          </a:xfrm>
          <a:prstGeom prst="rect">
            <a:avLst/>
          </a:prstGeom>
          <a:noFill/>
        </p:spPr>
        <p:txBody>
          <a:bodyPr wrap="square" lIns="45720" tIns="27432" rIns="45720" bIns="27432" anchor="t"/>
          <a:lstStyle/>
          <a:p>
            <a:pPr algn="ctr">
              <a:spcAft>
                <a:spcPts val="800"/>
              </a:spcAft>
            </a:pPr>
            <a:r>
              <a:rPr sz="2000" b="0" i="0">
                <a:solidFill>
                  <a:srgbClr val="8A9099"/>
                </a:solidFill>
                <a:latin typeface="Calibri"/>
              </a:rPr>
              <a:t>v4</a:t>
            </a:r>
          </a:p>
        </p:txBody>
      </p:sp>
      <p:cxnSp>
        <p:nvCxnSpPr>
          <p:cNvPr id="16" name="Connector 15"/>
          <p:cNvCxnSpPr/>
          <p:nvPr/>
        </p:nvCxnSpPr>
        <p:spPr>
          <a:xfrm>
            <a:off x="5175504" y="3657600"/>
            <a:ext cx="740664"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0" y="2971800"/>
            <a:ext cx="685800" cy="411480"/>
          </a:xfrm>
          <a:prstGeom prst="rect">
            <a:avLst/>
          </a:prstGeom>
          <a:noFill/>
        </p:spPr>
        <p:txBody>
          <a:bodyPr wrap="square" lIns="45720" tIns="27432" rIns="45720" bIns="27432" anchor="t"/>
          <a:lstStyle/>
          <a:p>
            <a:pPr algn="ctr">
              <a:spcAft>
                <a:spcPts val="800"/>
              </a:spcAft>
            </a:pPr>
            <a:r>
              <a:rPr sz="2000" b="0" i="0">
                <a:solidFill>
                  <a:srgbClr val="1F2A44"/>
                </a:solidFill>
                <a:latin typeface="Calibri"/>
              </a:rPr>
              <a:t>bio</a:t>
            </a:r>
          </a:p>
        </p:txBody>
      </p:sp>
      <p:sp>
        <p:nvSpPr>
          <p:cNvPr id="18" name="Oval 17"/>
          <p:cNvSpPr/>
          <p:nvPr/>
        </p:nvSpPr>
        <p:spPr>
          <a:xfrm>
            <a:off x="1408176" y="33284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A</a:t>
            </a:r>
          </a:p>
        </p:txBody>
      </p:sp>
      <p:sp>
        <p:nvSpPr>
          <p:cNvPr id="19" name="Oval 18"/>
          <p:cNvSpPr/>
          <p:nvPr/>
        </p:nvSpPr>
        <p:spPr>
          <a:xfrm>
            <a:off x="2962656" y="209397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B</a:t>
            </a:r>
          </a:p>
        </p:txBody>
      </p:sp>
      <p:sp>
        <p:nvSpPr>
          <p:cNvPr id="20" name="Oval 19"/>
          <p:cNvSpPr/>
          <p:nvPr/>
        </p:nvSpPr>
        <p:spPr>
          <a:xfrm>
            <a:off x="2962656" y="4562855"/>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D</a:t>
            </a:r>
          </a:p>
        </p:txBody>
      </p:sp>
      <p:sp>
        <p:nvSpPr>
          <p:cNvPr id="21" name="Oval 20"/>
          <p:cNvSpPr/>
          <p:nvPr/>
        </p:nvSpPr>
        <p:spPr>
          <a:xfrm>
            <a:off x="4517136" y="33284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C</a:t>
            </a:r>
          </a:p>
        </p:txBody>
      </p:sp>
      <p:sp>
        <p:nvSpPr>
          <p:cNvPr id="22" name="TextBox 21"/>
          <p:cNvSpPr txBox="1"/>
          <p:nvPr/>
        </p:nvSpPr>
        <p:spPr>
          <a:xfrm>
            <a:off x="548640" y="5440680"/>
            <a:ext cx="5669280" cy="457200"/>
          </a:xfrm>
          <a:prstGeom prst="rect">
            <a:avLst/>
          </a:prstGeom>
          <a:noFill/>
        </p:spPr>
        <p:txBody>
          <a:bodyPr wrap="square" lIns="45720" tIns="27432" rIns="45720" bIns="27432" anchor="t"/>
          <a:lstStyle/>
          <a:p>
            <a:pPr algn="ctr">
              <a:spcAft>
                <a:spcPts val="800"/>
              </a:spcAft>
            </a:pPr>
            <a:r>
              <a:rPr sz="2000" b="0" i="0">
                <a:solidFill>
                  <a:srgbClr val="C0392B"/>
                </a:solidFill>
                <a:latin typeface="Calibri"/>
              </a:rPr>
              <a:t>high</a:t>
            </a:r>
            <a:r>
              <a:rPr sz="2000" b="0" i="0">
                <a:solidFill>
                  <a:srgbClr val="2B2B2B"/>
                </a:solidFill>
                <a:latin typeface="Calibri"/>
              </a:rPr>
              <a:t>   </a:t>
            </a:r>
            <a:r>
              <a:rPr sz="2000" b="0" i="0">
                <a:solidFill>
                  <a:srgbClr val="2C6FB7"/>
                </a:solidFill>
                <a:latin typeface="Calibri"/>
              </a:rPr>
              <a:t>low</a:t>
            </a:r>
            <a:r>
              <a:rPr sz="2000" b="0" i="0">
                <a:solidFill>
                  <a:srgbClr val="2B2B2B"/>
                </a:solidFill>
                <a:latin typeface="Calibri"/>
              </a:rPr>
              <a:t>   </a:t>
            </a:r>
            <a:r>
              <a:rPr sz="2000" b="0" i="0">
                <a:solidFill>
                  <a:srgbClr val="8A9099"/>
                </a:solidFill>
                <a:latin typeface="Calibri"/>
              </a:rPr>
              <a:t>uncertain</a:t>
            </a:r>
          </a:p>
        </p:txBody>
      </p:sp>
      <p:sp>
        <p:nvSpPr>
          <p:cNvPr id="23" name="TextBox 22"/>
          <p:cNvSpPr txBox="1"/>
          <p:nvPr/>
        </p:nvSpPr>
        <p:spPr>
          <a:xfrm>
            <a:off x="6400800" y="1463040"/>
            <a:ext cx="5303520" cy="4572000"/>
          </a:xfrm>
          <a:prstGeom prst="rect">
            <a:avLst/>
          </a:prstGeom>
          <a:noFill/>
        </p:spPr>
        <p:txBody>
          <a:bodyPr wrap="square" lIns="45720" tIns="27432" rIns="45720" bIns="27432" anchor="t"/>
          <a:lstStyle/>
          <a:p>
            <a:pPr algn="l">
              <a:spcAft>
                <a:spcPts val="1800"/>
              </a:spcAft>
            </a:pPr>
            <a:r>
              <a:rPr sz="2000" b="0" i="0">
                <a:solidFill>
                  <a:srgbClr val="0072B2"/>
                </a:solidFill>
                <a:latin typeface="Calibri"/>
              </a:rPr>
              <a:t>Map: </a:t>
            </a:r>
            <a:r>
              <a:rPr sz="2000" b="0" i="0">
                <a:solidFill>
                  <a:srgbClr val="2B2B2B"/>
                </a:solidFill>
                <a:latin typeface="Calibri"/>
              </a:rPr>
              <a:t>expression → reaction score via gene–protein–reaction rules</a:t>
            </a:r>
          </a:p>
          <a:p>
            <a:pPr algn="l">
              <a:spcAft>
                <a:spcPts val="1800"/>
              </a:spcAft>
            </a:pPr>
            <a:r>
              <a:rPr sz="2000" b="0" i="0">
                <a:solidFill>
                  <a:srgbClr val="0072B2"/>
                </a:solidFill>
                <a:latin typeface="Calibri"/>
              </a:rPr>
              <a:t>Classes: </a:t>
            </a:r>
            <a:r>
              <a:rPr sz="2000" b="0" i="0">
                <a:solidFill>
                  <a:srgbClr val="2B2B2B"/>
                </a:solidFill>
                <a:latin typeface="Calibri"/>
              </a:rPr>
              <a:t>high, low, uncertain</a:t>
            </a:r>
          </a:p>
          <a:p>
            <a:pPr algn="l">
              <a:spcAft>
                <a:spcPts val="1800"/>
              </a:spcAft>
            </a:pPr>
            <a:r>
              <a:rPr sz="2000" b="0" i="0">
                <a:solidFill>
                  <a:srgbClr val="0072B2"/>
                </a:solidFill>
                <a:latin typeface="Calibri"/>
              </a:rPr>
              <a:t>Maximise: </a:t>
            </a:r>
            <a:r>
              <a:rPr sz="2000" b="0" i="0">
                <a:solidFill>
                  <a:srgbClr val="2B2B2B"/>
                </a:solidFill>
                <a:latin typeface="Calibri"/>
              </a:rPr>
              <a:t>high reactions on + low reactions off</a:t>
            </a:r>
          </a:p>
          <a:p>
            <a:pPr algn="l">
              <a:spcAft>
                <a:spcPts val="1800"/>
              </a:spcAft>
            </a:pPr>
            <a:r>
              <a:rPr sz="2000" b="0" i="0">
                <a:solidFill>
                  <a:srgbClr val="0072B2"/>
                </a:solidFill>
                <a:latin typeface="Calibri"/>
              </a:rPr>
              <a:t>Subject to: </a:t>
            </a:r>
            <a:r>
              <a:rPr sz="2000" b="0" i="0">
                <a:solidFill>
                  <a:srgbClr val="2B2B2B"/>
                </a:solidFill>
                <a:latin typeface="Calibri"/>
              </a:rPr>
              <a:t>FBA constraints (MILP)</a:t>
            </a:r>
          </a:p>
        </p:txBody>
      </p:sp>
      <p:sp>
        <p:nvSpPr>
          <p:cNvPr id="24" name="TextBox 23"/>
          <p:cNvSpPr txBox="1"/>
          <p:nvPr/>
        </p:nvSpPr>
        <p:spPr>
          <a:xfrm>
            <a:off x="6400800" y="5897880"/>
            <a:ext cx="530352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Shlomi et al., Nat Biotechnol 2008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Steiner trees: connect the measured proteins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12</a:t>
            </a:r>
          </a:p>
        </p:txBody>
      </p:sp>
      <p:cxnSp>
        <p:nvCxnSpPr>
          <p:cNvPr id="6" name="Connector 5"/>
          <p:cNvCxnSpPr/>
          <p:nvPr/>
        </p:nvCxnSpPr>
        <p:spPr>
          <a:xfrm>
            <a:off x="1165720" y="2121632"/>
            <a:ext cx="935267" cy="409180"/>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622799" y="1963747"/>
            <a:ext cx="1130665" cy="565333"/>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217333" y="2022773"/>
            <a:ext cx="689936" cy="689936"/>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79319" y="2906459"/>
            <a:ext cx="334693" cy="836731"/>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570903" y="4096780"/>
            <a:ext cx="1090864" cy="303017"/>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84761" y="4114659"/>
            <a:ext cx="1011249" cy="356911"/>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54269" y="4784311"/>
            <a:ext cx="458170" cy="559985"/>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453869" y="4692871"/>
            <a:ext cx="458170" cy="559985"/>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237608" y="4286359"/>
            <a:ext cx="540534" cy="960950"/>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54601" y="2283038"/>
            <a:ext cx="281337" cy="1899027"/>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3061027" y="2074159"/>
            <a:ext cx="839653" cy="1679305"/>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589928" y="3181747"/>
            <a:ext cx="431285" cy="1109018"/>
          </a:xfrm>
          <a:prstGeom prst="line">
            <a:avLst/>
          </a:prstGeom>
          <a:ln w="444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2384758" y="4670475"/>
            <a:ext cx="1839766" cy="707602"/>
          </a:xfrm>
          <a:prstGeom prst="line">
            <a:avLst/>
          </a:prstGeom>
          <a:ln w="15875">
            <a:solidFill>
              <a:srgbClr val="C3C8CF"/>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62940" y="1760220"/>
            <a:ext cx="502920" cy="502920"/>
          </a:xfrm>
          <a:prstGeom prst="ellipse">
            <a:avLst/>
          </a:prstGeom>
          <a:solidFill>
            <a:srgbClr val="E69F00"/>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0" name="Oval 19"/>
          <p:cNvSpPr/>
          <p:nvPr/>
        </p:nvSpPr>
        <p:spPr>
          <a:xfrm>
            <a:off x="2125980" y="240030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1" name="Oval 20"/>
          <p:cNvSpPr/>
          <p:nvPr/>
        </p:nvSpPr>
        <p:spPr>
          <a:xfrm>
            <a:off x="3771900" y="157734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2" name="Oval 21"/>
          <p:cNvSpPr/>
          <p:nvPr/>
        </p:nvSpPr>
        <p:spPr>
          <a:xfrm>
            <a:off x="4869179" y="2674620"/>
            <a:ext cx="502920" cy="502920"/>
          </a:xfrm>
          <a:prstGeom prst="ellipse">
            <a:avLst/>
          </a:prstGeom>
          <a:solidFill>
            <a:srgbClr val="E69F00"/>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3" name="Oval 22"/>
          <p:cNvSpPr/>
          <p:nvPr/>
        </p:nvSpPr>
        <p:spPr>
          <a:xfrm>
            <a:off x="2674620" y="377190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4" name="Oval 23"/>
          <p:cNvSpPr/>
          <p:nvPr/>
        </p:nvSpPr>
        <p:spPr>
          <a:xfrm>
            <a:off x="1028700" y="4229100"/>
            <a:ext cx="502920" cy="502920"/>
          </a:xfrm>
          <a:prstGeom prst="ellipse">
            <a:avLst/>
          </a:prstGeom>
          <a:solidFill>
            <a:srgbClr val="E69F00"/>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5" name="Oval 24"/>
          <p:cNvSpPr/>
          <p:nvPr/>
        </p:nvSpPr>
        <p:spPr>
          <a:xfrm>
            <a:off x="4229100" y="432054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6" name="Oval 25"/>
          <p:cNvSpPr/>
          <p:nvPr/>
        </p:nvSpPr>
        <p:spPr>
          <a:xfrm>
            <a:off x="1851660" y="5234940"/>
            <a:ext cx="502920" cy="502920"/>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7" name="Oval 26"/>
          <p:cNvSpPr/>
          <p:nvPr/>
        </p:nvSpPr>
        <p:spPr>
          <a:xfrm>
            <a:off x="5052059" y="5326379"/>
            <a:ext cx="502920" cy="502920"/>
          </a:xfrm>
          <a:prstGeom prst="ellipse">
            <a:avLst/>
          </a:prstGeom>
          <a:solidFill>
            <a:srgbClr val="E69F00"/>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28" name="TextBox 27"/>
          <p:cNvSpPr txBox="1"/>
          <p:nvPr/>
        </p:nvSpPr>
        <p:spPr>
          <a:xfrm>
            <a:off x="6400800" y="1463040"/>
            <a:ext cx="5303520" cy="4572000"/>
          </a:xfrm>
          <a:prstGeom prst="rect">
            <a:avLst/>
          </a:prstGeom>
          <a:noFill/>
        </p:spPr>
        <p:txBody>
          <a:bodyPr wrap="square" lIns="45720" tIns="27432" rIns="45720" bIns="27432" anchor="t"/>
          <a:lstStyle/>
          <a:p>
            <a:pPr algn="l">
              <a:spcAft>
                <a:spcPts val="1800"/>
              </a:spcAft>
            </a:pPr>
            <a:r>
              <a:rPr sz="2000" b="0" i="0">
                <a:solidFill>
                  <a:srgbClr val="E69F00"/>
                </a:solidFill>
                <a:latin typeface="Calibri"/>
              </a:rPr>
              <a:t>Terminals: </a:t>
            </a:r>
            <a:r>
              <a:rPr sz="2000" b="0" i="0">
                <a:solidFill>
                  <a:srgbClr val="2B2B2B"/>
                </a:solidFill>
                <a:latin typeface="Calibri"/>
              </a:rPr>
              <a:t>proteins with a signal</a:t>
            </a:r>
          </a:p>
          <a:p>
            <a:pPr algn="l">
              <a:spcAft>
                <a:spcPts val="1800"/>
              </a:spcAft>
            </a:pPr>
            <a:r>
              <a:rPr sz="2000" b="0" i="0">
                <a:solidFill>
                  <a:srgbClr val="0072B2"/>
                </a:solidFill>
                <a:latin typeface="Calibri"/>
              </a:rPr>
              <a:t>Steiner tree: </a:t>
            </a:r>
            <a:r>
              <a:rPr sz="2000" b="0" i="0">
                <a:solidFill>
                  <a:srgbClr val="2B2B2B"/>
                </a:solidFill>
                <a:latin typeface="Calibri"/>
              </a:rPr>
              <a:t>cheapest tree linking all terminals</a:t>
            </a:r>
          </a:p>
          <a:p>
            <a:pPr algn="l">
              <a:spcAft>
                <a:spcPts val="1800"/>
              </a:spcAft>
            </a:pPr>
            <a:r>
              <a:rPr sz="2000" b="0" i="0">
                <a:solidFill>
                  <a:srgbClr val="0072B2"/>
                </a:solidFill>
                <a:latin typeface="Calibri"/>
              </a:rPr>
              <a:t>PCST: </a:t>
            </a:r>
            <a:r>
              <a:rPr sz="2000" b="0" i="0">
                <a:solidFill>
                  <a:srgbClr val="2B2B2B"/>
                </a:solidFill>
                <a:latin typeface="Calibri"/>
              </a:rPr>
              <a:t>prizes on nodes, costs on edges; minimise costs − prizes</a:t>
            </a:r>
          </a:p>
          <a:p>
            <a:pPr algn="l">
              <a:spcAft>
                <a:spcPts val="1800"/>
              </a:spcAft>
            </a:pPr>
            <a:r>
              <a:rPr sz="2000" b="0" i="0">
                <a:solidFill>
                  <a:srgbClr val="0072B2"/>
                </a:solidFill>
                <a:latin typeface="Calibri"/>
              </a:rPr>
              <a:t>Hidden nodes: </a:t>
            </a:r>
            <a:r>
              <a:rPr sz="2000" b="0" i="0">
                <a:solidFill>
                  <a:srgbClr val="2B2B2B"/>
                </a:solidFill>
                <a:latin typeface="Calibri"/>
              </a:rPr>
              <a:t>candidate mediators</a:t>
            </a:r>
          </a:p>
        </p:txBody>
      </p:sp>
      <p:sp>
        <p:nvSpPr>
          <p:cNvPr id="29" name="TextBox 28"/>
          <p:cNvSpPr txBox="1"/>
          <p:nvPr/>
        </p:nvSpPr>
        <p:spPr>
          <a:xfrm>
            <a:off x="6400800" y="5897880"/>
            <a:ext cx="530352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Tuncbag et al., J Comput Biol 2013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Different biology, same question: which edges to keep?</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13</a:t>
            </a:r>
          </a:p>
        </p:txBody>
      </p:sp>
      <p:graphicFrame>
        <p:nvGraphicFramePr>
          <p:cNvPr id="6" name="Table 5"/>
          <p:cNvGraphicFramePr>
            <a:graphicFrameLocks noGrp="1"/>
          </p:cNvGraphicFramePr>
          <p:nvPr/>
        </p:nvGraphicFramePr>
        <p:xfrm>
          <a:off x="548640" y="1463040"/>
          <a:ext cx="11064240" cy="3200400"/>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640080">
                <a:tc>
                  <a:txBody>
                    <a:bodyPr/>
                    <a:lstStyle/>
                    <a:p>
                      <a:r>
                        <a:rPr sz="2000" b="0">
                          <a:solidFill>
                            <a:srgbClr val="FFFFFF"/>
                          </a:solidFill>
                          <a:latin typeface="Calibri"/>
                        </a:rPr>
                        <a:t>Method</a:t>
                      </a:r>
                    </a:p>
                  </a:txBody>
                  <a:tcPr marL="73152" marR="73152" marT="27432" marB="27432" anchor="ctr">
                    <a:solidFill>
                      <a:srgbClr val="1F2A44"/>
                    </a:solidFill>
                  </a:tcPr>
                </a:tc>
                <a:tc>
                  <a:txBody>
                    <a:bodyPr/>
                    <a:lstStyle/>
                    <a:p>
                      <a:r>
                        <a:rPr sz="2000" b="0">
                          <a:solidFill>
                            <a:srgbClr val="FFFFFF"/>
                          </a:solidFill>
                          <a:latin typeface="Calibri"/>
                        </a:rPr>
                        <a:t>PKN</a:t>
                      </a:r>
                    </a:p>
                  </a:txBody>
                  <a:tcPr marL="73152" marR="73152" marT="27432" marB="27432" anchor="ctr">
                    <a:solidFill>
                      <a:srgbClr val="1F2A44"/>
                    </a:solidFill>
                  </a:tcPr>
                </a:tc>
                <a:tc>
                  <a:txBody>
                    <a:bodyPr/>
                    <a:lstStyle/>
                    <a:p>
                      <a:r>
                        <a:rPr sz="2000" b="0">
                          <a:solidFill>
                            <a:srgbClr val="FFFFFF"/>
                          </a:solidFill>
                          <a:latin typeface="Calibri"/>
                        </a:rPr>
                        <a:t>Data</a:t>
                      </a:r>
                    </a:p>
                  </a:txBody>
                  <a:tcPr marL="73152" marR="73152" marT="27432" marB="27432" anchor="ctr">
                    <a:solidFill>
                      <a:srgbClr val="1F2A44"/>
                    </a:solidFill>
                  </a:tcPr>
                </a:tc>
                <a:tc>
                  <a:txBody>
                    <a:bodyPr/>
                    <a:lstStyle/>
                    <a:p>
                      <a:r>
                        <a:rPr sz="2000" b="0">
                          <a:solidFill>
                            <a:srgbClr val="FFFFFF"/>
                          </a:solidFill>
                          <a:latin typeface="Calibri"/>
                        </a:rPr>
                        <a:t>Selects</a:t>
                      </a:r>
                    </a:p>
                  </a:txBody>
                  <a:tcPr marL="73152" marR="73152" marT="27432" marB="27432" anchor="ctr">
                    <a:solidFill>
                      <a:srgbClr val="1F2A44"/>
                    </a:solidFill>
                  </a:tcPr>
                </a:tc>
                <a:extLst>
                  <a:ext uri="{0D108BD9-81ED-4DB2-BD59-A6C34878D82A}">
                    <a16:rowId xmlns:a16="http://schemas.microsoft.com/office/drawing/2014/main" val="10000"/>
                  </a:ext>
                </a:extLst>
              </a:tr>
              <a:tr h="640080">
                <a:tc>
                  <a:txBody>
                    <a:bodyPr/>
                    <a:lstStyle/>
                    <a:p>
                      <a:r>
                        <a:rPr sz="2000" b="0">
                          <a:solidFill>
                            <a:srgbClr val="0072B2"/>
                          </a:solidFill>
                          <a:latin typeface="Calibri"/>
                        </a:rPr>
                        <a:t>CARNIVAL</a:t>
                      </a:r>
                    </a:p>
                  </a:txBody>
                  <a:tcPr marL="73152" marR="73152" marT="27432" marB="27432" anchor="ctr">
                    <a:solidFill>
                      <a:srgbClr val="FFFFFF"/>
                    </a:solidFill>
                  </a:tcPr>
                </a:tc>
                <a:tc>
                  <a:txBody>
                    <a:bodyPr/>
                    <a:lstStyle/>
                    <a:p>
                      <a:r>
                        <a:rPr sz="2000" b="0">
                          <a:solidFill>
                            <a:srgbClr val="2B2B2B"/>
                          </a:solidFill>
                          <a:latin typeface="Calibri"/>
                        </a:rPr>
                        <a:t>signed directed graph</a:t>
                      </a:r>
                    </a:p>
                  </a:txBody>
                  <a:tcPr marL="73152" marR="73152" marT="27432" marB="27432" anchor="ctr">
                    <a:solidFill>
                      <a:srgbClr val="FFFFFF"/>
                    </a:solidFill>
                  </a:tcPr>
                </a:tc>
                <a:tc>
                  <a:txBody>
                    <a:bodyPr/>
                    <a:lstStyle/>
                    <a:p>
                      <a:r>
                        <a:rPr sz="2000" b="0">
                          <a:solidFill>
                            <a:srgbClr val="2B2B2B"/>
                          </a:solidFill>
                          <a:latin typeface="Calibri"/>
                        </a:rPr>
                        <a:t>TF activities</a:t>
                      </a:r>
                    </a:p>
                  </a:txBody>
                  <a:tcPr marL="73152" marR="73152" marT="27432" marB="27432" anchor="ctr">
                    <a:solidFill>
                      <a:srgbClr val="FFFFFF"/>
                    </a:solidFill>
                  </a:tcPr>
                </a:tc>
                <a:tc>
                  <a:txBody>
                    <a:bodyPr/>
                    <a:lstStyle/>
                    <a:p>
                      <a:r>
                        <a:rPr sz="2000" b="0">
                          <a:solidFill>
                            <a:srgbClr val="2B2B2B"/>
                          </a:solidFill>
                          <a:latin typeface="Calibri"/>
                        </a:rPr>
                        <a:t>sign-consistent paths</a:t>
                      </a:r>
                    </a:p>
                  </a:txBody>
                  <a:tcPr marL="73152" marR="73152" marT="27432" marB="27432" anchor="ctr">
                    <a:solidFill>
                      <a:srgbClr val="FFFFFF"/>
                    </a:solidFill>
                  </a:tcPr>
                </a:tc>
                <a:extLst>
                  <a:ext uri="{0D108BD9-81ED-4DB2-BD59-A6C34878D82A}">
                    <a16:rowId xmlns:a16="http://schemas.microsoft.com/office/drawing/2014/main" val="10001"/>
                  </a:ext>
                </a:extLst>
              </a:tr>
              <a:tr h="640080">
                <a:tc>
                  <a:txBody>
                    <a:bodyPr/>
                    <a:lstStyle/>
                    <a:p>
                      <a:r>
                        <a:rPr sz="2000" b="0">
                          <a:solidFill>
                            <a:srgbClr val="0072B2"/>
                          </a:solidFill>
                          <a:latin typeface="Calibri"/>
                        </a:rPr>
                        <a:t>FBA / sparse FBA</a:t>
                      </a:r>
                    </a:p>
                  </a:txBody>
                  <a:tcPr marL="73152" marR="73152" marT="27432" marB="27432" anchor="ctr">
                    <a:solidFill>
                      <a:srgbClr val="F3F4F6"/>
                    </a:solidFill>
                  </a:tcPr>
                </a:tc>
                <a:tc>
                  <a:txBody>
                    <a:bodyPr/>
                    <a:lstStyle/>
                    <a:p>
                      <a:r>
                        <a:rPr sz="2000" b="0">
                          <a:solidFill>
                            <a:srgbClr val="2B2B2B"/>
                          </a:solidFill>
                          <a:latin typeface="Calibri"/>
                        </a:rPr>
                        <a:t>hypergraph (reactions)</a:t>
                      </a:r>
                    </a:p>
                  </a:txBody>
                  <a:tcPr marL="73152" marR="73152" marT="27432" marB="27432" anchor="ctr">
                    <a:solidFill>
                      <a:srgbClr val="F3F4F6"/>
                    </a:solidFill>
                  </a:tcPr>
                </a:tc>
                <a:tc>
                  <a:txBody>
                    <a:bodyPr/>
                    <a:lstStyle/>
                    <a:p>
                      <a:r>
                        <a:rPr sz="2000" b="0">
                          <a:solidFill>
                            <a:srgbClr val="2B2B2B"/>
                          </a:solidFill>
                          <a:latin typeface="Calibri"/>
                        </a:rPr>
                        <a:t>flux constraints</a:t>
                      </a:r>
                    </a:p>
                  </a:txBody>
                  <a:tcPr marL="73152" marR="73152" marT="27432" marB="27432" anchor="ctr">
                    <a:solidFill>
                      <a:srgbClr val="F3F4F6"/>
                    </a:solidFill>
                  </a:tcPr>
                </a:tc>
                <a:tc>
                  <a:txBody>
                    <a:bodyPr/>
                    <a:lstStyle/>
                    <a:p>
                      <a:r>
                        <a:rPr sz="2000" b="0">
                          <a:solidFill>
                            <a:srgbClr val="2B2B2B"/>
                          </a:solidFill>
                          <a:latin typeface="Calibri"/>
                        </a:rPr>
                        <a:t>flux distribution</a:t>
                      </a:r>
                    </a:p>
                  </a:txBody>
                  <a:tcPr marL="73152" marR="73152" marT="27432" marB="27432" anchor="ctr">
                    <a:solidFill>
                      <a:srgbClr val="F3F4F6"/>
                    </a:solidFill>
                  </a:tcPr>
                </a:tc>
                <a:extLst>
                  <a:ext uri="{0D108BD9-81ED-4DB2-BD59-A6C34878D82A}">
                    <a16:rowId xmlns:a16="http://schemas.microsoft.com/office/drawing/2014/main" val="10002"/>
                  </a:ext>
                </a:extLst>
              </a:tr>
              <a:tr h="640080">
                <a:tc>
                  <a:txBody>
                    <a:bodyPr/>
                    <a:lstStyle/>
                    <a:p>
                      <a:r>
                        <a:rPr sz="2000" b="0">
                          <a:solidFill>
                            <a:srgbClr val="0072B2"/>
                          </a:solidFill>
                          <a:latin typeface="Calibri"/>
                        </a:rPr>
                        <a:t>iMAT</a:t>
                      </a:r>
                    </a:p>
                  </a:txBody>
                  <a:tcPr marL="73152" marR="73152" marT="27432" marB="27432" anchor="ctr">
                    <a:solidFill>
                      <a:srgbClr val="FFFFFF"/>
                    </a:solidFill>
                  </a:tcPr>
                </a:tc>
                <a:tc>
                  <a:txBody>
                    <a:bodyPr/>
                    <a:lstStyle/>
                    <a:p>
                      <a:r>
                        <a:rPr sz="2000" b="0">
                          <a:solidFill>
                            <a:srgbClr val="2B2B2B"/>
                          </a:solidFill>
                          <a:latin typeface="Calibri"/>
                        </a:rPr>
                        <a:t>hypergraph (reactions)</a:t>
                      </a:r>
                    </a:p>
                  </a:txBody>
                  <a:tcPr marL="73152" marR="73152" marT="27432" marB="27432" anchor="ctr">
                    <a:solidFill>
                      <a:srgbClr val="FFFFFF"/>
                    </a:solidFill>
                  </a:tcPr>
                </a:tc>
                <a:tc>
                  <a:txBody>
                    <a:bodyPr/>
                    <a:lstStyle/>
                    <a:p>
                      <a:r>
                        <a:rPr sz="2000" b="0">
                          <a:solidFill>
                            <a:srgbClr val="2B2B2B"/>
                          </a:solidFill>
                          <a:latin typeface="Calibri"/>
                        </a:rPr>
                        <a:t>expression</a:t>
                      </a:r>
                    </a:p>
                  </a:txBody>
                  <a:tcPr marL="73152" marR="73152" marT="27432" marB="27432" anchor="ctr">
                    <a:solidFill>
                      <a:srgbClr val="FFFFFF"/>
                    </a:solidFill>
                  </a:tcPr>
                </a:tc>
                <a:tc>
                  <a:txBody>
                    <a:bodyPr/>
                    <a:lstStyle/>
                    <a:p>
                      <a:r>
                        <a:rPr sz="2000" b="0">
                          <a:solidFill>
                            <a:srgbClr val="2B2B2B"/>
                          </a:solidFill>
                          <a:latin typeface="Calibri"/>
                        </a:rPr>
                        <a:t>active reactions</a:t>
                      </a:r>
                    </a:p>
                  </a:txBody>
                  <a:tcPr marL="73152" marR="73152" marT="27432" marB="27432" anchor="ctr">
                    <a:solidFill>
                      <a:srgbClr val="FFFFFF"/>
                    </a:solidFill>
                  </a:tcPr>
                </a:tc>
                <a:extLst>
                  <a:ext uri="{0D108BD9-81ED-4DB2-BD59-A6C34878D82A}">
                    <a16:rowId xmlns:a16="http://schemas.microsoft.com/office/drawing/2014/main" val="10003"/>
                  </a:ext>
                </a:extLst>
              </a:tr>
              <a:tr h="640080">
                <a:tc>
                  <a:txBody>
                    <a:bodyPr/>
                    <a:lstStyle/>
                    <a:p>
                      <a:r>
                        <a:rPr sz="2000" b="0">
                          <a:solidFill>
                            <a:srgbClr val="0072B2"/>
                          </a:solidFill>
                          <a:latin typeface="Calibri"/>
                        </a:rPr>
                        <a:t>Steiner / PCST</a:t>
                      </a:r>
                    </a:p>
                  </a:txBody>
                  <a:tcPr marL="73152" marR="73152" marT="27432" marB="27432" anchor="ctr">
                    <a:solidFill>
                      <a:srgbClr val="F3F4F6"/>
                    </a:solidFill>
                  </a:tcPr>
                </a:tc>
                <a:tc>
                  <a:txBody>
                    <a:bodyPr/>
                    <a:lstStyle/>
                    <a:p>
                      <a:r>
                        <a:rPr sz="2000" b="0">
                          <a:solidFill>
                            <a:srgbClr val="2B2B2B"/>
                          </a:solidFill>
                          <a:latin typeface="Calibri"/>
                        </a:rPr>
                        <a:t>undirected graph</a:t>
                      </a:r>
                    </a:p>
                  </a:txBody>
                  <a:tcPr marL="73152" marR="73152" marT="27432" marB="27432" anchor="ctr">
                    <a:solidFill>
                      <a:srgbClr val="F3F4F6"/>
                    </a:solidFill>
                  </a:tcPr>
                </a:tc>
                <a:tc>
                  <a:txBody>
                    <a:bodyPr/>
                    <a:lstStyle/>
                    <a:p>
                      <a:r>
                        <a:rPr sz="2000" b="0">
                          <a:solidFill>
                            <a:srgbClr val="2B2B2B"/>
                          </a:solidFill>
                          <a:latin typeface="Calibri"/>
                        </a:rPr>
                        <a:t>protein signals</a:t>
                      </a:r>
                    </a:p>
                  </a:txBody>
                  <a:tcPr marL="73152" marR="73152" marT="27432" marB="27432" anchor="ctr">
                    <a:solidFill>
                      <a:srgbClr val="F3F4F6"/>
                    </a:solidFill>
                  </a:tcPr>
                </a:tc>
                <a:tc>
                  <a:txBody>
                    <a:bodyPr/>
                    <a:lstStyle/>
                    <a:p>
                      <a:r>
                        <a:rPr sz="2000" b="0">
                          <a:solidFill>
                            <a:srgbClr val="2B2B2B"/>
                          </a:solidFill>
                          <a:latin typeface="Calibri"/>
                        </a:rPr>
                        <a:t>a tree</a:t>
                      </a:r>
                    </a:p>
                  </a:txBody>
                  <a:tcPr marL="73152" marR="73152" marT="27432" marB="27432" anchor="ctr">
                    <a:solidFill>
                      <a:srgbClr val="F3F4F6"/>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548640" y="5074920"/>
            <a:ext cx="11064240" cy="822960"/>
          </a:xfrm>
          <a:prstGeom prst="roundRect">
            <a:avLst>
              <a:gd name="adj" fmla="val 8000"/>
            </a:avLst>
          </a:prstGeom>
          <a:solidFill>
            <a:srgbClr val="FFFFFF"/>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1520" y="5120640"/>
            <a:ext cx="10698480" cy="731520"/>
          </a:xfrm>
          <a:prstGeom prst="rect">
            <a:avLst/>
          </a:prstGeom>
          <a:noFill/>
        </p:spPr>
        <p:txBody>
          <a:bodyPr wrap="square" lIns="45720" tIns="27432" rIns="45720" bIns="27432" anchor="ctr"/>
          <a:lstStyle/>
          <a:p>
            <a:pPr algn="ctr">
              <a:spcAft>
                <a:spcPts val="800"/>
              </a:spcAft>
            </a:pPr>
            <a:r>
              <a:rPr sz="2000" b="0" i="0">
                <a:solidFill>
                  <a:srgbClr val="2B2B2B"/>
                </a:solidFill>
                <a:latin typeface="Calibri"/>
              </a:rPr>
              <a:t>All choose edges under constraints → all are </a:t>
            </a:r>
            <a:r>
              <a:rPr sz="2000" b="0" i="0">
                <a:solidFill>
                  <a:srgbClr val="0072B2"/>
                </a:solidFill>
                <a:latin typeface="Calibri"/>
              </a:rPr>
              <a:t>(mixed-integer) linear programs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14</a:t>
            </a:r>
          </a:p>
        </p:txBody>
      </p:sp>
      <p:sp>
        <p:nvSpPr>
          <p:cNvPr id="6" name="Oval 5"/>
          <p:cNvSpPr/>
          <p:nvPr/>
        </p:nvSpPr>
        <p:spPr>
          <a:xfrm>
            <a:off x="886968" y="1645919"/>
            <a:ext cx="566928" cy="566928"/>
          </a:xfrm>
          <a:prstGeom prst="ellipse">
            <a:avLst/>
          </a:prstGeom>
          <a:solidFill>
            <a:srgbClr val="B8BDC6"/>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1</a:t>
            </a:r>
          </a:p>
        </p:txBody>
      </p:sp>
      <p:sp>
        <p:nvSpPr>
          <p:cNvPr id="7" name="TextBox 6"/>
          <p:cNvSpPr txBox="1"/>
          <p:nvPr/>
        </p:nvSpPr>
        <p:spPr>
          <a:xfrm>
            <a:off x="1691640" y="1600200"/>
            <a:ext cx="8686800" cy="658368"/>
          </a:xfrm>
          <a:prstGeom prst="rect">
            <a:avLst/>
          </a:prstGeom>
          <a:noFill/>
        </p:spPr>
        <p:txBody>
          <a:bodyPr wrap="square" lIns="45720" tIns="27432" rIns="45720" bIns="27432" anchor="ctr"/>
          <a:lstStyle/>
          <a:p>
            <a:pPr algn="l">
              <a:spcAft>
                <a:spcPts val="800"/>
              </a:spcAft>
            </a:pPr>
            <a:r>
              <a:rPr sz="2000" b="0" i="0">
                <a:solidFill>
                  <a:srgbClr val="6B7280"/>
                </a:solidFill>
                <a:latin typeface="Calibri"/>
              </a:rPr>
              <a:t>Why network inference from prior knowledge?</a:t>
            </a:r>
          </a:p>
        </p:txBody>
      </p:sp>
      <p:sp>
        <p:nvSpPr>
          <p:cNvPr id="8" name="Oval 7"/>
          <p:cNvSpPr/>
          <p:nvPr/>
        </p:nvSpPr>
        <p:spPr>
          <a:xfrm>
            <a:off x="886968" y="2606039"/>
            <a:ext cx="566928" cy="566928"/>
          </a:xfrm>
          <a:prstGeom prst="ellipse">
            <a:avLst/>
          </a:prstGeom>
          <a:solidFill>
            <a:srgbClr val="B8BDC6"/>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2</a:t>
            </a:r>
          </a:p>
        </p:txBody>
      </p:sp>
      <p:sp>
        <p:nvSpPr>
          <p:cNvPr id="9" name="TextBox 8"/>
          <p:cNvSpPr txBox="1"/>
          <p:nvPr/>
        </p:nvSpPr>
        <p:spPr>
          <a:xfrm>
            <a:off x="1691640" y="2560320"/>
            <a:ext cx="8686800" cy="658368"/>
          </a:xfrm>
          <a:prstGeom prst="rect">
            <a:avLst/>
          </a:prstGeom>
          <a:noFill/>
        </p:spPr>
        <p:txBody>
          <a:bodyPr wrap="square" lIns="45720" tIns="27432" rIns="45720" bIns="27432" anchor="ctr"/>
          <a:lstStyle/>
          <a:p>
            <a:pPr algn="l">
              <a:spcAft>
                <a:spcPts val="800"/>
              </a:spcAft>
            </a:pPr>
            <a:r>
              <a:rPr sz="2000" b="0" i="0">
                <a:solidFill>
                  <a:srgbClr val="6B7280"/>
                </a:solidFill>
                <a:latin typeface="Calibri"/>
              </a:rPr>
              <a:t>The methods CORNETO unifies</a:t>
            </a:r>
          </a:p>
        </p:txBody>
      </p:sp>
      <p:sp>
        <p:nvSpPr>
          <p:cNvPr id="10" name="Oval 9"/>
          <p:cNvSpPr/>
          <p:nvPr/>
        </p:nvSpPr>
        <p:spPr>
          <a:xfrm>
            <a:off x="886968" y="3566160"/>
            <a:ext cx="566928" cy="566928"/>
          </a:xfrm>
          <a:prstGeom prst="ellipse">
            <a:avLst/>
          </a:prstGeom>
          <a:solidFill>
            <a:srgbClr val="0072B2"/>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3</a:t>
            </a:r>
          </a:p>
        </p:txBody>
      </p:sp>
      <p:sp>
        <p:nvSpPr>
          <p:cNvPr id="11" name="Rectangle 10"/>
          <p:cNvSpPr/>
          <p:nvPr/>
        </p:nvSpPr>
        <p:spPr>
          <a:xfrm>
            <a:off x="566928" y="3538728"/>
            <a:ext cx="91440" cy="621792"/>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91640" y="3520440"/>
            <a:ext cx="8686800" cy="658368"/>
          </a:xfrm>
          <a:prstGeom prst="rect">
            <a:avLst/>
          </a:prstGeom>
          <a:noFill/>
        </p:spPr>
        <p:txBody>
          <a:bodyPr wrap="square" lIns="45720" tIns="27432" rIns="45720" bIns="27432" anchor="ctr"/>
          <a:lstStyle/>
          <a:p>
            <a:pPr algn="l">
              <a:spcAft>
                <a:spcPts val="800"/>
              </a:spcAft>
            </a:pPr>
            <a:r>
              <a:rPr sz="2000" b="0" i="0">
                <a:solidFill>
                  <a:srgbClr val="1F2A44"/>
                </a:solidFill>
                <a:latin typeface="Calibri"/>
              </a:rPr>
              <a:t>CORNETO: one optimisation problem</a:t>
            </a:r>
          </a:p>
        </p:txBody>
      </p:sp>
      <p:sp>
        <p:nvSpPr>
          <p:cNvPr id="13" name="Oval 12"/>
          <p:cNvSpPr/>
          <p:nvPr/>
        </p:nvSpPr>
        <p:spPr>
          <a:xfrm>
            <a:off x="886968" y="4526280"/>
            <a:ext cx="566928" cy="566928"/>
          </a:xfrm>
          <a:prstGeom prst="ellipse">
            <a:avLst/>
          </a:prstGeom>
          <a:solidFill>
            <a:srgbClr val="B8BDC6"/>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4</a:t>
            </a:r>
          </a:p>
        </p:txBody>
      </p:sp>
      <p:sp>
        <p:nvSpPr>
          <p:cNvPr id="14" name="TextBox 13"/>
          <p:cNvSpPr txBox="1"/>
          <p:nvPr/>
        </p:nvSpPr>
        <p:spPr>
          <a:xfrm>
            <a:off x="1691640" y="4480560"/>
            <a:ext cx="8686800" cy="658368"/>
          </a:xfrm>
          <a:prstGeom prst="rect">
            <a:avLst/>
          </a:prstGeom>
          <a:noFill/>
        </p:spPr>
        <p:txBody>
          <a:bodyPr wrap="square" lIns="45720" tIns="27432" rIns="45720" bIns="27432" anchor="ctr"/>
          <a:lstStyle/>
          <a:p>
            <a:pPr algn="l">
              <a:spcAft>
                <a:spcPts val="800"/>
              </a:spcAft>
            </a:pPr>
            <a:r>
              <a:rPr sz="2000" b="0" i="0">
                <a:solidFill>
                  <a:srgbClr val="6B7280"/>
                </a:solidFill>
                <a:latin typeface="Calibri"/>
              </a:rPr>
              <a:t>Results and take-home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Idea 1: an edge is selected if it carries flow</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15</a:t>
            </a:r>
          </a:p>
        </p:txBody>
      </p:sp>
      <p:cxnSp>
        <p:nvCxnSpPr>
          <p:cNvPr id="6" name="Connector 5"/>
          <p:cNvCxnSpPr/>
          <p:nvPr/>
        </p:nvCxnSpPr>
        <p:spPr>
          <a:xfrm>
            <a:off x="274320" y="3657600"/>
            <a:ext cx="749808" cy="0"/>
          </a:xfrm>
          <a:prstGeom prst="line">
            <a:avLst/>
          </a:prstGeom>
          <a:ln w="444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10912" y="3657600"/>
            <a:ext cx="841248" cy="0"/>
          </a:xfrm>
          <a:prstGeom prst="line">
            <a:avLst/>
          </a:prstGeom>
          <a:ln w="444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37160" y="3063240"/>
            <a:ext cx="91440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+1</a:t>
            </a:r>
          </a:p>
        </p:txBody>
      </p:sp>
      <p:sp>
        <p:nvSpPr>
          <p:cNvPr id="9" name="TextBox 8"/>
          <p:cNvSpPr txBox="1"/>
          <p:nvPr/>
        </p:nvSpPr>
        <p:spPr>
          <a:xfrm>
            <a:off x="5120640" y="3063240"/>
            <a:ext cx="91440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−1</a:t>
            </a:r>
          </a:p>
        </p:txBody>
      </p:sp>
      <p:cxnSp>
        <p:nvCxnSpPr>
          <p:cNvPr id="10" name="Connector 9"/>
          <p:cNvCxnSpPr/>
          <p:nvPr/>
        </p:nvCxnSpPr>
        <p:spPr>
          <a:xfrm flipV="1">
            <a:off x="1638462" y="2677675"/>
            <a:ext cx="1089956" cy="787190"/>
          </a:xfrm>
          <a:prstGeom prst="line">
            <a:avLst/>
          </a:prstGeom>
          <a:ln w="444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691639" y="251460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1</a:t>
            </a:r>
          </a:p>
        </p:txBody>
      </p:sp>
      <p:cxnSp>
        <p:nvCxnSpPr>
          <p:cNvPr id="12" name="Connector 11"/>
          <p:cNvCxnSpPr/>
          <p:nvPr/>
        </p:nvCxnSpPr>
        <p:spPr>
          <a:xfrm>
            <a:off x="1638462" y="3850334"/>
            <a:ext cx="1089956" cy="787190"/>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691639" y="429768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3</a:t>
            </a:r>
          </a:p>
        </p:txBody>
      </p:sp>
      <p:cxnSp>
        <p:nvCxnSpPr>
          <p:cNvPr id="14" name="Connector 13"/>
          <p:cNvCxnSpPr/>
          <p:nvPr/>
        </p:nvCxnSpPr>
        <p:spPr>
          <a:xfrm>
            <a:off x="3284382" y="2661614"/>
            <a:ext cx="1089956" cy="787190"/>
          </a:xfrm>
          <a:prstGeom prst="line">
            <a:avLst/>
          </a:prstGeom>
          <a:ln w="44450">
            <a:solidFill>
              <a:srgbClr val="0072B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794760" y="251460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1</a:t>
            </a:r>
          </a:p>
        </p:txBody>
      </p:sp>
      <p:cxnSp>
        <p:nvCxnSpPr>
          <p:cNvPr id="16" name="Connector 15"/>
          <p:cNvCxnSpPr/>
          <p:nvPr/>
        </p:nvCxnSpPr>
        <p:spPr>
          <a:xfrm flipV="1">
            <a:off x="3284382" y="3866395"/>
            <a:ext cx="1089956" cy="787190"/>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794760" y="429768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1</a:t>
            </a:r>
          </a:p>
        </p:txBody>
      </p:sp>
      <p:cxnSp>
        <p:nvCxnSpPr>
          <p:cNvPr id="18" name="Connector 17"/>
          <p:cNvCxnSpPr/>
          <p:nvPr/>
        </p:nvCxnSpPr>
        <p:spPr>
          <a:xfrm>
            <a:off x="3017520" y="2798064"/>
            <a:ext cx="0" cy="1691640"/>
          </a:xfrm>
          <a:prstGeom prst="line">
            <a:avLst/>
          </a:prstGeom>
          <a:ln w="19050">
            <a:solidFill>
              <a:srgbClr val="AAB0B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971800" y="3429000"/>
            <a:ext cx="54864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1</a:t>
            </a:r>
          </a:p>
        </p:txBody>
      </p:sp>
      <p:sp>
        <p:nvSpPr>
          <p:cNvPr id="20" name="Oval 19"/>
          <p:cNvSpPr/>
          <p:nvPr/>
        </p:nvSpPr>
        <p:spPr>
          <a:xfrm>
            <a:off x="1042416" y="332841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s</a:t>
            </a:r>
          </a:p>
        </p:txBody>
      </p:sp>
      <p:sp>
        <p:nvSpPr>
          <p:cNvPr id="21" name="Oval 20"/>
          <p:cNvSpPr/>
          <p:nvPr/>
        </p:nvSpPr>
        <p:spPr>
          <a:xfrm>
            <a:off x="2688336" y="213969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a</a:t>
            </a:r>
          </a:p>
        </p:txBody>
      </p:sp>
      <p:sp>
        <p:nvSpPr>
          <p:cNvPr id="22" name="Oval 21"/>
          <p:cNvSpPr/>
          <p:nvPr/>
        </p:nvSpPr>
        <p:spPr>
          <a:xfrm>
            <a:off x="2688336" y="451713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b</a:t>
            </a:r>
          </a:p>
        </p:txBody>
      </p:sp>
      <p:sp>
        <p:nvSpPr>
          <p:cNvPr id="23" name="Oval 22"/>
          <p:cNvSpPr/>
          <p:nvPr/>
        </p:nvSpPr>
        <p:spPr>
          <a:xfrm>
            <a:off x="4334255" y="332841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t</a:t>
            </a:r>
          </a:p>
        </p:txBody>
      </p:sp>
      <p:sp>
        <p:nvSpPr>
          <p:cNvPr id="24" name="TextBox 23"/>
          <p:cNvSpPr txBox="1"/>
          <p:nvPr/>
        </p:nvSpPr>
        <p:spPr>
          <a:xfrm>
            <a:off x="548640" y="5486400"/>
            <a:ext cx="5486400" cy="45720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numbers = edge costs; blue = flow</a:t>
            </a:r>
          </a:p>
        </p:txBody>
      </p:sp>
      <p:sp>
        <p:nvSpPr>
          <p:cNvPr id="25" name="TextBox 24"/>
          <p:cNvSpPr txBox="1"/>
          <p:nvPr/>
        </p:nvSpPr>
        <p:spPr>
          <a:xfrm>
            <a:off x="6400800" y="1463040"/>
            <a:ext cx="5303520" cy="4572000"/>
          </a:xfrm>
          <a:prstGeom prst="rect">
            <a:avLst/>
          </a:prstGeom>
          <a:noFill/>
        </p:spPr>
        <p:txBody>
          <a:bodyPr wrap="square" lIns="45720" tIns="27432" rIns="45720" bIns="27432" anchor="t"/>
          <a:lstStyle/>
          <a:p>
            <a:pPr algn="l">
              <a:spcAft>
                <a:spcPts val="1200"/>
              </a:spcAft>
            </a:pPr>
            <a:r>
              <a:rPr sz="2000" b="0" i="0">
                <a:solidFill>
                  <a:srgbClr val="0072B2"/>
                </a:solidFill>
                <a:latin typeface="Calibri"/>
              </a:rPr>
              <a:t>Source / sink edges </a:t>
            </a:r>
            <a:r>
              <a:rPr sz="2000" b="0" i="0">
                <a:solidFill>
                  <a:srgbClr val="2B2B2B"/>
                </a:solidFill>
                <a:latin typeface="Calibri"/>
              </a:rPr>
              <a:t>inject and remove flow</a:t>
            </a:r>
          </a:p>
          <a:p>
            <a:pPr algn="l">
              <a:spcAft>
                <a:spcPts val="1200"/>
              </a:spcAft>
            </a:pPr>
            <a:r>
              <a:rPr sz="2000" b="0" i="0">
                <a:solidFill>
                  <a:srgbClr val="0072B2"/>
                </a:solidFill>
                <a:latin typeface="Calibri"/>
              </a:rPr>
              <a:t>Conservation: </a:t>
            </a:r>
            <a:r>
              <a:rPr sz="2000" b="0" i="0">
                <a:solidFill>
                  <a:srgbClr val="2B2B2B"/>
                </a:solidFill>
                <a:latin typeface="Calibri"/>
              </a:rPr>
              <a:t>in = out at every node</a:t>
            </a:r>
          </a:p>
          <a:p>
            <a:pPr algn="l">
              <a:spcAft>
                <a:spcPts val="1200"/>
              </a:spcAft>
            </a:pPr>
            <a:r>
              <a:rPr sz="2000" b="0" i="0">
                <a:solidFill>
                  <a:srgbClr val="2B2B2B"/>
                </a:solidFill>
                <a:latin typeface="Calibri"/>
              </a:rPr>
              <a:t>  </a:t>
            </a:r>
            <a:r>
              <a:rPr sz="2000" b="0" i="0">
                <a:solidFill>
                  <a:srgbClr val="1F2A44"/>
                </a:solidFill>
                <a:latin typeface="Cambria Math"/>
                <a:ea typeface="Cambria Math"/>
                <a:cs typeface="Cambria Math"/>
              </a:rPr>
              <a:t>A x = 0</a:t>
            </a:r>
          </a:p>
          <a:p>
            <a:pPr algn="l">
              <a:spcAft>
                <a:spcPts val="1200"/>
              </a:spcAft>
            </a:pPr>
            <a:r>
              <a:rPr sz="2000" b="0" i="0">
                <a:solidFill>
                  <a:srgbClr val="0072B2"/>
                </a:solidFill>
                <a:latin typeface="Calibri"/>
              </a:rPr>
              <a:t>Edge switch: </a:t>
            </a:r>
            <a:r>
              <a:rPr sz="2000" b="0" i="0">
                <a:solidFill>
                  <a:srgbClr val="2B2B2B"/>
                </a:solidFill>
                <a:latin typeface="Calibri"/>
              </a:rPr>
              <a:t>flow only if the edge is on</a:t>
            </a:r>
          </a:p>
          <a:p>
            <a:pPr algn="l">
              <a:spcAft>
                <a:spcPts val="1200"/>
              </a:spcAft>
            </a:pPr>
            <a:r>
              <a:rPr sz="2000" b="0" i="0">
                <a:solidFill>
                  <a:srgbClr val="2B2B2B"/>
                </a:solidFill>
                <a:latin typeface="Calibri"/>
              </a:rPr>
              <a:t>  </a:t>
            </a:r>
            <a:r>
              <a:rPr sz="2000" b="0" i="0">
                <a:solidFill>
                  <a:srgbClr val="1F2A44"/>
                </a:solidFill>
                <a:latin typeface="Cambria Math"/>
                <a:ea typeface="Cambria Math"/>
                <a:cs typeface="Cambria Math"/>
              </a:rPr>
              <a:t>0 ≤ xₑ ≤ uₑ yₑ ,   yₑ ∈ {0, 1}</a:t>
            </a:r>
            <a:r>
              <a:rPr sz="2000" b="0" i="0">
                <a:solidFill>
                  <a:srgbClr val="6B7280"/>
                </a:solidFill>
                <a:latin typeface="Calibri"/>
              </a:rPr>
              <a:t>   u = capacity</a:t>
            </a:r>
          </a:p>
          <a:p>
            <a:pPr algn="l">
              <a:spcAft>
                <a:spcPts val="1200"/>
              </a:spcAft>
            </a:pPr>
            <a:r>
              <a:rPr sz="2000" b="0" i="0">
                <a:solidFill>
                  <a:srgbClr val="D55E00"/>
                </a:solidFill>
                <a:latin typeface="Calibri"/>
              </a:rPr>
              <a:t>Shortest path </a:t>
            </a:r>
            <a:r>
              <a:rPr sz="2000" b="0" i="0">
                <a:solidFill>
                  <a:srgbClr val="2B2B2B"/>
                </a:solidFill>
                <a:latin typeface="Calibri"/>
              </a:rPr>
              <a:t>= cheapest unit of flow from s to 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Idea 2: one incidence matrix describes every PKN</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16</a:t>
            </a:r>
          </a:p>
        </p:txBody>
      </p:sp>
      <p:sp>
        <p:nvSpPr>
          <p:cNvPr id="6" name="Rounded Rectangle 5"/>
          <p:cNvSpPr/>
          <p:nvPr/>
        </p:nvSpPr>
        <p:spPr>
          <a:xfrm>
            <a:off x="548640" y="1417320"/>
            <a:ext cx="3383280" cy="3246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1508760"/>
            <a:ext cx="338328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Graph edge</a:t>
            </a:r>
          </a:p>
        </p:txBody>
      </p:sp>
      <p:sp>
        <p:nvSpPr>
          <p:cNvPr id="8" name="Oval 7"/>
          <p:cNvSpPr/>
          <p:nvPr/>
        </p:nvSpPr>
        <p:spPr>
          <a:xfrm>
            <a:off x="950976" y="227685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u</a:t>
            </a:r>
          </a:p>
        </p:txBody>
      </p:sp>
      <p:sp>
        <p:nvSpPr>
          <p:cNvPr id="9" name="Oval 8"/>
          <p:cNvSpPr/>
          <p:nvPr/>
        </p:nvSpPr>
        <p:spPr>
          <a:xfrm>
            <a:off x="2871216" y="227685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v</a:t>
            </a:r>
          </a:p>
        </p:txBody>
      </p:sp>
      <p:cxnSp>
        <p:nvCxnSpPr>
          <p:cNvPr id="10" name="Connector 9"/>
          <p:cNvCxnSpPr/>
          <p:nvPr/>
        </p:nvCxnSpPr>
        <p:spPr>
          <a:xfrm>
            <a:off x="1609343" y="2606040"/>
            <a:ext cx="1234441"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3291840"/>
            <a:ext cx="3383280" cy="1188720"/>
          </a:xfrm>
          <a:prstGeom prst="rect">
            <a:avLst/>
          </a:prstGeom>
          <a:noFill/>
        </p:spPr>
        <p:txBody>
          <a:bodyPr wrap="square" lIns="45720" tIns="27432" rIns="45720" bIns="27432" anchor="t"/>
          <a:lstStyle/>
          <a:p>
            <a:pPr algn="ctr">
              <a:spcAft>
                <a:spcPts val="400"/>
              </a:spcAft>
            </a:pPr>
            <a:r>
              <a:rPr sz="2000" b="0" i="0">
                <a:solidFill>
                  <a:srgbClr val="2B2B2B"/>
                </a:solidFill>
                <a:latin typeface="Calibri"/>
              </a:rPr>
              <a:t>u  </a:t>
            </a:r>
            <a:r>
              <a:rPr sz="2000" b="0" i="0">
                <a:solidFill>
                  <a:srgbClr val="2C6FB7"/>
                </a:solidFill>
                <a:latin typeface="Calibri"/>
              </a:rPr>
              <a:t>−1</a:t>
            </a:r>
          </a:p>
          <a:p>
            <a:pPr algn="ctr">
              <a:spcAft>
                <a:spcPts val="400"/>
              </a:spcAft>
            </a:pPr>
            <a:r>
              <a:rPr sz="2000" b="0" i="0">
                <a:solidFill>
                  <a:srgbClr val="2B2B2B"/>
                </a:solidFill>
                <a:latin typeface="Calibri"/>
              </a:rPr>
              <a:t>v  </a:t>
            </a:r>
            <a:r>
              <a:rPr sz="2000" b="0" i="0">
                <a:solidFill>
                  <a:srgbClr val="C0392B"/>
                </a:solidFill>
                <a:latin typeface="Calibri"/>
              </a:rPr>
              <a:t>+1</a:t>
            </a:r>
          </a:p>
        </p:txBody>
      </p:sp>
      <p:sp>
        <p:nvSpPr>
          <p:cNvPr id="12" name="Rounded Rectangle 11"/>
          <p:cNvSpPr/>
          <p:nvPr/>
        </p:nvSpPr>
        <p:spPr>
          <a:xfrm>
            <a:off x="4160520" y="1417320"/>
            <a:ext cx="4023360" cy="3246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160520" y="1508760"/>
            <a:ext cx="402336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Reaction (hyperedge)</a:t>
            </a:r>
          </a:p>
        </p:txBody>
      </p:sp>
      <p:sp>
        <p:nvSpPr>
          <p:cNvPr id="14" name="Oval 13"/>
          <p:cNvSpPr/>
          <p:nvPr/>
        </p:nvSpPr>
        <p:spPr>
          <a:xfrm>
            <a:off x="4517136" y="191109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M1</a:t>
            </a:r>
          </a:p>
        </p:txBody>
      </p:sp>
      <p:sp>
        <p:nvSpPr>
          <p:cNvPr id="15" name="Oval 14"/>
          <p:cNvSpPr/>
          <p:nvPr/>
        </p:nvSpPr>
        <p:spPr>
          <a:xfrm>
            <a:off x="4517136" y="291693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M2</a:t>
            </a:r>
          </a:p>
        </p:txBody>
      </p:sp>
      <p:sp>
        <p:nvSpPr>
          <p:cNvPr id="16" name="Oval 15"/>
          <p:cNvSpPr/>
          <p:nvPr/>
        </p:nvSpPr>
        <p:spPr>
          <a:xfrm>
            <a:off x="7168895" y="2414016"/>
            <a:ext cx="658368" cy="658368"/>
          </a:xfrm>
          <a:prstGeom prst="ellipse">
            <a:avLst/>
          </a:prstGeom>
          <a:solidFill>
            <a:srgbClr val="FFF4DE"/>
          </a:solidFill>
          <a:ln w="19050">
            <a:solidFill>
              <a:srgbClr val="E69F00"/>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M3</a:t>
            </a:r>
          </a:p>
        </p:txBody>
      </p:sp>
      <p:cxnSp>
        <p:nvCxnSpPr>
          <p:cNvPr id="17" name="Connector 16"/>
          <p:cNvCxnSpPr/>
          <p:nvPr/>
        </p:nvCxnSpPr>
        <p:spPr>
          <a:xfrm>
            <a:off x="5175504" y="2331720"/>
            <a:ext cx="996696" cy="411480"/>
          </a:xfrm>
          <a:prstGeom prst="line">
            <a:avLst/>
          </a:prstGeom>
          <a:ln w="317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175504" y="2743200"/>
            <a:ext cx="996696" cy="411480"/>
          </a:xfrm>
          <a:prstGeom prst="line">
            <a:avLst/>
          </a:prstGeom>
          <a:ln w="31750">
            <a:solidFill>
              <a:srgbClr val="1F2A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172200" y="2743200"/>
            <a:ext cx="960120"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349240" y="3017520"/>
            <a:ext cx="457200" cy="4114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2</a:t>
            </a:r>
          </a:p>
        </p:txBody>
      </p:sp>
      <p:sp>
        <p:nvSpPr>
          <p:cNvPr id="21" name="TextBox 20"/>
          <p:cNvSpPr txBox="1"/>
          <p:nvPr/>
        </p:nvSpPr>
        <p:spPr>
          <a:xfrm>
            <a:off x="4160520" y="3611880"/>
            <a:ext cx="4023360" cy="1005840"/>
          </a:xfrm>
          <a:prstGeom prst="rect">
            <a:avLst/>
          </a:prstGeom>
          <a:noFill/>
        </p:spPr>
        <p:txBody>
          <a:bodyPr wrap="square" lIns="45720" tIns="27432" rIns="45720" bIns="27432" anchor="t"/>
          <a:lstStyle/>
          <a:p>
            <a:pPr algn="ctr">
              <a:spcAft>
                <a:spcPts val="800"/>
              </a:spcAft>
            </a:pPr>
            <a:r>
              <a:rPr sz="2000" b="0" i="0">
                <a:solidFill>
                  <a:srgbClr val="2B2B2B"/>
                </a:solidFill>
                <a:latin typeface="Calibri"/>
              </a:rPr>
              <a:t>M1 </a:t>
            </a:r>
            <a:r>
              <a:rPr sz="2000" b="0" i="0">
                <a:solidFill>
                  <a:srgbClr val="2C6FB7"/>
                </a:solidFill>
                <a:latin typeface="Calibri"/>
              </a:rPr>
              <a:t>−1</a:t>
            </a:r>
            <a:r>
              <a:rPr sz="2000" b="0" i="0">
                <a:solidFill>
                  <a:srgbClr val="2B2B2B"/>
                </a:solidFill>
                <a:latin typeface="Calibri"/>
              </a:rPr>
              <a:t>   M2 </a:t>
            </a:r>
            <a:r>
              <a:rPr sz="2000" b="0" i="0">
                <a:solidFill>
                  <a:srgbClr val="2C6FB7"/>
                </a:solidFill>
                <a:latin typeface="Calibri"/>
              </a:rPr>
              <a:t>−2</a:t>
            </a:r>
            <a:r>
              <a:rPr sz="2000" b="0" i="0">
                <a:solidFill>
                  <a:srgbClr val="2B2B2B"/>
                </a:solidFill>
                <a:latin typeface="Calibri"/>
              </a:rPr>
              <a:t>   M3 </a:t>
            </a:r>
            <a:r>
              <a:rPr sz="2000" b="0" i="0">
                <a:solidFill>
                  <a:srgbClr val="C0392B"/>
                </a:solidFill>
                <a:latin typeface="Calibri"/>
              </a:rPr>
              <a:t>+1</a:t>
            </a:r>
          </a:p>
        </p:txBody>
      </p:sp>
      <p:sp>
        <p:nvSpPr>
          <p:cNvPr id="22" name="Rounded Rectangle 21"/>
          <p:cNvSpPr/>
          <p:nvPr/>
        </p:nvSpPr>
        <p:spPr>
          <a:xfrm>
            <a:off x="8412480" y="1417320"/>
            <a:ext cx="3200400" cy="3246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412480" y="1508760"/>
            <a:ext cx="320040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Source / sink</a:t>
            </a:r>
          </a:p>
        </p:txBody>
      </p:sp>
      <p:sp>
        <p:nvSpPr>
          <p:cNvPr id="24" name="TextBox 23"/>
          <p:cNvSpPr txBox="1"/>
          <p:nvPr/>
        </p:nvSpPr>
        <p:spPr>
          <a:xfrm>
            <a:off x="8503920" y="2240280"/>
            <a:ext cx="548640" cy="548640"/>
          </a:xfrm>
          <a:prstGeom prst="rect">
            <a:avLst/>
          </a:prstGeom>
          <a:noFill/>
        </p:spPr>
        <p:txBody>
          <a:bodyPr wrap="square" lIns="45720" tIns="27432" rIns="45720" bIns="27432" anchor="ctr"/>
          <a:lstStyle/>
          <a:p>
            <a:pPr algn="ctr">
              <a:spcAft>
                <a:spcPts val="800"/>
              </a:spcAft>
            </a:pPr>
            <a:r>
              <a:rPr sz="2000" b="0" i="0">
                <a:solidFill>
                  <a:srgbClr val="1F2A44"/>
                </a:solidFill>
                <a:latin typeface="Cambria Math"/>
                <a:ea typeface="Cambria Math"/>
                <a:cs typeface="Cambria Math"/>
              </a:rPr>
              <a:t>∅</a:t>
            </a:r>
          </a:p>
        </p:txBody>
      </p:sp>
      <p:cxnSp>
        <p:nvCxnSpPr>
          <p:cNvPr id="25" name="Connector 24"/>
          <p:cNvCxnSpPr/>
          <p:nvPr/>
        </p:nvCxnSpPr>
        <p:spPr>
          <a:xfrm>
            <a:off x="9052560" y="2514600"/>
            <a:ext cx="594360"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9683496" y="2185416"/>
            <a:ext cx="658368" cy="658368"/>
          </a:xfrm>
          <a:prstGeom prst="ellipse">
            <a:avLst/>
          </a:prstGeom>
          <a:solidFill>
            <a:srgbClr val="FFFFFF"/>
          </a:solidFill>
          <a:ln w="19050">
            <a:solidFill>
              <a:srgbClr val="1F2A44"/>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2B2B2B"/>
                </a:solidFill>
                <a:latin typeface="Calibri"/>
              </a:rPr>
              <a:t>v</a:t>
            </a:r>
          </a:p>
        </p:txBody>
      </p:sp>
      <p:cxnSp>
        <p:nvCxnSpPr>
          <p:cNvPr id="27" name="Connector 26"/>
          <p:cNvCxnSpPr/>
          <p:nvPr/>
        </p:nvCxnSpPr>
        <p:spPr>
          <a:xfrm>
            <a:off x="10378440" y="2514600"/>
            <a:ext cx="594360" cy="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972800" y="2240280"/>
            <a:ext cx="548640" cy="548640"/>
          </a:xfrm>
          <a:prstGeom prst="rect">
            <a:avLst/>
          </a:prstGeom>
          <a:noFill/>
        </p:spPr>
        <p:txBody>
          <a:bodyPr wrap="square" lIns="45720" tIns="27432" rIns="45720" bIns="27432" anchor="ctr"/>
          <a:lstStyle/>
          <a:p>
            <a:pPr algn="ctr">
              <a:spcAft>
                <a:spcPts val="800"/>
              </a:spcAft>
            </a:pPr>
            <a:r>
              <a:rPr sz="2000" b="0" i="0">
                <a:solidFill>
                  <a:srgbClr val="1F2A44"/>
                </a:solidFill>
                <a:latin typeface="Cambria Math"/>
                <a:ea typeface="Cambria Math"/>
                <a:cs typeface="Cambria Math"/>
              </a:rPr>
              <a:t>∅</a:t>
            </a:r>
          </a:p>
        </p:txBody>
      </p:sp>
      <p:sp>
        <p:nvSpPr>
          <p:cNvPr id="29" name="TextBox 28"/>
          <p:cNvSpPr txBox="1"/>
          <p:nvPr/>
        </p:nvSpPr>
        <p:spPr>
          <a:xfrm>
            <a:off x="8412480" y="3291840"/>
            <a:ext cx="3200400" cy="1188720"/>
          </a:xfrm>
          <a:prstGeom prst="rect">
            <a:avLst/>
          </a:prstGeom>
          <a:noFill/>
        </p:spPr>
        <p:txBody>
          <a:bodyPr wrap="square" lIns="45720" tIns="27432" rIns="45720" bIns="27432" anchor="t"/>
          <a:lstStyle/>
          <a:p>
            <a:pPr algn="ctr">
              <a:spcAft>
                <a:spcPts val="400"/>
              </a:spcAft>
            </a:pPr>
            <a:r>
              <a:rPr sz="2000" b="0" i="0">
                <a:solidFill>
                  <a:srgbClr val="2B2B2B"/>
                </a:solidFill>
                <a:latin typeface="Calibri"/>
              </a:rPr>
              <a:t>empty tail or head</a:t>
            </a:r>
          </a:p>
          <a:p>
            <a:pPr algn="ctr">
              <a:spcAft>
                <a:spcPts val="400"/>
              </a:spcAft>
            </a:pPr>
            <a:r>
              <a:rPr sz="2000" b="0" i="0">
                <a:solidFill>
                  <a:srgbClr val="6B7280"/>
                </a:solidFill>
                <a:latin typeface="Calibri"/>
              </a:rPr>
              <a:t>(exchange reactions)</a:t>
            </a:r>
          </a:p>
        </p:txBody>
      </p:sp>
      <p:sp>
        <p:nvSpPr>
          <p:cNvPr id="30" name="TextBox 29"/>
          <p:cNvSpPr txBox="1"/>
          <p:nvPr/>
        </p:nvSpPr>
        <p:spPr>
          <a:xfrm>
            <a:off x="548640" y="4892040"/>
            <a:ext cx="11064240" cy="1371600"/>
          </a:xfrm>
          <a:prstGeom prst="rect">
            <a:avLst/>
          </a:prstGeom>
          <a:noFill/>
        </p:spPr>
        <p:txBody>
          <a:bodyPr wrap="square" lIns="45720" tIns="27432" rIns="45720" bIns="27432" anchor="t"/>
          <a:lstStyle/>
          <a:p>
            <a:pPr algn="l">
              <a:spcAft>
                <a:spcPts val="800"/>
              </a:spcAft>
            </a:pPr>
            <a:r>
              <a:rPr sz="2000" b="0" i="0">
                <a:solidFill>
                  <a:srgbClr val="2B2B2B"/>
                </a:solidFill>
                <a:latin typeface="Calibri"/>
              </a:rPr>
              <a:t>For metabolism the incidence matrix is the stoichiometric matrix:  </a:t>
            </a:r>
            <a:r>
              <a:rPr sz="2000" b="0" i="0">
                <a:solidFill>
                  <a:srgbClr val="1F2A44"/>
                </a:solidFill>
                <a:latin typeface="Cambria Math"/>
                <a:ea typeface="Cambria Math"/>
                <a:cs typeface="Cambria Math"/>
              </a:rPr>
              <a:t>A = S</a:t>
            </a:r>
          </a:p>
          <a:p>
            <a:pPr algn="l">
              <a:spcAft>
                <a:spcPts val="800"/>
              </a:spcAft>
            </a:pPr>
            <a:r>
              <a:rPr sz="2000" b="0" i="0">
                <a:solidFill>
                  <a:srgbClr val="2B2B2B"/>
                </a:solidFill>
                <a:latin typeface="Calibri"/>
              </a:rPr>
              <a:t>so FBA is just a flow on the hypergraph, and graphs are the special case of one tail and one head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Every method = map data, edit the graph, constrain, solve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17</a:t>
            </a:r>
          </a:p>
        </p:txBody>
      </p:sp>
      <p:pic>
        <p:nvPicPr>
          <p:cNvPr id="6" name="Picture 5" descr="fig2ad.png"/>
          <p:cNvPicPr>
            <a:picLocks noChangeAspect="1"/>
          </p:cNvPicPr>
          <p:nvPr/>
        </p:nvPicPr>
        <p:blipFill>
          <a:blip r:embed="rId3"/>
          <a:stretch>
            <a:fillRect/>
          </a:stretch>
        </p:blipFill>
        <p:spPr>
          <a:xfrm>
            <a:off x="548640" y="1280160"/>
            <a:ext cx="11064240" cy="3825602"/>
          </a:xfrm>
          <a:prstGeom prst="rect">
            <a:avLst/>
          </a:prstGeom>
        </p:spPr>
      </p:pic>
      <p:sp>
        <p:nvSpPr>
          <p:cNvPr id="7" name="Rounded Rectangle 6"/>
          <p:cNvSpPr/>
          <p:nvPr/>
        </p:nvSpPr>
        <p:spPr>
          <a:xfrm>
            <a:off x="548640" y="5212080"/>
            <a:ext cx="2651760" cy="1005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5230368"/>
            <a:ext cx="2651760" cy="960120"/>
          </a:xfrm>
          <a:prstGeom prst="rect">
            <a:avLst/>
          </a:prstGeom>
          <a:noFill/>
        </p:spPr>
        <p:txBody>
          <a:bodyPr wrap="square" lIns="45720" tIns="27432" rIns="45720" bIns="27432" anchor="ctr"/>
          <a:lstStyle/>
          <a:p>
            <a:pPr algn="ctr">
              <a:spcAft>
                <a:spcPts val="200"/>
              </a:spcAft>
            </a:pPr>
            <a:r>
              <a:rPr sz="2000" b="0" i="0">
                <a:solidFill>
                  <a:srgbClr val="0072B2"/>
                </a:solidFill>
                <a:latin typeface="Calibri"/>
              </a:rPr>
              <a:t>φ  map</a:t>
            </a:r>
          </a:p>
          <a:p>
            <a:pPr algn="ctr">
              <a:spcAft>
                <a:spcPts val="200"/>
              </a:spcAft>
            </a:pPr>
            <a:r>
              <a:rPr sz="2000" b="0" i="0">
                <a:solidFill>
                  <a:srgbClr val="2B2B2B"/>
                </a:solidFill>
                <a:latin typeface="Calibri"/>
              </a:rPr>
              <a:t>omics onto the PKN</a:t>
            </a:r>
          </a:p>
        </p:txBody>
      </p:sp>
      <p:sp>
        <p:nvSpPr>
          <p:cNvPr id="9" name="Rounded Rectangle 8"/>
          <p:cNvSpPr/>
          <p:nvPr/>
        </p:nvSpPr>
        <p:spPr>
          <a:xfrm>
            <a:off x="3337560" y="5212080"/>
            <a:ext cx="2651760" cy="1005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337560" y="5230368"/>
            <a:ext cx="2651760" cy="960120"/>
          </a:xfrm>
          <a:prstGeom prst="rect">
            <a:avLst/>
          </a:prstGeom>
          <a:noFill/>
        </p:spPr>
        <p:txBody>
          <a:bodyPr wrap="square" lIns="45720" tIns="27432" rIns="45720" bIns="27432" anchor="ctr"/>
          <a:lstStyle/>
          <a:p>
            <a:pPr algn="ctr">
              <a:spcAft>
                <a:spcPts val="200"/>
              </a:spcAft>
            </a:pPr>
            <a:r>
              <a:rPr sz="2000" b="0" i="0">
                <a:solidFill>
                  <a:srgbClr val="0072B2"/>
                </a:solidFill>
                <a:latin typeface="Calibri"/>
              </a:rPr>
              <a:t>ψ  edit</a:t>
            </a:r>
          </a:p>
          <a:p>
            <a:pPr algn="ctr">
              <a:spcAft>
                <a:spcPts val="200"/>
              </a:spcAft>
            </a:pPr>
            <a:r>
              <a:rPr sz="2000" b="0" i="0">
                <a:solidFill>
                  <a:srgbClr val="2B2B2B"/>
                </a:solidFill>
                <a:latin typeface="Calibri"/>
              </a:rPr>
              <a:t>add sources, sinks; prune</a:t>
            </a:r>
          </a:p>
        </p:txBody>
      </p:sp>
      <p:sp>
        <p:nvSpPr>
          <p:cNvPr id="11" name="Rounded Rectangle 10"/>
          <p:cNvSpPr/>
          <p:nvPr/>
        </p:nvSpPr>
        <p:spPr>
          <a:xfrm>
            <a:off x="6126479" y="5212080"/>
            <a:ext cx="2651760" cy="1005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79" y="5230368"/>
            <a:ext cx="2651760" cy="960120"/>
          </a:xfrm>
          <a:prstGeom prst="rect">
            <a:avLst/>
          </a:prstGeom>
          <a:noFill/>
        </p:spPr>
        <p:txBody>
          <a:bodyPr wrap="square" lIns="45720" tIns="27432" rIns="45720" bIns="27432" anchor="ctr"/>
          <a:lstStyle/>
          <a:p>
            <a:pPr algn="ctr">
              <a:spcAft>
                <a:spcPts val="200"/>
              </a:spcAft>
            </a:pPr>
            <a:r>
              <a:rPr sz="2000" b="0" i="0">
                <a:solidFill>
                  <a:srgbClr val="0072B2"/>
                </a:solidFill>
                <a:latin typeface="Calibri"/>
              </a:rPr>
              <a:t>f, Ω  model</a:t>
            </a:r>
          </a:p>
          <a:p>
            <a:pPr algn="ctr">
              <a:spcAft>
                <a:spcPts val="200"/>
              </a:spcAft>
            </a:pPr>
            <a:r>
              <a:rPr sz="2000" b="0" i="0">
                <a:solidFill>
                  <a:srgbClr val="2B2B2B"/>
                </a:solidFill>
                <a:latin typeface="Calibri"/>
              </a:rPr>
              <a:t>objective + constraints</a:t>
            </a:r>
          </a:p>
        </p:txBody>
      </p:sp>
      <p:sp>
        <p:nvSpPr>
          <p:cNvPr id="13" name="Rounded Rectangle 12"/>
          <p:cNvSpPr/>
          <p:nvPr/>
        </p:nvSpPr>
        <p:spPr>
          <a:xfrm>
            <a:off x="8915399" y="5212080"/>
            <a:ext cx="2651760" cy="10058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915399" y="5230368"/>
            <a:ext cx="2651760" cy="960120"/>
          </a:xfrm>
          <a:prstGeom prst="rect">
            <a:avLst/>
          </a:prstGeom>
          <a:noFill/>
        </p:spPr>
        <p:txBody>
          <a:bodyPr wrap="square" lIns="45720" tIns="27432" rIns="45720" bIns="27432" anchor="ctr"/>
          <a:lstStyle/>
          <a:p>
            <a:pPr algn="ctr">
              <a:spcAft>
                <a:spcPts val="200"/>
              </a:spcAft>
            </a:pPr>
            <a:r>
              <a:rPr sz="2000" b="0" i="0">
                <a:solidFill>
                  <a:srgbClr val="0072B2"/>
                </a:solidFill>
                <a:latin typeface="Calibri"/>
              </a:rPr>
              <a:t>Solve</a:t>
            </a:r>
          </a:p>
          <a:p>
            <a:pPr algn="ctr">
              <a:spcAft>
                <a:spcPts val="200"/>
              </a:spcAft>
            </a:pPr>
            <a:r>
              <a:rPr sz="2000" b="0" i="0">
                <a:solidFill>
                  <a:srgbClr val="2B2B2B"/>
                </a:solidFill>
                <a:latin typeface="Calibri"/>
              </a:rPr>
              <a:t>optimal networks + proof</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Idea 3: one template for every method and every sample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18</a:t>
            </a:r>
          </a:p>
        </p:txBody>
      </p:sp>
      <p:sp>
        <p:nvSpPr>
          <p:cNvPr id="6" name="Rounded Rectangle 5"/>
          <p:cNvSpPr/>
          <p:nvPr/>
        </p:nvSpPr>
        <p:spPr>
          <a:xfrm>
            <a:off x="548640" y="1417320"/>
            <a:ext cx="11064240" cy="23317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1554480"/>
            <a:ext cx="10515600" cy="2103120"/>
          </a:xfrm>
          <a:prstGeom prst="rect">
            <a:avLst/>
          </a:prstGeom>
          <a:noFill/>
        </p:spPr>
        <p:txBody>
          <a:bodyPr wrap="square" lIns="45720" tIns="27432" rIns="45720" bIns="27432" anchor="t"/>
          <a:lstStyle/>
          <a:p>
            <a:pPr algn="l">
              <a:spcAft>
                <a:spcPts val="800"/>
              </a:spcAft>
            </a:pPr>
            <a:r>
              <a:rPr sz="2000" b="0" i="0">
                <a:solidFill>
                  <a:srgbClr val="1F2A44"/>
                </a:solidFill>
                <a:latin typeface="Cambria Math"/>
                <a:ea typeface="Cambria Math"/>
                <a:cs typeface="Cambria Math"/>
              </a:rPr>
              <a:t>min   (1/n) Σᵢ f(X:,ᵢ , Y:,ᵢ)  +  </a:t>
            </a:r>
            <a:r>
              <a:rPr sz="2000" b="0" i="0">
                <a:solidFill>
                  <a:srgbClr val="D55E00"/>
                </a:solidFill>
                <a:latin typeface="Cambria Math"/>
                <a:ea typeface="Cambria Math"/>
                <a:cs typeface="Cambria Math"/>
              </a:rPr>
              <a:t>λ ‖Y 1ₙ‖₀</a:t>
            </a:r>
          </a:p>
          <a:p>
            <a:pPr algn="l">
              <a:spcAft>
                <a:spcPts val="800"/>
              </a:spcAft>
            </a:pPr>
            <a:r>
              <a:rPr sz="2000" b="0" i="0">
                <a:solidFill>
                  <a:srgbClr val="1F2A44"/>
                </a:solidFill>
                <a:latin typeface="Cambria Math"/>
                <a:ea typeface="Cambria Math"/>
                <a:cs typeface="Cambria Math"/>
              </a:rPr>
              <a:t>s.t.   A X = 0</a:t>
            </a:r>
            <a:r>
              <a:rPr sz="2000" b="0" i="0">
                <a:solidFill>
                  <a:srgbClr val="6B7280"/>
                </a:solidFill>
                <a:latin typeface="Calibri"/>
              </a:rPr>
              <a:t>     flow conservation in every sample</a:t>
            </a:r>
          </a:p>
          <a:p>
            <a:pPr algn="l">
              <a:spcAft>
                <a:spcPts val="800"/>
              </a:spcAft>
            </a:pPr>
            <a:r>
              <a:rPr sz="2000" b="0" i="0">
                <a:solidFill>
                  <a:srgbClr val="1F2A44"/>
                </a:solidFill>
                <a:latin typeface="Cambria Math"/>
                <a:ea typeface="Cambria Math"/>
                <a:cs typeface="Cambria Math"/>
              </a:rPr>
              <a:t>         Y = 0  ⇒  X = 0</a:t>
            </a:r>
            <a:r>
              <a:rPr sz="2000" b="0" i="0">
                <a:solidFill>
                  <a:srgbClr val="6B7280"/>
                </a:solidFill>
                <a:latin typeface="Calibri"/>
              </a:rPr>
              <a:t>     edges off carry no flow</a:t>
            </a:r>
          </a:p>
          <a:p>
            <a:pPr algn="l">
              <a:spcAft>
                <a:spcPts val="800"/>
              </a:spcAft>
            </a:pPr>
            <a:r>
              <a:rPr sz="2000" b="0" i="0">
                <a:solidFill>
                  <a:srgbClr val="1F2A44"/>
                </a:solidFill>
                <a:latin typeface="Cambria Math"/>
                <a:ea typeface="Cambria Math"/>
                <a:cs typeface="Cambria Math"/>
              </a:rPr>
              <a:t>         (X, Y) ∈ Ω(method)</a:t>
            </a:r>
            <a:r>
              <a:rPr sz="2000" b="0" i="0">
                <a:solidFill>
                  <a:srgbClr val="6B7280"/>
                </a:solidFill>
                <a:latin typeface="Calibri"/>
              </a:rPr>
              <a:t>     paths, trees, signs, FBA bounds …</a:t>
            </a:r>
          </a:p>
        </p:txBody>
      </p:sp>
      <p:sp>
        <p:nvSpPr>
          <p:cNvPr id="8" name="TextBox 7"/>
          <p:cNvSpPr txBox="1"/>
          <p:nvPr/>
        </p:nvSpPr>
        <p:spPr>
          <a:xfrm>
            <a:off x="548640" y="3977639"/>
            <a:ext cx="11064240" cy="2286000"/>
          </a:xfrm>
          <a:prstGeom prst="rect">
            <a:avLst/>
          </a:prstGeom>
          <a:noFill/>
        </p:spPr>
        <p:txBody>
          <a:bodyPr wrap="square" lIns="45720" tIns="27432" rIns="45720" bIns="27432" anchor="t"/>
          <a:lstStyle/>
          <a:p>
            <a:pPr algn="l">
              <a:spcAft>
                <a:spcPts val="1000"/>
              </a:spcAft>
            </a:pPr>
            <a:r>
              <a:rPr sz="2000" b="0" i="0">
                <a:solidFill>
                  <a:srgbClr val="0072B2"/>
                </a:solidFill>
                <a:latin typeface="Calibri"/>
              </a:rPr>
              <a:t>X, Y: </a:t>
            </a:r>
            <a:r>
              <a:rPr sz="2000" b="0" i="0">
                <a:solidFill>
                  <a:srgbClr val="2B2B2B"/>
                </a:solidFill>
                <a:latin typeface="Calibri"/>
              </a:rPr>
              <a:t>flows and on/off indicators, edges × samples</a:t>
            </a:r>
          </a:p>
          <a:p>
            <a:pPr algn="l">
              <a:spcAft>
                <a:spcPts val="1000"/>
              </a:spcAft>
            </a:pPr>
            <a:r>
              <a:rPr sz="2000" b="0" i="0">
                <a:solidFill>
                  <a:srgbClr val="0072B2"/>
                </a:solidFill>
                <a:latin typeface="Calibri"/>
              </a:rPr>
              <a:t>f: </a:t>
            </a:r>
            <a:r>
              <a:rPr sz="2000" b="0" i="0">
                <a:solidFill>
                  <a:srgbClr val="2B2B2B"/>
                </a:solidFill>
                <a:latin typeface="Calibri"/>
              </a:rPr>
              <a:t>the original method's objective, per sample</a:t>
            </a:r>
          </a:p>
          <a:p>
            <a:pPr algn="l">
              <a:spcAft>
                <a:spcPts val="1000"/>
              </a:spcAft>
            </a:pPr>
            <a:r>
              <a:rPr sz="2000" b="0" i="0">
                <a:solidFill>
                  <a:srgbClr val="D55E00"/>
                </a:solidFill>
                <a:latin typeface="Calibri"/>
              </a:rPr>
              <a:t>‖Y 1ₙ‖₀: </a:t>
            </a:r>
            <a:r>
              <a:rPr sz="2000" b="0" i="0">
                <a:solidFill>
                  <a:srgbClr val="2B2B2B"/>
                </a:solidFill>
                <a:latin typeface="Calibri"/>
              </a:rPr>
              <a:t>number of edges used in any sample</a:t>
            </a:r>
          </a:p>
          <a:p>
            <a:pPr algn="l">
              <a:spcAft>
                <a:spcPts val="1000"/>
              </a:spcAft>
            </a:pPr>
            <a:r>
              <a:rPr sz="2000" b="0" i="0">
                <a:solidFill>
                  <a:srgbClr val="D55E00"/>
                </a:solidFill>
                <a:latin typeface="Calibri"/>
              </a:rPr>
              <a:t>λ: </a:t>
            </a:r>
            <a:r>
              <a:rPr sz="2000" b="0" i="0">
                <a:solidFill>
                  <a:srgbClr val="2B2B2B"/>
                </a:solidFill>
                <a:latin typeface="Calibri"/>
              </a:rPr>
              <a:t>trade-off between data fit and one shared, sparse network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Each method is a choice of graph edits, constraints and objective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19</a:t>
            </a:r>
          </a:p>
        </p:txBody>
      </p:sp>
      <p:graphicFrame>
        <p:nvGraphicFramePr>
          <p:cNvPr id="6" name="Table 5"/>
          <p:cNvGraphicFramePr>
            <a:graphicFrameLocks noGrp="1"/>
          </p:cNvGraphicFramePr>
          <p:nvPr/>
        </p:nvGraphicFramePr>
        <p:xfrm>
          <a:off x="548640" y="1417320"/>
          <a:ext cx="11064240" cy="4279392"/>
        </p:xfrm>
        <a:graphic>
          <a:graphicData uri="http://schemas.openxmlformats.org/drawingml/2006/table">
            <a:tbl>
              <a:tblPr>
                <a:tableStyleId>{5C22544A-7EE6-4342-B048-85BDC9FD1C3A}</a:tableStyleId>
              </a:tblPr>
              <a:tblGrid>
                <a:gridCol w="22402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713232">
                <a:tc>
                  <a:txBody>
                    <a:bodyPr/>
                    <a:lstStyle/>
                    <a:p>
                      <a:r>
                        <a:rPr sz="2000" b="0">
                          <a:solidFill>
                            <a:srgbClr val="FFFFFF"/>
                          </a:solidFill>
                          <a:latin typeface="Calibri"/>
                        </a:rPr>
                        <a:t>Method</a:t>
                      </a:r>
                    </a:p>
                  </a:txBody>
                  <a:tcPr marL="73152" marR="73152" marT="27432" marB="27432" anchor="ctr">
                    <a:solidFill>
                      <a:srgbClr val="1F2A44"/>
                    </a:solidFill>
                  </a:tcPr>
                </a:tc>
                <a:tc>
                  <a:txBody>
                    <a:bodyPr/>
                    <a:lstStyle/>
                    <a:p>
                      <a:r>
                        <a:rPr sz="2000" b="0">
                          <a:solidFill>
                            <a:srgbClr val="FFFFFF"/>
                          </a:solidFill>
                          <a:latin typeface="Calibri"/>
                        </a:rPr>
                        <a:t>Graph edits (ψ)</a:t>
                      </a:r>
                    </a:p>
                  </a:txBody>
                  <a:tcPr marL="73152" marR="73152" marT="27432" marB="27432" anchor="ctr">
                    <a:solidFill>
                      <a:srgbClr val="1F2A44"/>
                    </a:solidFill>
                  </a:tcPr>
                </a:tc>
                <a:tc>
                  <a:txBody>
                    <a:bodyPr/>
                    <a:lstStyle/>
                    <a:p>
                      <a:r>
                        <a:rPr sz="2000" b="0">
                          <a:solidFill>
                            <a:srgbClr val="FFFFFF"/>
                          </a:solidFill>
                          <a:latin typeface="Calibri"/>
                        </a:rPr>
                        <a:t>Constraints (Ω)</a:t>
                      </a:r>
                    </a:p>
                  </a:txBody>
                  <a:tcPr marL="73152" marR="73152" marT="27432" marB="27432" anchor="ctr">
                    <a:solidFill>
                      <a:srgbClr val="1F2A44"/>
                    </a:solidFill>
                  </a:tcPr>
                </a:tc>
                <a:tc>
                  <a:txBody>
                    <a:bodyPr/>
                    <a:lstStyle/>
                    <a:p>
                      <a:r>
                        <a:rPr sz="2000" b="0">
                          <a:solidFill>
                            <a:srgbClr val="FFFFFF"/>
                          </a:solidFill>
                          <a:latin typeface="Calibri"/>
                        </a:rPr>
                        <a:t>Objective (f)</a:t>
                      </a:r>
                    </a:p>
                  </a:txBody>
                  <a:tcPr marL="73152" marR="73152" marT="27432" marB="27432" anchor="ctr">
                    <a:solidFill>
                      <a:srgbClr val="1F2A44"/>
                    </a:solidFill>
                  </a:tcPr>
                </a:tc>
                <a:extLst>
                  <a:ext uri="{0D108BD9-81ED-4DB2-BD59-A6C34878D82A}">
                    <a16:rowId xmlns:a16="http://schemas.microsoft.com/office/drawing/2014/main" val="10000"/>
                  </a:ext>
                </a:extLst>
              </a:tr>
              <a:tr h="713232">
                <a:tc>
                  <a:txBody>
                    <a:bodyPr/>
                    <a:lstStyle/>
                    <a:p>
                      <a:r>
                        <a:rPr sz="2000" b="0">
                          <a:solidFill>
                            <a:srgbClr val="0072B2"/>
                          </a:solidFill>
                          <a:latin typeface="Calibri"/>
                        </a:rPr>
                        <a:t>FBA</a:t>
                      </a:r>
                    </a:p>
                  </a:txBody>
                  <a:tcPr marL="73152" marR="73152" marT="27432" marB="27432" anchor="ctr">
                    <a:solidFill>
                      <a:srgbClr val="FFFFFF"/>
                    </a:solidFill>
                  </a:tcPr>
                </a:tc>
                <a:tc>
                  <a:txBody>
                    <a:bodyPr/>
                    <a:lstStyle/>
                    <a:p>
                      <a:r>
                        <a:rPr sz="2000" b="0">
                          <a:solidFill>
                            <a:srgbClr val="2B2B2B"/>
                          </a:solidFill>
                          <a:latin typeface="Calibri"/>
                        </a:rPr>
                        <a:t>none: exchange reactions</a:t>
                      </a:r>
                    </a:p>
                  </a:txBody>
                  <a:tcPr marL="73152" marR="73152" marT="27432" marB="27432" anchor="ctr">
                    <a:solidFill>
                      <a:srgbClr val="FFFFFF"/>
                    </a:solidFill>
                  </a:tcPr>
                </a:tc>
                <a:tc>
                  <a:txBody>
                    <a:bodyPr/>
                    <a:lstStyle/>
                    <a:p>
                      <a:r>
                        <a:rPr sz="2000" b="0">
                          <a:solidFill>
                            <a:srgbClr val="2B2B2B"/>
                          </a:solidFill>
                          <a:latin typeface="Calibri"/>
                        </a:rPr>
                        <a:t>flux bounds</a:t>
                      </a:r>
                    </a:p>
                  </a:txBody>
                  <a:tcPr marL="73152" marR="73152" marT="27432" marB="27432" anchor="ctr">
                    <a:solidFill>
                      <a:srgbClr val="FFFFFF"/>
                    </a:solidFill>
                  </a:tcPr>
                </a:tc>
                <a:tc>
                  <a:txBody>
                    <a:bodyPr/>
                    <a:lstStyle/>
                    <a:p>
                      <a:r>
                        <a:rPr sz="2000" b="0">
                          <a:solidFill>
                            <a:srgbClr val="2B2B2B"/>
                          </a:solidFill>
                          <a:latin typeface="Calibri"/>
                        </a:rPr>
                        <a:t>max biomass</a:t>
                      </a:r>
                    </a:p>
                  </a:txBody>
                  <a:tcPr marL="73152" marR="73152" marT="27432" marB="27432" anchor="ctr">
                    <a:solidFill>
                      <a:srgbClr val="FFFFFF"/>
                    </a:solidFill>
                  </a:tcPr>
                </a:tc>
                <a:extLst>
                  <a:ext uri="{0D108BD9-81ED-4DB2-BD59-A6C34878D82A}">
                    <a16:rowId xmlns:a16="http://schemas.microsoft.com/office/drawing/2014/main" val="10001"/>
                  </a:ext>
                </a:extLst>
              </a:tr>
              <a:tr h="713232">
                <a:tc>
                  <a:txBody>
                    <a:bodyPr/>
                    <a:lstStyle/>
                    <a:p>
                      <a:r>
                        <a:rPr sz="2000" b="0">
                          <a:solidFill>
                            <a:srgbClr val="0072B2"/>
                          </a:solidFill>
                          <a:latin typeface="Calibri"/>
                        </a:rPr>
                        <a:t>Sparse FBA</a:t>
                      </a:r>
                    </a:p>
                  </a:txBody>
                  <a:tcPr marL="73152" marR="73152" marT="27432" marB="27432" anchor="ctr">
                    <a:solidFill>
                      <a:srgbClr val="F3F4F6"/>
                    </a:solidFill>
                  </a:tcPr>
                </a:tc>
                <a:tc>
                  <a:txBody>
                    <a:bodyPr/>
                    <a:lstStyle/>
                    <a:p>
                      <a:r>
                        <a:rPr sz="2000" b="0">
                          <a:solidFill>
                            <a:srgbClr val="2B2B2B"/>
                          </a:solidFill>
                          <a:latin typeface="Calibri"/>
                        </a:rPr>
                        <a:t>none</a:t>
                      </a:r>
                    </a:p>
                  </a:txBody>
                  <a:tcPr marL="73152" marR="73152" marT="27432" marB="27432" anchor="ctr">
                    <a:solidFill>
                      <a:srgbClr val="F3F4F6"/>
                    </a:solidFill>
                  </a:tcPr>
                </a:tc>
                <a:tc>
                  <a:txBody>
                    <a:bodyPr/>
                    <a:lstStyle/>
                    <a:p>
                      <a:r>
                        <a:rPr sz="2000" b="0">
                          <a:solidFill>
                            <a:srgbClr val="2B2B2B"/>
                          </a:solidFill>
                          <a:latin typeface="Calibri"/>
                        </a:rPr>
                        <a:t>biomass ≥ x% of max</a:t>
                      </a:r>
                    </a:p>
                  </a:txBody>
                  <a:tcPr marL="73152" marR="73152" marT="27432" marB="27432" anchor="ctr">
                    <a:solidFill>
                      <a:srgbClr val="F3F4F6"/>
                    </a:solidFill>
                  </a:tcPr>
                </a:tc>
                <a:tc>
                  <a:txBody>
                    <a:bodyPr/>
                    <a:lstStyle/>
                    <a:p>
                      <a:r>
                        <a:rPr sz="2000" b="0">
                          <a:solidFill>
                            <a:srgbClr val="2B2B2B"/>
                          </a:solidFill>
                          <a:latin typeface="Calibri"/>
                        </a:rPr>
                        <a:t>fewest reactions</a:t>
                      </a:r>
                    </a:p>
                  </a:txBody>
                  <a:tcPr marL="73152" marR="73152" marT="27432" marB="27432" anchor="ctr">
                    <a:solidFill>
                      <a:srgbClr val="F3F4F6"/>
                    </a:solidFill>
                  </a:tcPr>
                </a:tc>
                <a:extLst>
                  <a:ext uri="{0D108BD9-81ED-4DB2-BD59-A6C34878D82A}">
                    <a16:rowId xmlns:a16="http://schemas.microsoft.com/office/drawing/2014/main" val="10002"/>
                  </a:ext>
                </a:extLst>
              </a:tr>
              <a:tr h="713232">
                <a:tc>
                  <a:txBody>
                    <a:bodyPr/>
                    <a:lstStyle/>
                    <a:p>
                      <a:r>
                        <a:rPr sz="2000" b="0">
                          <a:solidFill>
                            <a:srgbClr val="0072B2"/>
                          </a:solidFill>
                          <a:latin typeface="Calibri"/>
                        </a:rPr>
                        <a:t>iMAT</a:t>
                      </a:r>
                    </a:p>
                  </a:txBody>
                  <a:tcPr marL="73152" marR="73152" marT="27432" marB="27432" anchor="ctr">
                    <a:solidFill>
                      <a:srgbClr val="FFFFFF"/>
                    </a:solidFill>
                  </a:tcPr>
                </a:tc>
                <a:tc>
                  <a:txBody>
                    <a:bodyPr/>
                    <a:lstStyle/>
                    <a:p>
                      <a:r>
                        <a:rPr sz="2000" b="0">
                          <a:solidFill>
                            <a:srgbClr val="2B2B2B"/>
                          </a:solidFill>
                          <a:latin typeface="Calibri"/>
                        </a:rPr>
                        <a:t>none (data via GPR rules)</a:t>
                      </a:r>
                    </a:p>
                  </a:txBody>
                  <a:tcPr marL="73152" marR="73152" marT="27432" marB="27432" anchor="ctr">
                    <a:solidFill>
                      <a:srgbClr val="FFFFFF"/>
                    </a:solidFill>
                  </a:tcPr>
                </a:tc>
                <a:tc>
                  <a:txBody>
                    <a:bodyPr/>
                    <a:lstStyle/>
                    <a:p>
                      <a:r>
                        <a:rPr sz="2000" b="0">
                          <a:solidFill>
                            <a:srgbClr val="2B2B2B"/>
                          </a:solidFill>
                          <a:latin typeface="Calibri"/>
                        </a:rPr>
                        <a:t>flux on/off links</a:t>
                      </a:r>
                    </a:p>
                  </a:txBody>
                  <a:tcPr marL="73152" marR="73152" marT="27432" marB="27432" anchor="ctr">
                    <a:solidFill>
                      <a:srgbClr val="FFFFFF"/>
                    </a:solidFill>
                  </a:tcPr>
                </a:tc>
                <a:tc>
                  <a:txBody>
                    <a:bodyPr/>
                    <a:lstStyle/>
                    <a:p>
                      <a:r>
                        <a:rPr sz="2000" b="0">
                          <a:solidFill>
                            <a:srgbClr val="2B2B2B"/>
                          </a:solidFill>
                          <a:latin typeface="Calibri"/>
                        </a:rPr>
                        <a:t>high on, low off</a:t>
                      </a:r>
                    </a:p>
                  </a:txBody>
                  <a:tcPr marL="73152" marR="73152" marT="27432" marB="27432" anchor="ctr">
                    <a:solidFill>
                      <a:srgbClr val="FFFFFF"/>
                    </a:solidFill>
                  </a:tcPr>
                </a:tc>
                <a:extLst>
                  <a:ext uri="{0D108BD9-81ED-4DB2-BD59-A6C34878D82A}">
                    <a16:rowId xmlns:a16="http://schemas.microsoft.com/office/drawing/2014/main" val="10003"/>
                  </a:ext>
                </a:extLst>
              </a:tr>
              <a:tr h="713232">
                <a:tc>
                  <a:txBody>
                    <a:bodyPr/>
                    <a:lstStyle/>
                    <a:p>
                      <a:r>
                        <a:rPr sz="2000" b="0">
                          <a:solidFill>
                            <a:srgbClr val="0072B2"/>
                          </a:solidFill>
                          <a:latin typeface="Calibri"/>
                        </a:rPr>
                        <a:t>CARNIVAL</a:t>
                      </a:r>
                    </a:p>
                  </a:txBody>
                  <a:tcPr marL="73152" marR="73152" marT="27432" marB="27432" anchor="ctr">
                    <a:solidFill>
                      <a:srgbClr val="F3F4F6"/>
                    </a:solidFill>
                  </a:tcPr>
                </a:tc>
                <a:tc>
                  <a:txBody>
                    <a:bodyPr/>
                    <a:lstStyle/>
                    <a:p>
                      <a:r>
                        <a:rPr sz="2000" b="0">
                          <a:solidFill>
                            <a:srgbClr val="2B2B2B"/>
                          </a:solidFill>
                          <a:latin typeface="Calibri"/>
                        </a:rPr>
                        <a:t>sources at inputs, sinks at TFs</a:t>
                      </a:r>
                    </a:p>
                  </a:txBody>
                  <a:tcPr marL="73152" marR="73152" marT="27432" marB="27432" anchor="ctr">
                    <a:solidFill>
                      <a:srgbClr val="F3F4F6"/>
                    </a:solidFill>
                  </a:tcPr>
                </a:tc>
                <a:tc>
                  <a:txBody>
                    <a:bodyPr/>
                    <a:lstStyle/>
                    <a:p>
                      <a:r>
                        <a:rPr sz="2000" b="0">
                          <a:solidFill>
                            <a:srgbClr val="2B2B2B"/>
                          </a:solidFill>
                          <a:latin typeface="Calibri"/>
                        </a:rPr>
                        <a:t>tree + sign rules</a:t>
                      </a:r>
                    </a:p>
                  </a:txBody>
                  <a:tcPr marL="73152" marR="73152" marT="27432" marB="27432" anchor="ctr">
                    <a:solidFill>
                      <a:srgbClr val="F3F4F6"/>
                    </a:solidFill>
                  </a:tcPr>
                </a:tc>
                <a:tc>
                  <a:txBody>
                    <a:bodyPr/>
                    <a:lstStyle/>
                    <a:p>
                      <a:r>
                        <a:rPr sz="2000" b="0">
                          <a:solidFill>
                            <a:srgbClr val="2B2B2B"/>
                          </a:solidFill>
                          <a:latin typeface="Calibri"/>
                        </a:rPr>
                        <a:t>match TF activities</a:t>
                      </a:r>
                    </a:p>
                  </a:txBody>
                  <a:tcPr marL="73152" marR="73152" marT="27432" marB="27432" anchor="ctr">
                    <a:solidFill>
                      <a:srgbClr val="F3F4F6"/>
                    </a:solidFill>
                  </a:tcPr>
                </a:tc>
                <a:extLst>
                  <a:ext uri="{0D108BD9-81ED-4DB2-BD59-A6C34878D82A}">
                    <a16:rowId xmlns:a16="http://schemas.microsoft.com/office/drawing/2014/main" val="10004"/>
                  </a:ext>
                </a:extLst>
              </a:tr>
              <a:tr h="713232">
                <a:tc>
                  <a:txBody>
                    <a:bodyPr/>
                    <a:lstStyle/>
                    <a:p>
                      <a:r>
                        <a:rPr sz="2000" b="0">
                          <a:solidFill>
                            <a:srgbClr val="0072B2"/>
                          </a:solidFill>
                          <a:latin typeface="Calibri"/>
                        </a:rPr>
                        <a:t>Steiner / PCST</a:t>
                      </a:r>
                    </a:p>
                  </a:txBody>
                  <a:tcPr marL="73152" marR="73152" marT="27432" marB="27432" anchor="ctr">
                    <a:solidFill>
                      <a:srgbClr val="FFFFFF"/>
                    </a:solidFill>
                  </a:tcPr>
                </a:tc>
                <a:tc>
                  <a:txBody>
                    <a:bodyPr/>
                    <a:lstStyle/>
                    <a:p>
                      <a:r>
                        <a:rPr sz="2000" b="0">
                          <a:solidFill>
                            <a:srgbClr val="2B2B2B"/>
                          </a:solidFill>
                          <a:latin typeface="Calibri"/>
                        </a:rPr>
                        <a:t>source at root, sinks at terminals</a:t>
                      </a:r>
                    </a:p>
                  </a:txBody>
                  <a:tcPr marL="73152" marR="73152" marT="27432" marB="27432" anchor="ctr">
                    <a:solidFill>
                      <a:srgbClr val="FFFFFF"/>
                    </a:solidFill>
                  </a:tcPr>
                </a:tc>
                <a:tc>
                  <a:txBody>
                    <a:bodyPr/>
                    <a:lstStyle/>
                    <a:p>
                      <a:r>
                        <a:rPr sz="2000" b="0">
                          <a:solidFill>
                            <a:srgbClr val="2B2B2B"/>
                          </a:solidFill>
                          <a:latin typeface="Calibri"/>
                        </a:rPr>
                        <a:t>tree</a:t>
                      </a:r>
                    </a:p>
                  </a:txBody>
                  <a:tcPr marL="73152" marR="73152" marT="27432" marB="27432" anchor="ctr">
                    <a:solidFill>
                      <a:srgbClr val="FFFFFF"/>
                    </a:solidFill>
                  </a:tcPr>
                </a:tc>
                <a:tc>
                  <a:txBody>
                    <a:bodyPr/>
                    <a:lstStyle/>
                    <a:p>
                      <a:r>
                        <a:rPr sz="2000" b="0">
                          <a:solidFill>
                            <a:srgbClr val="2B2B2B"/>
                          </a:solidFill>
                          <a:latin typeface="Calibri"/>
                        </a:rPr>
                        <a:t>edge costs (− prizes)</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548640" y="5806440"/>
            <a:ext cx="1106424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Plug into the template → the multi-sample version comes for free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Joint inference: shared edges are cheaper</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20</a:t>
            </a:r>
          </a:p>
        </p:txBody>
      </p:sp>
      <p:pic>
        <p:nvPicPr>
          <p:cNvPr id="6" name="Picture 5" descr="fig2e.png"/>
          <p:cNvPicPr>
            <a:picLocks noChangeAspect="1"/>
          </p:cNvPicPr>
          <p:nvPr/>
        </p:nvPicPr>
        <p:blipFill>
          <a:blip r:embed="rId3"/>
          <a:stretch>
            <a:fillRect/>
          </a:stretch>
        </p:blipFill>
        <p:spPr>
          <a:xfrm>
            <a:off x="685800" y="1280160"/>
            <a:ext cx="10789920" cy="3737291"/>
          </a:xfrm>
          <a:prstGeom prst="rect">
            <a:avLst/>
          </a:prstGeom>
        </p:spPr>
      </p:pic>
      <p:sp>
        <p:nvSpPr>
          <p:cNvPr id="7" name="TextBox 6"/>
          <p:cNvSpPr txBox="1"/>
          <p:nvPr/>
        </p:nvSpPr>
        <p:spPr>
          <a:xfrm>
            <a:off x="548640" y="5166360"/>
            <a:ext cx="11064240" cy="1097280"/>
          </a:xfrm>
          <a:prstGeom prst="rect">
            <a:avLst/>
          </a:prstGeom>
          <a:noFill/>
        </p:spPr>
        <p:txBody>
          <a:bodyPr wrap="square" lIns="45720" tIns="27432" rIns="45720" bIns="27432" anchor="t"/>
          <a:lstStyle/>
          <a:p>
            <a:pPr algn="ctr">
              <a:spcAft>
                <a:spcPts val="800"/>
              </a:spcAft>
            </a:pPr>
            <a:r>
              <a:rPr sz="2000" b="0" i="0">
                <a:solidFill>
                  <a:srgbClr val="6B7280"/>
                </a:solidFill>
                <a:latin typeface="Calibri"/>
              </a:rPr>
              <a:t>Independent fits: </a:t>
            </a:r>
            <a:r>
              <a:rPr sz="2000" b="0" i="0">
                <a:solidFill>
                  <a:srgbClr val="2B2B2B"/>
                </a:solidFill>
                <a:latin typeface="Calibri"/>
              </a:rPr>
              <a:t>6 distinct edges, none shared</a:t>
            </a:r>
            <a:r>
              <a:rPr sz="2000" b="0" i="0">
                <a:solidFill>
                  <a:srgbClr val="0072B2"/>
                </a:solidFill>
                <a:latin typeface="Calibri"/>
              </a:rPr>
              <a:t>     Joint fit: </a:t>
            </a:r>
            <a:r>
              <a:rPr sz="2000" b="0" i="0">
                <a:solidFill>
                  <a:srgbClr val="2B2B2B"/>
                </a:solidFill>
                <a:latin typeface="Calibri"/>
              </a:rPr>
              <a:t>5 edges, one shared</a:t>
            </a:r>
          </a:p>
          <a:p>
            <a:pPr algn="ctr">
              <a:spcAft>
                <a:spcPts val="800"/>
              </a:spcAft>
            </a:pPr>
            <a:r>
              <a:rPr sz="2000" b="0" i="0">
                <a:solidFill>
                  <a:srgbClr val="1F2A44"/>
                </a:solidFill>
                <a:latin typeface="Cambria Math"/>
                <a:ea typeface="Cambria Math"/>
                <a:cs typeface="Cambria Math"/>
              </a:rPr>
              <a:t>λ = 0</a:t>
            </a:r>
            <a:r>
              <a:rPr sz="2000" b="0" i="0">
                <a:solidFill>
                  <a:srgbClr val="2B2B2B"/>
                </a:solidFill>
                <a:latin typeface="Calibri"/>
              </a:rPr>
              <a:t> → independent fits;  larger </a:t>
            </a:r>
            <a:r>
              <a:rPr sz="2000" b="0" i="0">
                <a:solidFill>
                  <a:srgbClr val="1F2A44"/>
                </a:solidFill>
                <a:latin typeface="Cambria Math"/>
                <a:ea typeface="Cambria Math"/>
                <a:cs typeface="Cambria Math"/>
              </a:rPr>
              <a:t>λ</a:t>
            </a:r>
            <a:r>
              <a:rPr sz="2000" b="0" i="0">
                <a:solidFill>
                  <a:srgbClr val="2B2B2B"/>
                </a:solidFill>
                <a:latin typeface="Calibri"/>
              </a:rPr>
              <a:t> → more shared structure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Same template, so problems can be composed</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21</a:t>
            </a:r>
          </a:p>
        </p:txBody>
      </p:sp>
      <p:sp>
        <p:nvSpPr>
          <p:cNvPr id="6" name="TextBox 5"/>
          <p:cNvSpPr txBox="1"/>
          <p:nvPr/>
        </p:nvSpPr>
        <p:spPr>
          <a:xfrm>
            <a:off x="548640" y="1554480"/>
            <a:ext cx="5120640" cy="2743200"/>
          </a:xfrm>
          <a:prstGeom prst="rect">
            <a:avLst/>
          </a:prstGeom>
          <a:noFill/>
        </p:spPr>
        <p:txBody>
          <a:bodyPr wrap="square" lIns="45720" tIns="27432" rIns="45720" bIns="27432" anchor="t"/>
          <a:lstStyle/>
          <a:p>
            <a:pPr algn="l">
              <a:spcAft>
                <a:spcPts val="1400"/>
              </a:spcAft>
            </a:pPr>
            <a:r>
              <a:rPr sz="2000" b="0" i="0">
                <a:solidFill>
                  <a:srgbClr val="1F2A44"/>
                </a:solidFill>
                <a:latin typeface="Cambria Math"/>
                <a:ea typeface="Cambria Math"/>
                <a:cs typeface="Cambria Math"/>
              </a:rPr>
              <a:t>f = α f₁ + β f₂</a:t>
            </a:r>
          </a:p>
          <a:p>
            <a:pPr algn="l">
              <a:spcAft>
                <a:spcPts val="1400"/>
              </a:spcAft>
            </a:pPr>
            <a:r>
              <a:rPr sz="2000" b="0" i="0">
                <a:solidFill>
                  <a:srgbClr val="1F2A44"/>
                </a:solidFill>
                <a:latin typeface="Cambria Math"/>
                <a:ea typeface="Cambria Math"/>
                <a:cs typeface="Cambria Math"/>
              </a:rPr>
              <a:t>Ω = Ω₁ ∩ Ω₂</a:t>
            </a:r>
          </a:p>
          <a:p>
            <a:pPr algn="l">
              <a:spcAft>
                <a:spcPts val="1400"/>
              </a:spcAft>
            </a:pPr>
            <a:r>
              <a:rPr sz="2000" b="0" i="0">
                <a:solidFill>
                  <a:srgbClr val="2B2B2B"/>
                </a:solidFill>
                <a:latin typeface="Calibri"/>
              </a:rPr>
              <a:t>Shared variables are merged</a:t>
            </a:r>
          </a:p>
        </p:txBody>
      </p:sp>
      <p:sp>
        <p:nvSpPr>
          <p:cNvPr id="7" name="Rounded Rectangle 6"/>
          <p:cNvSpPr/>
          <p:nvPr/>
        </p:nvSpPr>
        <p:spPr>
          <a:xfrm>
            <a:off x="6309360" y="1371600"/>
            <a:ext cx="5303520" cy="4160520"/>
          </a:xfrm>
          <a:prstGeom prst="roundRect">
            <a:avLst>
              <a:gd name="adj" fmla="val 8000"/>
            </a:avLst>
          </a:prstGeom>
          <a:noFill/>
          <a:ln w="190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6675120" y="1600200"/>
            <a:ext cx="4572000" cy="868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675120" y="1600200"/>
            <a:ext cx="4572000" cy="868680"/>
          </a:xfrm>
          <a:prstGeom prst="rect">
            <a:avLst/>
          </a:prstGeom>
          <a:noFill/>
        </p:spPr>
        <p:txBody>
          <a:bodyPr wrap="square" lIns="45720" tIns="27432" rIns="45720" bIns="27432" anchor="ctr"/>
          <a:lstStyle/>
          <a:p>
            <a:pPr algn="ctr">
              <a:spcAft>
                <a:spcPts val="800"/>
              </a:spcAft>
            </a:pPr>
            <a:r>
              <a:rPr sz="2000" b="0" i="0">
                <a:solidFill>
                  <a:srgbClr val="0072B2"/>
                </a:solidFill>
                <a:latin typeface="Calibri"/>
              </a:rPr>
              <a:t>Signalling: </a:t>
            </a:r>
            <a:r>
              <a:rPr sz="2000" b="0" i="0">
                <a:solidFill>
                  <a:srgbClr val="2B2B2B"/>
                </a:solidFill>
                <a:latin typeface="Calibri"/>
              </a:rPr>
              <a:t>signed graph</a:t>
            </a:r>
          </a:p>
        </p:txBody>
      </p:sp>
      <p:cxnSp>
        <p:nvCxnSpPr>
          <p:cNvPr id="10" name="Connector 9"/>
          <p:cNvCxnSpPr/>
          <p:nvPr/>
        </p:nvCxnSpPr>
        <p:spPr>
          <a:xfrm>
            <a:off x="8961120" y="2487168"/>
            <a:ext cx="0" cy="329184"/>
          </a:xfrm>
          <a:prstGeom prst="line">
            <a:avLst/>
          </a:prstGeom>
          <a:ln w="2540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675120" y="2834640"/>
            <a:ext cx="4572000" cy="868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675120" y="2834640"/>
            <a:ext cx="4572000" cy="868680"/>
          </a:xfrm>
          <a:prstGeom prst="rect">
            <a:avLst/>
          </a:prstGeom>
          <a:noFill/>
        </p:spPr>
        <p:txBody>
          <a:bodyPr wrap="square" lIns="45720" tIns="27432" rIns="45720" bIns="27432" anchor="ctr"/>
          <a:lstStyle/>
          <a:p>
            <a:pPr algn="ctr">
              <a:spcAft>
                <a:spcPts val="800"/>
              </a:spcAft>
            </a:pPr>
            <a:r>
              <a:rPr sz="2000" b="0" i="0">
                <a:solidFill>
                  <a:srgbClr val="0072B2"/>
                </a:solidFill>
                <a:latin typeface="Calibri"/>
              </a:rPr>
              <a:t>Gene regulation: </a:t>
            </a:r>
            <a:r>
              <a:rPr sz="2000" b="0" i="0">
                <a:solidFill>
                  <a:srgbClr val="2B2B2B"/>
                </a:solidFill>
                <a:latin typeface="Calibri"/>
              </a:rPr>
              <a:t>TF → genes</a:t>
            </a:r>
          </a:p>
        </p:txBody>
      </p:sp>
      <p:cxnSp>
        <p:nvCxnSpPr>
          <p:cNvPr id="13" name="Connector 12"/>
          <p:cNvCxnSpPr/>
          <p:nvPr/>
        </p:nvCxnSpPr>
        <p:spPr>
          <a:xfrm>
            <a:off x="8961120" y="3721608"/>
            <a:ext cx="0" cy="329183"/>
          </a:xfrm>
          <a:prstGeom prst="line">
            <a:avLst/>
          </a:prstGeom>
          <a:ln w="2540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675120" y="4069080"/>
            <a:ext cx="4572000" cy="868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675120" y="4069080"/>
            <a:ext cx="4572000" cy="868680"/>
          </a:xfrm>
          <a:prstGeom prst="rect">
            <a:avLst/>
          </a:prstGeom>
          <a:noFill/>
        </p:spPr>
        <p:txBody>
          <a:bodyPr wrap="square" lIns="45720" tIns="27432" rIns="45720" bIns="27432" anchor="ctr"/>
          <a:lstStyle/>
          <a:p>
            <a:pPr algn="ctr">
              <a:spcAft>
                <a:spcPts val="800"/>
              </a:spcAft>
            </a:pPr>
            <a:r>
              <a:rPr sz="2000" b="0" i="0">
                <a:solidFill>
                  <a:srgbClr val="0072B2"/>
                </a:solidFill>
                <a:latin typeface="Calibri"/>
              </a:rPr>
              <a:t>Metabolism: </a:t>
            </a:r>
            <a:r>
              <a:rPr sz="2000" b="0" i="0">
                <a:solidFill>
                  <a:srgbClr val="2B2B2B"/>
                </a:solidFill>
                <a:latin typeface="Calibri"/>
              </a:rPr>
              <a:t>reaction hypergraph</a:t>
            </a:r>
          </a:p>
        </p:txBody>
      </p:sp>
      <p:sp>
        <p:nvSpPr>
          <p:cNvPr id="16" name="TextBox 15"/>
          <p:cNvSpPr txBox="1"/>
          <p:nvPr/>
        </p:nvSpPr>
        <p:spPr>
          <a:xfrm>
            <a:off x="6309360" y="5074920"/>
            <a:ext cx="530352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one union hypergraph, one MILP</a:t>
            </a:r>
          </a:p>
        </p:txBody>
      </p:sp>
      <p:sp>
        <p:nvSpPr>
          <p:cNvPr id="17" name="Rounded Rectangle 16"/>
          <p:cNvSpPr/>
          <p:nvPr/>
        </p:nvSpPr>
        <p:spPr>
          <a:xfrm>
            <a:off x="548640" y="4206240"/>
            <a:ext cx="5303520" cy="1737360"/>
          </a:xfrm>
          <a:prstGeom prst="roundRect">
            <a:avLst>
              <a:gd name="adj" fmla="val 8000"/>
            </a:avLst>
          </a:prstGeom>
          <a:solidFill>
            <a:srgbClr val="FFFFFF"/>
          </a:solidFill>
          <a:ln w="190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31520" y="4251960"/>
            <a:ext cx="4937760" cy="1645920"/>
          </a:xfrm>
          <a:prstGeom prst="rect">
            <a:avLst/>
          </a:prstGeom>
          <a:noFill/>
        </p:spPr>
        <p:txBody>
          <a:bodyPr wrap="square" lIns="45720" tIns="27432" rIns="45720" bIns="27432" anchor="ctr"/>
          <a:lstStyle/>
          <a:p>
            <a:pPr algn="l">
              <a:spcAft>
                <a:spcPts val="400"/>
              </a:spcAft>
            </a:pPr>
            <a:r>
              <a:rPr sz="2000" b="0" i="0">
                <a:solidFill>
                  <a:srgbClr val="D55E00"/>
                </a:solidFill>
                <a:latin typeface="Calibri"/>
              </a:rPr>
              <a:t>Caveat</a:t>
            </a:r>
          </a:p>
          <a:p>
            <a:pPr algn="l">
              <a:spcAft>
                <a:spcPts val="400"/>
              </a:spcAft>
            </a:pPr>
            <a:r>
              <a:rPr sz="2000" b="0" i="0">
                <a:solidFill>
                  <a:srgbClr val="2B2B2B"/>
                </a:solidFill>
                <a:latin typeface="Calibri"/>
              </a:rPr>
              <a:t>The paper solves each layer on its own; multi-layer inference is proposed as future work</a:t>
            </a:r>
          </a:p>
        </p:txBody>
      </p:sp>
      <p:sp>
        <p:nvSpPr>
          <p:cNvPr id="19" name="TextBox 18"/>
          <p:cNvSpPr txBox="1"/>
          <p:nvPr/>
        </p:nvSpPr>
        <p:spPr>
          <a:xfrm>
            <a:off x="548640" y="5989320"/>
            <a:ext cx="1106424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cf. COSMOS: Dugourd et al., Mol Syst Biol 2021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Outline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22</a:t>
            </a:r>
          </a:p>
        </p:txBody>
      </p:sp>
      <p:sp>
        <p:nvSpPr>
          <p:cNvPr id="6" name="Oval 5"/>
          <p:cNvSpPr/>
          <p:nvPr/>
        </p:nvSpPr>
        <p:spPr>
          <a:xfrm>
            <a:off x="886968" y="1645919"/>
            <a:ext cx="566928" cy="566928"/>
          </a:xfrm>
          <a:prstGeom prst="ellipse">
            <a:avLst/>
          </a:prstGeom>
          <a:solidFill>
            <a:srgbClr val="B8BDC6"/>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1</a:t>
            </a:r>
          </a:p>
        </p:txBody>
      </p:sp>
      <p:sp>
        <p:nvSpPr>
          <p:cNvPr id="7" name="TextBox 6"/>
          <p:cNvSpPr txBox="1"/>
          <p:nvPr/>
        </p:nvSpPr>
        <p:spPr>
          <a:xfrm>
            <a:off x="1691640" y="1600200"/>
            <a:ext cx="8686800" cy="658368"/>
          </a:xfrm>
          <a:prstGeom prst="rect">
            <a:avLst/>
          </a:prstGeom>
          <a:noFill/>
        </p:spPr>
        <p:txBody>
          <a:bodyPr wrap="square" lIns="45720" tIns="27432" rIns="45720" bIns="27432" anchor="ctr"/>
          <a:lstStyle/>
          <a:p>
            <a:pPr algn="l">
              <a:spcAft>
                <a:spcPts val="800"/>
              </a:spcAft>
            </a:pPr>
            <a:r>
              <a:rPr sz="2000" b="0" i="0">
                <a:solidFill>
                  <a:srgbClr val="6B7280"/>
                </a:solidFill>
                <a:latin typeface="Calibri"/>
              </a:rPr>
              <a:t>Why network inference from prior knowledge?</a:t>
            </a:r>
          </a:p>
        </p:txBody>
      </p:sp>
      <p:sp>
        <p:nvSpPr>
          <p:cNvPr id="8" name="Oval 7"/>
          <p:cNvSpPr/>
          <p:nvPr/>
        </p:nvSpPr>
        <p:spPr>
          <a:xfrm>
            <a:off x="886968" y="2606039"/>
            <a:ext cx="566928" cy="566928"/>
          </a:xfrm>
          <a:prstGeom prst="ellipse">
            <a:avLst/>
          </a:prstGeom>
          <a:solidFill>
            <a:srgbClr val="B8BDC6"/>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2</a:t>
            </a:r>
          </a:p>
        </p:txBody>
      </p:sp>
      <p:sp>
        <p:nvSpPr>
          <p:cNvPr id="9" name="TextBox 8"/>
          <p:cNvSpPr txBox="1"/>
          <p:nvPr/>
        </p:nvSpPr>
        <p:spPr>
          <a:xfrm>
            <a:off x="1691640" y="2560320"/>
            <a:ext cx="8686800" cy="658368"/>
          </a:xfrm>
          <a:prstGeom prst="rect">
            <a:avLst/>
          </a:prstGeom>
          <a:noFill/>
        </p:spPr>
        <p:txBody>
          <a:bodyPr wrap="square" lIns="45720" tIns="27432" rIns="45720" bIns="27432" anchor="ctr"/>
          <a:lstStyle/>
          <a:p>
            <a:pPr algn="l">
              <a:spcAft>
                <a:spcPts val="800"/>
              </a:spcAft>
            </a:pPr>
            <a:r>
              <a:rPr sz="2000" b="0" i="0">
                <a:solidFill>
                  <a:srgbClr val="6B7280"/>
                </a:solidFill>
                <a:latin typeface="Calibri"/>
              </a:rPr>
              <a:t>The methods CORNETO unifies</a:t>
            </a:r>
          </a:p>
        </p:txBody>
      </p:sp>
      <p:sp>
        <p:nvSpPr>
          <p:cNvPr id="10" name="Oval 9"/>
          <p:cNvSpPr/>
          <p:nvPr/>
        </p:nvSpPr>
        <p:spPr>
          <a:xfrm>
            <a:off x="886968" y="3566160"/>
            <a:ext cx="566928" cy="566928"/>
          </a:xfrm>
          <a:prstGeom prst="ellipse">
            <a:avLst/>
          </a:prstGeom>
          <a:solidFill>
            <a:srgbClr val="B8BDC6"/>
          </a:solidFill>
          <a:ln w="19050">
            <a:solidFill>
              <a:srgbClr val="B8BDC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3</a:t>
            </a:r>
          </a:p>
        </p:txBody>
      </p:sp>
      <p:sp>
        <p:nvSpPr>
          <p:cNvPr id="11" name="TextBox 10"/>
          <p:cNvSpPr txBox="1"/>
          <p:nvPr/>
        </p:nvSpPr>
        <p:spPr>
          <a:xfrm>
            <a:off x="1691640" y="3520440"/>
            <a:ext cx="8686800" cy="658368"/>
          </a:xfrm>
          <a:prstGeom prst="rect">
            <a:avLst/>
          </a:prstGeom>
          <a:noFill/>
        </p:spPr>
        <p:txBody>
          <a:bodyPr wrap="square" lIns="45720" tIns="27432" rIns="45720" bIns="27432" anchor="ctr"/>
          <a:lstStyle/>
          <a:p>
            <a:pPr algn="l">
              <a:spcAft>
                <a:spcPts val="800"/>
              </a:spcAft>
            </a:pPr>
            <a:r>
              <a:rPr sz="2000" b="0" i="0">
                <a:solidFill>
                  <a:srgbClr val="6B7280"/>
                </a:solidFill>
                <a:latin typeface="Calibri"/>
              </a:rPr>
              <a:t>CORNETO: one optimisation problem</a:t>
            </a:r>
          </a:p>
        </p:txBody>
      </p:sp>
      <p:sp>
        <p:nvSpPr>
          <p:cNvPr id="12" name="Oval 11"/>
          <p:cNvSpPr/>
          <p:nvPr/>
        </p:nvSpPr>
        <p:spPr>
          <a:xfrm>
            <a:off x="886968" y="4526280"/>
            <a:ext cx="566928" cy="566928"/>
          </a:xfrm>
          <a:prstGeom prst="ellipse">
            <a:avLst/>
          </a:prstGeom>
          <a:solidFill>
            <a:srgbClr val="0072B2"/>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4</a:t>
            </a:r>
          </a:p>
        </p:txBody>
      </p:sp>
      <p:sp>
        <p:nvSpPr>
          <p:cNvPr id="13" name="Rectangle 12"/>
          <p:cNvSpPr/>
          <p:nvPr/>
        </p:nvSpPr>
        <p:spPr>
          <a:xfrm>
            <a:off x="566928" y="4498848"/>
            <a:ext cx="91440" cy="621792"/>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691640" y="4480560"/>
            <a:ext cx="8686800" cy="658368"/>
          </a:xfrm>
          <a:prstGeom prst="rect">
            <a:avLst/>
          </a:prstGeom>
          <a:noFill/>
        </p:spPr>
        <p:txBody>
          <a:bodyPr wrap="square" lIns="45720" tIns="27432" rIns="45720" bIns="27432" anchor="ctr"/>
          <a:lstStyle/>
          <a:p>
            <a:pPr algn="l">
              <a:spcAft>
                <a:spcPts val="800"/>
              </a:spcAft>
            </a:pPr>
            <a:r>
              <a:rPr sz="2000" b="0" i="0">
                <a:solidFill>
                  <a:srgbClr val="1F2A44"/>
                </a:solidFill>
                <a:latin typeface="Calibri"/>
              </a:rPr>
              <a:t>Results and take-home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Multi-sample sparse FBA: smaller networks, canonical routes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23</a:t>
            </a:r>
          </a:p>
        </p:txBody>
      </p:sp>
      <p:pic>
        <p:nvPicPr>
          <p:cNvPr id="6" name="Picture 5" descr="fig3ab.png"/>
          <p:cNvPicPr>
            <a:picLocks noChangeAspect="1"/>
          </p:cNvPicPr>
          <p:nvPr/>
        </p:nvPicPr>
        <p:blipFill>
          <a:blip r:embed="rId3"/>
          <a:stretch>
            <a:fillRect/>
          </a:stretch>
        </p:blipFill>
        <p:spPr>
          <a:xfrm>
            <a:off x="548640" y="1280160"/>
            <a:ext cx="4434405" cy="5029200"/>
          </a:xfrm>
          <a:prstGeom prst="rect">
            <a:avLst/>
          </a:prstGeom>
        </p:spPr>
      </p:pic>
      <p:sp>
        <p:nvSpPr>
          <p:cNvPr id="7" name="TextBox 6"/>
          <p:cNvSpPr txBox="1"/>
          <p:nvPr/>
        </p:nvSpPr>
        <p:spPr>
          <a:xfrm>
            <a:off x="5486400" y="1463040"/>
            <a:ext cx="6217920" cy="4572000"/>
          </a:xfrm>
          <a:prstGeom prst="rect">
            <a:avLst/>
          </a:prstGeom>
          <a:noFill/>
        </p:spPr>
        <p:txBody>
          <a:bodyPr wrap="square" lIns="45720" tIns="27432" rIns="45720" bIns="27432" anchor="t"/>
          <a:lstStyle/>
          <a:p>
            <a:pPr algn="l">
              <a:spcAft>
                <a:spcPts val="1800"/>
              </a:spcAft>
            </a:pPr>
            <a:r>
              <a:rPr sz="2000" b="0" i="0">
                <a:solidFill>
                  <a:srgbClr val="0072B2"/>
                </a:solidFill>
                <a:latin typeface="Calibri"/>
              </a:rPr>
              <a:t>Model: </a:t>
            </a:r>
            <a:r>
              <a:rPr sz="2000" b="0" i="0">
                <a:solidFill>
                  <a:srgbClr val="2B2B2B"/>
                </a:solidFill>
                <a:latin typeface="Calibri"/>
              </a:rPr>
              <a:t>MitoCore, 555 reactions</a:t>
            </a:r>
          </a:p>
          <a:p>
            <a:pPr algn="l">
              <a:spcAft>
                <a:spcPts val="1800"/>
              </a:spcAft>
            </a:pPr>
            <a:r>
              <a:rPr sz="2000" b="0" i="0">
                <a:solidFill>
                  <a:srgbClr val="0072B2"/>
                </a:solidFill>
                <a:latin typeface="Calibri"/>
              </a:rPr>
              <a:t>Samples: </a:t>
            </a:r>
            <a:r>
              <a:rPr sz="2000" b="0" i="0">
                <a:solidFill>
                  <a:srgbClr val="2B2B2B"/>
                </a:solidFill>
                <a:latin typeface="Calibri"/>
              </a:rPr>
              <a:t>simulated enzyme knockouts</a:t>
            </a:r>
          </a:p>
          <a:p>
            <a:pPr algn="l">
              <a:spcAft>
                <a:spcPts val="1800"/>
              </a:spcAft>
            </a:pPr>
            <a:r>
              <a:rPr sz="2000" b="0" i="0">
                <a:solidFill>
                  <a:srgbClr val="0072B2"/>
                </a:solidFill>
                <a:latin typeface="Calibri"/>
              </a:rPr>
              <a:t>Fewer distinct reactions: </a:t>
            </a:r>
            <a:r>
              <a:rPr sz="2000" b="0" i="0">
                <a:solidFill>
                  <a:srgbClr val="2B2B2B"/>
                </a:solidFill>
                <a:latin typeface="Calibri"/>
              </a:rPr>
              <a:t>median −6% (≥90% biomass), −7% (≥50%), up to −30% (≥10%)</a:t>
            </a:r>
          </a:p>
          <a:p>
            <a:pPr algn="l">
              <a:spcAft>
                <a:spcPts val="1800"/>
              </a:spcAft>
            </a:pPr>
            <a:r>
              <a:rPr sz="2000" b="0" i="0">
                <a:solidFill>
                  <a:srgbClr val="0072B2"/>
                </a:solidFill>
                <a:latin typeface="Calibri"/>
              </a:rPr>
              <a:t>Joint fit </a:t>
            </a:r>
            <a:r>
              <a:rPr sz="2000" b="0" i="0">
                <a:solidFill>
                  <a:srgbClr val="2B2B2B"/>
                </a:solidFill>
                <a:latin typeface="Calibri"/>
              </a:rPr>
              <a:t>keeps canonical glycolysis (HEX1, PGI, PFK)</a:t>
            </a:r>
          </a:p>
        </p:txBody>
      </p:sp>
      <p:sp>
        <p:nvSpPr>
          <p:cNvPr id="8" name="TextBox 7"/>
          <p:cNvSpPr txBox="1"/>
          <p:nvPr/>
        </p:nvSpPr>
        <p:spPr>
          <a:xfrm>
            <a:off x="5486400" y="5897880"/>
            <a:ext cx="621792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3a,b; blue = multi-sample, orange = single-sample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Multi-sample iMAT: more precise context-specific models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24</a:t>
            </a:r>
          </a:p>
        </p:txBody>
      </p:sp>
      <p:pic>
        <p:nvPicPr>
          <p:cNvPr id="6" name="Picture 5" descr="fig4ad.png"/>
          <p:cNvPicPr>
            <a:picLocks noChangeAspect="1"/>
          </p:cNvPicPr>
          <p:nvPr/>
        </p:nvPicPr>
        <p:blipFill>
          <a:blip r:embed="rId3"/>
          <a:stretch>
            <a:fillRect/>
          </a:stretch>
        </p:blipFill>
        <p:spPr>
          <a:xfrm>
            <a:off x="548640" y="1325880"/>
            <a:ext cx="11064240" cy="2247424"/>
          </a:xfrm>
          <a:prstGeom prst="rect">
            <a:avLst/>
          </a:prstGeom>
        </p:spPr>
      </p:pic>
      <p:sp>
        <p:nvSpPr>
          <p:cNvPr id="7" name="TextBox 6"/>
          <p:cNvSpPr txBox="1"/>
          <p:nvPr/>
        </p:nvSpPr>
        <p:spPr>
          <a:xfrm>
            <a:off x="548640" y="3703320"/>
            <a:ext cx="11064240" cy="457200"/>
          </a:xfrm>
          <a:prstGeom prst="rect">
            <a:avLst/>
          </a:prstGeom>
          <a:noFill/>
        </p:spPr>
        <p:txBody>
          <a:bodyPr wrap="square" lIns="45720" tIns="27432" rIns="45720" bIns="27432" anchor="t"/>
          <a:lstStyle/>
          <a:p>
            <a:pPr algn="ctr">
              <a:spcAft>
                <a:spcPts val="800"/>
              </a:spcAft>
            </a:pPr>
            <a:r>
              <a:rPr sz="2000" b="0" i="0">
                <a:solidFill>
                  <a:srgbClr val="0072B2"/>
                </a:solidFill>
                <a:latin typeface="Calibri"/>
              </a:rPr>
              <a:t>Yeast: </a:t>
            </a:r>
            <a:r>
              <a:rPr sz="2000" b="0" i="0">
                <a:solidFill>
                  <a:srgbClr val="2B2B2B"/>
                </a:solidFill>
                <a:latin typeface="Calibri"/>
              </a:rPr>
              <a:t>12 enzyme knockouts  ·  </a:t>
            </a:r>
            <a:r>
              <a:rPr sz="2000" b="0" i="0">
                <a:solidFill>
                  <a:srgbClr val="1F2A44"/>
                </a:solidFill>
                <a:latin typeface="Cambria Math"/>
                <a:ea typeface="Cambria Math"/>
                <a:cs typeface="Cambria Math"/>
              </a:rPr>
              <a:t>λ = 1.5</a:t>
            </a:r>
            <a:r>
              <a:rPr sz="2000" b="0" i="0">
                <a:solidFill>
                  <a:srgbClr val="2B2B2B"/>
                </a:solidFill>
                <a:latin typeface="Calibri"/>
              </a:rPr>
              <a:t> chosen by 5-fold cross-validation</a:t>
            </a:r>
          </a:p>
        </p:txBody>
      </p:sp>
      <p:sp>
        <p:nvSpPr>
          <p:cNvPr id="8" name="Rounded Rectangle 7"/>
          <p:cNvSpPr/>
          <p:nvPr/>
        </p:nvSpPr>
        <p:spPr>
          <a:xfrm>
            <a:off x="548640" y="4343400"/>
            <a:ext cx="2651760" cy="13716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640" y="4389120"/>
            <a:ext cx="2651760" cy="1280160"/>
          </a:xfrm>
          <a:prstGeom prst="rect">
            <a:avLst/>
          </a:prstGeom>
          <a:noFill/>
        </p:spPr>
        <p:txBody>
          <a:bodyPr wrap="square" lIns="45720" tIns="27432" rIns="45720" bIns="27432" anchor="ctr"/>
          <a:lstStyle/>
          <a:p>
            <a:pPr algn="ctr">
              <a:spcAft>
                <a:spcPts val="400"/>
              </a:spcAft>
            </a:pPr>
            <a:r>
              <a:rPr sz="2000" b="0" i="0">
                <a:solidFill>
                  <a:srgbClr val="6B7280"/>
                </a:solidFill>
                <a:latin typeface="Calibri"/>
              </a:rPr>
              <a:t>F1</a:t>
            </a:r>
          </a:p>
          <a:p>
            <a:pPr algn="ctr">
              <a:spcAft>
                <a:spcPts val="400"/>
              </a:spcAft>
            </a:pPr>
            <a:r>
              <a:rPr sz="2000" b="0" i="0">
                <a:solidFill>
                  <a:srgbClr val="0072B2"/>
                </a:solidFill>
                <a:latin typeface="Calibri"/>
              </a:rPr>
              <a:t>+6.6%</a:t>
            </a:r>
          </a:p>
        </p:txBody>
      </p:sp>
      <p:sp>
        <p:nvSpPr>
          <p:cNvPr id="10" name="Rounded Rectangle 9"/>
          <p:cNvSpPr/>
          <p:nvPr/>
        </p:nvSpPr>
        <p:spPr>
          <a:xfrm>
            <a:off x="3337560" y="4343400"/>
            <a:ext cx="2651760" cy="13716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337560" y="4389120"/>
            <a:ext cx="2651760" cy="1280160"/>
          </a:xfrm>
          <a:prstGeom prst="rect">
            <a:avLst/>
          </a:prstGeom>
          <a:noFill/>
        </p:spPr>
        <p:txBody>
          <a:bodyPr wrap="square" lIns="45720" tIns="27432" rIns="45720" bIns="27432" anchor="ctr"/>
          <a:lstStyle/>
          <a:p>
            <a:pPr algn="ctr">
              <a:spcAft>
                <a:spcPts val="400"/>
              </a:spcAft>
            </a:pPr>
            <a:r>
              <a:rPr sz="2000" b="0" i="0">
                <a:solidFill>
                  <a:srgbClr val="6B7280"/>
                </a:solidFill>
                <a:latin typeface="Calibri"/>
              </a:rPr>
              <a:t>Precision</a:t>
            </a:r>
          </a:p>
          <a:p>
            <a:pPr algn="ctr">
              <a:spcAft>
                <a:spcPts val="400"/>
              </a:spcAft>
            </a:pPr>
            <a:r>
              <a:rPr sz="2000" b="0" i="0">
                <a:solidFill>
                  <a:srgbClr val="0072B2"/>
                </a:solidFill>
                <a:latin typeface="Calibri"/>
              </a:rPr>
              <a:t>+29.6%</a:t>
            </a:r>
          </a:p>
        </p:txBody>
      </p:sp>
      <p:sp>
        <p:nvSpPr>
          <p:cNvPr id="12" name="Rounded Rectangle 11"/>
          <p:cNvSpPr/>
          <p:nvPr/>
        </p:nvSpPr>
        <p:spPr>
          <a:xfrm>
            <a:off x="6126479" y="4343400"/>
            <a:ext cx="2651760" cy="13716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126479" y="4389120"/>
            <a:ext cx="2651760" cy="1280160"/>
          </a:xfrm>
          <a:prstGeom prst="rect">
            <a:avLst/>
          </a:prstGeom>
          <a:noFill/>
        </p:spPr>
        <p:txBody>
          <a:bodyPr wrap="square" lIns="45720" tIns="27432" rIns="45720" bIns="27432" anchor="ctr"/>
          <a:lstStyle/>
          <a:p>
            <a:pPr algn="ctr">
              <a:spcAft>
                <a:spcPts val="400"/>
              </a:spcAft>
            </a:pPr>
            <a:r>
              <a:rPr sz="2000" b="0" i="0">
                <a:solidFill>
                  <a:srgbClr val="6B7280"/>
                </a:solidFill>
                <a:latin typeface="Calibri"/>
              </a:rPr>
              <a:t>Recall</a:t>
            </a:r>
          </a:p>
          <a:p>
            <a:pPr algn="ctr">
              <a:spcAft>
                <a:spcPts val="400"/>
              </a:spcAft>
            </a:pPr>
            <a:r>
              <a:rPr sz="2000" b="0" i="0">
                <a:solidFill>
                  <a:srgbClr val="D55E00"/>
                </a:solidFill>
                <a:latin typeface="Calibri"/>
              </a:rPr>
              <a:t>−8.6%</a:t>
            </a:r>
          </a:p>
        </p:txBody>
      </p:sp>
      <p:sp>
        <p:nvSpPr>
          <p:cNvPr id="14" name="Rounded Rectangle 13"/>
          <p:cNvSpPr/>
          <p:nvPr/>
        </p:nvSpPr>
        <p:spPr>
          <a:xfrm>
            <a:off x="8915399" y="4343400"/>
            <a:ext cx="2651760" cy="13716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915399" y="4389120"/>
            <a:ext cx="2651760" cy="1280160"/>
          </a:xfrm>
          <a:prstGeom prst="rect">
            <a:avLst/>
          </a:prstGeom>
          <a:noFill/>
        </p:spPr>
        <p:txBody>
          <a:bodyPr wrap="square" lIns="45720" tIns="27432" rIns="45720" bIns="27432" anchor="ctr"/>
          <a:lstStyle/>
          <a:p>
            <a:pPr algn="ctr">
              <a:spcAft>
                <a:spcPts val="400"/>
              </a:spcAft>
            </a:pPr>
            <a:r>
              <a:rPr sz="2000" b="0" i="0">
                <a:solidFill>
                  <a:srgbClr val="6B7280"/>
                </a:solidFill>
                <a:latin typeface="Calibri"/>
              </a:rPr>
              <a:t>Reactions</a:t>
            </a:r>
          </a:p>
          <a:p>
            <a:pPr algn="ctr">
              <a:spcAft>
                <a:spcPts val="400"/>
              </a:spcAft>
            </a:pPr>
            <a:r>
              <a:rPr sz="2000" b="0" i="0">
                <a:solidFill>
                  <a:srgbClr val="0072B2"/>
                </a:solidFill>
                <a:latin typeface="Calibri"/>
              </a:rPr>
              <a:t>≈2,070 → 861</a:t>
            </a:r>
          </a:p>
        </p:txBody>
      </p:sp>
      <p:sp>
        <p:nvSpPr>
          <p:cNvPr id="16" name="TextBox 15"/>
          <p:cNvSpPr txBox="1"/>
          <p:nvPr/>
        </p:nvSpPr>
        <p:spPr>
          <a:xfrm>
            <a:off x="548640" y="5897880"/>
            <a:ext cx="1106424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4a–d; change relative to single-sample iMAT (λ = 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Multi-patient CARNIVAL: more shared, kinase-supported edges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25</a:t>
            </a:r>
          </a:p>
        </p:txBody>
      </p:sp>
      <p:pic>
        <p:nvPicPr>
          <p:cNvPr id="6" name="Picture 5" descr="fig5a.png"/>
          <p:cNvPicPr>
            <a:picLocks noChangeAspect="1"/>
          </p:cNvPicPr>
          <p:nvPr/>
        </p:nvPicPr>
        <p:blipFill>
          <a:blip r:embed="rId3"/>
          <a:stretch>
            <a:fillRect/>
          </a:stretch>
        </p:blipFill>
        <p:spPr>
          <a:xfrm>
            <a:off x="457200" y="1325880"/>
            <a:ext cx="5120640" cy="3104388"/>
          </a:xfrm>
          <a:prstGeom prst="rect">
            <a:avLst/>
          </a:prstGeom>
        </p:spPr>
      </p:pic>
      <p:pic>
        <p:nvPicPr>
          <p:cNvPr id="7" name="Picture 6" descr="fig5b.png"/>
          <p:cNvPicPr>
            <a:picLocks noChangeAspect="1"/>
          </p:cNvPicPr>
          <p:nvPr/>
        </p:nvPicPr>
        <p:blipFill>
          <a:blip r:embed="rId4"/>
          <a:stretch>
            <a:fillRect/>
          </a:stretch>
        </p:blipFill>
        <p:spPr>
          <a:xfrm>
            <a:off x="5852160" y="1234440"/>
            <a:ext cx="5852160" cy="4337914"/>
          </a:xfrm>
          <a:prstGeom prst="rect">
            <a:avLst/>
          </a:prstGeom>
        </p:spPr>
      </p:pic>
      <p:sp>
        <p:nvSpPr>
          <p:cNvPr id="8" name="TextBox 7"/>
          <p:cNvSpPr txBox="1"/>
          <p:nvPr/>
        </p:nvSpPr>
        <p:spPr>
          <a:xfrm>
            <a:off x="548640" y="4754880"/>
            <a:ext cx="5120640" cy="1463040"/>
          </a:xfrm>
          <a:prstGeom prst="rect">
            <a:avLst/>
          </a:prstGeom>
          <a:noFill/>
        </p:spPr>
        <p:txBody>
          <a:bodyPr wrap="square" lIns="45720" tIns="27432" rIns="45720" bIns="27432" anchor="t"/>
          <a:lstStyle/>
          <a:p>
            <a:pPr algn="l">
              <a:spcAft>
                <a:spcPts val="800"/>
              </a:spcAft>
            </a:pPr>
            <a:r>
              <a:rPr sz="2000" b="0" i="0">
                <a:solidFill>
                  <a:srgbClr val="0072B2"/>
                </a:solidFill>
                <a:latin typeface="Calibri"/>
              </a:rPr>
              <a:t>Fit: </a:t>
            </a:r>
            <a:r>
              <a:rPr sz="2000" b="0" i="0">
                <a:solidFill>
                  <a:srgbClr val="2B2B2B"/>
                </a:solidFill>
                <a:latin typeface="Calibri"/>
              </a:rPr>
              <a:t>TF activities from RNA</a:t>
            </a:r>
          </a:p>
          <a:p>
            <a:pPr algn="l">
              <a:spcAft>
                <a:spcPts val="800"/>
              </a:spcAft>
            </a:pPr>
            <a:r>
              <a:rPr sz="2000" b="0" i="0">
                <a:solidFill>
                  <a:srgbClr val="0072B2"/>
                </a:solidFill>
                <a:latin typeface="Calibri"/>
              </a:rPr>
              <a:t>Check: </a:t>
            </a:r>
            <a:r>
              <a:rPr sz="2000" b="0" i="0">
                <a:solidFill>
                  <a:srgbClr val="2B2B2B"/>
                </a:solidFill>
                <a:latin typeface="Calibri"/>
              </a:rPr>
              <a:t>kinase activities from phosphoproteomics</a:t>
            </a:r>
          </a:p>
        </p:txBody>
      </p:sp>
      <p:sp>
        <p:nvSpPr>
          <p:cNvPr id="9" name="TextBox 8"/>
          <p:cNvSpPr txBox="1"/>
          <p:nvPr/>
        </p:nvSpPr>
        <p:spPr>
          <a:xfrm>
            <a:off x="548640" y="5897880"/>
            <a:ext cx="1106424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5a,b; CPTAC lung adenocarcinoma; blue = multi-sample, orange = single-sample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A shared core: GSK3B, AKT1 and SRC drive TF activity</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26</a:t>
            </a:r>
          </a:p>
        </p:txBody>
      </p:sp>
      <p:pic>
        <p:nvPicPr>
          <p:cNvPr id="6" name="Picture 5" descr="fig5c.png"/>
          <p:cNvPicPr>
            <a:picLocks noChangeAspect="1"/>
          </p:cNvPicPr>
          <p:nvPr/>
        </p:nvPicPr>
        <p:blipFill>
          <a:blip r:embed="rId3"/>
          <a:stretch>
            <a:fillRect/>
          </a:stretch>
        </p:blipFill>
        <p:spPr>
          <a:xfrm>
            <a:off x="548640" y="1371600"/>
            <a:ext cx="11064240" cy="3042666"/>
          </a:xfrm>
          <a:prstGeom prst="rect">
            <a:avLst/>
          </a:prstGeom>
        </p:spPr>
      </p:pic>
      <p:sp>
        <p:nvSpPr>
          <p:cNvPr id="7" name="TextBox 6"/>
          <p:cNvSpPr txBox="1"/>
          <p:nvPr/>
        </p:nvSpPr>
        <p:spPr>
          <a:xfrm>
            <a:off x="548640" y="4572000"/>
            <a:ext cx="11064240" cy="1280160"/>
          </a:xfrm>
          <a:prstGeom prst="rect">
            <a:avLst/>
          </a:prstGeom>
          <a:noFill/>
        </p:spPr>
        <p:txBody>
          <a:bodyPr wrap="square" lIns="45720" tIns="27432" rIns="45720" bIns="27432" anchor="t"/>
          <a:lstStyle/>
          <a:p>
            <a:pPr algn="ctr">
              <a:spcAft>
                <a:spcPts val="800"/>
              </a:spcAft>
            </a:pPr>
            <a:r>
              <a:rPr sz="2000" b="0" i="0">
                <a:solidFill>
                  <a:srgbClr val="2B2B2B"/>
                </a:solidFill>
                <a:latin typeface="Calibri"/>
              </a:rPr>
              <a:t>Edges shared by all patients at </a:t>
            </a:r>
            <a:r>
              <a:rPr sz="2000" b="0" i="0">
                <a:solidFill>
                  <a:srgbClr val="1F2A44"/>
                </a:solidFill>
                <a:latin typeface="Cambria Math"/>
                <a:ea typeface="Cambria Math"/>
                <a:cs typeface="Cambria Math"/>
              </a:rPr>
              <a:t>λ = 0.8</a:t>
            </a:r>
          </a:p>
          <a:p>
            <a:pPr algn="ctr">
              <a:spcAft>
                <a:spcPts val="800"/>
              </a:spcAft>
            </a:pPr>
            <a:r>
              <a:rPr sz="2000" b="0" i="0">
                <a:solidFill>
                  <a:srgbClr val="6B7280"/>
                </a:solidFill>
                <a:latin typeface="Calibri"/>
              </a:rPr>
              <a:t>kept if present in ≥ 50% of 30 alternative solutions</a:t>
            </a:r>
          </a:p>
        </p:txBody>
      </p:sp>
      <p:sp>
        <p:nvSpPr>
          <p:cNvPr id="8" name="TextBox 7"/>
          <p:cNvSpPr txBox="1"/>
          <p:nvPr/>
        </p:nvSpPr>
        <p:spPr>
          <a:xfrm>
            <a:off x="548640" y="5897880"/>
            <a:ext cx="11064240" cy="365760"/>
          </a:xfrm>
          <a:prstGeom prst="rect">
            <a:avLst/>
          </a:prstGeom>
          <a:noFill/>
        </p:spPr>
        <p:txBody>
          <a:bodyPr wrap="square" lIns="45720" tIns="27432" rIns="45720" bIns="27432" anchor="t"/>
          <a:lstStyle/>
          <a:p>
            <a:pPr algn="l">
              <a:spcAft>
                <a:spcPts val="800"/>
              </a:spcAft>
            </a:pPr>
            <a:r>
              <a:rPr sz="1200" b="0" i="0">
                <a:solidFill>
                  <a:srgbClr val="6B7280"/>
                </a:solidFill>
                <a:latin typeface="Calibri"/>
              </a:rPr>
              <a:t>Fig. 5c; colour = mean TF activity across patients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Take-home</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27</a:t>
            </a:r>
          </a:p>
        </p:txBody>
      </p:sp>
      <p:sp>
        <p:nvSpPr>
          <p:cNvPr id="6" name="Rounded Rectangle 5"/>
          <p:cNvSpPr/>
          <p:nvPr/>
        </p:nvSpPr>
        <p:spPr>
          <a:xfrm>
            <a:off x="548640" y="1417320"/>
            <a:ext cx="5394960" cy="3749039"/>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1554480"/>
            <a:ext cx="4937760" cy="3566160"/>
          </a:xfrm>
          <a:prstGeom prst="rect">
            <a:avLst/>
          </a:prstGeom>
          <a:noFill/>
        </p:spPr>
        <p:txBody>
          <a:bodyPr wrap="square" lIns="45720" tIns="27432" rIns="45720" bIns="27432" anchor="t"/>
          <a:lstStyle/>
          <a:p>
            <a:pPr algn="l">
              <a:spcAft>
                <a:spcPts val="1400"/>
              </a:spcAft>
            </a:pPr>
            <a:r>
              <a:rPr sz="2000" b="0" i="0">
                <a:solidFill>
                  <a:srgbClr val="0072B2"/>
                </a:solidFill>
                <a:latin typeface="Calibri"/>
              </a:rPr>
              <a:t>What CORNETO gives</a:t>
            </a:r>
          </a:p>
          <a:p>
            <a:pPr algn="l">
              <a:spcAft>
                <a:spcPts val="1400"/>
              </a:spcAft>
            </a:pPr>
            <a:r>
              <a:rPr sz="2000" b="0" i="0">
                <a:solidFill>
                  <a:srgbClr val="2B2B2B"/>
                </a:solidFill>
                <a:latin typeface="Calibri"/>
              </a:rPr>
              <a:t>•  One formulation for signalling, metabolism, PPI</a:t>
            </a:r>
          </a:p>
          <a:p>
            <a:pPr algn="l">
              <a:spcAft>
                <a:spcPts val="1400"/>
              </a:spcAft>
            </a:pPr>
            <a:r>
              <a:rPr sz="2000" b="0" i="0">
                <a:solidFill>
                  <a:srgbClr val="2B2B2B"/>
                </a:solidFill>
                <a:latin typeface="Calibri"/>
              </a:rPr>
              <a:t>•  Exact solvers, proof of optimality</a:t>
            </a:r>
          </a:p>
          <a:p>
            <a:pPr algn="l">
              <a:spcAft>
                <a:spcPts val="1400"/>
              </a:spcAft>
            </a:pPr>
            <a:r>
              <a:rPr sz="2000" b="0" i="0">
                <a:solidFill>
                  <a:srgbClr val="2B2B2B"/>
                </a:solidFill>
                <a:latin typeface="Calibri"/>
              </a:rPr>
              <a:t>•  Joint fits: sparser, more precise</a:t>
            </a:r>
          </a:p>
          <a:p>
            <a:pPr algn="l">
              <a:spcAft>
                <a:spcPts val="1400"/>
              </a:spcAft>
            </a:pPr>
            <a:r>
              <a:rPr sz="2000" b="0" i="0">
                <a:solidFill>
                  <a:srgbClr val="2B2B2B"/>
                </a:solidFill>
                <a:latin typeface="Calibri"/>
              </a:rPr>
              <a:t>•  Open Python library (corneto.org)</a:t>
            </a:r>
          </a:p>
        </p:txBody>
      </p:sp>
      <p:sp>
        <p:nvSpPr>
          <p:cNvPr id="8" name="Rounded Rectangle 7"/>
          <p:cNvSpPr/>
          <p:nvPr/>
        </p:nvSpPr>
        <p:spPr>
          <a:xfrm>
            <a:off x="6217920" y="1417320"/>
            <a:ext cx="5394960" cy="3749039"/>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92240" y="1554480"/>
            <a:ext cx="4937760" cy="3566160"/>
          </a:xfrm>
          <a:prstGeom prst="rect">
            <a:avLst/>
          </a:prstGeom>
          <a:noFill/>
        </p:spPr>
        <p:txBody>
          <a:bodyPr wrap="square" lIns="45720" tIns="27432" rIns="45720" bIns="27432" anchor="t"/>
          <a:lstStyle/>
          <a:p>
            <a:pPr algn="l">
              <a:spcAft>
                <a:spcPts val="1400"/>
              </a:spcAft>
            </a:pPr>
            <a:r>
              <a:rPr sz="2000" b="0" i="0">
                <a:solidFill>
                  <a:srgbClr val="D55E00"/>
                </a:solidFill>
                <a:latin typeface="Calibri"/>
              </a:rPr>
              <a:t>What it does not solve</a:t>
            </a:r>
          </a:p>
          <a:p>
            <a:pPr algn="l">
              <a:spcAft>
                <a:spcPts val="1400"/>
              </a:spcAft>
            </a:pPr>
            <a:r>
              <a:rPr sz="2000" b="0" i="0">
                <a:solidFill>
                  <a:srgbClr val="2B2B2B"/>
                </a:solidFill>
                <a:latin typeface="Calibri"/>
              </a:rPr>
              <a:t>•  NP-hard: slow for many samples or large PKNs</a:t>
            </a:r>
          </a:p>
          <a:p>
            <a:pPr algn="l">
              <a:spcAft>
                <a:spcPts val="1400"/>
              </a:spcAft>
            </a:pPr>
            <a:r>
              <a:rPr sz="2000" b="0" i="0">
                <a:solidFill>
                  <a:srgbClr val="2B2B2B"/>
                </a:solidFill>
                <a:latin typeface="Calibri"/>
              </a:rPr>
              <a:t>•  λ must be tuned; assumes shared structure</a:t>
            </a:r>
          </a:p>
          <a:p>
            <a:pPr algn="l">
              <a:spcAft>
                <a:spcPts val="1400"/>
              </a:spcAft>
            </a:pPr>
            <a:r>
              <a:rPr sz="2000" b="0" i="0">
                <a:solidFill>
                  <a:srgbClr val="2B2B2B"/>
                </a:solidFill>
                <a:latin typeface="Calibri"/>
              </a:rPr>
              <a:t>•  Steady state only</a:t>
            </a:r>
          </a:p>
          <a:p>
            <a:pPr algn="l">
              <a:spcAft>
                <a:spcPts val="1400"/>
              </a:spcAft>
            </a:pPr>
            <a:r>
              <a:rPr sz="2000" b="0" i="0">
                <a:solidFill>
                  <a:srgbClr val="2B2B2B"/>
                </a:solidFill>
                <a:latin typeface="Calibri"/>
              </a:rPr>
              <a:t>•  Only edges already in the PKN</a:t>
            </a:r>
          </a:p>
          <a:p>
            <a:pPr algn="l">
              <a:spcAft>
                <a:spcPts val="1400"/>
              </a:spcAft>
            </a:pPr>
            <a:r>
              <a:rPr sz="2000" b="0" i="0">
                <a:solidFill>
                  <a:srgbClr val="2B2B2B"/>
                </a:solidFill>
                <a:latin typeface="Calibri"/>
              </a:rPr>
              <a:t>•  Several optimal networks: sample them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For discussion</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28</a:t>
            </a:r>
          </a:p>
        </p:txBody>
      </p:sp>
      <p:sp>
        <p:nvSpPr>
          <p:cNvPr id="6" name="Oval 5"/>
          <p:cNvSpPr/>
          <p:nvPr/>
        </p:nvSpPr>
        <p:spPr>
          <a:xfrm>
            <a:off x="768095" y="1728216"/>
            <a:ext cx="566928" cy="566928"/>
          </a:xfrm>
          <a:prstGeom prst="ellipse">
            <a:avLst/>
          </a:prstGeom>
          <a:solidFill>
            <a:srgbClr val="0072B2"/>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1</a:t>
            </a:r>
          </a:p>
        </p:txBody>
      </p:sp>
      <p:sp>
        <p:nvSpPr>
          <p:cNvPr id="7" name="TextBox 6"/>
          <p:cNvSpPr txBox="1"/>
          <p:nvPr/>
        </p:nvSpPr>
        <p:spPr>
          <a:xfrm>
            <a:off x="1600200" y="1600200"/>
            <a:ext cx="9966960" cy="868680"/>
          </a:xfrm>
          <a:prstGeom prst="rect">
            <a:avLst/>
          </a:prstGeom>
          <a:noFill/>
        </p:spPr>
        <p:txBody>
          <a:bodyPr wrap="square" lIns="45720" tIns="27432" rIns="45720" bIns="27432" anchor="ctr"/>
          <a:lstStyle/>
          <a:p>
            <a:pPr algn="l">
              <a:spcAft>
                <a:spcPts val="800"/>
              </a:spcAft>
            </a:pPr>
            <a:r>
              <a:rPr sz="2000" b="0" i="0">
                <a:solidFill>
                  <a:srgbClr val="2B2B2B"/>
                </a:solidFill>
                <a:latin typeface="Calibri"/>
              </a:rPr>
              <a:t>How should λ be chosen when there is no ground truth?</a:t>
            </a:r>
          </a:p>
        </p:txBody>
      </p:sp>
      <p:sp>
        <p:nvSpPr>
          <p:cNvPr id="8" name="Oval 7"/>
          <p:cNvSpPr/>
          <p:nvPr/>
        </p:nvSpPr>
        <p:spPr>
          <a:xfrm>
            <a:off x="768095" y="3099816"/>
            <a:ext cx="566928" cy="566928"/>
          </a:xfrm>
          <a:prstGeom prst="ellipse">
            <a:avLst/>
          </a:prstGeom>
          <a:solidFill>
            <a:srgbClr val="0072B2"/>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2</a:t>
            </a:r>
          </a:p>
        </p:txBody>
      </p:sp>
      <p:sp>
        <p:nvSpPr>
          <p:cNvPr id="9" name="TextBox 8"/>
          <p:cNvSpPr txBox="1"/>
          <p:nvPr/>
        </p:nvSpPr>
        <p:spPr>
          <a:xfrm>
            <a:off x="1600200" y="2971800"/>
            <a:ext cx="9966960" cy="868680"/>
          </a:xfrm>
          <a:prstGeom prst="rect">
            <a:avLst/>
          </a:prstGeom>
          <a:noFill/>
        </p:spPr>
        <p:txBody>
          <a:bodyPr wrap="square" lIns="45720" tIns="27432" rIns="45720" bIns="27432" anchor="ctr"/>
          <a:lstStyle/>
          <a:p>
            <a:pPr algn="l">
              <a:spcAft>
                <a:spcPts val="800"/>
              </a:spcAft>
            </a:pPr>
            <a:r>
              <a:rPr sz="2000" b="0" i="0">
                <a:solidFill>
                  <a:srgbClr val="2B2B2B"/>
                </a:solidFill>
                <a:latin typeface="Calibri"/>
              </a:rPr>
              <a:t>When is 'samples share structure' wrong, e.g. heterogeneous patients?</a:t>
            </a:r>
          </a:p>
        </p:txBody>
      </p:sp>
      <p:sp>
        <p:nvSpPr>
          <p:cNvPr id="10" name="Oval 9"/>
          <p:cNvSpPr/>
          <p:nvPr/>
        </p:nvSpPr>
        <p:spPr>
          <a:xfrm>
            <a:off x="768095" y="4471416"/>
            <a:ext cx="566928" cy="566928"/>
          </a:xfrm>
          <a:prstGeom prst="ellipse">
            <a:avLst/>
          </a:prstGeom>
          <a:solidFill>
            <a:srgbClr val="0072B2"/>
          </a:solidFill>
          <a:ln w="19050">
            <a:solidFill>
              <a:srgbClr val="0072B2"/>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0">
                <a:solidFill>
                  <a:srgbClr val="FFFFFF"/>
                </a:solidFill>
                <a:latin typeface="Calibri"/>
              </a:rPr>
              <a:t>3</a:t>
            </a:r>
          </a:p>
        </p:txBody>
      </p:sp>
      <p:sp>
        <p:nvSpPr>
          <p:cNvPr id="11" name="TextBox 10"/>
          <p:cNvSpPr txBox="1"/>
          <p:nvPr/>
        </p:nvSpPr>
        <p:spPr>
          <a:xfrm>
            <a:off x="1600200" y="4343400"/>
            <a:ext cx="9966960" cy="868680"/>
          </a:xfrm>
          <a:prstGeom prst="rect">
            <a:avLst/>
          </a:prstGeom>
          <a:noFill/>
        </p:spPr>
        <p:txBody>
          <a:bodyPr wrap="square" lIns="45720" tIns="27432" rIns="45720" bIns="27432" anchor="ctr"/>
          <a:lstStyle/>
          <a:p>
            <a:pPr algn="l">
              <a:spcAft>
                <a:spcPts val="800"/>
              </a:spcAft>
            </a:pPr>
            <a:r>
              <a:rPr sz="2000" b="0" i="0">
                <a:solidFill>
                  <a:srgbClr val="2B2B2B"/>
                </a:solidFill>
                <a:latin typeface="Calibri"/>
              </a:rPr>
              <a:t>Can signalling, gene regulation and metabolism be solved as one joint problem?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777240"/>
          </a:xfrm>
          <a:prstGeom prst="rect">
            <a:avLst/>
          </a:prstGeom>
          <a:noFill/>
        </p:spPr>
        <p:txBody>
          <a:bodyPr wrap="square" lIns="45720" tIns="27432" rIns="45720" bIns="27432" anchor="ctr"/>
          <a:lstStyle/>
          <a:p>
            <a:pPr algn="l">
              <a:spcAft>
                <a:spcPts val="800"/>
              </a:spcAft>
            </a:pPr>
            <a:r>
              <a:rPr sz="3200" b="0" i="0">
                <a:solidFill>
                  <a:srgbClr val="1F2A44"/>
                </a:solidFill>
                <a:latin typeface="Calibri Light"/>
              </a:rPr>
              <a:t>References</a:t>
            </a:r>
          </a:p>
        </p:txBody>
      </p:sp>
      <p:cxnSp>
        <p:nvCxnSpPr>
          <p:cNvPr id="3" name="Connector 2"/>
          <p:cNvCxnSpPr/>
          <p:nvPr/>
        </p:nvCxnSpPr>
        <p:spPr>
          <a:xfrm>
            <a:off x="566928" y="1097280"/>
            <a:ext cx="1188720" cy="0"/>
          </a:xfrm>
          <a:prstGeom prst="line">
            <a:avLst/>
          </a:prstGeom>
          <a:ln w="31750">
            <a:solidFill>
              <a:srgbClr val="0072B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48640" y="6400800"/>
            <a:ext cx="9875520" cy="292608"/>
          </a:xfrm>
          <a:prstGeom prst="rect">
            <a:avLst/>
          </a:prstGeom>
          <a:noFill/>
        </p:spPr>
        <p:txBody>
          <a:bodyPr wrap="square" lIns="45720" tIns="27432" rIns="45720" bIns="27432" anchor="ctr"/>
          <a:lstStyle/>
          <a:p>
            <a:pPr algn="l">
              <a:spcAft>
                <a:spcPts val="800"/>
              </a:spcAft>
            </a:pPr>
            <a:r>
              <a:rPr sz="1200" b="0" i="0">
                <a:solidFill>
                  <a:srgbClr val="6B7280"/>
                </a:solidFill>
                <a:latin typeface="Calibri"/>
              </a:rPr>
              <a:t>Rodriguez-Mier, Garrido-Rodriguez, Gabor &amp; Saez-Rodriguez, Nat Mach Intell 7:1168 (2025)</a:t>
            </a:r>
          </a:p>
        </p:txBody>
      </p:sp>
      <p:sp>
        <p:nvSpPr>
          <p:cNvPr id="5" name="TextBox 4"/>
          <p:cNvSpPr txBox="1"/>
          <p:nvPr/>
        </p:nvSpPr>
        <p:spPr>
          <a:xfrm>
            <a:off x="10972800" y="6400800"/>
            <a:ext cx="667512" cy="292608"/>
          </a:xfrm>
          <a:prstGeom prst="rect">
            <a:avLst/>
          </a:prstGeom>
          <a:noFill/>
        </p:spPr>
        <p:txBody>
          <a:bodyPr wrap="square" lIns="45720" tIns="27432" rIns="45720" bIns="27432" anchor="ctr"/>
          <a:lstStyle/>
          <a:p>
            <a:pPr algn="r">
              <a:spcAft>
                <a:spcPts val="800"/>
              </a:spcAft>
            </a:pPr>
            <a:r>
              <a:rPr sz="1200" b="0" i="0">
                <a:solidFill>
                  <a:srgbClr val="6B7280"/>
                </a:solidFill>
                <a:latin typeface="Calibri"/>
              </a:rPr>
              <a:t>29</a:t>
            </a:r>
          </a:p>
        </p:txBody>
      </p:sp>
      <p:sp>
        <p:nvSpPr>
          <p:cNvPr id="6" name="TextBox 5"/>
          <p:cNvSpPr txBox="1"/>
          <p:nvPr/>
        </p:nvSpPr>
        <p:spPr>
          <a:xfrm>
            <a:off x="548640" y="1371600"/>
            <a:ext cx="11064240" cy="4846320"/>
          </a:xfrm>
          <a:prstGeom prst="rect">
            <a:avLst/>
          </a:prstGeom>
          <a:noFill/>
        </p:spPr>
        <p:txBody>
          <a:bodyPr wrap="square" lIns="45720" tIns="27432" rIns="45720" bIns="27432" anchor="t"/>
          <a:lstStyle/>
          <a:p>
            <a:pPr algn="l">
              <a:spcAft>
                <a:spcPts val="600"/>
              </a:spcAft>
            </a:pPr>
            <a:r>
              <a:rPr sz="1200" b="0" i="0">
                <a:solidFill>
                  <a:srgbClr val="2B2B2B"/>
                </a:solidFill>
                <a:latin typeface="Calibri"/>
              </a:rPr>
              <a:t>Rodriguez-Mier P, Garrido-Rodriguez M, Gabor A, Saez-Rodriguez J. Unifying multi-sample network inference from prior knowledge and omics data with CORNETO. Nat Mach Intell 7, 1168–1186 (2025). Figures reused under CC BY 4.0.</a:t>
            </a:r>
          </a:p>
          <a:p>
            <a:pPr algn="l">
              <a:spcAft>
                <a:spcPts val="600"/>
              </a:spcAft>
            </a:pPr>
            <a:r>
              <a:rPr sz="1200" b="0" i="0">
                <a:solidFill>
                  <a:srgbClr val="2B2B2B"/>
                </a:solidFill>
                <a:latin typeface="Calibri"/>
              </a:rPr>
              <a:t>Liu A et al. From expression footprints to causal pathways: contextualizing large signaling networks with CARNIVAL. NPJ Syst Biol Appl 5, 40 (2019).</a:t>
            </a:r>
          </a:p>
          <a:p>
            <a:pPr algn="l">
              <a:spcAft>
                <a:spcPts val="600"/>
              </a:spcAft>
            </a:pPr>
            <a:r>
              <a:rPr sz="1200" b="0" i="0">
                <a:solidFill>
                  <a:srgbClr val="2B2B2B"/>
                </a:solidFill>
                <a:latin typeface="Calibri"/>
              </a:rPr>
              <a:t>Badia-i-Mompel P et al. decoupleR: ensemble of computational methods to infer biological activities from omics data. Bioinform Adv 2, vbac016 (2022).</a:t>
            </a:r>
          </a:p>
          <a:p>
            <a:pPr algn="l">
              <a:spcAft>
                <a:spcPts val="600"/>
              </a:spcAft>
            </a:pPr>
            <a:r>
              <a:rPr sz="1200" b="0" i="0">
                <a:solidFill>
                  <a:srgbClr val="2B2B2B"/>
                </a:solidFill>
                <a:latin typeface="Calibri"/>
              </a:rPr>
              <a:t>Türei D, Korcsmáros T, Saez-Rodriguez J. OmniPath: guidelines and gateway for literature-curated signaling pathway resources. Nat Methods 13, 966–967 (2016).</a:t>
            </a:r>
          </a:p>
          <a:p>
            <a:pPr algn="l">
              <a:spcAft>
                <a:spcPts val="600"/>
              </a:spcAft>
            </a:pPr>
            <a:r>
              <a:rPr sz="1200" b="0" i="0">
                <a:solidFill>
                  <a:srgbClr val="2B2B2B"/>
                </a:solidFill>
                <a:latin typeface="Calibri"/>
              </a:rPr>
              <a:t>Orth JD, Thiele I, Palsson BØ. What is flux balance analysis? Nat Biotechnol 28, 245–248 (2010).</a:t>
            </a:r>
          </a:p>
          <a:p>
            <a:pPr algn="l">
              <a:spcAft>
                <a:spcPts val="600"/>
              </a:spcAft>
            </a:pPr>
            <a:r>
              <a:rPr sz="1200" b="0" i="0">
                <a:solidFill>
                  <a:srgbClr val="2B2B2B"/>
                </a:solidFill>
                <a:latin typeface="Calibri"/>
              </a:rPr>
              <a:t>Shlomi T et al. Network-based prediction of human tissue-specific metabolism. Nat Biotechnol 26, 1003–1010 (2008).</a:t>
            </a:r>
          </a:p>
          <a:p>
            <a:pPr algn="l">
              <a:spcAft>
                <a:spcPts val="600"/>
              </a:spcAft>
            </a:pPr>
            <a:r>
              <a:rPr sz="1200" b="0" i="0">
                <a:solidFill>
                  <a:srgbClr val="2B2B2B"/>
                </a:solidFill>
                <a:latin typeface="Calibri"/>
              </a:rPr>
              <a:t>Tuncbag N et al. Simultaneous reconstruction of multiple signaling pathways via the prize-collecting Steiner forest problem. J Comput Biol 20, 124–136 (2013).</a:t>
            </a:r>
          </a:p>
          <a:p>
            <a:pPr algn="l">
              <a:spcAft>
                <a:spcPts val="600"/>
              </a:spcAft>
            </a:pPr>
            <a:r>
              <a:rPr sz="1200" b="0" i="0">
                <a:solidFill>
                  <a:srgbClr val="2B2B2B"/>
                </a:solidFill>
                <a:latin typeface="Calibri"/>
              </a:rPr>
              <a:t>Dugourd A et al. Causal integration of multi-omics data with prior knowledge to generate mechanistic hypotheses. Mol Syst Biol 17, e9730 (2021).</a:t>
            </a:r>
          </a:p>
          <a:p>
            <a:pPr algn="l">
              <a:spcAft>
                <a:spcPts val="600"/>
              </a:spcAft>
            </a:pPr>
            <a:r>
              <a:rPr sz="1200" b="0" i="0">
                <a:solidFill>
                  <a:srgbClr val="2B2B2B"/>
                </a:solidFill>
                <a:latin typeface="Calibri"/>
              </a:rPr>
              <a:t>Gillette MA et al. Proteogenomic characterization reveals therapeutic vulnerabilities in lung adenocarcinoma. Cell 182, 200–225 (2020).</a:t>
            </a:r>
          </a:p>
          <a:p>
            <a:pPr algn="l">
              <a:spcAft>
                <a:spcPts val="600"/>
              </a:spcAft>
            </a:pPr>
            <a:r>
              <a:rPr sz="1200" b="0" i="0">
                <a:solidFill>
                  <a:srgbClr val="2B2B2B"/>
                </a:solidFill>
                <a:latin typeface="Calibri"/>
              </a:rPr>
              <a:t>Kemmeren P et al. Large-scale genetic perturbations reveal regulatory networks and an abundance of gene-specific repressors. Cell 157, 740–752 (2014).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4257</Words>
  <Application>Microsoft Office PowerPoint</Application>
  <PresentationFormat>Widescreen</PresentationFormat>
  <Paragraphs>407</Paragraphs>
  <Slides>29</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Seyedhashemirizi, Sadegh (Stud. FSE)</cp:lastModifiedBy>
  <cp:revision>2</cp:revision>
  <dcterms:created xsi:type="dcterms:W3CDTF">2013-01-27T09:14:16Z</dcterms:created>
  <dcterms:modified xsi:type="dcterms:W3CDTF">2026-10-12T12:43:53Z</dcterms:modified>
  <cp:category/>
</cp:coreProperties>
</file>