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302" r:id="rId3"/>
    <p:sldId id="258" r:id="rId4"/>
    <p:sldId id="259" r:id="rId5"/>
    <p:sldId id="260" r:id="rId6"/>
    <p:sldId id="303" r:id="rId7"/>
    <p:sldId id="262" r:id="rId8"/>
    <p:sldId id="263" r:id="rId9"/>
    <p:sldId id="264" r:id="rId10"/>
    <p:sldId id="265" r:id="rId11"/>
    <p:sldId id="266" r:id="rId12"/>
    <p:sldId id="267" r:id="rId13"/>
    <p:sldId id="268" r:id="rId14"/>
    <p:sldId id="304" r:id="rId15"/>
    <p:sldId id="270" r:id="rId16"/>
    <p:sldId id="271" r:id="rId17"/>
    <p:sldId id="272" r:id="rId18"/>
    <p:sldId id="336" r:id="rId19"/>
    <p:sldId id="273" r:id="rId20"/>
    <p:sldId id="274" r:id="rId21"/>
    <p:sldId id="275" r:id="rId22"/>
    <p:sldId id="276" r:id="rId23"/>
    <p:sldId id="334" r:id="rId24"/>
    <p:sldId id="305" r:id="rId25"/>
    <p:sldId id="278" r:id="rId26"/>
    <p:sldId id="279" r:id="rId27"/>
    <p:sldId id="281" r:id="rId28"/>
    <p:sldId id="306" r:id="rId29"/>
    <p:sldId id="308" r:id="rId30"/>
    <p:sldId id="309" r:id="rId31"/>
    <p:sldId id="311" r:id="rId32"/>
    <p:sldId id="312" r:id="rId33"/>
    <p:sldId id="313" r:id="rId34"/>
    <p:sldId id="314" r:id="rId35"/>
    <p:sldId id="315" r:id="rId36"/>
    <p:sldId id="316" r:id="rId37"/>
    <p:sldId id="307" r:id="rId38"/>
    <p:sldId id="317" r:id="rId39"/>
    <p:sldId id="318" r:id="rId40"/>
    <p:sldId id="284" r:id="rId41"/>
    <p:sldId id="320" r:id="rId42"/>
    <p:sldId id="321" r:id="rId43"/>
    <p:sldId id="322" r:id="rId44"/>
    <p:sldId id="323" r:id="rId45"/>
    <p:sldId id="324" r:id="rId46"/>
    <p:sldId id="325" r:id="rId47"/>
    <p:sldId id="326" r:id="rId48"/>
    <p:sldId id="327" r:id="rId49"/>
    <p:sldId id="328" r:id="rId50"/>
    <p:sldId id="329" r:id="rId51"/>
    <p:sldId id="330" r:id="rId52"/>
    <p:sldId id="331" r:id="rId53"/>
    <p:sldId id="332"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170" autoAdjust="0"/>
  </p:normalViewPr>
  <p:slideViewPr>
    <p:cSldViewPr snapToGrid="0" snapToObjects="1">
      <p:cViewPr>
        <p:scale>
          <a:sx n="66" d="100"/>
          <a:sy n="66" d="100"/>
        </p:scale>
        <p:origin x="1301" y="-14"/>
      </p:cViewPr>
      <p:guideLst>
        <p:guide orient="horz" pos="2160"/>
        <p:guide pos="288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1809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CORNETO = Constrained Optimisation for the Recovery of NETworks from Omics. Saez-Rodriguez lab, Nature Machine Intelligence, July 2025. Theme of today: multi-omics integration and network inference.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Six parts: the problem, the methods CORNETO unifies, its formulation, the paper's results, our own test on progressive-MS stem-cell data, and a discussion.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Data-driven network inference (correlation, ML) needs many samples and only gives associations. Knowledge-driven inference starts from a prior knowledge network (PKN) and keeps the part of it that explains the data. This is what CARNIVAL, iMAT, Steiner trees etc. all do.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Signalling, metabolism and PPI each have their own tools, data types and code. Most analyse one sample at a time, so they cannot separate shared mechanisms from sample-specific ones, and several networks often explain the data equally well (non-identifiability).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 Any PKN type (top), any omics layer mapped onto it, one optimisation problem (LP/MILP), and n context-specific networks out, inferred jointly. Bottom row: the four applications in the paper.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Before the framework: the ingredients it unifies.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mechanistic to associative. Metabolic networks are hypergraphs because a reaction links several metabolites with stoichiometry. Signalling PKNs (e.g. OmniPath) are signed and directed. Kinase-substrate networks are directed, PPI networks undirected. TF regulons (CollecTRI) are also signed directed graphs.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regulon is a signed TF -&gt; target network (CollecTRI, DoRothEA). decoupler scores each TF from the changes of its targets, e.g. the univariate linear model (ULM): regress gene-level statistics on the signed regulon weights and use the t-value as activity. Result: one TF activity per sample. These are the 'measured' nodes CARNIVAL tries to explain. In the paper decoupler is used on CPTAC transcriptomics.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Signed directed PKN. Each node gets a state up/down/off. A selected edge passes the parent's state times the edge sign to the child. The ILP finds the smallest subnetwork whose TF states best match the decoupler activities (mismatch weighted by |activity|). Grey dashed edges are in the PKN but not selected; e.g. K2-&gt;K4 would make K4 up, contradicting TF2. Inverse CARNIVAL: if the perturbation is unknown, every root node of the PKN may start a signal.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Stoichiometric matrix S (metabolites x reactions). Steady state S v = 0: every metabolite is produced as fast as it is consumed. Flux bounds encode reversibility, nutrients, knockouts. Objective: maximise biomass, an LP. Sparse FBA: the fewest active reactions that still give at least x% of the optimal biomass, a MILP. Here A-&gt;B-&gt;C is the minimal route; A-&gt;D-&gt;C is an equivalent alternative (FBA solutions are often not unique).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Gene-protein-reaction (GPR) rules turn gene expression into reaction scores: highly expressed, lowly expressed, or uncertain. iMAT maximises the number of high reactions that carry flux plus low reactions that are blocked, subject to the FBA constraints. Here v2 is lowly expressed, so the solution routes flux through B instead of D. MILP; one sample at a time in the original method.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Undirected PPI network. Terminals = proteins with a signal (e.g. differentially abundant). Steiner tree: the cheapest tree connecting all terminals; the extra nodes it needs (Steiner nodes) are candidate mediators. Prize-collecting Steiner tree (PCST): terminals are optional, each has a prize, each edge a cost; minimise edge costs minus collected prizes.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four select a subset of edges (or reactions) of a PKN under constraints, scored against data. That shared structure is what CORNETO exploits: all can be written as (mixed-integer) linear programs.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Three ideas: flows, hypergraphs, and one template with a shared sparsity penalty.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Network flows: a source edge injects flow, a sink edge removes it, and every internal node conserves flow (A x = 0 with A the incidence matrix). A binary indicator y_e switches each edge on or off; flow is allowed only on edges that are on. The selected edges are the inferred network. Example: shortest path = send one unit of flow from s to t at minimum cost (here s-a-t, cost 2). Paths, trees and DAGs all come from extra constraints on the same variables.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CORNETO works on directed hypergraphs: each hyperedge has a tail set and a head set, and each vertex has a signed coefficient in the incidence matrix. A graph edge is the special case with one tail (-1) and one head (+1). A reaction M1 + 2 M2 -&gt; M3 has coefficients -1, -2, +1, so the incidence matrix IS the stoichiometric matrix and A x = 0 is the FBA steady state. Sources and sinks are hyperedges with an empty tail or head (like exchange reactions). This is why one flow formulation covers </a:t>
            </a:r>
            <a:r>
              <a:rPr dirty="0" err="1"/>
              <a:t>signalling</a:t>
            </a:r>
            <a:r>
              <a:rPr dirty="0"/>
              <a:t>, PPI and metabolism.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2a-d. (a) phi maps omics data onto the PKN, giving one annotated graph per sample. (b) psi edits the graph: adds source and sink edges where flow should enter and leave, prunes unreachable parts. (c) The graphs are merged into one union graph; CORNETO creates flow variables X and indicator variables Y, adds method-specific constraints and the structured sparsity term (orange). (d) Any supported solver (HiGHS, Gurobi, SCIP, CPLEX...) returns the n networks with a certificate of optimality.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5A60F-7895-A878-BDED-933774BAD8AA}"/>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A0F869F5-C1FA-A760-3A1F-44395E1DB478}"/>
              </a:ext>
            </a:extLst>
          </p:cNvPr>
          <p:cNvSpPr>
            <a:spLocks noGrp="1"/>
          </p:cNvSpPr>
          <p:nvPr>
            <p:ph type="body" sz="quarter" idx="3"/>
          </p:nvPr>
        </p:nvSpPr>
        <p:spPr/>
        <p:txBody>
          <a:bodyPr/>
          <a:lstStyle/>
          <a:p>
            <a:r>
              <a:t>phi attaches n values per vertex or edge; psi edits each annotated graph; the n edited graphs merge into one union hypergraph on which X and Y are defined; a method is (phi, psi, P_M) with P_M = (f, Omega_M).</a:t>
            </a:r>
          </a:p>
        </p:txBody>
      </p:sp>
    </p:spTree>
    <p:extLst>
      <p:ext uri="{BB962C8B-B14F-4D97-AF65-F5344CB8AC3E}">
        <p14:creationId xmlns:p14="http://schemas.microsoft.com/office/powerpoint/2010/main" val="33049188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Equation 13. X: flows, one row per edge of the union graph, one column per sample. Y: binary edge indicators of the same shape. f is the method's own objective per sample, averaged over samples. The new term lambda * ||Y 1_n||_0 counts the edges that are used in at least one sample. Penalising that pushes samples to reuse the same edges, while still allowing sample-specific ones if the data demand it. lambda = 0 gives n independent single-sample problems.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the Methods section. FBA needs no data mapping or graph edits (exchange reactions already exist); f = -c'x, lambda = 0. sFBA: biomass &gt;= x% of optimum and lambda &gt; 0, so lambda just switches sparsity on. iMAT: data mapped via GPR rules; objective penalises high reactions off and low reactions on. CARNIVAL: source edges at the perturbed nodes (all roots in inverse CARNIVAL), sink edges at TFs; tree constraint plus sign-consistency constraints on activation/inhibition variables. Steiner: source at the root, sinks at the other terminals, tree constraint, minimise edge costs; PCST also subtracts prizes.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Figure 2e. Two samples share a PKN; we only know receptors (top) and TF states (bottom; red up, blue down). Fitted independently, the two networks share no edge: 6 distinct edges in the union. Fitted jointly with the structured penalty, both networks reuse e6 and the union has only 5 edges, while explaining the same TF states. Assumption: samples share structure, e.g. related patients or perturbations in one cell type.</a:t>
            </a:r>
            <a:endParaRPr lang="en-US" dirty="0"/>
          </a:p>
          <a:p>
            <a:endParaRPr lang="en-US" dirty="0"/>
          </a:p>
          <a:p>
            <a:endParaRPr lang="en-US" dirty="0"/>
          </a:p>
          <a:p>
            <a:pPr algn="ctr">
              <a:spcAft>
                <a:spcPts val="800"/>
              </a:spcAft>
            </a:pPr>
            <a:r>
              <a:rPr lang="en-US" sz="1200" b="0" i="0" dirty="0">
                <a:solidFill>
                  <a:srgbClr val="6B7280"/>
                </a:solidFill>
                <a:latin typeface="Calibri"/>
              </a:rPr>
              <a:t>Independent fits: </a:t>
            </a:r>
            <a:r>
              <a:rPr lang="en-US" sz="1200" b="0" i="0" dirty="0">
                <a:solidFill>
                  <a:srgbClr val="2B2B2B"/>
                </a:solidFill>
                <a:latin typeface="Calibri"/>
              </a:rPr>
              <a:t>6 distinct edges, none shared</a:t>
            </a:r>
            <a:r>
              <a:rPr lang="en-US" sz="1200" b="0" i="0" dirty="0">
                <a:solidFill>
                  <a:srgbClr val="0072B2"/>
                </a:solidFill>
                <a:latin typeface="Calibri"/>
              </a:rPr>
              <a:t>     Joint fit: </a:t>
            </a:r>
            <a:r>
              <a:rPr lang="en-US" sz="1200" b="0" i="0" dirty="0">
                <a:solidFill>
                  <a:srgbClr val="2B2B2B"/>
                </a:solidFill>
                <a:latin typeface="Calibri"/>
              </a:rPr>
              <a:t>5 edges, one shared</a:t>
            </a:r>
          </a:p>
          <a:p>
            <a:pPr algn="ctr">
              <a:spcAft>
                <a:spcPts val="800"/>
              </a:spcAft>
            </a:pPr>
            <a:r>
              <a:rPr lang="en-US" sz="1200" b="0" i="0" dirty="0">
                <a:solidFill>
                  <a:srgbClr val="1F2A44"/>
                </a:solidFill>
                <a:latin typeface="Calibri"/>
              </a:rPr>
              <a:t>λ = 0</a:t>
            </a:r>
            <a:r>
              <a:rPr lang="en-US" sz="1200" b="0" i="0" dirty="0">
                <a:solidFill>
                  <a:srgbClr val="2B2B2B"/>
                </a:solidFill>
                <a:latin typeface="Calibri"/>
              </a:rPr>
              <a:t> → independent fits;  larger </a:t>
            </a:r>
            <a:r>
              <a:rPr lang="en-US" sz="1200" b="0" i="0" dirty="0">
                <a:solidFill>
                  <a:srgbClr val="1F2A44"/>
                </a:solidFill>
                <a:latin typeface="Calibri"/>
              </a:rPr>
              <a:t>λ</a:t>
            </a:r>
            <a:r>
              <a:rPr lang="en-US" sz="1200" b="0" i="0" dirty="0">
                <a:solidFill>
                  <a:srgbClr val="2B2B2B"/>
                </a:solidFill>
                <a:latin typeface="Calibri"/>
              </a:rPr>
              <a:t> → more shared structure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 composition (Methods): weighted sum of objectives, intersection of feasible sets; variables that appear in both problems are identified, i.e. shared. Because signalling, gene regulation and metabolism are all flows on one (hyper)graph, they could in principle be stacked into one union hypergraph and one MILP. Caveat: the paper applies each layer separately; joint multi-layer inference (signalling + metabolism, as in COSMOS) is named in the Discussion as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Composing problems only integrates layers if they share variables. If </a:t>
            </a:r>
            <a:r>
              <a:rPr dirty="0" err="1"/>
              <a:t>iMAT</a:t>
            </a:r>
            <a:r>
              <a:rPr dirty="0"/>
              <a:t>, CARNIVAL and a Steiner tree are put in one MILP with summed objectives but no shared variables, the solver returns exactly what three separate runs would: late integration in one file. Joint integration needs coupling constraints, so evidence in one layer changes the solution in another: an enzyme inferred as down in the </a:t>
            </a:r>
            <a:r>
              <a:rPr dirty="0" err="1"/>
              <a:t>signalling</a:t>
            </a:r>
            <a:r>
              <a:rPr dirty="0"/>
              <a:t> layer forces its reactions off in </a:t>
            </a:r>
            <a:r>
              <a:rPr dirty="0" err="1"/>
              <a:t>iMAT</a:t>
            </a:r>
            <a:r>
              <a:rPr dirty="0"/>
              <a:t>; a metabolite that FBA says is produced may start a </a:t>
            </a:r>
            <a:r>
              <a:rPr dirty="0" err="1"/>
              <a:t>signalling</a:t>
            </a:r>
            <a:r>
              <a:rPr dirty="0"/>
              <a:t> path. In CORNETO this comes from variables that appear in both problems being identified as one. The hard part is semantics: CARNIVAL encodes signs relative to control, </a:t>
            </a:r>
            <a:r>
              <a:rPr dirty="0" err="1"/>
              <a:t>iMAT</a:t>
            </a:r>
            <a:r>
              <a:rPr dirty="0"/>
              <a:t> on/off within a condition, Steiner trees membership; linking them is a biological assumption. The paper defines the composition rule but never demonstrates a multi-layer problem. For our PMS data the useful pair is CARNIVAL + </a:t>
            </a:r>
            <a:r>
              <a:rPr dirty="0" err="1"/>
              <a:t>iMAT</a:t>
            </a:r>
            <a:r>
              <a:rPr dirty="0"/>
              <a:t>/FBA, coupled through enzymes and metabolites, so cholesterol must come from balanced synthesis or uptake rather than a transport shortcut.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Three re-implemented methods, each single- vs multi-sample.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MitoCore</a:t>
            </a:r>
            <a:r>
              <a:rPr dirty="0"/>
              <a:t> model (555 reactions, 441 metabolites). Samples = simulated single-enzyme knockouts; 2, 4, 8 or 16 samples, 10 random subsets each. Joint </a:t>
            </a:r>
            <a:r>
              <a:rPr dirty="0" err="1"/>
              <a:t>sFBA</a:t>
            </a:r>
            <a:r>
              <a:rPr dirty="0"/>
              <a:t> gives fewer distinct reactions; median reduction 6.02% at &gt;=90% biomass, 7.21% at &gt;=50%, up to 30% at &gt;=10% (looser constraint = more alternative routes). (b) The joint fit picks canonical glycolysis (HEX1, PGI, PFK...) more consistently; single-sample fits wander to alternative, equally optimal routes, exaggerating differences between samples.</a:t>
            </a:r>
            <a:endParaRPr lang="en-US" dirty="0"/>
          </a:p>
          <a:p>
            <a:endParaRPr lang="en-US" dirty="0"/>
          </a:p>
          <a:p>
            <a:r>
              <a:rPr lang="en-US" dirty="0"/>
              <a:t>(We are minimizing the total reactions across samples, so the total number of unique reactions are decreased across samples,</a:t>
            </a:r>
          </a:p>
          <a:p>
            <a:r>
              <a:rPr lang="en-US" dirty="0"/>
              <a:t>This means we will capture the canonical pathways and find the </a:t>
            </a:r>
            <a:r>
              <a:rPr lang="en-US" dirty="0" err="1"/>
              <a:t>miniam</a:t>
            </a:r>
            <a:r>
              <a:rPr lang="en-US" dirty="0"/>
              <a:t> set of reactions, but we’ll potentially miss sample-specific metabolic </a:t>
            </a:r>
            <a:r>
              <a:rPr lang="en-US" dirty="0" err="1"/>
              <a:t>athwaays</a:t>
            </a:r>
            <a:r>
              <a:rPr lang="en-US"/>
              <a:t>)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Yeast deletion microarrays (Kemmeren 2014), 12 enzyme knockouts with metabolic rewiring, Yeast-GEM. lambda chosen by 5-fold cross-validation on held-out reaction scores; best F1 at lambda = 1.5 (lambda = 0 is the original iMAT). F1 +6.62%, precision +29.62%, recall -8.62%; reactions ~2,072 -&gt; ~861 on average; false positives -38.8%. Trade-off: fewer false positives, slightly lower recall.</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5c: edges in the intersection of all patient networks at lambda = 0.8. Because optimal solutions are not unique, the joint inference was repeated 30 times with different seeds and an edge was kept if it appeared in at least 50% of the alternative solutions. Colour = mean TF activity across patients.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We applied CORNETO to public multi-omics data from progressive-MS induced neural stem cells, with a published mechanism as the test.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Ionescu et al. found a senescent, neurotoxic state in iNSCs from people with progressive MS, reduced by simvastatin, and proposed HMGCR -&gt; cholesterol -&gt; cholesterol-responsive TFs. We asked three network questions: (1) is that route in the prior-knowledge network, (2) does CORNETO select it when it is not given as a starting node, and (3) how much of the selected network comes from the data versus the network itself.</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Each cell line is one observation; replicates were averaged. TF activities: moderated t statistic PMS vs control, then decoupler ULM with CollecTRI; the 50 most changed TFs that keep their sign when any line is left out are the measured nodes. In the joint fit 36 metabolite contrasts mapped to COSMOS were added, including free cholesterol. Any PKN node without incoming edges may start a signal with a free sign, except the hypothesis nodes, so recovering the route would not be circular. Lambda: the largest value whose fitting error stays within 10% of the unpenalised fit, fixed before inspecting any network.</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SP1 and JUN are the 2nd and 6th most activated of 628 TFs in PMS lines; AP-1 and NF-kB rank 13th and 25th. JUNB and EGR1 are moderately up, E2F1 unchanged, WT1 not expressed. Senescence markers change (SERPINE1 up, LMNB1 down), but sterol-synthesis genes such as HMGCR are not induced.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cholesterol pathway is almost complete in COSMOS: 56 of 58 reactions. The two missing ones are halves of the squalene-synthase step and disconnect the pathway; after restoring them from Recon3D the weighted shortest HMGCR -&gt; cholesterol path is the textbook pathway. Cholesterol is two edges from SP1, JUN and E2F1, but it is itself a hub, and about 480 other metabolites are as close to SP1. Short paths alone do not support the route.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Neither PMS fit used the pathway: HMGCR stayed inactive and the measured rise in cholesterol was explained by a single transport reaction. As a positive control we told CORNETO that HMGCR is inhibited and cholesterol falls (simvastatin). It then recovered the pathway through mevalonate, 16 of 20 enzymes in order, but only in the repaired network; in the original COSMOS it reached cholesterol by a 32-edge detour through unrelated mitochondrial reactions, sign-consistent but biochemically meaningless.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The joint TF-plus-metabolite network on COSMOS. Every route into SP1, JUN, JUNB and EGR1 starts from one unmeasured starting node, a tamoxifen compound, which alone sits upstream of 39 of the 79 explained measurements, and passes through MAPK1 or MAPK14. The three networks (</a:t>
            </a:r>
            <a:r>
              <a:rPr dirty="0" err="1"/>
              <a:t>OmniPath</a:t>
            </a:r>
            <a:r>
              <a:rPr dirty="0"/>
              <a:t> TFs, COSMOS TFs, COSMOS joint) shared 50-71% of protein nodes but only 7-21% of edges; MAPK1, MAPK14, PRKACA, FYN and AKT1 were in all of them.</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Controls on the OmniPath fit. (a) One starting node sits upstream of 24-92% of the explained measurements at every lambda, and its identity changes with lambda and PKN. (b) Only 6-24% of edges survive across all lambda values. Six of ten degree-preserving random networks explained every TF exactly while sharing only 7-18% of inferred nodes with the real network. Only the true split of the lines (and its mirror) fitted exactly: p = 2/20. Selection favours hubs: odds of selecting an unmeasured node rise 1.7- to 3-fold per doubling of its degree, also in random networks. (c) Some networks the solver reported as optimal scored up to 19% worse than other known solutions.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Two results were robust: a kinase layer directly upstream of the activated AP-1 and SP1 targets, and the textbook cholesterol pathway under a known perturbation once two missing edges were restored. Because the kinases are also the main PKN hubs, their stability is necessary but not sufficient evidence. The upstream part, where the proposed mechanism would sit, was not identifiable: too much freedom at the start, signed edges without mass balance, and approximate optimisation. Next steps: restrict starting nodes to measured perturbations, use stoichiometric models (iMAT/FBA on Recon3D, in progress), and use a line-matched cohort.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Strengths and limitations, from the paper and from our test.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From the paper: one mathematical language and API for metabolic, signalling and PPI methods; the structured sparsity term gives every method a multi-sample version, with lambda = 0 as the original; exact MILP solvers with optimality certificates, decoupled from the solver; measured gains such as iMAT precision +29.6% and F1 +6.6%, sparser sFBA networks and a larger shared CARNIVAL core; hypergraphs make the incidence matrix the stoichiometric matrix; problems compose by adding objectives and intersecting feasible sets; open code and notebooks.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Authors (Discussion): NP-hard problems whose cost grows with samples and PKN size; lambda is problem specific and the penalty assumes shared structure; several networks fit equally well (they sample 30 solutions and keep frequent edges); only PKN edges can be selected; steady state only. What we saw on the PMS iNSC data: solutions reported as optimal were up to 19% worse than other known ones, and a joint fit of all six lines found no solution with lambda &gt; 0; the dominant starting hub changed with lambda; six of ten degree-preserving random PKNs fitted every TF exactly; two missing reactions were enough to hide the cholesterol pathway; and signed edges without mass balance let transport explain cholesterol.</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Backup slides with the formulas, for questions.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Methods, Mathematical background. A x = b with the incidence matrix and capacity bounds is an LP. A binary y per edge with x &lt;= x_max * y turns flow into structure: an edge is in the network iff it can carry flow. Shortest path is the simplest example.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Each hyperedge has a tail set and a head set with signed coefficients, so the incidence matrix is the stoichiometric matrix. Sources and sinks are hyperedges with an empty tail or head, so b disappears. With n samples the flow becomes a matrix X; shared capacities use |X| 1_n &lt;= x_max, linearised by splitting X into positive and negative parts.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phi attaches n values per vertex or edge; psi edits each annotated graph; the n edited graphs merge into one union hypergraph on which X and Y are defined; a method is (phi, psi, P_M) with P_M = (f, Omega_M).</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Omega_Free links flow to indicators; Omega_!=0 makes "selected" mean "active"; acyclicity uses a continuous order variable L with a big-M switch; a tree is acyclic with at most one incoming selected edge per vertex.</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structured sparsity term counts edges used in at least one sample. With one binary z_e per edge that must be 1 whenever the edge is used, lambda * sum z_e equals the penalty at the optimum (one standard linearisation; the paper gives its own in the Supplementary Information). lambda = 0 gives n independent problems.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decoupler ULM: for one sample, regress gene statistics on the signed regulon weights of a TF; the t-value of the slope is its activity. Not part of the CORNETO Methods, but it produces the measured nodes for CARNIVAL, in the paper and in our test.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CORNETO version of CARNIVAL (Methods). Source edges at perturbed nodes (all roots in inverse CARNIVAL), sink edges at TFs. Sign-consistency constraints link edge activation/inhibition to the state of the tail and the edge sign; the objective penalises sign mismatches weighted by |activity|.</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All share S v = 0 with bounds (Omega_Flow with A = S). Sparse FBA keeps biomass at &gt;= 95% of its optimum (example used in the Methods). Multi-sample sFBA has only the sparsity term, so lambda is on or off. iMAT maximises agreement between reaction activity and expression classes via GPR rules.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PCST minimises edge weights minus node prizes. In CORNETO the root injects u units and every other terminal receives u/(|T|-1), which forces connectivity; Omega_Tree removes cycles. Steiner tree = PCST with all terminals forced in.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Appendix: a short Comment by Diosdi, Theis and Horvath arguing for integrating omics, morphology and spatial context in 3D cell culture models. Opinion piece, no new data. doi:10.1038/s41580-026-01025-4</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Each cell is defined by three cornerstones: omics profile, morphology and microenvironment. The technologies probing each developed separately; the authors cite work showing that combining modalities beats single modalities, and propose next-generation 3D-oids that capture all three.</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Three parallel pathways. Model systems: 3D-oids are more physiological than 2D culture; reproducible keystone 3D-oids as references, partly stepping away from patient-specific models, adding complexity only per hypothesis. Imaging and analysis: micromanipulation of single cells in 3D, high-content screening combined with omics, AI analysis. Data integration: comprehensive tools are missing; aim for generalisable AI models that connect existing domain pipelines.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9.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22960" y="1280160"/>
            <a:ext cx="10607040" cy="2103120"/>
          </a:xfrm>
          <a:prstGeom prst="rect">
            <a:avLst/>
          </a:prstGeom>
          <a:noFill/>
        </p:spPr>
        <p:txBody>
          <a:bodyPr wrap="square" lIns="45720" tIns="27432" rIns="45720" bIns="27432" anchor="b"/>
          <a:lstStyle/>
          <a:p>
            <a:pPr algn="l">
              <a:spcAft>
                <a:spcPts val="800"/>
              </a:spcAft>
            </a:pPr>
            <a:r>
              <a:rPr sz="3200" b="0" i="0">
                <a:solidFill>
                  <a:srgbClr val="1F2A44"/>
                </a:solidFill>
                <a:latin typeface="Calibri"/>
              </a:rPr>
              <a:t>CORNETO: unifying multi-sample network inference from prior knowledge and omics</a:t>
            </a:r>
          </a:p>
        </p:txBody>
      </p:sp>
      <p:cxnSp>
        <p:nvCxnSpPr>
          <p:cNvPr id="4" name="Connector 3"/>
          <p:cNvCxnSpPr/>
          <p:nvPr/>
        </p:nvCxnSpPr>
        <p:spPr>
          <a:xfrm>
            <a:off x="841248" y="3611880"/>
            <a:ext cx="137160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3840480"/>
            <a:ext cx="10607040" cy="109728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Rodriguez-Mier, Garrido-Rodriguez, Gabor &amp; Saez-Rodriguez</a:t>
            </a:r>
          </a:p>
          <a:p>
            <a:pPr algn="l">
              <a:spcAft>
                <a:spcPts val="800"/>
              </a:spcAft>
            </a:pPr>
            <a:r>
              <a:rPr sz="2000" b="0" i="0">
                <a:solidFill>
                  <a:srgbClr val="6B7280"/>
                </a:solidFill>
                <a:latin typeface="Calibri"/>
              </a:rPr>
              <a:t>Nature Machine Intelligence 7, 1168–1186 (2025)  ·  doi:10.1038/s42256-025-01069-9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2</a:t>
            </a:r>
          </a:p>
        </p:txBody>
      </p:sp>
      <p:sp>
        <p:nvSpPr>
          <p:cNvPr id="6" name="Oval 5"/>
          <p:cNvSpPr/>
          <p:nvPr/>
        </p:nvSpPr>
        <p:spPr>
          <a:xfrm>
            <a:off x="886968" y="1481328"/>
            <a:ext cx="530352" cy="53035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1</a:t>
            </a:r>
          </a:p>
        </p:txBody>
      </p:sp>
      <p:sp>
        <p:nvSpPr>
          <p:cNvPr id="7" name="TextBox 6"/>
          <p:cNvSpPr txBox="1"/>
          <p:nvPr/>
        </p:nvSpPr>
        <p:spPr>
          <a:xfrm>
            <a:off x="1691640" y="1417320"/>
            <a:ext cx="8686800" cy="658368"/>
          </a:xfrm>
          <a:prstGeom prst="rect">
            <a:avLst/>
          </a:prstGeom>
          <a:noFill/>
        </p:spPr>
        <p:txBody>
          <a:bodyPr wrap="square" lIns="45720" tIns="27432" rIns="45720" bIns="27432" anchor="ctr">
            <a:spAutoFit/>
          </a:bodyPr>
          <a:lstStyle/>
          <a:p>
            <a:pPr algn="l">
              <a:spcAft>
                <a:spcPts val="600"/>
              </a:spcAft>
            </a:pPr>
            <a:r>
              <a:rPr sz="2200" b="0" i="0">
                <a:solidFill>
                  <a:srgbClr val="1F2A44"/>
                </a:solidFill>
                <a:latin typeface="Calibri"/>
              </a:rPr>
              <a:t>Why network inference from prior knowledge?</a:t>
            </a:r>
          </a:p>
        </p:txBody>
      </p:sp>
      <p:sp>
        <p:nvSpPr>
          <p:cNvPr id="8" name="Rectangle 7"/>
          <p:cNvSpPr/>
          <p:nvPr/>
        </p:nvSpPr>
        <p:spPr>
          <a:xfrm>
            <a:off x="566928" y="1453896"/>
            <a:ext cx="91440" cy="58521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86968" y="2267712"/>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2</a:t>
            </a:r>
          </a:p>
        </p:txBody>
      </p:sp>
      <p:sp>
        <p:nvSpPr>
          <p:cNvPr id="10" name="TextBox 9"/>
          <p:cNvSpPr txBox="1"/>
          <p:nvPr/>
        </p:nvSpPr>
        <p:spPr>
          <a:xfrm>
            <a:off x="1691640" y="2203704"/>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The methods CORNETO unifies</a:t>
            </a:r>
          </a:p>
        </p:txBody>
      </p:sp>
      <p:sp>
        <p:nvSpPr>
          <p:cNvPr id="11" name="Oval 10"/>
          <p:cNvSpPr/>
          <p:nvPr/>
        </p:nvSpPr>
        <p:spPr>
          <a:xfrm>
            <a:off x="886968" y="3054096"/>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3</a:t>
            </a:r>
          </a:p>
        </p:txBody>
      </p:sp>
      <p:sp>
        <p:nvSpPr>
          <p:cNvPr id="12" name="TextBox 11"/>
          <p:cNvSpPr txBox="1"/>
          <p:nvPr/>
        </p:nvSpPr>
        <p:spPr>
          <a:xfrm>
            <a:off x="1691640" y="2990088"/>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CORNETO: one optimisation problem</a:t>
            </a:r>
          </a:p>
        </p:txBody>
      </p:sp>
      <p:sp>
        <p:nvSpPr>
          <p:cNvPr id="13" name="Oval 12"/>
          <p:cNvSpPr/>
          <p:nvPr/>
        </p:nvSpPr>
        <p:spPr>
          <a:xfrm>
            <a:off x="886968" y="3840480"/>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4</a:t>
            </a:r>
          </a:p>
        </p:txBody>
      </p:sp>
      <p:sp>
        <p:nvSpPr>
          <p:cNvPr id="14" name="TextBox 13"/>
          <p:cNvSpPr txBox="1"/>
          <p:nvPr/>
        </p:nvSpPr>
        <p:spPr>
          <a:xfrm>
            <a:off x="1691640" y="3776472"/>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Results in the paper</a:t>
            </a:r>
          </a:p>
        </p:txBody>
      </p:sp>
      <p:sp>
        <p:nvSpPr>
          <p:cNvPr id="15" name="Oval 14"/>
          <p:cNvSpPr/>
          <p:nvPr/>
        </p:nvSpPr>
        <p:spPr>
          <a:xfrm>
            <a:off x="886968" y="4626864"/>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5</a:t>
            </a:r>
          </a:p>
        </p:txBody>
      </p:sp>
      <p:sp>
        <p:nvSpPr>
          <p:cNvPr id="16" name="TextBox 15"/>
          <p:cNvSpPr txBox="1"/>
          <p:nvPr/>
        </p:nvSpPr>
        <p:spPr>
          <a:xfrm>
            <a:off x="1691640" y="4562856"/>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Our test: the PMS iNSC data</a:t>
            </a:r>
          </a:p>
        </p:txBody>
      </p:sp>
      <p:sp>
        <p:nvSpPr>
          <p:cNvPr id="17" name="Oval 16"/>
          <p:cNvSpPr/>
          <p:nvPr/>
        </p:nvSpPr>
        <p:spPr>
          <a:xfrm>
            <a:off x="886968" y="541324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6</a:t>
            </a:r>
          </a:p>
        </p:txBody>
      </p:sp>
      <p:sp>
        <p:nvSpPr>
          <p:cNvPr id="18" name="TextBox 17"/>
          <p:cNvSpPr txBox="1"/>
          <p:nvPr/>
        </p:nvSpPr>
        <p:spPr>
          <a:xfrm>
            <a:off x="1691640" y="534924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Discussion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Omics give lists of changes; we want mechanisms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3</a:t>
            </a:r>
          </a:p>
        </p:txBody>
      </p:sp>
      <p:sp>
        <p:nvSpPr>
          <p:cNvPr id="6" name="Rounded Rectangle 5"/>
          <p:cNvSpPr/>
          <p:nvPr/>
        </p:nvSpPr>
        <p:spPr>
          <a:xfrm>
            <a:off x="548640" y="1463040"/>
            <a:ext cx="5394960" cy="3200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1645920"/>
            <a:ext cx="4846320" cy="457200"/>
          </a:xfrm>
          <a:prstGeom prst="rect">
            <a:avLst/>
          </a:prstGeom>
          <a:noFill/>
        </p:spPr>
        <p:txBody>
          <a:bodyPr wrap="square" lIns="45720" tIns="27432" rIns="45720" bIns="27432" anchor="t"/>
          <a:lstStyle/>
          <a:p>
            <a:pPr algn="l">
              <a:spcAft>
                <a:spcPts val="800"/>
              </a:spcAft>
            </a:pPr>
            <a:r>
              <a:rPr sz="2000" b="0" i="0">
                <a:solidFill>
                  <a:srgbClr val="6B7280"/>
                </a:solidFill>
                <a:latin typeface="Calibri"/>
              </a:rPr>
              <a:t>Data-driven</a:t>
            </a:r>
          </a:p>
        </p:txBody>
      </p:sp>
      <p:sp>
        <p:nvSpPr>
          <p:cNvPr id="8" name="TextBox 7"/>
          <p:cNvSpPr txBox="1"/>
          <p:nvPr/>
        </p:nvSpPr>
        <p:spPr>
          <a:xfrm>
            <a:off x="822959" y="2240280"/>
            <a:ext cx="4846320" cy="2286000"/>
          </a:xfrm>
          <a:prstGeom prst="rect">
            <a:avLst/>
          </a:prstGeom>
          <a:noFill/>
        </p:spPr>
        <p:txBody>
          <a:bodyPr wrap="square" lIns="45720" tIns="27432" rIns="45720" bIns="27432" anchor="t"/>
          <a:lstStyle/>
          <a:p>
            <a:pPr algn="l">
              <a:spcAft>
                <a:spcPts val="1400"/>
              </a:spcAft>
            </a:pPr>
            <a:r>
              <a:rPr sz="2000" b="0" i="0" dirty="0">
                <a:solidFill>
                  <a:srgbClr val="2B2B2B"/>
                </a:solidFill>
                <a:latin typeface="Calibri"/>
              </a:rPr>
              <a:t>•  Correlation, machine learning</a:t>
            </a:r>
          </a:p>
          <a:p>
            <a:pPr algn="l">
              <a:spcAft>
                <a:spcPts val="1400"/>
              </a:spcAft>
            </a:pPr>
            <a:r>
              <a:rPr lang="en-US" sz="2000" b="0" i="0" dirty="0">
                <a:solidFill>
                  <a:srgbClr val="2B2B2B"/>
                </a:solidFill>
                <a:latin typeface="Calibri"/>
              </a:rPr>
              <a:t>•  Associations</a:t>
            </a:r>
          </a:p>
        </p:txBody>
      </p:sp>
      <p:sp>
        <p:nvSpPr>
          <p:cNvPr id="9" name="Rounded Rectangle 8"/>
          <p:cNvSpPr/>
          <p:nvPr/>
        </p:nvSpPr>
        <p:spPr>
          <a:xfrm>
            <a:off x="6217920" y="1463040"/>
            <a:ext cx="5394960" cy="3200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92240" y="1645920"/>
            <a:ext cx="484632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Knowledge-driven</a:t>
            </a:r>
          </a:p>
        </p:txBody>
      </p:sp>
      <p:sp>
        <p:nvSpPr>
          <p:cNvPr id="11" name="TextBox 10"/>
          <p:cNvSpPr txBox="1"/>
          <p:nvPr/>
        </p:nvSpPr>
        <p:spPr>
          <a:xfrm>
            <a:off x="6492240" y="2240280"/>
            <a:ext cx="4846320" cy="2286000"/>
          </a:xfrm>
          <a:prstGeom prst="rect">
            <a:avLst/>
          </a:prstGeom>
          <a:noFill/>
        </p:spPr>
        <p:txBody>
          <a:bodyPr wrap="square" lIns="45720" tIns="27432" rIns="45720" bIns="27432" anchor="t"/>
          <a:lstStyle/>
          <a:p>
            <a:pPr algn="l">
              <a:spcAft>
                <a:spcPts val="1400"/>
              </a:spcAft>
            </a:pPr>
            <a:r>
              <a:rPr sz="2000" b="0" i="0" dirty="0">
                <a:solidFill>
                  <a:srgbClr val="2B2B2B"/>
                </a:solidFill>
                <a:latin typeface="Calibri"/>
              </a:rPr>
              <a:t>•  Start from a prior knowledge network (PKN)</a:t>
            </a:r>
          </a:p>
          <a:p>
            <a:pPr algn="l">
              <a:spcAft>
                <a:spcPts val="1400"/>
              </a:spcAft>
            </a:pPr>
            <a:r>
              <a:rPr sz="2000" b="0" i="0" dirty="0">
                <a:solidFill>
                  <a:srgbClr val="2B2B2B"/>
                </a:solidFill>
                <a:latin typeface="Calibri"/>
              </a:rPr>
              <a:t>•  Map omics data onto it</a:t>
            </a:r>
          </a:p>
          <a:p>
            <a:pPr algn="l">
              <a:spcAft>
                <a:spcPts val="1400"/>
              </a:spcAft>
            </a:pPr>
            <a:r>
              <a:rPr sz="2000" b="0" i="0" dirty="0">
                <a:solidFill>
                  <a:srgbClr val="2B2B2B"/>
                </a:solidFill>
                <a:latin typeface="Calibri"/>
              </a:rPr>
              <a:t>•  Keep the subnetwork that explains the data</a:t>
            </a:r>
          </a:p>
        </p:txBody>
      </p:sp>
      <p:sp>
        <p:nvSpPr>
          <p:cNvPr id="12" name="Rounded Rectangle 11"/>
          <p:cNvSpPr/>
          <p:nvPr/>
        </p:nvSpPr>
        <p:spPr>
          <a:xfrm>
            <a:off x="548640" y="4983480"/>
            <a:ext cx="11064240" cy="868680"/>
          </a:xfrm>
          <a:prstGeom prst="roundRect">
            <a:avLst>
              <a:gd name="adj" fmla="val 8000"/>
            </a:avLst>
          </a:prstGeom>
          <a:solidFill>
            <a:srgbClr val="FFFFFF"/>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5029200"/>
            <a:ext cx="10698480" cy="777240"/>
          </a:xfrm>
          <a:prstGeom prst="rect">
            <a:avLst/>
          </a:prstGeom>
          <a:noFill/>
        </p:spPr>
        <p:txBody>
          <a:bodyPr wrap="square" lIns="45720" tIns="27432" rIns="45720" bIns="27432" anchor="ctr"/>
          <a:lstStyle/>
          <a:p>
            <a:pPr algn="ctr">
              <a:spcAft>
                <a:spcPts val="800"/>
              </a:spcAft>
            </a:pPr>
            <a:r>
              <a:rPr sz="2000" b="0" i="0">
                <a:solidFill>
                  <a:srgbClr val="0072B2"/>
                </a:solidFill>
                <a:latin typeface="Calibri"/>
              </a:rPr>
              <a:t>Network inference</a:t>
            </a:r>
            <a:r>
              <a:rPr sz="2000" b="0" i="0">
                <a:solidFill>
                  <a:srgbClr val="2B2B2B"/>
                </a:solidFill>
                <a:latin typeface="Calibri"/>
              </a:rPr>
              <a:t> = choosing a context-specific subnetwork of the PKN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But every method lives in its own silo</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4</a:t>
            </a:r>
          </a:p>
        </p:txBody>
      </p:sp>
      <p:sp>
        <p:nvSpPr>
          <p:cNvPr id="6" name="Rounded Rectangle 5"/>
          <p:cNvSpPr/>
          <p:nvPr/>
        </p:nvSpPr>
        <p:spPr>
          <a:xfrm>
            <a:off x="548640" y="146304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1554480"/>
            <a:ext cx="352044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Signalling</a:t>
            </a:r>
          </a:p>
        </p:txBody>
      </p:sp>
      <p:sp>
        <p:nvSpPr>
          <p:cNvPr id="8" name="TextBox 7"/>
          <p:cNvSpPr txBox="1"/>
          <p:nvPr/>
        </p:nvSpPr>
        <p:spPr>
          <a:xfrm>
            <a:off x="548640" y="2103120"/>
            <a:ext cx="3520440" cy="54864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CARNIVAL</a:t>
            </a:r>
          </a:p>
        </p:txBody>
      </p:sp>
      <p:sp>
        <p:nvSpPr>
          <p:cNvPr id="9" name="Rounded Rectangle 8"/>
          <p:cNvSpPr/>
          <p:nvPr/>
        </p:nvSpPr>
        <p:spPr>
          <a:xfrm>
            <a:off x="4297679" y="146304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297679" y="1554480"/>
            <a:ext cx="352044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Metabolism</a:t>
            </a:r>
          </a:p>
        </p:txBody>
      </p:sp>
      <p:sp>
        <p:nvSpPr>
          <p:cNvPr id="11" name="TextBox 10"/>
          <p:cNvSpPr txBox="1"/>
          <p:nvPr/>
        </p:nvSpPr>
        <p:spPr>
          <a:xfrm>
            <a:off x="4297679" y="2103120"/>
            <a:ext cx="3520440" cy="54864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FBA, iMAT</a:t>
            </a:r>
          </a:p>
        </p:txBody>
      </p:sp>
      <p:sp>
        <p:nvSpPr>
          <p:cNvPr id="12" name="Rounded Rectangle 11"/>
          <p:cNvSpPr/>
          <p:nvPr/>
        </p:nvSpPr>
        <p:spPr>
          <a:xfrm>
            <a:off x="8046719" y="146304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046719" y="1554480"/>
            <a:ext cx="352044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Protein interactions</a:t>
            </a:r>
          </a:p>
        </p:txBody>
      </p:sp>
      <p:sp>
        <p:nvSpPr>
          <p:cNvPr id="14" name="TextBox 13"/>
          <p:cNvSpPr txBox="1"/>
          <p:nvPr/>
        </p:nvSpPr>
        <p:spPr>
          <a:xfrm>
            <a:off x="8046719" y="2103120"/>
            <a:ext cx="3520440" cy="54864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Steiner trees</a:t>
            </a:r>
          </a:p>
        </p:txBody>
      </p:sp>
      <p:sp>
        <p:nvSpPr>
          <p:cNvPr id="16" name="Rounded Rectangle 15"/>
          <p:cNvSpPr/>
          <p:nvPr/>
        </p:nvSpPr>
        <p:spPr>
          <a:xfrm>
            <a:off x="548640" y="4526280"/>
            <a:ext cx="11064240" cy="1371600"/>
          </a:xfrm>
          <a:prstGeom prst="roundRect">
            <a:avLst>
              <a:gd name="adj" fmla="val 8000"/>
            </a:avLst>
          </a:prstGeom>
          <a:solidFill>
            <a:srgbClr val="FFFFFF"/>
          </a:solid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2960" y="4572000"/>
            <a:ext cx="10515600" cy="1280160"/>
          </a:xfrm>
          <a:prstGeom prst="rect">
            <a:avLst/>
          </a:prstGeom>
          <a:noFill/>
        </p:spPr>
        <p:txBody>
          <a:bodyPr wrap="square" lIns="45720" tIns="27432" rIns="45720" bIns="27432" anchor="ctr"/>
          <a:lstStyle/>
          <a:p>
            <a:pPr algn="l">
              <a:spcAft>
                <a:spcPts val="600"/>
              </a:spcAft>
            </a:pPr>
            <a:r>
              <a:rPr sz="2000" b="0" i="0" dirty="0">
                <a:solidFill>
                  <a:srgbClr val="D55E00"/>
                </a:solidFill>
                <a:latin typeface="Calibri"/>
              </a:rPr>
              <a:t>Question</a:t>
            </a:r>
          </a:p>
          <a:p>
            <a:pPr algn="l">
              <a:spcAft>
                <a:spcPts val="600"/>
              </a:spcAft>
            </a:pPr>
            <a:r>
              <a:rPr sz="2000" b="0" i="0" dirty="0">
                <a:solidFill>
                  <a:srgbClr val="2B2B2B"/>
                </a:solidFill>
                <a:latin typeface="Calibri"/>
              </a:rPr>
              <a:t>Can one </a:t>
            </a:r>
            <a:r>
              <a:rPr sz="2000" b="0" i="0" dirty="0" err="1">
                <a:solidFill>
                  <a:srgbClr val="2B2B2B"/>
                </a:solidFill>
                <a:latin typeface="Calibri"/>
              </a:rPr>
              <a:t>optimisation</a:t>
            </a:r>
            <a:r>
              <a:rPr sz="2000" b="0" i="0" dirty="0">
                <a:solidFill>
                  <a:srgbClr val="2B2B2B"/>
                </a:solidFill>
                <a:latin typeface="Calibri"/>
              </a:rPr>
              <a:t> problem express all of them, and fit many samples jointly?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CORNETO: map data onto a PKN, solve one optimisation problem</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5</a:t>
            </a:r>
          </a:p>
        </p:txBody>
      </p:sp>
      <p:pic>
        <p:nvPicPr>
          <p:cNvPr id="6" name="Picture 5" descr="fig1.png"/>
          <p:cNvPicPr>
            <a:picLocks noChangeAspect="1"/>
          </p:cNvPicPr>
          <p:nvPr/>
        </p:nvPicPr>
        <p:blipFill>
          <a:blip r:embed="rId3"/>
          <a:stretch>
            <a:fillRect/>
          </a:stretch>
        </p:blipFill>
        <p:spPr>
          <a:xfrm>
            <a:off x="548640" y="1280160"/>
            <a:ext cx="5794455" cy="4892040"/>
          </a:xfrm>
          <a:prstGeom prst="rect">
            <a:avLst/>
          </a:prstGeom>
        </p:spPr>
      </p:pic>
      <p:sp>
        <p:nvSpPr>
          <p:cNvPr id="7" name="TextBox 6"/>
          <p:cNvSpPr txBox="1"/>
          <p:nvPr/>
        </p:nvSpPr>
        <p:spPr>
          <a:xfrm>
            <a:off x="6720840" y="1737360"/>
            <a:ext cx="4937760" cy="4114800"/>
          </a:xfrm>
          <a:prstGeom prst="rect">
            <a:avLst/>
          </a:prstGeom>
          <a:noFill/>
        </p:spPr>
        <p:txBody>
          <a:bodyPr wrap="square" lIns="45720" tIns="27432" rIns="45720" bIns="27432" anchor="t"/>
          <a:lstStyle/>
          <a:p>
            <a:pPr algn="l">
              <a:spcAft>
                <a:spcPts val="1600"/>
              </a:spcAft>
            </a:pPr>
            <a:r>
              <a:rPr sz="2000" b="0" i="0" dirty="0">
                <a:solidFill>
                  <a:srgbClr val="2B2B2B"/>
                </a:solidFill>
                <a:latin typeface="Calibri"/>
              </a:rPr>
              <a:t>•  Any PKN: graphs to hypergraphs</a:t>
            </a:r>
          </a:p>
          <a:p>
            <a:pPr algn="l">
              <a:spcAft>
                <a:spcPts val="1600"/>
              </a:spcAft>
            </a:pPr>
            <a:r>
              <a:rPr sz="2000" b="0" i="0" dirty="0">
                <a:solidFill>
                  <a:srgbClr val="2B2B2B"/>
                </a:solidFill>
                <a:latin typeface="Calibri"/>
              </a:rPr>
              <a:t>•  Any omics layer, mapped onto nodes or edges</a:t>
            </a:r>
          </a:p>
          <a:p>
            <a:pPr algn="l">
              <a:spcAft>
                <a:spcPts val="1600"/>
              </a:spcAft>
            </a:pPr>
            <a:r>
              <a:rPr lang="en-US" sz="2000" b="0" i="0" dirty="0">
                <a:solidFill>
                  <a:srgbClr val="2B2B2B"/>
                </a:solidFill>
                <a:latin typeface="Calibri"/>
              </a:rPr>
              <a:t>•  Multi-sample</a:t>
            </a:r>
            <a:r>
              <a:rPr sz="2000" b="0" i="0" dirty="0">
                <a:solidFill>
                  <a:srgbClr val="2B2B2B"/>
                </a:solidFill>
                <a:latin typeface="Calibri"/>
              </a:rPr>
              <a:t> </a:t>
            </a:r>
            <a:endParaRPr lang="fa-IR" sz="2000" dirty="0">
              <a:solidFill>
                <a:srgbClr val="2B2B2B"/>
              </a:solidFill>
              <a:latin typeface="Calibri"/>
            </a:endParaRPr>
          </a:p>
          <a:p>
            <a:pPr algn="l">
              <a:spcAft>
                <a:spcPts val="1600"/>
              </a:spcAft>
            </a:pPr>
            <a:r>
              <a:rPr sz="2000" b="0" i="0" dirty="0">
                <a:solidFill>
                  <a:srgbClr val="2B2B2B"/>
                </a:solidFill>
                <a:latin typeface="Calibri"/>
              </a:rPr>
              <a:t>•  Exact solvers: LP / MILP</a:t>
            </a:r>
          </a:p>
          <a:p>
            <a:pPr algn="l">
              <a:spcAft>
                <a:spcPts val="1600"/>
              </a:spcAft>
            </a:pPr>
            <a:r>
              <a:rPr sz="2000" b="0" i="0" dirty="0">
                <a:solidFill>
                  <a:srgbClr val="2B2B2B"/>
                </a:solidFill>
                <a:latin typeface="Calibri"/>
              </a:rPr>
              <a:t>•  Python library, solver-agnostic</a:t>
            </a:r>
          </a:p>
        </p:txBody>
      </p:sp>
      <p:sp>
        <p:nvSpPr>
          <p:cNvPr id="8" name="TextBox 7"/>
          <p:cNvSpPr txBox="1"/>
          <p:nvPr/>
        </p:nvSpPr>
        <p:spPr>
          <a:xfrm>
            <a:off x="6720840" y="5852160"/>
            <a:ext cx="493776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1, CC BY 4.0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6</a:t>
            </a:r>
          </a:p>
        </p:txBody>
      </p:sp>
      <p:sp>
        <p:nvSpPr>
          <p:cNvPr id="6" name="Oval 5"/>
          <p:cNvSpPr/>
          <p:nvPr/>
        </p:nvSpPr>
        <p:spPr>
          <a:xfrm>
            <a:off x="886968" y="148132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1</a:t>
            </a:r>
          </a:p>
        </p:txBody>
      </p:sp>
      <p:sp>
        <p:nvSpPr>
          <p:cNvPr id="7" name="TextBox 6"/>
          <p:cNvSpPr txBox="1"/>
          <p:nvPr/>
        </p:nvSpPr>
        <p:spPr>
          <a:xfrm>
            <a:off x="1691640" y="141732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Why network inference from prior knowledge?</a:t>
            </a:r>
          </a:p>
        </p:txBody>
      </p:sp>
      <p:sp>
        <p:nvSpPr>
          <p:cNvPr id="8" name="Oval 7"/>
          <p:cNvSpPr/>
          <p:nvPr/>
        </p:nvSpPr>
        <p:spPr>
          <a:xfrm>
            <a:off x="886968" y="2267712"/>
            <a:ext cx="530352" cy="53035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2</a:t>
            </a:r>
          </a:p>
        </p:txBody>
      </p:sp>
      <p:sp>
        <p:nvSpPr>
          <p:cNvPr id="9" name="TextBox 8"/>
          <p:cNvSpPr txBox="1"/>
          <p:nvPr/>
        </p:nvSpPr>
        <p:spPr>
          <a:xfrm>
            <a:off x="1691640" y="2203704"/>
            <a:ext cx="8686800" cy="658368"/>
          </a:xfrm>
          <a:prstGeom prst="rect">
            <a:avLst/>
          </a:prstGeom>
          <a:noFill/>
        </p:spPr>
        <p:txBody>
          <a:bodyPr wrap="square" lIns="45720" tIns="27432" rIns="45720" bIns="27432" anchor="ctr">
            <a:spAutoFit/>
          </a:bodyPr>
          <a:lstStyle/>
          <a:p>
            <a:pPr algn="l">
              <a:spcAft>
                <a:spcPts val="600"/>
              </a:spcAft>
            </a:pPr>
            <a:r>
              <a:rPr sz="2200" b="0" i="0">
                <a:solidFill>
                  <a:srgbClr val="1F2A44"/>
                </a:solidFill>
                <a:latin typeface="Calibri"/>
              </a:rPr>
              <a:t>The methods CORNETO unifies</a:t>
            </a:r>
          </a:p>
        </p:txBody>
      </p:sp>
      <p:sp>
        <p:nvSpPr>
          <p:cNvPr id="10" name="Rectangle 9"/>
          <p:cNvSpPr/>
          <p:nvPr/>
        </p:nvSpPr>
        <p:spPr>
          <a:xfrm>
            <a:off x="566928" y="2240280"/>
            <a:ext cx="91440" cy="58521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86968" y="3054096"/>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3</a:t>
            </a:r>
          </a:p>
        </p:txBody>
      </p:sp>
      <p:sp>
        <p:nvSpPr>
          <p:cNvPr id="12" name="TextBox 11"/>
          <p:cNvSpPr txBox="1"/>
          <p:nvPr/>
        </p:nvSpPr>
        <p:spPr>
          <a:xfrm>
            <a:off x="1691640" y="2990088"/>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CORNETO: one optimisation problem</a:t>
            </a:r>
          </a:p>
        </p:txBody>
      </p:sp>
      <p:sp>
        <p:nvSpPr>
          <p:cNvPr id="13" name="Oval 12"/>
          <p:cNvSpPr/>
          <p:nvPr/>
        </p:nvSpPr>
        <p:spPr>
          <a:xfrm>
            <a:off x="886968" y="3840480"/>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4</a:t>
            </a:r>
          </a:p>
        </p:txBody>
      </p:sp>
      <p:sp>
        <p:nvSpPr>
          <p:cNvPr id="14" name="TextBox 13"/>
          <p:cNvSpPr txBox="1"/>
          <p:nvPr/>
        </p:nvSpPr>
        <p:spPr>
          <a:xfrm>
            <a:off x="1691640" y="3776472"/>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Results in the paper</a:t>
            </a:r>
          </a:p>
        </p:txBody>
      </p:sp>
      <p:sp>
        <p:nvSpPr>
          <p:cNvPr id="15" name="Oval 14"/>
          <p:cNvSpPr/>
          <p:nvPr/>
        </p:nvSpPr>
        <p:spPr>
          <a:xfrm>
            <a:off x="886968" y="4626864"/>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5</a:t>
            </a:r>
          </a:p>
        </p:txBody>
      </p:sp>
      <p:sp>
        <p:nvSpPr>
          <p:cNvPr id="16" name="TextBox 15"/>
          <p:cNvSpPr txBox="1"/>
          <p:nvPr/>
        </p:nvSpPr>
        <p:spPr>
          <a:xfrm>
            <a:off x="1691640" y="4562856"/>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Our test: the PMS iNSC data</a:t>
            </a:r>
          </a:p>
        </p:txBody>
      </p:sp>
      <p:sp>
        <p:nvSpPr>
          <p:cNvPr id="17" name="Oval 16"/>
          <p:cNvSpPr/>
          <p:nvPr/>
        </p:nvSpPr>
        <p:spPr>
          <a:xfrm>
            <a:off x="886968" y="541324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6</a:t>
            </a:r>
          </a:p>
        </p:txBody>
      </p:sp>
      <p:sp>
        <p:nvSpPr>
          <p:cNvPr id="18" name="TextBox 17"/>
          <p:cNvSpPr txBox="1"/>
          <p:nvPr/>
        </p:nvSpPr>
        <p:spPr>
          <a:xfrm>
            <a:off x="1691640" y="534924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Discussion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Prior knowledge networks come in four shapes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7</a:t>
            </a:r>
          </a:p>
        </p:txBody>
      </p:sp>
      <p:pic>
        <p:nvPicPr>
          <p:cNvPr id="6" name="Picture 5" descr="fig2_pkns.png"/>
          <p:cNvPicPr>
            <a:picLocks noChangeAspect="1"/>
          </p:cNvPicPr>
          <p:nvPr/>
        </p:nvPicPr>
        <p:blipFill>
          <a:blip r:embed="rId3"/>
          <a:stretch>
            <a:fillRect/>
          </a:stretch>
        </p:blipFill>
        <p:spPr>
          <a:xfrm>
            <a:off x="822960" y="1325880"/>
            <a:ext cx="6766560" cy="2741623"/>
          </a:xfrm>
          <a:prstGeom prst="rect">
            <a:avLst/>
          </a:prstGeom>
        </p:spPr>
      </p:pic>
      <p:sp>
        <p:nvSpPr>
          <p:cNvPr id="7" name="TextBox 6"/>
          <p:cNvSpPr txBox="1"/>
          <p:nvPr/>
        </p:nvSpPr>
        <p:spPr>
          <a:xfrm>
            <a:off x="7955279" y="1600200"/>
            <a:ext cx="3749039" cy="2377440"/>
          </a:xfrm>
          <a:prstGeom prst="rect">
            <a:avLst/>
          </a:prstGeom>
          <a:noFill/>
        </p:spPr>
        <p:txBody>
          <a:bodyPr wrap="square" lIns="45720" tIns="27432" rIns="45720" bIns="27432" anchor="t"/>
          <a:lstStyle/>
          <a:p>
            <a:pPr algn="l">
              <a:spcAft>
                <a:spcPts val="1400"/>
              </a:spcAft>
            </a:pPr>
            <a:r>
              <a:rPr sz="2000" b="0" i="0">
                <a:solidFill>
                  <a:srgbClr val="0072B2"/>
                </a:solidFill>
                <a:latin typeface="Calibri"/>
              </a:rPr>
              <a:t>Left: </a:t>
            </a:r>
            <a:r>
              <a:rPr sz="2000" b="0" i="0">
                <a:solidFill>
                  <a:srgbClr val="2B2B2B"/>
                </a:solidFill>
                <a:latin typeface="Calibri"/>
              </a:rPr>
              <a:t>more mechanistic detail</a:t>
            </a:r>
          </a:p>
          <a:p>
            <a:pPr algn="l">
              <a:spcAft>
                <a:spcPts val="1400"/>
              </a:spcAft>
            </a:pPr>
            <a:r>
              <a:rPr sz="2000" b="0" i="0">
                <a:solidFill>
                  <a:srgbClr val="0072B2"/>
                </a:solidFill>
                <a:latin typeface="Calibri"/>
              </a:rPr>
              <a:t>Right: </a:t>
            </a:r>
            <a:r>
              <a:rPr sz="2000" b="0" i="0">
                <a:solidFill>
                  <a:srgbClr val="2B2B2B"/>
                </a:solidFill>
                <a:latin typeface="Calibri"/>
              </a:rPr>
              <a:t>more coverage, fewer assumptions</a:t>
            </a:r>
          </a:p>
        </p:txBody>
      </p:sp>
      <p:sp>
        <p:nvSpPr>
          <p:cNvPr id="8" name="TextBox 7"/>
          <p:cNvSpPr txBox="1"/>
          <p:nvPr/>
        </p:nvSpPr>
        <p:spPr>
          <a:xfrm>
            <a:off x="822960" y="4251960"/>
            <a:ext cx="274320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Hypergraph</a:t>
            </a:r>
          </a:p>
        </p:txBody>
      </p:sp>
      <p:sp>
        <p:nvSpPr>
          <p:cNvPr id="9" name="TextBox 8"/>
          <p:cNvSpPr txBox="1"/>
          <p:nvPr/>
        </p:nvSpPr>
        <p:spPr>
          <a:xfrm>
            <a:off x="3566160" y="4251960"/>
            <a:ext cx="8046720" cy="45720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genome-scale metabolic models</a:t>
            </a:r>
          </a:p>
        </p:txBody>
      </p:sp>
      <p:sp>
        <p:nvSpPr>
          <p:cNvPr id="10" name="TextBox 9"/>
          <p:cNvSpPr txBox="1"/>
          <p:nvPr/>
        </p:nvSpPr>
        <p:spPr>
          <a:xfrm>
            <a:off x="822960" y="4727448"/>
            <a:ext cx="274320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Signed directed</a:t>
            </a:r>
          </a:p>
        </p:txBody>
      </p:sp>
      <p:sp>
        <p:nvSpPr>
          <p:cNvPr id="11" name="TextBox 10"/>
          <p:cNvSpPr txBox="1"/>
          <p:nvPr/>
        </p:nvSpPr>
        <p:spPr>
          <a:xfrm>
            <a:off x="3566160" y="4727448"/>
            <a:ext cx="8046720" cy="457200"/>
          </a:xfrm>
          <a:prstGeom prst="rect">
            <a:avLst/>
          </a:prstGeom>
          <a:noFill/>
        </p:spPr>
        <p:txBody>
          <a:bodyPr wrap="square" lIns="45720" tIns="27432" rIns="45720" bIns="27432" anchor="t"/>
          <a:lstStyle/>
          <a:p>
            <a:pPr algn="l">
              <a:spcAft>
                <a:spcPts val="800"/>
              </a:spcAft>
            </a:pPr>
            <a:r>
              <a:rPr sz="2000" b="0" i="0" dirty="0" err="1">
                <a:solidFill>
                  <a:srgbClr val="2B2B2B"/>
                </a:solidFill>
                <a:latin typeface="Calibri"/>
              </a:rPr>
              <a:t>signalling</a:t>
            </a:r>
            <a:r>
              <a:rPr sz="2000" b="0" i="0" dirty="0">
                <a:solidFill>
                  <a:srgbClr val="2B2B2B"/>
                </a:solidFill>
                <a:latin typeface="Calibri"/>
              </a:rPr>
              <a:t>, e.g. </a:t>
            </a:r>
            <a:r>
              <a:rPr sz="2000" b="0" i="0" dirty="0" err="1">
                <a:solidFill>
                  <a:srgbClr val="2B2B2B"/>
                </a:solidFill>
                <a:latin typeface="Calibri"/>
              </a:rPr>
              <a:t>OmniPath</a:t>
            </a:r>
            <a:endParaRPr sz="2000" b="0" i="0" dirty="0">
              <a:solidFill>
                <a:srgbClr val="2B2B2B"/>
              </a:solidFill>
              <a:latin typeface="Calibri"/>
            </a:endParaRPr>
          </a:p>
        </p:txBody>
      </p:sp>
      <p:sp>
        <p:nvSpPr>
          <p:cNvPr id="12" name="TextBox 11"/>
          <p:cNvSpPr txBox="1"/>
          <p:nvPr/>
        </p:nvSpPr>
        <p:spPr>
          <a:xfrm>
            <a:off x="822960" y="5202936"/>
            <a:ext cx="274320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Directed</a:t>
            </a:r>
          </a:p>
        </p:txBody>
      </p:sp>
      <p:sp>
        <p:nvSpPr>
          <p:cNvPr id="13" name="TextBox 12"/>
          <p:cNvSpPr txBox="1"/>
          <p:nvPr/>
        </p:nvSpPr>
        <p:spPr>
          <a:xfrm>
            <a:off x="3566160" y="5202936"/>
            <a:ext cx="8046720" cy="457200"/>
          </a:xfrm>
          <a:prstGeom prst="rect">
            <a:avLst/>
          </a:prstGeom>
          <a:noFill/>
        </p:spPr>
        <p:txBody>
          <a:bodyPr wrap="square" lIns="45720" tIns="27432" rIns="45720" bIns="27432" anchor="t"/>
          <a:lstStyle/>
          <a:p>
            <a:pPr algn="l">
              <a:spcAft>
                <a:spcPts val="800"/>
              </a:spcAft>
            </a:pPr>
            <a:r>
              <a:rPr sz="2000" b="0" i="0" dirty="0">
                <a:solidFill>
                  <a:srgbClr val="2B2B2B"/>
                </a:solidFill>
                <a:latin typeface="Calibri"/>
              </a:rPr>
              <a:t>kinase–substrate</a:t>
            </a:r>
          </a:p>
        </p:txBody>
      </p:sp>
      <p:sp>
        <p:nvSpPr>
          <p:cNvPr id="14" name="TextBox 13"/>
          <p:cNvSpPr txBox="1"/>
          <p:nvPr/>
        </p:nvSpPr>
        <p:spPr>
          <a:xfrm>
            <a:off x="822960" y="5678424"/>
            <a:ext cx="274320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Undirected</a:t>
            </a:r>
          </a:p>
        </p:txBody>
      </p:sp>
      <p:sp>
        <p:nvSpPr>
          <p:cNvPr id="15" name="TextBox 14"/>
          <p:cNvSpPr txBox="1"/>
          <p:nvPr/>
        </p:nvSpPr>
        <p:spPr>
          <a:xfrm>
            <a:off x="3566160" y="5678424"/>
            <a:ext cx="8046720" cy="45720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protein–protein interactions</a:t>
            </a:r>
          </a:p>
        </p:txBody>
      </p:sp>
      <p:sp>
        <p:nvSpPr>
          <p:cNvPr id="16" name="TextBox 15"/>
          <p:cNvSpPr txBox="1"/>
          <p:nvPr/>
        </p:nvSpPr>
        <p:spPr>
          <a:xfrm>
            <a:off x="7955279" y="3657600"/>
            <a:ext cx="3749039"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2 (PKNs), CC BY 4.0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Step 0 — decoupler: transcription factor activity from its targets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8</a:t>
            </a:r>
          </a:p>
        </p:txBody>
      </p:sp>
      <p:sp>
        <p:nvSpPr>
          <p:cNvPr id="6" name="Oval 5"/>
          <p:cNvSpPr/>
          <p:nvPr/>
        </p:nvSpPr>
        <p:spPr>
          <a:xfrm>
            <a:off x="2514600" y="1600200"/>
            <a:ext cx="822960" cy="822960"/>
          </a:xfrm>
          <a:prstGeom prst="ellipse">
            <a:avLst/>
          </a:prstGeom>
          <a:solidFill>
            <a:srgbClr val="C0392B"/>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TF</a:t>
            </a:r>
          </a:p>
        </p:txBody>
      </p:sp>
      <p:cxnSp>
        <p:nvCxnSpPr>
          <p:cNvPr id="7" name="Connector 6"/>
          <p:cNvCxnSpPr/>
          <p:nvPr/>
        </p:nvCxnSpPr>
        <p:spPr>
          <a:xfrm flipH="1">
            <a:off x="1172360" y="2295796"/>
            <a:ext cx="1456073" cy="1389889"/>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85216" y="360273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g1</a:t>
            </a:r>
          </a:p>
        </p:txBody>
      </p:sp>
      <p:cxnSp>
        <p:nvCxnSpPr>
          <p:cNvPr id="9" name="Connector 8"/>
          <p:cNvCxnSpPr/>
          <p:nvPr/>
        </p:nvCxnSpPr>
        <p:spPr>
          <a:xfrm flipH="1">
            <a:off x="2085712" y="2376181"/>
            <a:ext cx="649438" cy="1239837"/>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591056" y="360273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g2</a:t>
            </a:r>
          </a:p>
        </p:txBody>
      </p:sp>
      <p:cxnSp>
        <p:nvCxnSpPr>
          <p:cNvPr id="11" name="Connector 10"/>
          <p:cNvCxnSpPr/>
          <p:nvPr/>
        </p:nvCxnSpPr>
        <p:spPr>
          <a:xfrm>
            <a:off x="2926080" y="2423160"/>
            <a:ext cx="0" cy="1152143"/>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596896" y="360273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g3</a:t>
            </a:r>
          </a:p>
        </p:txBody>
      </p:sp>
      <p:cxnSp>
        <p:nvCxnSpPr>
          <p:cNvPr id="13" name="Connector 12"/>
          <p:cNvCxnSpPr/>
          <p:nvPr/>
        </p:nvCxnSpPr>
        <p:spPr>
          <a:xfrm>
            <a:off x="3117009" y="2376181"/>
            <a:ext cx="649438" cy="1239837"/>
          </a:xfrm>
          <a:prstGeom prst="line">
            <a:avLst/>
          </a:prstGeom>
          <a:ln w="31750">
            <a:solidFill>
              <a:srgbClr val="2C6F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602736" y="3602736"/>
            <a:ext cx="658368" cy="658368"/>
          </a:xfrm>
          <a:prstGeom prst="ellipse">
            <a:avLst/>
          </a:prstGeom>
          <a:solidFill>
            <a:srgbClr val="A9CBE8"/>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g4</a:t>
            </a:r>
          </a:p>
        </p:txBody>
      </p:sp>
      <p:cxnSp>
        <p:nvCxnSpPr>
          <p:cNvPr id="15" name="Connector 14"/>
          <p:cNvCxnSpPr/>
          <p:nvPr/>
        </p:nvCxnSpPr>
        <p:spPr>
          <a:xfrm>
            <a:off x="3223726" y="2295796"/>
            <a:ext cx="1456073" cy="1389889"/>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608576" y="360273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g5</a:t>
            </a:r>
          </a:p>
        </p:txBody>
      </p:sp>
      <p:sp>
        <p:nvSpPr>
          <p:cNvPr id="17" name="TextBox 16"/>
          <p:cNvSpPr txBox="1"/>
          <p:nvPr/>
        </p:nvSpPr>
        <p:spPr>
          <a:xfrm>
            <a:off x="548640" y="4480560"/>
            <a:ext cx="4937760" cy="1280160"/>
          </a:xfrm>
          <a:prstGeom prst="rect">
            <a:avLst/>
          </a:prstGeom>
          <a:noFill/>
        </p:spPr>
        <p:txBody>
          <a:bodyPr wrap="square" lIns="45720" tIns="27432" rIns="45720" bIns="27432" anchor="t"/>
          <a:lstStyle/>
          <a:p>
            <a:pPr algn="ctr">
              <a:spcAft>
                <a:spcPts val="600"/>
              </a:spcAft>
            </a:pPr>
            <a:r>
              <a:rPr sz="2000" b="0" i="0">
                <a:solidFill>
                  <a:srgbClr val="C0392B"/>
                </a:solidFill>
                <a:latin typeface="Calibri"/>
              </a:rPr>
              <a:t>red</a:t>
            </a:r>
            <a:r>
              <a:rPr sz="2000" b="0" i="0">
                <a:solidFill>
                  <a:srgbClr val="2B2B2B"/>
                </a:solidFill>
                <a:latin typeface="Calibri"/>
              </a:rPr>
              <a:t> activation / up   </a:t>
            </a:r>
            <a:r>
              <a:rPr sz="2000" b="0" i="0">
                <a:solidFill>
                  <a:srgbClr val="2C6FB7"/>
                </a:solidFill>
                <a:latin typeface="Calibri"/>
              </a:rPr>
              <a:t>blue</a:t>
            </a:r>
            <a:r>
              <a:rPr sz="2000" b="0" i="0">
                <a:solidFill>
                  <a:srgbClr val="2B2B2B"/>
                </a:solidFill>
                <a:latin typeface="Calibri"/>
              </a:rPr>
              <a:t> repression / down</a:t>
            </a:r>
          </a:p>
          <a:p>
            <a:pPr algn="ctr">
              <a:spcAft>
                <a:spcPts val="600"/>
              </a:spcAft>
            </a:pPr>
            <a:r>
              <a:rPr sz="2000" b="0" i="0">
                <a:solidFill>
                  <a:srgbClr val="6B7280"/>
                </a:solidFill>
                <a:latin typeface="Calibri"/>
              </a:rPr>
              <a:t>target changes → TF score</a:t>
            </a:r>
          </a:p>
        </p:txBody>
      </p:sp>
      <p:sp>
        <p:nvSpPr>
          <p:cNvPr id="18" name="TextBox 17"/>
          <p:cNvSpPr txBox="1"/>
          <p:nvPr/>
        </p:nvSpPr>
        <p:spPr>
          <a:xfrm>
            <a:off x="6035040" y="1554480"/>
            <a:ext cx="5669280" cy="4389120"/>
          </a:xfrm>
          <a:prstGeom prst="rect">
            <a:avLst/>
          </a:prstGeom>
          <a:noFill/>
        </p:spPr>
        <p:txBody>
          <a:bodyPr wrap="square" lIns="45720" tIns="27432" rIns="45720" bIns="27432" anchor="t"/>
          <a:lstStyle/>
          <a:p>
            <a:pPr algn="l">
              <a:spcAft>
                <a:spcPts val="1600"/>
              </a:spcAft>
            </a:pPr>
            <a:r>
              <a:rPr sz="2000" b="0" i="0">
                <a:solidFill>
                  <a:srgbClr val="0072B2"/>
                </a:solidFill>
                <a:latin typeface="Calibri"/>
              </a:rPr>
              <a:t>Regulon: </a:t>
            </a:r>
            <a:r>
              <a:rPr sz="2000" b="0" i="0">
                <a:solidFill>
                  <a:srgbClr val="2B2B2B"/>
                </a:solidFill>
                <a:latin typeface="Calibri"/>
              </a:rPr>
              <a:t>signed TF → target edges (CollecTRI, DoRothEA)</a:t>
            </a:r>
          </a:p>
          <a:p>
            <a:pPr algn="l">
              <a:spcAft>
                <a:spcPts val="1600"/>
              </a:spcAft>
            </a:pPr>
            <a:r>
              <a:rPr sz="2000" b="0" i="0">
                <a:solidFill>
                  <a:srgbClr val="0072B2"/>
                </a:solidFill>
                <a:latin typeface="Calibri"/>
              </a:rPr>
              <a:t>Score: </a:t>
            </a:r>
            <a:r>
              <a:rPr sz="2000" b="0" i="0">
                <a:solidFill>
                  <a:srgbClr val="2B2B2B"/>
                </a:solidFill>
                <a:latin typeface="Calibri"/>
              </a:rPr>
              <a:t>fit target gene statistics on regulon weights (e.g. univariate linear model)</a:t>
            </a:r>
          </a:p>
          <a:p>
            <a:pPr algn="l">
              <a:spcAft>
                <a:spcPts val="1600"/>
              </a:spcAft>
            </a:pPr>
            <a:r>
              <a:rPr sz="2000" b="0" i="0">
                <a:solidFill>
                  <a:srgbClr val="0072B2"/>
                </a:solidFill>
                <a:latin typeface="Calibri"/>
              </a:rPr>
              <a:t>Output: </a:t>
            </a:r>
            <a:r>
              <a:rPr sz="2000" b="0" i="0">
                <a:solidFill>
                  <a:srgbClr val="2B2B2B"/>
                </a:solidFill>
                <a:latin typeface="Calibri"/>
              </a:rPr>
              <a:t>one activity per TF per sample</a:t>
            </a:r>
          </a:p>
          <a:p>
            <a:pPr algn="l">
              <a:spcAft>
                <a:spcPts val="1600"/>
              </a:spcAft>
            </a:pPr>
            <a:r>
              <a:rPr sz="2000" b="0" i="0">
                <a:solidFill>
                  <a:srgbClr val="0072B2"/>
                </a:solidFill>
                <a:latin typeface="Calibri"/>
              </a:rPr>
              <a:t>Used as: </a:t>
            </a:r>
            <a:r>
              <a:rPr sz="2000" b="0" i="0">
                <a:solidFill>
                  <a:srgbClr val="2B2B2B"/>
                </a:solidFill>
                <a:latin typeface="Calibri"/>
              </a:rPr>
              <a:t>the measured nodes for CARNIVAL</a:t>
            </a:r>
          </a:p>
        </p:txBody>
      </p:sp>
      <p:sp>
        <p:nvSpPr>
          <p:cNvPr id="19" name="TextBox 18"/>
          <p:cNvSpPr txBox="1"/>
          <p:nvPr/>
        </p:nvSpPr>
        <p:spPr>
          <a:xfrm>
            <a:off x="6035040" y="5897880"/>
            <a:ext cx="566928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Badia-i-Mompel et al., Bioinform Adv 2022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CARNIVAL: sign-consistent paths from inputs to TFs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9</a:t>
            </a:r>
          </a:p>
        </p:txBody>
      </p:sp>
      <p:cxnSp>
        <p:nvCxnSpPr>
          <p:cNvPr id="6" name="Connector 5"/>
          <p:cNvCxnSpPr/>
          <p:nvPr/>
        </p:nvCxnSpPr>
        <p:spPr>
          <a:xfrm flipH="1">
            <a:off x="3365667" y="3108858"/>
            <a:ext cx="786491" cy="758402"/>
          </a:xfrm>
          <a:prstGeom prst="line">
            <a:avLst/>
          </a:prstGeom>
          <a:ln w="19050">
            <a:solidFill>
              <a:srgbClr val="AAB0B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370123" y="4298969"/>
            <a:ext cx="1260376" cy="850754"/>
          </a:xfrm>
          <a:prstGeom prst="line">
            <a:avLst/>
          </a:prstGeom>
          <a:ln w="19050">
            <a:solidFill>
              <a:srgbClr val="AAB0B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2090125" y="1915633"/>
            <a:ext cx="777611" cy="722067"/>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350183" y="1915633"/>
            <a:ext cx="777611" cy="722067"/>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279083" y="3163554"/>
            <a:ext cx="381898" cy="644452"/>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5761" y="3108858"/>
            <a:ext cx="786491" cy="758402"/>
          </a:xfrm>
          <a:prstGeom prst="line">
            <a:avLst/>
          </a:prstGeom>
          <a:ln w="38100">
            <a:solidFill>
              <a:srgbClr val="2C6FB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966661" y="4440429"/>
            <a:ext cx="82377" cy="556045"/>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978341" y="4440429"/>
            <a:ext cx="82377" cy="556045"/>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460530" y="3201705"/>
            <a:ext cx="399869" cy="1799411"/>
          </a:xfrm>
          <a:prstGeom prst="line">
            <a:avLst/>
          </a:prstGeom>
          <a:ln w="38100">
            <a:solidFill>
              <a:srgbClr val="2C6F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779776" y="136245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In</a:t>
            </a:r>
          </a:p>
        </p:txBody>
      </p:sp>
      <p:sp>
        <p:nvSpPr>
          <p:cNvPr id="16" name="Oval 15"/>
          <p:cNvSpPr/>
          <p:nvPr/>
        </p:nvSpPr>
        <p:spPr>
          <a:xfrm>
            <a:off x="1499616" y="255117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K1</a:t>
            </a:r>
          </a:p>
        </p:txBody>
      </p:sp>
      <p:sp>
        <p:nvSpPr>
          <p:cNvPr id="17" name="Oval 16"/>
          <p:cNvSpPr/>
          <p:nvPr/>
        </p:nvSpPr>
        <p:spPr>
          <a:xfrm>
            <a:off x="4059935" y="255117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K2</a:t>
            </a:r>
          </a:p>
        </p:txBody>
      </p:sp>
      <p:sp>
        <p:nvSpPr>
          <p:cNvPr id="18" name="Oval 17"/>
          <p:cNvSpPr/>
          <p:nvPr/>
        </p:nvSpPr>
        <p:spPr>
          <a:xfrm>
            <a:off x="768096" y="3785615"/>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K3</a:t>
            </a:r>
          </a:p>
        </p:txBody>
      </p:sp>
      <p:sp>
        <p:nvSpPr>
          <p:cNvPr id="19" name="Oval 18"/>
          <p:cNvSpPr/>
          <p:nvPr/>
        </p:nvSpPr>
        <p:spPr>
          <a:xfrm>
            <a:off x="2779776" y="3785615"/>
            <a:ext cx="658368" cy="658368"/>
          </a:xfrm>
          <a:prstGeom prst="ellipse">
            <a:avLst/>
          </a:prstGeom>
          <a:solidFill>
            <a:srgbClr val="A9CBE8"/>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K4</a:t>
            </a:r>
          </a:p>
        </p:txBody>
      </p:sp>
      <p:sp>
        <p:nvSpPr>
          <p:cNvPr id="20" name="Oval 19"/>
          <p:cNvSpPr/>
          <p:nvPr/>
        </p:nvSpPr>
        <p:spPr>
          <a:xfrm>
            <a:off x="548640" y="4983479"/>
            <a:ext cx="731520" cy="731520"/>
          </a:xfrm>
          <a:prstGeom prst="ellipse">
            <a:avLst/>
          </a:prstGeom>
          <a:solidFill>
            <a:srgbClr val="C0392B"/>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TF1</a:t>
            </a:r>
          </a:p>
        </p:txBody>
      </p:sp>
      <p:sp>
        <p:nvSpPr>
          <p:cNvPr id="21" name="Oval 20"/>
          <p:cNvSpPr/>
          <p:nvPr/>
        </p:nvSpPr>
        <p:spPr>
          <a:xfrm>
            <a:off x="2560320" y="4983479"/>
            <a:ext cx="731520" cy="731520"/>
          </a:xfrm>
          <a:prstGeom prst="ellipse">
            <a:avLst/>
          </a:prstGeom>
          <a:solidFill>
            <a:srgbClr val="2C6FB7"/>
          </a:solidFill>
          <a:ln w="19050">
            <a:solidFill>
              <a:srgbClr val="2C6FB7"/>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TF2</a:t>
            </a:r>
          </a:p>
        </p:txBody>
      </p:sp>
      <p:sp>
        <p:nvSpPr>
          <p:cNvPr id="22" name="Oval 21"/>
          <p:cNvSpPr/>
          <p:nvPr/>
        </p:nvSpPr>
        <p:spPr>
          <a:xfrm>
            <a:off x="4572000" y="4983479"/>
            <a:ext cx="731520" cy="731520"/>
          </a:xfrm>
          <a:prstGeom prst="ellipse">
            <a:avLst/>
          </a:prstGeom>
          <a:solidFill>
            <a:srgbClr val="2C6FB7"/>
          </a:solidFill>
          <a:ln w="19050">
            <a:solidFill>
              <a:srgbClr val="2C6FB7"/>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TF3</a:t>
            </a:r>
          </a:p>
        </p:txBody>
      </p:sp>
      <p:sp>
        <p:nvSpPr>
          <p:cNvPr id="23" name="TextBox 22"/>
          <p:cNvSpPr txBox="1"/>
          <p:nvPr/>
        </p:nvSpPr>
        <p:spPr>
          <a:xfrm>
            <a:off x="365760" y="5760720"/>
            <a:ext cx="5486400" cy="457200"/>
          </a:xfrm>
          <a:prstGeom prst="rect">
            <a:avLst/>
          </a:prstGeom>
          <a:noFill/>
        </p:spPr>
        <p:txBody>
          <a:bodyPr wrap="square" lIns="45720" tIns="27432" rIns="45720" bIns="27432" anchor="t"/>
          <a:lstStyle/>
          <a:p>
            <a:pPr algn="ctr">
              <a:spcAft>
                <a:spcPts val="800"/>
              </a:spcAft>
            </a:pPr>
            <a:r>
              <a:rPr sz="2000" b="0" i="0">
                <a:solidFill>
                  <a:srgbClr val="C0392B"/>
                </a:solidFill>
                <a:latin typeface="Calibri"/>
              </a:rPr>
              <a:t>red</a:t>
            </a:r>
            <a:r>
              <a:rPr sz="2000" b="0" i="0">
                <a:solidFill>
                  <a:srgbClr val="2B2B2B"/>
                </a:solidFill>
                <a:latin typeface="Calibri"/>
              </a:rPr>
              <a:t> activation / up   </a:t>
            </a:r>
            <a:r>
              <a:rPr sz="2000" b="0" i="0">
                <a:solidFill>
                  <a:srgbClr val="2C6FB7"/>
                </a:solidFill>
                <a:latin typeface="Calibri"/>
              </a:rPr>
              <a:t>blue</a:t>
            </a:r>
            <a:r>
              <a:rPr sz="2000" b="0" i="0">
                <a:solidFill>
                  <a:srgbClr val="2B2B2B"/>
                </a:solidFill>
                <a:latin typeface="Calibri"/>
              </a:rPr>
              <a:t> inhibition / down</a:t>
            </a:r>
          </a:p>
        </p:txBody>
      </p:sp>
      <p:sp>
        <p:nvSpPr>
          <p:cNvPr id="24" name="TextBox 23"/>
          <p:cNvSpPr txBox="1"/>
          <p:nvPr/>
        </p:nvSpPr>
        <p:spPr>
          <a:xfrm>
            <a:off x="6035040" y="1463040"/>
            <a:ext cx="5669280" cy="4572000"/>
          </a:xfrm>
          <a:prstGeom prst="rect">
            <a:avLst/>
          </a:prstGeom>
          <a:noFill/>
        </p:spPr>
        <p:txBody>
          <a:bodyPr wrap="square" lIns="45720" tIns="27432" rIns="45720" bIns="27432" anchor="t"/>
          <a:lstStyle/>
          <a:p>
            <a:pPr algn="l">
              <a:spcAft>
                <a:spcPts val="1600"/>
              </a:spcAft>
            </a:pPr>
            <a:r>
              <a:rPr sz="2000" b="0" i="0" dirty="0">
                <a:solidFill>
                  <a:srgbClr val="0072B2"/>
                </a:solidFill>
                <a:latin typeface="Calibri"/>
              </a:rPr>
              <a:t>Node state: </a:t>
            </a:r>
            <a:r>
              <a:rPr sz="2000" b="0" i="0" dirty="0">
                <a:solidFill>
                  <a:srgbClr val="2B2B2B"/>
                </a:solidFill>
                <a:latin typeface="Calibri"/>
              </a:rPr>
              <a:t>up, down or off</a:t>
            </a:r>
          </a:p>
          <a:p>
            <a:pPr algn="l">
              <a:spcAft>
                <a:spcPts val="1600"/>
              </a:spcAft>
            </a:pPr>
            <a:r>
              <a:rPr sz="2000" b="0" i="0" dirty="0">
                <a:solidFill>
                  <a:srgbClr val="0072B2"/>
                </a:solidFill>
                <a:latin typeface="Calibri"/>
              </a:rPr>
              <a:t>Edge rule: </a:t>
            </a:r>
            <a:r>
              <a:rPr sz="2000" b="0" i="0" dirty="0">
                <a:solidFill>
                  <a:srgbClr val="2B2B2B"/>
                </a:solidFill>
                <a:latin typeface="Calibri"/>
              </a:rPr>
              <a:t>child = edge sign × parent</a:t>
            </a:r>
          </a:p>
          <a:p>
            <a:pPr algn="l">
              <a:spcAft>
                <a:spcPts val="1600"/>
              </a:spcAft>
            </a:pPr>
            <a:r>
              <a:rPr sz="2000" b="0" i="0" dirty="0">
                <a:solidFill>
                  <a:srgbClr val="0072B2"/>
                </a:solidFill>
                <a:latin typeface="Calibri"/>
              </a:rPr>
              <a:t>Fit: </a:t>
            </a:r>
            <a:r>
              <a:rPr sz="2000" b="0" i="0" dirty="0">
                <a:solidFill>
                  <a:srgbClr val="2B2B2B"/>
                </a:solidFill>
                <a:latin typeface="Calibri"/>
              </a:rPr>
              <a:t>match TF activities with few edges</a:t>
            </a:r>
          </a:p>
          <a:p>
            <a:pPr algn="l">
              <a:spcAft>
                <a:spcPts val="1600"/>
              </a:spcAft>
            </a:pPr>
            <a:r>
              <a:rPr sz="2000" b="0" i="0" dirty="0">
                <a:solidFill>
                  <a:srgbClr val="0072B2"/>
                </a:solidFill>
                <a:latin typeface="Calibri"/>
              </a:rPr>
              <a:t>Solver: </a:t>
            </a:r>
            <a:r>
              <a:rPr sz="2000" b="0" i="0" dirty="0">
                <a:solidFill>
                  <a:srgbClr val="2B2B2B"/>
                </a:solidFill>
                <a:latin typeface="Calibri"/>
              </a:rPr>
              <a:t>integer linear program</a:t>
            </a:r>
          </a:p>
          <a:p>
            <a:pPr algn="l">
              <a:spcAft>
                <a:spcPts val="1600"/>
              </a:spcAft>
            </a:pPr>
            <a:r>
              <a:rPr sz="2000" b="0" i="0" dirty="0">
                <a:solidFill>
                  <a:srgbClr val="D55E00"/>
                </a:solidFill>
                <a:latin typeface="Calibri"/>
              </a:rPr>
              <a:t>Inverse CARNIVAL: </a:t>
            </a:r>
            <a:r>
              <a:rPr sz="2000" b="0" i="0" dirty="0">
                <a:solidFill>
                  <a:srgbClr val="2B2B2B"/>
                </a:solidFill>
                <a:latin typeface="Calibri"/>
              </a:rPr>
              <a:t>inputs unknown, so any root node may start a signal</a:t>
            </a:r>
          </a:p>
        </p:txBody>
      </p:sp>
      <p:sp>
        <p:nvSpPr>
          <p:cNvPr id="25" name="TextBox 24"/>
          <p:cNvSpPr txBox="1"/>
          <p:nvPr/>
        </p:nvSpPr>
        <p:spPr>
          <a:xfrm>
            <a:off x="6035040" y="5897880"/>
            <a:ext cx="566928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Liu et al., NPJ Syst Biol Appl 2019; dashed = PKN edge not selected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FBA: fluxes through a metabolic network at steady state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10</a:t>
            </a:r>
          </a:p>
        </p:txBody>
      </p:sp>
      <p:cxnSp>
        <p:nvCxnSpPr>
          <p:cNvPr id="6" name="Connector 5"/>
          <p:cNvCxnSpPr/>
          <p:nvPr/>
        </p:nvCxnSpPr>
        <p:spPr>
          <a:xfrm>
            <a:off x="457200" y="3657600"/>
            <a:ext cx="923543"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97180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v0</a:t>
            </a:r>
          </a:p>
        </p:txBody>
      </p:sp>
      <p:cxnSp>
        <p:nvCxnSpPr>
          <p:cNvPr id="8" name="Connector 7"/>
          <p:cNvCxnSpPr/>
          <p:nvPr/>
        </p:nvCxnSpPr>
        <p:spPr>
          <a:xfrm flipV="1">
            <a:off x="1995147" y="2644933"/>
            <a:ext cx="1017423" cy="807953"/>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783079" y="242316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v1</a:t>
            </a:r>
          </a:p>
        </p:txBody>
      </p:sp>
      <p:cxnSp>
        <p:nvCxnSpPr>
          <p:cNvPr id="10" name="Connector 9"/>
          <p:cNvCxnSpPr/>
          <p:nvPr/>
        </p:nvCxnSpPr>
        <p:spPr>
          <a:xfrm>
            <a:off x="1995147" y="3862313"/>
            <a:ext cx="1017423" cy="807953"/>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83079" y="4160520"/>
            <a:ext cx="685800" cy="411480"/>
          </a:xfrm>
          <a:prstGeom prst="rect">
            <a:avLst/>
          </a:prstGeom>
          <a:noFill/>
        </p:spPr>
        <p:txBody>
          <a:bodyPr wrap="square" lIns="45720" tIns="27432" rIns="45720" bIns="27432" anchor="t"/>
          <a:lstStyle/>
          <a:p>
            <a:pPr algn="ctr">
              <a:spcAft>
                <a:spcPts val="800"/>
              </a:spcAft>
            </a:pPr>
            <a:r>
              <a:rPr sz="2000" b="0" i="0">
                <a:solidFill>
                  <a:srgbClr val="AAB0BA"/>
                </a:solidFill>
                <a:latin typeface="Calibri"/>
              </a:rPr>
              <a:t>v2</a:t>
            </a:r>
          </a:p>
        </p:txBody>
      </p:sp>
      <p:cxnSp>
        <p:nvCxnSpPr>
          <p:cNvPr id="12" name="Connector 11"/>
          <p:cNvCxnSpPr/>
          <p:nvPr/>
        </p:nvCxnSpPr>
        <p:spPr>
          <a:xfrm>
            <a:off x="3549627" y="2627873"/>
            <a:ext cx="1017423" cy="807953"/>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886200" y="242316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v3</a:t>
            </a:r>
          </a:p>
        </p:txBody>
      </p:sp>
      <p:cxnSp>
        <p:nvCxnSpPr>
          <p:cNvPr id="14" name="Connector 13"/>
          <p:cNvCxnSpPr/>
          <p:nvPr/>
        </p:nvCxnSpPr>
        <p:spPr>
          <a:xfrm flipV="1">
            <a:off x="3549627" y="3879373"/>
            <a:ext cx="1017423" cy="807953"/>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886200" y="4160520"/>
            <a:ext cx="685800" cy="411480"/>
          </a:xfrm>
          <a:prstGeom prst="rect">
            <a:avLst/>
          </a:prstGeom>
          <a:noFill/>
        </p:spPr>
        <p:txBody>
          <a:bodyPr wrap="square" lIns="45720" tIns="27432" rIns="45720" bIns="27432" anchor="t"/>
          <a:lstStyle/>
          <a:p>
            <a:pPr algn="ctr">
              <a:spcAft>
                <a:spcPts val="800"/>
              </a:spcAft>
            </a:pPr>
            <a:r>
              <a:rPr sz="2000" b="0" i="0">
                <a:solidFill>
                  <a:srgbClr val="AAB0BA"/>
                </a:solidFill>
                <a:latin typeface="Calibri"/>
              </a:rPr>
              <a:t>v4</a:t>
            </a:r>
          </a:p>
        </p:txBody>
      </p:sp>
      <p:cxnSp>
        <p:nvCxnSpPr>
          <p:cNvPr id="16" name="Connector 15"/>
          <p:cNvCxnSpPr/>
          <p:nvPr/>
        </p:nvCxnSpPr>
        <p:spPr>
          <a:xfrm>
            <a:off x="5175504" y="3657600"/>
            <a:ext cx="740664"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0" y="297180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bio</a:t>
            </a:r>
          </a:p>
        </p:txBody>
      </p:sp>
      <p:sp>
        <p:nvSpPr>
          <p:cNvPr id="18" name="Oval 17"/>
          <p:cNvSpPr/>
          <p:nvPr/>
        </p:nvSpPr>
        <p:spPr>
          <a:xfrm>
            <a:off x="1408176" y="33284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A</a:t>
            </a:r>
          </a:p>
        </p:txBody>
      </p:sp>
      <p:sp>
        <p:nvSpPr>
          <p:cNvPr id="19" name="Oval 18"/>
          <p:cNvSpPr/>
          <p:nvPr/>
        </p:nvSpPr>
        <p:spPr>
          <a:xfrm>
            <a:off x="2962656" y="209397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B</a:t>
            </a:r>
          </a:p>
        </p:txBody>
      </p:sp>
      <p:sp>
        <p:nvSpPr>
          <p:cNvPr id="20" name="Oval 19"/>
          <p:cNvSpPr/>
          <p:nvPr/>
        </p:nvSpPr>
        <p:spPr>
          <a:xfrm>
            <a:off x="2962656" y="4562855"/>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D</a:t>
            </a:r>
          </a:p>
        </p:txBody>
      </p:sp>
      <p:sp>
        <p:nvSpPr>
          <p:cNvPr id="21" name="Oval 20"/>
          <p:cNvSpPr/>
          <p:nvPr/>
        </p:nvSpPr>
        <p:spPr>
          <a:xfrm>
            <a:off x="4517136" y="33284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C</a:t>
            </a:r>
          </a:p>
        </p:txBody>
      </p:sp>
      <p:sp>
        <p:nvSpPr>
          <p:cNvPr id="22" name="TextBox 21"/>
          <p:cNvSpPr txBox="1"/>
          <p:nvPr/>
        </p:nvSpPr>
        <p:spPr>
          <a:xfrm>
            <a:off x="548640" y="5440680"/>
            <a:ext cx="566928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dark = one optimal flux route</a:t>
            </a:r>
          </a:p>
        </p:txBody>
      </p:sp>
      <p:sp>
        <p:nvSpPr>
          <p:cNvPr id="23" name="TextBox 22"/>
          <p:cNvSpPr txBox="1"/>
          <p:nvPr/>
        </p:nvSpPr>
        <p:spPr>
          <a:xfrm>
            <a:off x="6400800" y="1463040"/>
            <a:ext cx="5303520" cy="4572000"/>
          </a:xfrm>
          <a:prstGeom prst="rect">
            <a:avLst/>
          </a:prstGeom>
          <a:noFill/>
        </p:spPr>
        <p:txBody>
          <a:bodyPr wrap="square" lIns="45720" tIns="27432" rIns="45720" bIns="27432" anchor="t"/>
          <a:lstStyle/>
          <a:p>
            <a:pPr algn="l">
              <a:spcAft>
                <a:spcPts val="1800"/>
              </a:spcAft>
            </a:pPr>
            <a:r>
              <a:rPr sz="2000" b="0" i="0">
                <a:solidFill>
                  <a:srgbClr val="0072B2"/>
                </a:solidFill>
                <a:latin typeface="Calibri"/>
              </a:rPr>
              <a:t>Steady state: </a:t>
            </a:r>
            <a:r>
              <a:rPr sz="2000" b="0" i="0">
                <a:solidFill>
                  <a:srgbClr val="2B2B2B"/>
                </a:solidFill>
                <a:latin typeface="Calibri"/>
              </a:rPr>
              <a:t>S v = 0</a:t>
            </a:r>
          </a:p>
          <a:p>
            <a:pPr algn="l">
              <a:spcAft>
                <a:spcPts val="1800"/>
              </a:spcAft>
            </a:pPr>
            <a:r>
              <a:rPr sz="2000" b="0" i="0">
                <a:solidFill>
                  <a:srgbClr val="0072B2"/>
                </a:solidFill>
                <a:latin typeface="Calibri"/>
              </a:rPr>
              <a:t>Bounds: </a:t>
            </a:r>
            <a:r>
              <a:rPr sz="2000" b="0" i="0">
                <a:solidFill>
                  <a:srgbClr val="2B2B2B"/>
                </a:solidFill>
                <a:latin typeface="Calibri"/>
              </a:rPr>
              <a:t>lb ≤ v ≤ ub</a:t>
            </a:r>
          </a:p>
          <a:p>
            <a:pPr algn="l">
              <a:spcAft>
                <a:spcPts val="1800"/>
              </a:spcAft>
            </a:pPr>
            <a:r>
              <a:rPr sz="2000" b="0" i="0">
                <a:solidFill>
                  <a:srgbClr val="0072B2"/>
                </a:solidFill>
                <a:latin typeface="Calibri"/>
              </a:rPr>
              <a:t>Objective: </a:t>
            </a:r>
            <a:r>
              <a:rPr sz="2000" b="0" i="0">
                <a:solidFill>
                  <a:srgbClr val="2B2B2B"/>
                </a:solidFill>
                <a:latin typeface="Calibri"/>
              </a:rPr>
              <a:t>maximise biomass flux (LP)</a:t>
            </a:r>
          </a:p>
          <a:p>
            <a:pPr algn="l">
              <a:spcAft>
                <a:spcPts val="1800"/>
              </a:spcAft>
            </a:pPr>
            <a:r>
              <a:rPr sz="2000" b="0" i="0">
                <a:solidFill>
                  <a:srgbClr val="D55E00"/>
                </a:solidFill>
                <a:latin typeface="Calibri"/>
              </a:rPr>
              <a:t>Sparse FBA: </a:t>
            </a:r>
            <a:r>
              <a:rPr sz="2000" b="0" i="0">
                <a:solidFill>
                  <a:srgbClr val="2B2B2B"/>
                </a:solidFill>
                <a:latin typeface="Calibri"/>
              </a:rPr>
              <a:t>fewest active reactions with biomass ≥ x% of max (MILP)</a:t>
            </a:r>
          </a:p>
        </p:txBody>
      </p:sp>
      <p:sp>
        <p:nvSpPr>
          <p:cNvPr id="24" name="TextBox 23"/>
          <p:cNvSpPr txBox="1"/>
          <p:nvPr/>
        </p:nvSpPr>
        <p:spPr>
          <a:xfrm>
            <a:off x="6400800" y="5897880"/>
            <a:ext cx="530352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Orth, Thiele &amp; Palsson, Nat Biotechnol 2010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iMAT: a metabolic network that agrees with expression</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11</a:t>
            </a:r>
          </a:p>
        </p:txBody>
      </p:sp>
      <p:cxnSp>
        <p:nvCxnSpPr>
          <p:cNvPr id="6" name="Connector 5"/>
          <p:cNvCxnSpPr/>
          <p:nvPr/>
        </p:nvCxnSpPr>
        <p:spPr>
          <a:xfrm>
            <a:off x="457200" y="3657600"/>
            <a:ext cx="923543"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97180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v0</a:t>
            </a:r>
          </a:p>
        </p:txBody>
      </p:sp>
      <p:cxnSp>
        <p:nvCxnSpPr>
          <p:cNvPr id="8" name="Connector 7"/>
          <p:cNvCxnSpPr/>
          <p:nvPr/>
        </p:nvCxnSpPr>
        <p:spPr>
          <a:xfrm flipV="1">
            <a:off x="1995147" y="2644933"/>
            <a:ext cx="1017423" cy="807953"/>
          </a:xfrm>
          <a:prstGeom prst="line">
            <a:avLst/>
          </a:prstGeom>
          <a:ln w="444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783079" y="2423160"/>
            <a:ext cx="685800" cy="411480"/>
          </a:xfrm>
          <a:prstGeom prst="rect">
            <a:avLst/>
          </a:prstGeom>
          <a:noFill/>
        </p:spPr>
        <p:txBody>
          <a:bodyPr wrap="square" lIns="45720" tIns="27432" rIns="45720" bIns="27432" anchor="t"/>
          <a:lstStyle/>
          <a:p>
            <a:pPr algn="ctr">
              <a:spcAft>
                <a:spcPts val="800"/>
              </a:spcAft>
            </a:pPr>
            <a:r>
              <a:rPr sz="2000" b="0" i="0">
                <a:solidFill>
                  <a:srgbClr val="C0392B"/>
                </a:solidFill>
                <a:latin typeface="Calibri"/>
              </a:rPr>
              <a:t>v1</a:t>
            </a:r>
          </a:p>
        </p:txBody>
      </p:sp>
      <p:cxnSp>
        <p:nvCxnSpPr>
          <p:cNvPr id="10" name="Connector 9"/>
          <p:cNvCxnSpPr/>
          <p:nvPr/>
        </p:nvCxnSpPr>
        <p:spPr>
          <a:xfrm>
            <a:off x="1995147" y="3862313"/>
            <a:ext cx="1017423" cy="807953"/>
          </a:xfrm>
          <a:prstGeom prst="line">
            <a:avLst/>
          </a:prstGeom>
          <a:ln w="19050">
            <a:solidFill>
              <a:srgbClr val="2C6F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83079" y="4160520"/>
            <a:ext cx="685800" cy="411480"/>
          </a:xfrm>
          <a:prstGeom prst="rect">
            <a:avLst/>
          </a:prstGeom>
          <a:noFill/>
        </p:spPr>
        <p:txBody>
          <a:bodyPr wrap="square" lIns="45720" tIns="27432" rIns="45720" bIns="27432" anchor="t"/>
          <a:lstStyle/>
          <a:p>
            <a:pPr algn="ctr">
              <a:spcAft>
                <a:spcPts val="800"/>
              </a:spcAft>
            </a:pPr>
            <a:r>
              <a:rPr sz="2000" b="0" i="0">
                <a:solidFill>
                  <a:srgbClr val="2C6FB7"/>
                </a:solidFill>
                <a:latin typeface="Calibri"/>
              </a:rPr>
              <a:t>v2</a:t>
            </a:r>
          </a:p>
        </p:txBody>
      </p:sp>
      <p:cxnSp>
        <p:nvCxnSpPr>
          <p:cNvPr id="12" name="Connector 11"/>
          <p:cNvCxnSpPr/>
          <p:nvPr/>
        </p:nvCxnSpPr>
        <p:spPr>
          <a:xfrm>
            <a:off x="3549627" y="2627873"/>
            <a:ext cx="1017423" cy="807953"/>
          </a:xfrm>
          <a:prstGeom prst="line">
            <a:avLst/>
          </a:prstGeom>
          <a:ln w="444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886200" y="2423160"/>
            <a:ext cx="685800" cy="411480"/>
          </a:xfrm>
          <a:prstGeom prst="rect">
            <a:avLst/>
          </a:prstGeom>
          <a:noFill/>
        </p:spPr>
        <p:txBody>
          <a:bodyPr wrap="square" lIns="45720" tIns="27432" rIns="45720" bIns="27432" anchor="t"/>
          <a:lstStyle/>
          <a:p>
            <a:pPr algn="ctr">
              <a:spcAft>
                <a:spcPts val="800"/>
              </a:spcAft>
            </a:pPr>
            <a:r>
              <a:rPr sz="2000" b="0" i="0">
                <a:solidFill>
                  <a:srgbClr val="C0392B"/>
                </a:solidFill>
                <a:latin typeface="Calibri"/>
              </a:rPr>
              <a:t>v3</a:t>
            </a:r>
          </a:p>
        </p:txBody>
      </p:sp>
      <p:cxnSp>
        <p:nvCxnSpPr>
          <p:cNvPr id="14" name="Connector 13"/>
          <p:cNvCxnSpPr/>
          <p:nvPr/>
        </p:nvCxnSpPr>
        <p:spPr>
          <a:xfrm flipV="1">
            <a:off x="3549627" y="3879373"/>
            <a:ext cx="1017423" cy="807953"/>
          </a:xfrm>
          <a:prstGeom prst="line">
            <a:avLst/>
          </a:prstGeom>
          <a:ln w="19050">
            <a:solidFill>
              <a:srgbClr val="8A90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886200" y="4160520"/>
            <a:ext cx="685800" cy="411480"/>
          </a:xfrm>
          <a:prstGeom prst="rect">
            <a:avLst/>
          </a:prstGeom>
          <a:noFill/>
        </p:spPr>
        <p:txBody>
          <a:bodyPr wrap="square" lIns="45720" tIns="27432" rIns="45720" bIns="27432" anchor="t"/>
          <a:lstStyle/>
          <a:p>
            <a:pPr algn="ctr">
              <a:spcAft>
                <a:spcPts val="800"/>
              </a:spcAft>
            </a:pPr>
            <a:r>
              <a:rPr sz="2000" b="0" i="0">
                <a:solidFill>
                  <a:srgbClr val="8A9099"/>
                </a:solidFill>
                <a:latin typeface="Calibri"/>
              </a:rPr>
              <a:t>v4</a:t>
            </a:r>
          </a:p>
        </p:txBody>
      </p:sp>
      <p:cxnSp>
        <p:nvCxnSpPr>
          <p:cNvPr id="16" name="Connector 15"/>
          <p:cNvCxnSpPr/>
          <p:nvPr/>
        </p:nvCxnSpPr>
        <p:spPr>
          <a:xfrm>
            <a:off x="5175504" y="3657600"/>
            <a:ext cx="740664"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0" y="297180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bio</a:t>
            </a:r>
          </a:p>
        </p:txBody>
      </p:sp>
      <p:sp>
        <p:nvSpPr>
          <p:cNvPr id="18" name="Oval 17"/>
          <p:cNvSpPr/>
          <p:nvPr/>
        </p:nvSpPr>
        <p:spPr>
          <a:xfrm>
            <a:off x="1408176" y="33284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A</a:t>
            </a:r>
          </a:p>
        </p:txBody>
      </p:sp>
      <p:sp>
        <p:nvSpPr>
          <p:cNvPr id="19" name="Oval 18"/>
          <p:cNvSpPr/>
          <p:nvPr/>
        </p:nvSpPr>
        <p:spPr>
          <a:xfrm>
            <a:off x="2962656" y="209397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B</a:t>
            </a:r>
          </a:p>
        </p:txBody>
      </p:sp>
      <p:sp>
        <p:nvSpPr>
          <p:cNvPr id="20" name="Oval 19"/>
          <p:cNvSpPr/>
          <p:nvPr/>
        </p:nvSpPr>
        <p:spPr>
          <a:xfrm>
            <a:off x="2962656" y="4562855"/>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D</a:t>
            </a:r>
          </a:p>
        </p:txBody>
      </p:sp>
      <p:sp>
        <p:nvSpPr>
          <p:cNvPr id="21" name="Oval 20"/>
          <p:cNvSpPr/>
          <p:nvPr/>
        </p:nvSpPr>
        <p:spPr>
          <a:xfrm>
            <a:off x="4517136" y="33284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C</a:t>
            </a:r>
          </a:p>
        </p:txBody>
      </p:sp>
      <p:sp>
        <p:nvSpPr>
          <p:cNvPr id="22" name="TextBox 21"/>
          <p:cNvSpPr txBox="1"/>
          <p:nvPr/>
        </p:nvSpPr>
        <p:spPr>
          <a:xfrm>
            <a:off x="548640" y="5440680"/>
            <a:ext cx="5669280" cy="457200"/>
          </a:xfrm>
          <a:prstGeom prst="rect">
            <a:avLst/>
          </a:prstGeom>
          <a:noFill/>
        </p:spPr>
        <p:txBody>
          <a:bodyPr wrap="square" lIns="45720" tIns="27432" rIns="45720" bIns="27432" anchor="t"/>
          <a:lstStyle/>
          <a:p>
            <a:pPr algn="ctr">
              <a:spcAft>
                <a:spcPts val="800"/>
              </a:spcAft>
            </a:pPr>
            <a:r>
              <a:rPr sz="2000" b="0" i="0">
                <a:solidFill>
                  <a:srgbClr val="C0392B"/>
                </a:solidFill>
                <a:latin typeface="Calibri"/>
              </a:rPr>
              <a:t>high</a:t>
            </a:r>
            <a:r>
              <a:rPr sz="2000" b="0" i="0">
                <a:solidFill>
                  <a:srgbClr val="2B2B2B"/>
                </a:solidFill>
                <a:latin typeface="Calibri"/>
              </a:rPr>
              <a:t>   </a:t>
            </a:r>
            <a:r>
              <a:rPr sz="2000" b="0" i="0">
                <a:solidFill>
                  <a:srgbClr val="2C6FB7"/>
                </a:solidFill>
                <a:latin typeface="Calibri"/>
              </a:rPr>
              <a:t>low</a:t>
            </a:r>
            <a:r>
              <a:rPr sz="2000" b="0" i="0">
                <a:solidFill>
                  <a:srgbClr val="2B2B2B"/>
                </a:solidFill>
                <a:latin typeface="Calibri"/>
              </a:rPr>
              <a:t>   </a:t>
            </a:r>
            <a:r>
              <a:rPr sz="2000" b="0" i="0">
                <a:solidFill>
                  <a:srgbClr val="8A9099"/>
                </a:solidFill>
                <a:latin typeface="Calibri"/>
              </a:rPr>
              <a:t>uncertain</a:t>
            </a:r>
          </a:p>
        </p:txBody>
      </p:sp>
      <p:sp>
        <p:nvSpPr>
          <p:cNvPr id="23" name="TextBox 22"/>
          <p:cNvSpPr txBox="1"/>
          <p:nvPr/>
        </p:nvSpPr>
        <p:spPr>
          <a:xfrm>
            <a:off x="6400800" y="1463040"/>
            <a:ext cx="5303520" cy="4572000"/>
          </a:xfrm>
          <a:prstGeom prst="rect">
            <a:avLst/>
          </a:prstGeom>
          <a:noFill/>
        </p:spPr>
        <p:txBody>
          <a:bodyPr wrap="square" lIns="45720" tIns="27432" rIns="45720" bIns="27432" anchor="t"/>
          <a:lstStyle/>
          <a:p>
            <a:pPr algn="l">
              <a:spcAft>
                <a:spcPts val="1800"/>
              </a:spcAft>
            </a:pPr>
            <a:r>
              <a:rPr sz="2000" b="0" i="0">
                <a:solidFill>
                  <a:srgbClr val="0072B2"/>
                </a:solidFill>
                <a:latin typeface="Calibri"/>
              </a:rPr>
              <a:t>Map: </a:t>
            </a:r>
            <a:r>
              <a:rPr sz="2000" b="0" i="0">
                <a:solidFill>
                  <a:srgbClr val="2B2B2B"/>
                </a:solidFill>
                <a:latin typeface="Calibri"/>
              </a:rPr>
              <a:t>expression → reaction score via gene–protein–reaction rules</a:t>
            </a:r>
          </a:p>
          <a:p>
            <a:pPr algn="l">
              <a:spcAft>
                <a:spcPts val="1800"/>
              </a:spcAft>
            </a:pPr>
            <a:r>
              <a:rPr sz="2000" b="0" i="0">
                <a:solidFill>
                  <a:srgbClr val="0072B2"/>
                </a:solidFill>
                <a:latin typeface="Calibri"/>
              </a:rPr>
              <a:t>Classes: </a:t>
            </a:r>
            <a:r>
              <a:rPr sz="2000" b="0" i="0">
                <a:solidFill>
                  <a:srgbClr val="2B2B2B"/>
                </a:solidFill>
                <a:latin typeface="Calibri"/>
              </a:rPr>
              <a:t>high, low, uncertain</a:t>
            </a:r>
          </a:p>
          <a:p>
            <a:pPr algn="l">
              <a:spcAft>
                <a:spcPts val="1800"/>
              </a:spcAft>
            </a:pPr>
            <a:r>
              <a:rPr sz="2000" b="0" i="0">
                <a:solidFill>
                  <a:srgbClr val="0072B2"/>
                </a:solidFill>
                <a:latin typeface="Calibri"/>
              </a:rPr>
              <a:t>Maximise: </a:t>
            </a:r>
            <a:r>
              <a:rPr sz="2000" b="0" i="0">
                <a:solidFill>
                  <a:srgbClr val="2B2B2B"/>
                </a:solidFill>
                <a:latin typeface="Calibri"/>
              </a:rPr>
              <a:t>high reactions on + low reactions off</a:t>
            </a:r>
          </a:p>
          <a:p>
            <a:pPr algn="l">
              <a:spcAft>
                <a:spcPts val="1800"/>
              </a:spcAft>
            </a:pPr>
            <a:r>
              <a:rPr sz="2000" b="0" i="0">
                <a:solidFill>
                  <a:srgbClr val="0072B2"/>
                </a:solidFill>
                <a:latin typeface="Calibri"/>
              </a:rPr>
              <a:t>Subject to: </a:t>
            </a:r>
            <a:r>
              <a:rPr sz="2000" b="0" i="0">
                <a:solidFill>
                  <a:srgbClr val="2B2B2B"/>
                </a:solidFill>
                <a:latin typeface="Calibri"/>
              </a:rPr>
              <a:t>FBA constraints (MILP)</a:t>
            </a:r>
          </a:p>
        </p:txBody>
      </p:sp>
      <p:sp>
        <p:nvSpPr>
          <p:cNvPr id="24" name="TextBox 23"/>
          <p:cNvSpPr txBox="1"/>
          <p:nvPr/>
        </p:nvSpPr>
        <p:spPr>
          <a:xfrm>
            <a:off x="6400800" y="5897880"/>
            <a:ext cx="530352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Shlomi et al., Nat Biotechnol 2008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Steiner trees: connect the measured proteins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12</a:t>
            </a:r>
          </a:p>
        </p:txBody>
      </p:sp>
      <p:cxnSp>
        <p:nvCxnSpPr>
          <p:cNvPr id="6" name="Connector 5"/>
          <p:cNvCxnSpPr/>
          <p:nvPr/>
        </p:nvCxnSpPr>
        <p:spPr>
          <a:xfrm>
            <a:off x="1165720" y="2121632"/>
            <a:ext cx="935267" cy="409180"/>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622799" y="1963747"/>
            <a:ext cx="1130665" cy="565333"/>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217333" y="2022773"/>
            <a:ext cx="689936" cy="689936"/>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79319" y="2906459"/>
            <a:ext cx="334693" cy="836731"/>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570903" y="4096780"/>
            <a:ext cx="1090864" cy="303017"/>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4761" y="4114659"/>
            <a:ext cx="1011249" cy="356911"/>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54269" y="4784311"/>
            <a:ext cx="458170" cy="559985"/>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453869" y="4692871"/>
            <a:ext cx="458170" cy="559985"/>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237608" y="4286359"/>
            <a:ext cx="540534" cy="960950"/>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4601" y="2283038"/>
            <a:ext cx="281337" cy="1899027"/>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3061027" y="2074159"/>
            <a:ext cx="839653" cy="1679305"/>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589928" y="3181747"/>
            <a:ext cx="431285" cy="1109018"/>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2384758" y="4670475"/>
            <a:ext cx="1839766" cy="707602"/>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62940" y="1760220"/>
            <a:ext cx="502920" cy="502920"/>
          </a:xfrm>
          <a:prstGeom prst="ellipse">
            <a:avLst/>
          </a:prstGeom>
          <a:solidFill>
            <a:srgbClr val="E69F00"/>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0" name="Oval 19"/>
          <p:cNvSpPr/>
          <p:nvPr/>
        </p:nvSpPr>
        <p:spPr>
          <a:xfrm>
            <a:off x="2125980" y="240030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1" name="Oval 20"/>
          <p:cNvSpPr/>
          <p:nvPr/>
        </p:nvSpPr>
        <p:spPr>
          <a:xfrm>
            <a:off x="3771900" y="157734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2" name="Oval 21"/>
          <p:cNvSpPr/>
          <p:nvPr/>
        </p:nvSpPr>
        <p:spPr>
          <a:xfrm>
            <a:off x="4869179" y="2674620"/>
            <a:ext cx="502920" cy="502920"/>
          </a:xfrm>
          <a:prstGeom prst="ellipse">
            <a:avLst/>
          </a:prstGeom>
          <a:solidFill>
            <a:srgbClr val="E69F00"/>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3" name="Oval 22"/>
          <p:cNvSpPr/>
          <p:nvPr/>
        </p:nvSpPr>
        <p:spPr>
          <a:xfrm>
            <a:off x="2674620" y="377190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4" name="Oval 23"/>
          <p:cNvSpPr/>
          <p:nvPr/>
        </p:nvSpPr>
        <p:spPr>
          <a:xfrm>
            <a:off x="1028700" y="4229100"/>
            <a:ext cx="502920" cy="502920"/>
          </a:xfrm>
          <a:prstGeom prst="ellipse">
            <a:avLst/>
          </a:prstGeom>
          <a:solidFill>
            <a:srgbClr val="E69F00"/>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5" name="Oval 24"/>
          <p:cNvSpPr/>
          <p:nvPr/>
        </p:nvSpPr>
        <p:spPr>
          <a:xfrm>
            <a:off x="4229100" y="432054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6" name="Oval 25"/>
          <p:cNvSpPr/>
          <p:nvPr/>
        </p:nvSpPr>
        <p:spPr>
          <a:xfrm>
            <a:off x="1851660" y="523494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7" name="Oval 26"/>
          <p:cNvSpPr/>
          <p:nvPr/>
        </p:nvSpPr>
        <p:spPr>
          <a:xfrm>
            <a:off x="5052059" y="5326379"/>
            <a:ext cx="502920" cy="502920"/>
          </a:xfrm>
          <a:prstGeom prst="ellipse">
            <a:avLst/>
          </a:prstGeom>
          <a:solidFill>
            <a:srgbClr val="E69F00"/>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8" name="TextBox 27"/>
          <p:cNvSpPr txBox="1"/>
          <p:nvPr/>
        </p:nvSpPr>
        <p:spPr>
          <a:xfrm>
            <a:off x="6400800" y="1463040"/>
            <a:ext cx="5303520" cy="4572000"/>
          </a:xfrm>
          <a:prstGeom prst="rect">
            <a:avLst/>
          </a:prstGeom>
          <a:noFill/>
        </p:spPr>
        <p:txBody>
          <a:bodyPr wrap="square" lIns="45720" tIns="27432" rIns="45720" bIns="27432" anchor="t"/>
          <a:lstStyle/>
          <a:p>
            <a:pPr algn="l">
              <a:spcAft>
                <a:spcPts val="1800"/>
              </a:spcAft>
            </a:pPr>
            <a:r>
              <a:rPr sz="2000" b="0" i="0">
                <a:solidFill>
                  <a:srgbClr val="E69F00"/>
                </a:solidFill>
                <a:latin typeface="Calibri"/>
              </a:rPr>
              <a:t>Terminals: </a:t>
            </a:r>
            <a:r>
              <a:rPr sz="2000" b="0" i="0">
                <a:solidFill>
                  <a:srgbClr val="2B2B2B"/>
                </a:solidFill>
                <a:latin typeface="Calibri"/>
              </a:rPr>
              <a:t>proteins with a signal</a:t>
            </a:r>
          </a:p>
          <a:p>
            <a:pPr algn="l">
              <a:spcAft>
                <a:spcPts val="1800"/>
              </a:spcAft>
            </a:pPr>
            <a:r>
              <a:rPr sz="2000" b="0" i="0">
                <a:solidFill>
                  <a:srgbClr val="0072B2"/>
                </a:solidFill>
                <a:latin typeface="Calibri"/>
              </a:rPr>
              <a:t>Steiner tree: </a:t>
            </a:r>
            <a:r>
              <a:rPr sz="2000" b="0" i="0">
                <a:solidFill>
                  <a:srgbClr val="2B2B2B"/>
                </a:solidFill>
                <a:latin typeface="Calibri"/>
              </a:rPr>
              <a:t>cheapest tree linking all terminals</a:t>
            </a:r>
          </a:p>
          <a:p>
            <a:pPr algn="l">
              <a:spcAft>
                <a:spcPts val="1800"/>
              </a:spcAft>
            </a:pPr>
            <a:r>
              <a:rPr sz="2000" b="0" i="0">
                <a:solidFill>
                  <a:srgbClr val="0072B2"/>
                </a:solidFill>
                <a:latin typeface="Calibri"/>
              </a:rPr>
              <a:t>PCST: </a:t>
            </a:r>
            <a:r>
              <a:rPr sz="2000" b="0" i="0">
                <a:solidFill>
                  <a:srgbClr val="2B2B2B"/>
                </a:solidFill>
                <a:latin typeface="Calibri"/>
              </a:rPr>
              <a:t>prizes on nodes, costs on edges; minimise costs − prizes</a:t>
            </a:r>
          </a:p>
          <a:p>
            <a:pPr algn="l">
              <a:spcAft>
                <a:spcPts val="1800"/>
              </a:spcAft>
            </a:pPr>
            <a:r>
              <a:rPr sz="2000" b="0" i="0">
                <a:solidFill>
                  <a:srgbClr val="0072B2"/>
                </a:solidFill>
                <a:latin typeface="Calibri"/>
              </a:rPr>
              <a:t>Hidden nodes: </a:t>
            </a:r>
            <a:r>
              <a:rPr sz="2000" b="0" i="0">
                <a:solidFill>
                  <a:srgbClr val="2B2B2B"/>
                </a:solidFill>
                <a:latin typeface="Calibri"/>
              </a:rPr>
              <a:t>candidate mediators</a:t>
            </a:r>
          </a:p>
        </p:txBody>
      </p:sp>
      <p:sp>
        <p:nvSpPr>
          <p:cNvPr id="29" name="TextBox 28"/>
          <p:cNvSpPr txBox="1"/>
          <p:nvPr/>
        </p:nvSpPr>
        <p:spPr>
          <a:xfrm>
            <a:off x="6400800" y="5897880"/>
            <a:ext cx="530352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Tuncbag et al., J Comput Biol 2013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Different biology, same question: which edges to keep?</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13</a:t>
            </a:r>
          </a:p>
        </p:txBody>
      </p:sp>
      <p:graphicFrame>
        <p:nvGraphicFramePr>
          <p:cNvPr id="6" name="Table 5"/>
          <p:cNvGraphicFramePr>
            <a:graphicFrameLocks noGrp="1"/>
          </p:cNvGraphicFramePr>
          <p:nvPr/>
        </p:nvGraphicFramePr>
        <p:xfrm>
          <a:off x="548640" y="1463040"/>
          <a:ext cx="11064240" cy="3200400"/>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640080">
                <a:tc>
                  <a:txBody>
                    <a:bodyPr/>
                    <a:lstStyle/>
                    <a:p>
                      <a:r>
                        <a:rPr sz="2000" b="0">
                          <a:solidFill>
                            <a:srgbClr val="FFFFFF"/>
                          </a:solidFill>
                          <a:latin typeface="Calibri"/>
                        </a:rPr>
                        <a:t>Method</a:t>
                      </a:r>
                    </a:p>
                  </a:txBody>
                  <a:tcPr marL="73152" marR="73152" marT="27432" marB="27432" anchor="ctr">
                    <a:solidFill>
                      <a:srgbClr val="1F2A44"/>
                    </a:solidFill>
                  </a:tcPr>
                </a:tc>
                <a:tc>
                  <a:txBody>
                    <a:bodyPr/>
                    <a:lstStyle/>
                    <a:p>
                      <a:r>
                        <a:rPr sz="2000" b="0">
                          <a:solidFill>
                            <a:srgbClr val="FFFFFF"/>
                          </a:solidFill>
                          <a:latin typeface="Calibri"/>
                        </a:rPr>
                        <a:t>PKN</a:t>
                      </a:r>
                    </a:p>
                  </a:txBody>
                  <a:tcPr marL="73152" marR="73152" marT="27432" marB="27432" anchor="ctr">
                    <a:solidFill>
                      <a:srgbClr val="1F2A44"/>
                    </a:solidFill>
                  </a:tcPr>
                </a:tc>
                <a:tc>
                  <a:txBody>
                    <a:bodyPr/>
                    <a:lstStyle/>
                    <a:p>
                      <a:r>
                        <a:rPr sz="2000" b="0">
                          <a:solidFill>
                            <a:srgbClr val="FFFFFF"/>
                          </a:solidFill>
                          <a:latin typeface="Calibri"/>
                        </a:rPr>
                        <a:t>Data</a:t>
                      </a:r>
                    </a:p>
                  </a:txBody>
                  <a:tcPr marL="73152" marR="73152" marT="27432" marB="27432" anchor="ctr">
                    <a:solidFill>
                      <a:srgbClr val="1F2A44"/>
                    </a:solidFill>
                  </a:tcPr>
                </a:tc>
                <a:tc>
                  <a:txBody>
                    <a:bodyPr/>
                    <a:lstStyle/>
                    <a:p>
                      <a:r>
                        <a:rPr sz="2000" b="0">
                          <a:solidFill>
                            <a:srgbClr val="FFFFFF"/>
                          </a:solidFill>
                          <a:latin typeface="Calibri"/>
                        </a:rPr>
                        <a:t>Selects</a:t>
                      </a:r>
                    </a:p>
                  </a:txBody>
                  <a:tcPr marL="73152" marR="73152" marT="27432" marB="27432" anchor="ctr">
                    <a:solidFill>
                      <a:srgbClr val="1F2A44"/>
                    </a:solidFill>
                  </a:tcPr>
                </a:tc>
                <a:extLst>
                  <a:ext uri="{0D108BD9-81ED-4DB2-BD59-A6C34878D82A}">
                    <a16:rowId xmlns:a16="http://schemas.microsoft.com/office/drawing/2014/main" val="10000"/>
                  </a:ext>
                </a:extLst>
              </a:tr>
              <a:tr h="640080">
                <a:tc>
                  <a:txBody>
                    <a:bodyPr/>
                    <a:lstStyle/>
                    <a:p>
                      <a:r>
                        <a:rPr sz="2000" b="0">
                          <a:solidFill>
                            <a:srgbClr val="0072B2"/>
                          </a:solidFill>
                          <a:latin typeface="Calibri"/>
                        </a:rPr>
                        <a:t>CARNIVAL</a:t>
                      </a:r>
                    </a:p>
                  </a:txBody>
                  <a:tcPr marL="73152" marR="73152" marT="27432" marB="27432" anchor="ctr">
                    <a:solidFill>
                      <a:srgbClr val="FFFFFF"/>
                    </a:solidFill>
                  </a:tcPr>
                </a:tc>
                <a:tc>
                  <a:txBody>
                    <a:bodyPr/>
                    <a:lstStyle/>
                    <a:p>
                      <a:r>
                        <a:rPr sz="2000" b="0">
                          <a:solidFill>
                            <a:srgbClr val="2B2B2B"/>
                          </a:solidFill>
                          <a:latin typeface="Calibri"/>
                        </a:rPr>
                        <a:t>signed directed graph</a:t>
                      </a:r>
                    </a:p>
                  </a:txBody>
                  <a:tcPr marL="73152" marR="73152" marT="27432" marB="27432" anchor="ctr">
                    <a:solidFill>
                      <a:srgbClr val="FFFFFF"/>
                    </a:solidFill>
                  </a:tcPr>
                </a:tc>
                <a:tc>
                  <a:txBody>
                    <a:bodyPr/>
                    <a:lstStyle/>
                    <a:p>
                      <a:r>
                        <a:rPr sz="2000" b="0">
                          <a:solidFill>
                            <a:srgbClr val="2B2B2B"/>
                          </a:solidFill>
                          <a:latin typeface="Calibri"/>
                        </a:rPr>
                        <a:t>TF activities</a:t>
                      </a:r>
                    </a:p>
                  </a:txBody>
                  <a:tcPr marL="73152" marR="73152" marT="27432" marB="27432" anchor="ctr">
                    <a:solidFill>
                      <a:srgbClr val="FFFFFF"/>
                    </a:solidFill>
                  </a:tcPr>
                </a:tc>
                <a:tc>
                  <a:txBody>
                    <a:bodyPr/>
                    <a:lstStyle/>
                    <a:p>
                      <a:r>
                        <a:rPr sz="2000" b="0">
                          <a:solidFill>
                            <a:srgbClr val="2B2B2B"/>
                          </a:solidFill>
                          <a:latin typeface="Calibri"/>
                        </a:rPr>
                        <a:t>sign-consistent paths</a:t>
                      </a:r>
                    </a:p>
                  </a:txBody>
                  <a:tcPr marL="73152" marR="73152" marT="27432" marB="27432" anchor="ctr">
                    <a:solidFill>
                      <a:srgbClr val="FFFFFF"/>
                    </a:solidFill>
                  </a:tcPr>
                </a:tc>
                <a:extLst>
                  <a:ext uri="{0D108BD9-81ED-4DB2-BD59-A6C34878D82A}">
                    <a16:rowId xmlns:a16="http://schemas.microsoft.com/office/drawing/2014/main" val="10001"/>
                  </a:ext>
                </a:extLst>
              </a:tr>
              <a:tr h="640080">
                <a:tc>
                  <a:txBody>
                    <a:bodyPr/>
                    <a:lstStyle/>
                    <a:p>
                      <a:r>
                        <a:rPr sz="2000" b="0">
                          <a:solidFill>
                            <a:srgbClr val="0072B2"/>
                          </a:solidFill>
                          <a:latin typeface="Calibri"/>
                        </a:rPr>
                        <a:t>FBA / sparse FBA</a:t>
                      </a:r>
                    </a:p>
                  </a:txBody>
                  <a:tcPr marL="73152" marR="73152" marT="27432" marB="27432" anchor="ctr">
                    <a:solidFill>
                      <a:srgbClr val="F3F4F6"/>
                    </a:solidFill>
                  </a:tcPr>
                </a:tc>
                <a:tc>
                  <a:txBody>
                    <a:bodyPr/>
                    <a:lstStyle/>
                    <a:p>
                      <a:r>
                        <a:rPr sz="2000" b="0">
                          <a:solidFill>
                            <a:srgbClr val="2B2B2B"/>
                          </a:solidFill>
                          <a:latin typeface="Calibri"/>
                        </a:rPr>
                        <a:t>hypergraph (reactions)</a:t>
                      </a:r>
                    </a:p>
                  </a:txBody>
                  <a:tcPr marL="73152" marR="73152" marT="27432" marB="27432" anchor="ctr">
                    <a:solidFill>
                      <a:srgbClr val="F3F4F6"/>
                    </a:solidFill>
                  </a:tcPr>
                </a:tc>
                <a:tc>
                  <a:txBody>
                    <a:bodyPr/>
                    <a:lstStyle/>
                    <a:p>
                      <a:r>
                        <a:rPr sz="2000" b="0">
                          <a:solidFill>
                            <a:srgbClr val="2B2B2B"/>
                          </a:solidFill>
                          <a:latin typeface="Calibri"/>
                        </a:rPr>
                        <a:t>flux constraints</a:t>
                      </a:r>
                    </a:p>
                  </a:txBody>
                  <a:tcPr marL="73152" marR="73152" marT="27432" marB="27432" anchor="ctr">
                    <a:solidFill>
                      <a:srgbClr val="F3F4F6"/>
                    </a:solidFill>
                  </a:tcPr>
                </a:tc>
                <a:tc>
                  <a:txBody>
                    <a:bodyPr/>
                    <a:lstStyle/>
                    <a:p>
                      <a:r>
                        <a:rPr sz="2000" b="0">
                          <a:solidFill>
                            <a:srgbClr val="2B2B2B"/>
                          </a:solidFill>
                          <a:latin typeface="Calibri"/>
                        </a:rPr>
                        <a:t>flux distribution</a:t>
                      </a:r>
                    </a:p>
                  </a:txBody>
                  <a:tcPr marL="73152" marR="73152" marT="27432" marB="27432" anchor="ctr">
                    <a:solidFill>
                      <a:srgbClr val="F3F4F6"/>
                    </a:solidFill>
                  </a:tcPr>
                </a:tc>
                <a:extLst>
                  <a:ext uri="{0D108BD9-81ED-4DB2-BD59-A6C34878D82A}">
                    <a16:rowId xmlns:a16="http://schemas.microsoft.com/office/drawing/2014/main" val="10002"/>
                  </a:ext>
                </a:extLst>
              </a:tr>
              <a:tr h="640080">
                <a:tc>
                  <a:txBody>
                    <a:bodyPr/>
                    <a:lstStyle/>
                    <a:p>
                      <a:r>
                        <a:rPr sz="2000" b="0">
                          <a:solidFill>
                            <a:srgbClr val="0072B2"/>
                          </a:solidFill>
                          <a:latin typeface="Calibri"/>
                        </a:rPr>
                        <a:t>iMAT</a:t>
                      </a:r>
                    </a:p>
                  </a:txBody>
                  <a:tcPr marL="73152" marR="73152" marT="27432" marB="27432" anchor="ctr">
                    <a:solidFill>
                      <a:srgbClr val="FFFFFF"/>
                    </a:solidFill>
                  </a:tcPr>
                </a:tc>
                <a:tc>
                  <a:txBody>
                    <a:bodyPr/>
                    <a:lstStyle/>
                    <a:p>
                      <a:r>
                        <a:rPr sz="2000" b="0">
                          <a:solidFill>
                            <a:srgbClr val="2B2B2B"/>
                          </a:solidFill>
                          <a:latin typeface="Calibri"/>
                        </a:rPr>
                        <a:t>hypergraph (reactions)</a:t>
                      </a:r>
                    </a:p>
                  </a:txBody>
                  <a:tcPr marL="73152" marR="73152" marT="27432" marB="27432" anchor="ctr">
                    <a:solidFill>
                      <a:srgbClr val="FFFFFF"/>
                    </a:solidFill>
                  </a:tcPr>
                </a:tc>
                <a:tc>
                  <a:txBody>
                    <a:bodyPr/>
                    <a:lstStyle/>
                    <a:p>
                      <a:r>
                        <a:rPr sz="2000" b="0">
                          <a:solidFill>
                            <a:srgbClr val="2B2B2B"/>
                          </a:solidFill>
                          <a:latin typeface="Calibri"/>
                        </a:rPr>
                        <a:t>expression</a:t>
                      </a:r>
                    </a:p>
                  </a:txBody>
                  <a:tcPr marL="73152" marR="73152" marT="27432" marB="27432" anchor="ctr">
                    <a:solidFill>
                      <a:srgbClr val="FFFFFF"/>
                    </a:solidFill>
                  </a:tcPr>
                </a:tc>
                <a:tc>
                  <a:txBody>
                    <a:bodyPr/>
                    <a:lstStyle/>
                    <a:p>
                      <a:r>
                        <a:rPr sz="2000" b="0">
                          <a:solidFill>
                            <a:srgbClr val="2B2B2B"/>
                          </a:solidFill>
                          <a:latin typeface="Calibri"/>
                        </a:rPr>
                        <a:t>active reactions</a:t>
                      </a:r>
                    </a:p>
                  </a:txBody>
                  <a:tcPr marL="73152" marR="73152" marT="27432" marB="27432" anchor="ctr">
                    <a:solidFill>
                      <a:srgbClr val="FFFFFF"/>
                    </a:solidFill>
                  </a:tcPr>
                </a:tc>
                <a:extLst>
                  <a:ext uri="{0D108BD9-81ED-4DB2-BD59-A6C34878D82A}">
                    <a16:rowId xmlns:a16="http://schemas.microsoft.com/office/drawing/2014/main" val="10003"/>
                  </a:ext>
                </a:extLst>
              </a:tr>
              <a:tr h="640080">
                <a:tc>
                  <a:txBody>
                    <a:bodyPr/>
                    <a:lstStyle/>
                    <a:p>
                      <a:r>
                        <a:rPr sz="2000" b="0">
                          <a:solidFill>
                            <a:srgbClr val="0072B2"/>
                          </a:solidFill>
                          <a:latin typeface="Calibri"/>
                        </a:rPr>
                        <a:t>Steiner / PCST</a:t>
                      </a:r>
                    </a:p>
                  </a:txBody>
                  <a:tcPr marL="73152" marR="73152" marT="27432" marB="27432" anchor="ctr">
                    <a:solidFill>
                      <a:srgbClr val="F3F4F6"/>
                    </a:solidFill>
                  </a:tcPr>
                </a:tc>
                <a:tc>
                  <a:txBody>
                    <a:bodyPr/>
                    <a:lstStyle/>
                    <a:p>
                      <a:r>
                        <a:rPr sz="2000" b="0">
                          <a:solidFill>
                            <a:srgbClr val="2B2B2B"/>
                          </a:solidFill>
                          <a:latin typeface="Calibri"/>
                        </a:rPr>
                        <a:t>undirected graph</a:t>
                      </a:r>
                    </a:p>
                  </a:txBody>
                  <a:tcPr marL="73152" marR="73152" marT="27432" marB="27432" anchor="ctr">
                    <a:solidFill>
                      <a:srgbClr val="F3F4F6"/>
                    </a:solidFill>
                  </a:tcPr>
                </a:tc>
                <a:tc>
                  <a:txBody>
                    <a:bodyPr/>
                    <a:lstStyle/>
                    <a:p>
                      <a:r>
                        <a:rPr sz="2000" b="0">
                          <a:solidFill>
                            <a:srgbClr val="2B2B2B"/>
                          </a:solidFill>
                          <a:latin typeface="Calibri"/>
                        </a:rPr>
                        <a:t>protein signals</a:t>
                      </a:r>
                    </a:p>
                  </a:txBody>
                  <a:tcPr marL="73152" marR="73152" marT="27432" marB="27432" anchor="ctr">
                    <a:solidFill>
                      <a:srgbClr val="F3F4F6"/>
                    </a:solidFill>
                  </a:tcPr>
                </a:tc>
                <a:tc>
                  <a:txBody>
                    <a:bodyPr/>
                    <a:lstStyle/>
                    <a:p>
                      <a:r>
                        <a:rPr sz="2000" b="0">
                          <a:solidFill>
                            <a:srgbClr val="2B2B2B"/>
                          </a:solidFill>
                          <a:latin typeface="Calibri"/>
                        </a:rPr>
                        <a:t>a tree</a:t>
                      </a:r>
                    </a:p>
                  </a:txBody>
                  <a:tcPr marL="73152" marR="73152" marT="27432" marB="27432" anchor="ctr">
                    <a:solidFill>
                      <a:srgbClr val="F3F4F6"/>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548640" y="5074920"/>
            <a:ext cx="11064240" cy="822960"/>
          </a:xfrm>
          <a:prstGeom prst="roundRect">
            <a:avLst>
              <a:gd name="adj" fmla="val 8000"/>
            </a:avLst>
          </a:prstGeom>
          <a:solidFill>
            <a:srgbClr val="FFFFFF"/>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1520" y="5120640"/>
            <a:ext cx="10698480" cy="731520"/>
          </a:xfrm>
          <a:prstGeom prst="rect">
            <a:avLst/>
          </a:prstGeom>
          <a:noFill/>
        </p:spPr>
        <p:txBody>
          <a:bodyPr wrap="square" lIns="45720" tIns="27432" rIns="45720" bIns="27432" anchor="ctr"/>
          <a:lstStyle/>
          <a:p>
            <a:pPr algn="ctr">
              <a:spcAft>
                <a:spcPts val="800"/>
              </a:spcAft>
            </a:pPr>
            <a:r>
              <a:rPr sz="2000" b="0" i="0">
                <a:solidFill>
                  <a:srgbClr val="2B2B2B"/>
                </a:solidFill>
                <a:latin typeface="Calibri"/>
              </a:rPr>
              <a:t>All choose edges under constraints → all are </a:t>
            </a:r>
            <a:r>
              <a:rPr sz="2000" b="0" i="0">
                <a:solidFill>
                  <a:srgbClr val="0072B2"/>
                </a:solidFill>
                <a:latin typeface="Calibri"/>
              </a:rPr>
              <a:t>(mixed-integer) linear programs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14</a:t>
            </a:r>
          </a:p>
        </p:txBody>
      </p:sp>
      <p:sp>
        <p:nvSpPr>
          <p:cNvPr id="6" name="Oval 5"/>
          <p:cNvSpPr/>
          <p:nvPr/>
        </p:nvSpPr>
        <p:spPr>
          <a:xfrm>
            <a:off x="886968" y="148132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1</a:t>
            </a:r>
          </a:p>
        </p:txBody>
      </p:sp>
      <p:sp>
        <p:nvSpPr>
          <p:cNvPr id="7" name="TextBox 6"/>
          <p:cNvSpPr txBox="1"/>
          <p:nvPr/>
        </p:nvSpPr>
        <p:spPr>
          <a:xfrm>
            <a:off x="1691640" y="141732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Why network inference from prior knowledge?</a:t>
            </a:r>
          </a:p>
        </p:txBody>
      </p:sp>
      <p:sp>
        <p:nvSpPr>
          <p:cNvPr id="8" name="Oval 7"/>
          <p:cNvSpPr/>
          <p:nvPr/>
        </p:nvSpPr>
        <p:spPr>
          <a:xfrm>
            <a:off x="886968" y="2267712"/>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2</a:t>
            </a:r>
          </a:p>
        </p:txBody>
      </p:sp>
      <p:sp>
        <p:nvSpPr>
          <p:cNvPr id="9" name="TextBox 8"/>
          <p:cNvSpPr txBox="1"/>
          <p:nvPr/>
        </p:nvSpPr>
        <p:spPr>
          <a:xfrm>
            <a:off x="1691640" y="2203704"/>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The methods CORNETO unifies</a:t>
            </a:r>
          </a:p>
        </p:txBody>
      </p:sp>
      <p:sp>
        <p:nvSpPr>
          <p:cNvPr id="10" name="Oval 9"/>
          <p:cNvSpPr/>
          <p:nvPr/>
        </p:nvSpPr>
        <p:spPr>
          <a:xfrm>
            <a:off x="886968" y="3054096"/>
            <a:ext cx="530352" cy="53035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3</a:t>
            </a:r>
          </a:p>
        </p:txBody>
      </p:sp>
      <p:sp>
        <p:nvSpPr>
          <p:cNvPr id="11" name="TextBox 10"/>
          <p:cNvSpPr txBox="1"/>
          <p:nvPr/>
        </p:nvSpPr>
        <p:spPr>
          <a:xfrm>
            <a:off x="1691640" y="2990088"/>
            <a:ext cx="8686800" cy="658368"/>
          </a:xfrm>
          <a:prstGeom prst="rect">
            <a:avLst/>
          </a:prstGeom>
          <a:noFill/>
        </p:spPr>
        <p:txBody>
          <a:bodyPr wrap="square" lIns="45720" tIns="27432" rIns="45720" bIns="27432" anchor="ctr">
            <a:spAutoFit/>
          </a:bodyPr>
          <a:lstStyle/>
          <a:p>
            <a:pPr algn="l">
              <a:spcAft>
                <a:spcPts val="600"/>
              </a:spcAft>
            </a:pPr>
            <a:r>
              <a:rPr sz="2200" b="0" i="0">
                <a:solidFill>
                  <a:srgbClr val="1F2A44"/>
                </a:solidFill>
                <a:latin typeface="Calibri"/>
              </a:rPr>
              <a:t>CORNETO: one optimisation problem</a:t>
            </a:r>
          </a:p>
        </p:txBody>
      </p:sp>
      <p:sp>
        <p:nvSpPr>
          <p:cNvPr id="12" name="Rectangle 11"/>
          <p:cNvSpPr/>
          <p:nvPr/>
        </p:nvSpPr>
        <p:spPr>
          <a:xfrm>
            <a:off x="566928" y="3026664"/>
            <a:ext cx="91440" cy="58521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86968" y="3840480"/>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4</a:t>
            </a:r>
          </a:p>
        </p:txBody>
      </p:sp>
      <p:sp>
        <p:nvSpPr>
          <p:cNvPr id="14" name="TextBox 13"/>
          <p:cNvSpPr txBox="1"/>
          <p:nvPr/>
        </p:nvSpPr>
        <p:spPr>
          <a:xfrm>
            <a:off x="1691640" y="3776472"/>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Results in the paper</a:t>
            </a:r>
          </a:p>
        </p:txBody>
      </p:sp>
      <p:sp>
        <p:nvSpPr>
          <p:cNvPr id="15" name="Oval 14"/>
          <p:cNvSpPr/>
          <p:nvPr/>
        </p:nvSpPr>
        <p:spPr>
          <a:xfrm>
            <a:off x="886968" y="4626864"/>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5</a:t>
            </a:r>
          </a:p>
        </p:txBody>
      </p:sp>
      <p:sp>
        <p:nvSpPr>
          <p:cNvPr id="16" name="TextBox 15"/>
          <p:cNvSpPr txBox="1"/>
          <p:nvPr/>
        </p:nvSpPr>
        <p:spPr>
          <a:xfrm>
            <a:off x="1691640" y="4562856"/>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Our test: the PMS iNSC data</a:t>
            </a:r>
          </a:p>
        </p:txBody>
      </p:sp>
      <p:sp>
        <p:nvSpPr>
          <p:cNvPr id="17" name="Oval 16"/>
          <p:cNvSpPr/>
          <p:nvPr/>
        </p:nvSpPr>
        <p:spPr>
          <a:xfrm>
            <a:off x="886968" y="541324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6</a:t>
            </a:r>
          </a:p>
        </p:txBody>
      </p:sp>
      <p:sp>
        <p:nvSpPr>
          <p:cNvPr id="18" name="TextBox 17"/>
          <p:cNvSpPr txBox="1"/>
          <p:nvPr/>
        </p:nvSpPr>
        <p:spPr>
          <a:xfrm>
            <a:off x="1691640" y="534924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Discussion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dirty="0">
                <a:solidFill>
                  <a:srgbClr val="1F2A44"/>
                </a:solidFill>
                <a:latin typeface="Calibri"/>
              </a:rPr>
              <a:t>Idea 1: an edge is selected if it carries flow</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15</a:t>
            </a:r>
          </a:p>
        </p:txBody>
      </p:sp>
      <p:cxnSp>
        <p:nvCxnSpPr>
          <p:cNvPr id="6" name="Connector 5"/>
          <p:cNvCxnSpPr/>
          <p:nvPr/>
        </p:nvCxnSpPr>
        <p:spPr>
          <a:xfrm>
            <a:off x="274320" y="3657600"/>
            <a:ext cx="749808" cy="0"/>
          </a:xfrm>
          <a:prstGeom prst="line">
            <a:avLst/>
          </a:prstGeom>
          <a:ln w="444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10912" y="3657600"/>
            <a:ext cx="841248" cy="0"/>
          </a:xfrm>
          <a:prstGeom prst="line">
            <a:avLst/>
          </a:prstGeom>
          <a:ln w="444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37160" y="3063240"/>
            <a:ext cx="91440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+1</a:t>
            </a:r>
          </a:p>
        </p:txBody>
      </p:sp>
      <p:sp>
        <p:nvSpPr>
          <p:cNvPr id="9" name="TextBox 8"/>
          <p:cNvSpPr txBox="1"/>
          <p:nvPr/>
        </p:nvSpPr>
        <p:spPr>
          <a:xfrm>
            <a:off x="5120640" y="3063240"/>
            <a:ext cx="91440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−1</a:t>
            </a:r>
          </a:p>
        </p:txBody>
      </p:sp>
      <p:cxnSp>
        <p:nvCxnSpPr>
          <p:cNvPr id="10" name="Connector 9"/>
          <p:cNvCxnSpPr/>
          <p:nvPr/>
        </p:nvCxnSpPr>
        <p:spPr>
          <a:xfrm flipV="1">
            <a:off x="1638462" y="2677675"/>
            <a:ext cx="1089956" cy="787190"/>
          </a:xfrm>
          <a:prstGeom prst="line">
            <a:avLst/>
          </a:prstGeom>
          <a:ln w="444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691639" y="251460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1</a:t>
            </a:r>
          </a:p>
        </p:txBody>
      </p:sp>
      <p:cxnSp>
        <p:nvCxnSpPr>
          <p:cNvPr id="12" name="Connector 11"/>
          <p:cNvCxnSpPr/>
          <p:nvPr/>
        </p:nvCxnSpPr>
        <p:spPr>
          <a:xfrm>
            <a:off x="1638462" y="3850334"/>
            <a:ext cx="1089956" cy="787190"/>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691639" y="429768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3</a:t>
            </a:r>
          </a:p>
        </p:txBody>
      </p:sp>
      <p:cxnSp>
        <p:nvCxnSpPr>
          <p:cNvPr id="14" name="Connector 13"/>
          <p:cNvCxnSpPr/>
          <p:nvPr/>
        </p:nvCxnSpPr>
        <p:spPr>
          <a:xfrm>
            <a:off x="3284382" y="2661614"/>
            <a:ext cx="1089956" cy="787190"/>
          </a:xfrm>
          <a:prstGeom prst="line">
            <a:avLst/>
          </a:prstGeom>
          <a:ln w="444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794760" y="251460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1</a:t>
            </a:r>
          </a:p>
        </p:txBody>
      </p:sp>
      <p:cxnSp>
        <p:nvCxnSpPr>
          <p:cNvPr id="16" name="Connector 15"/>
          <p:cNvCxnSpPr/>
          <p:nvPr/>
        </p:nvCxnSpPr>
        <p:spPr>
          <a:xfrm flipV="1">
            <a:off x="3284382" y="3866395"/>
            <a:ext cx="1089956" cy="787190"/>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794760" y="429768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1</a:t>
            </a:r>
          </a:p>
        </p:txBody>
      </p:sp>
      <p:cxnSp>
        <p:nvCxnSpPr>
          <p:cNvPr id="18" name="Connector 17"/>
          <p:cNvCxnSpPr/>
          <p:nvPr/>
        </p:nvCxnSpPr>
        <p:spPr>
          <a:xfrm>
            <a:off x="3017520" y="2798064"/>
            <a:ext cx="0" cy="1691640"/>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971800" y="342900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1</a:t>
            </a:r>
          </a:p>
        </p:txBody>
      </p:sp>
      <p:sp>
        <p:nvSpPr>
          <p:cNvPr id="20" name="Oval 19"/>
          <p:cNvSpPr/>
          <p:nvPr/>
        </p:nvSpPr>
        <p:spPr>
          <a:xfrm>
            <a:off x="1042416" y="332841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s</a:t>
            </a:r>
          </a:p>
        </p:txBody>
      </p:sp>
      <p:sp>
        <p:nvSpPr>
          <p:cNvPr id="21" name="Oval 20"/>
          <p:cNvSpPr/>
          <p:nvPr/>
        </p:nvSpPr>
        <p:spPr>
          <a:xfrm>
            <a:off x="2688336" y="213969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a</a:t>
            </a:r>
          </a:p>
        </p:txBody>
      </p:sp>
      <p:sp>
        <p:nvSpPr>
          <p:cNvPr id="22" name="Oval 21"/>
          <p:cNvSpPr/>
          <p:nvPr/>
        </p:nvSpPr>
        <p:spPr>
          <a:xfrm>
            <a:off x="2688336" y="451713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b</a:t>
            </a:r>
          </a:p>
        </p:txBody>
      </p:sp>
      <p:sp>
        <p:nvSpPr>
          <p:cNvPr id="23" name="Oval 22"/>
          <p:cNvSpPr/>
          <p:nvPr/>
        </p:nvSpPr>
        <p:spPr>
          <a:xfrm>
            <a:off x="4334255" y="332841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t</a:t>
            </a:r>
          </a:p>
        </p:txBody>
      </p:sp>
      <p:sp>
        <p:nvSpPr>
          <p:cNvPr id="24" name="TextBox 23"/>
          <p:cNvSpPr txBox="1"/>
          <p:nvPr/>
        </p:nvSpPr>
        <p:spPr>
          <a:xfrm>
            <a:off x="548640" y="5486400"/>
            <a:ext cx="548640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numbers = edge costs; blue = flow</a:t>
            </a:r>
          </a:p>
        </p:txBody>
      </p:sp>
      <p:sp>
        <p:nvSpPr>
          <p:cNvPr id="25" name="TextBox 24"/>
          <p:cNvSpPr txBox="1"/>
          <p:nvPr/>
        </p:nvSpPr>
        <p:spPr>
          <a:xfrm>
            <a:off x="6400800" y="1463040"/>
            <a:ext cx="5303520" cy="4572000"/>
          </a:xfrm>
          <a:prstGeom prst="rect">
            <a:avLst/>
          </a:prstGeom>
          <a:noFill/>
        </p:spPr>
        <p:txBody>
          <a:bodyPr wrap="square" lIns="45720" tIns="27432" rIns="45720" bIns="27432" anchor="t"/>
          <a:lstStyle/>
          <a:p>
            <a:pPr algn="l">
              <a:spcAft>
                <a:spcPts val="1200"/>
              </a:spcAft>
            </a:pPr>
            <a:r>
              <a:rPr sz="2000" b="0" i="0">
                <a:solidFill>
                  <a:srgbClr val="0072B2"/>
                </a:solidFill>
                <a:latin typeface="Calibri"/>
              </a:rPr>
              <a:t>Source / sink edges </a:t>
            </a:r>
            <a:r>
              <a:rPr sz="2000" b="0" i="0">
                <a:solidFill>
                  <a:srgbClr val="2B2B2B"/>
                </a:solidFill>
                <a:latin typeface="Calibri"/>
              </a:rPr>
              <a:t>inject and remove flow</a:t>
            </a:r>
          </a:p>
          <a:p>
            <a:pPr algn="l">
              <a:spcAft>
                <a:spcPts val="1200"/>
              </a:spcAft>
            </a:pPr>
            <a:r>
              <a:rPr sz="2000" b="0" i="0">
                <a:solidFill>
                  <a:srgbClr val="0072B2"/>
                </a:solidFill>
                <a:latin typeface="Calibri"/>
              </a:rPr>
              <a:t>Conservation: </a:t>
            </a:r>
            <a:r>
              <a:rPr sz="2000" b="0" i="0">
                <a:solidFill>
                  <a:srgbClr val="2B2B2B"/>
                </a:solidFill>
                <a:latin typeface="Calibri"/>
              </a:rPr>
              <a:t>in = out at every node</a:t>
            </a:r>
          </a:p>
          <a:p>
            <a:pPr algn="l">
              <a:spcAft>
                <a:spcPts val="1200"/>
              </a:spcAft>
            </a:pPr>
            <a:r>
              <a:rPr sz="2000" b="0" i="0">
                <a:solidFill>
                  <a:srgbClr val="2B2B2B"/>
                </a:solidFill>
                <a:latin typeface="Calibri"/>
              </a:rPr>
              <a:t>  </a:t>
            </a:r>
            <a:r>
              <a:rPr sz="2000" b="0" i="0">
                <a:solidFill>
                  <a:srgbClr val="1F2A44"/>
                </a:solidFill>
                <a:latin typeface="Calibri"/>
              </a:rPr>
              <a:t>A x = 0</a:t>
            </a:r>
          </a:p>
          <a:p>
            <a:pPr algn="l">
              <a:spcAft>
                <a:spcPts val="1200"/>
              </a:spcAft>
            </a:pPr>
            <a:r>
              <a:rPr sz="2000" b="0" i="0">
                <a:solidFill>
                  <a:srgbClr val="0072B2"/>
                </a:solidFill>
                <a:latin typeface="Calibri"/>
              </a:rPr>
              <a:t>Edge switch: </a:t>
            </a:r>
            <a:r>
              <a:rPr sz="2000" b="0" i="0">
                <a:solidFill>
                  <a:srgbClr val="2B2B2B"/>
                </a:solidFill>
                <a:latin typeface="Calibri"/>
              </a:rPr>
              <a:t>flow only if the edge is on</a:t>
            </a:r>
          </a:p>
          <a:p>
            <a:pPr algn="l">
              <a:spcAft>
                <a:spcPts val="1200"/>
              </a:spcAft>
            </a:pPr>
            <a:r>
              <a:rPr sz="2000" b="0" i="0">
                <a:solidFill>
                  <a:srgbClr val="2B2B2B"/>
                </a:solidFill>
                <a:latin typeface="Calibri"/>
              </a:rPr>
              <a:t>  </a:t>
            </a:r>
            <a:r>
              <a:rPr sz="2000" b="0" i="0">
                <a:solidFill>
                  <a:srgbClr val="1F2A44"/>
                </a:solidFill>
                <a:latin typeface="Calibri"/>
              </a:rPr>
              <a:t>0 ≤ x ≤ u · y,   y ∈ {0, 1}</a:t>
            </a:r>
            <a:r>
              <a:rPr sz="2000" b="0" i="0">
                <a:solidFill>
                  <a:srgbClr val="6B7280"/>
                </a:solidFill>
                <a:latin typeface="Calibri"/>
              </a:rPr>
              <a:t>   u = capacity</a:t>
            </a:r>
          </a:p>
          <a:p>
            <a:pPr algn="l">
              <a:spcAft>
                <a:spcPts val="1200"/>
              </a:spcAft>
            </a:pPr>
            <a:r>
              <a:rPr sz="2000" b="0" i="0">
                <a:solidFill>
                  <a:srgbClr val="D55E00"/>
                </a:solidFill>
                <a:latin typeface="Calibri"/>
              </a:rPr>
              <a:t>Shortest path </a:t>
            </a:r>
            <a:r>
              <a:rPr sz="2000" b="0" i="0">
                <a:solidFill>
                  <a:srgbClr val="2B2B2B"/>
                </a:solidFill>
                <a:latin typeface="Calibri"/>
              </a:rPr>
              <a:t>= cheapest unit of flow from s to 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Idea 2: one incidence matrix describes every PKN</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16</a:t>
            </a:r>
          </a:p>
        </p:txBody>
      </p:sp>
      <p:sp>
        <p:nvSpPr>
          <p:cNvPr id="6" name="Rounded Rectangle 5"/>
          <p:cNvSpPr/>
          <p:nvPr/>
        </p:nvSpPr>
        <p:spPr>
          <a:xfrm>
            <a:off x="548640" y="1417320"/>
            <a:ext cx="3383280" cy="3246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1508760"/>
            <a:ext cx="338328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Graph edge</a:t>
            </a:r>
          </a:p>
        </p:txBody>
      </p:sp>
      <p:sp>
        <p:nvSpPr>
          <p:cNvPr id="8" name="Oval 7"/>
          <p:cNvSpPr/>
          <p:nvPr/>
        </p:nvSpPr>
        <p:spPr>
          <a:xfrm>
            <a:off x="950976" y="227685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u</a:t>
            </a:r>
          </a:p>
        </p:txBody>
      </p:sp>
      <p:sp>
        <p:nvSpPr>
          <p:cNvPr id="9" name="Oval 8"/>
          <p:cNvSpPr/>
          <p:nvPr/>
        </p:nvSpPr>
        <p:spPr>
          <a:xfrm>
            <a:off x="2871216" y="227685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v</a:t>
            </a:r>
          </a:p>
        </p:txBody>
      </p:sp>
      <p:cxnSp>
        <p:nvCxnSpPr>
          <p:cNvPr id="10" name="Connector 9"/>
          <p:cNvCxnSpPr/>
          <p:nvPr/>
        </p:nvCxnSpPr>
        <p:spPr>
          <a:xfrm>
            <a:off x="1609343" y="2606040"/>
            <a:ext cx="1234441"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3291840"/>
            <a:ext cx="3383280" cy="1188720"/>
          </a:xfrm>
          <a:prstGeom prst="rect">
            <a:avLst/>
          </a:prstGeom>
          <a:noFill/>
        </p:spPr>
        <p:txBody>
          <a:bodyPr wrap="square" lIns="45720" tIns="27432" rIns="45720" bIns="27432" anchor="t"/>
          <a:lstStyle/>
          <a:p>
            <a:pPr algn="ctr">
              <a:spcAft>
                <a:spcPts val="400"/>
              </a:spcAft>
            </a:pPr>
            <a:r>
              <a:rPr sz="2000" b="0" i="0">
                <a:solidFill>
                  <a:srgbClr val="2B2B2B"/>
                </a:solidFill>
                <a:latin typeface="Calibri"/>
              </a:rPr>
              <a:t>u  </a:t>
            </a:r>
            <a:r>
              <a:rPr sz="2000" b="0" i="0">
                <a:solidFill>
                  <a:srgbClr val="2C6FB7"/>
                </a:solidFill>
                <a:latin typeface="Calibri"/>
              </a:rPr>
              <a:t>−1</a:t>
            </a:r>
          </a:p>
          <a:p>
            <a:pPr algn="ctr">
              <a:spcAft>
                <a:spcPts val="400"/>
              </a:spcAft>
            </a:pPr>
            <a:r>
              <a:rPr sz="2000" b="0" i="0">
                <a:solidFill>
                  <a:srgbClr val="2B2B2B"/>
                </a:solidFill>
                <a:latin typeface="Calibri"/>
              </a:rPr>
              <a:t>v  </a:t>
            </a:r>
            <a:r>
              <a:rPr sz="2000" b="0" i="0">
                <a:solidFill>
                  <a:srgbClr val="C0392B"/>
                </a:solidFill>
                <a:latin typeface="Calibri"/>
              </a:rPr>
              <a:t>+1</a:t>
            </a:r>
          </a:p>
        </p:txBody>
      </p:sp>
      <p:sp>
        <p:nvSpPr>
          <p:cNvPr id="12" name="Rounded Rectangle 11"/>
          <p:cNvSpPr/>
          <p:nvPr/>
        </p:nvSpPr>
        <p:spPr>
          <a:xfrm>
            <a:off x="4160520" y="1417320"/>
            <a:ext cx="4023360" cy="3246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160520" y="1508760"/>
            <a:ext cx="402336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Reaction (hyperedge)</a:t>
            </a:r>
          </a:p>
        </p:txBody>
      </p:sp>
      <p:sp>
        <p:nvSpPr>
          <p:cNvPr id="14" name="Oval 13"/>
          <p:cNvSpPr/>
          <p:nvPr/>
        </p:nvSpPr>
        <p:spPr>
          <a:xfrm>
            <a:off x="4517136" y="191109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M1</a:t>
            </a:r>
          </a:p>
        </p:txBody>
      </p:sp>
      <p:sp>
        <p:nvSpPr>
          <p:cNvPr id="15" name="Oval 14"/>
          <p:cNvSpPr/>
          <p:nvPr/>
        </p:nvSpPr>
        <p:spPr>
          <a:xfrm>
            <a:off x="4517136" y="291693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M2</a:t>
            </a:r>
          </a:p>
        </p:txBody>
      </p:sp>
      <p:sp>
        <p:nvSpPr>
          <p:cNvPr id="16" name="Oval 15"/>
          <p:cNvSpPr/>
          <p:nvPr/>
        </p:nvSpPr>
        <p:spPr>
          <a:xfrm>
            <a:off x="7168895" y="24140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M3</a:t>
            </a:r>
          </a:p>
        </p:txBody>
      </p:sp>
      <p:cxnSp>
        <p:nvCxnSpPr>
          <p:cNvPr id="17" name="Connector 16"/>
          <p:cNvCxnSpPr/>
          <p:nvPr/>
        </p:nvCxnSpPr>
        <p:spPr>
          <a:xfrm>
            <a:off x="5175504" y="2331720"/>
            <a:ext cx="996696" cy="411480"/>
          </a:xfrm>
          <a:prstGeom prst="line">
            <a:avLst/>
          </a:prstGeom>
          <a:ln w="317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175504" y="2743200"/>
            <a:ext cx="996696" cy="411480"/>
          </a:xfrm>
          <a:prstGeom prst="line">
            <a:avLst/>
          </a:prstGeom>
          <a:ln w="317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172200" y="2743200"/>
            <a:ext cx="960120"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349240" y="3017520"/>
            <a:ext cx="45720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2</a:t>
            </a:r>
          </a:p>
        </p:txBody>
      </p:sp>
      <p:sp>
        <p:nvSpPr>
          <p:cNvPr id="21" name="TextBox 20"/>
          <p:cNvSpPr txBox="1"/>
          <p:nvPr/>
        </p:nvSpPr>
        <p:spPr>
          <a:xfrm>
            <a:off x="4160520" y="3611880"/>
            <a:ext cx="4023360" cy="1005840"/>
          </a:xfrm>
          <a:prstGeom prst="rect">
            <a:avLst/>
          </a:prstGeom>
          <a:noFill/>
        </p:spPr>
        <p:txBody>
          <a:bodyPr wrap="square" lIns="45720" tIns="27432" rIns="45720" bIns="27432" anchor="t"/>
          <a:lstStyle/>
          <a:p>
            <a:pPr algn="ctr">
              <a:spcAft>
                <a:spcPts val="800"/>
              </a:spcAft>
            </a:pPr>
            <a:r>
              <a:rPr sz="2000" b="0" i="0">
                <a:solidFill>
                  <a:srgbClr val="2B2B2B"/>
                </a:solidFill>
                <a:latin typeface="Calibri"/>
              </a:rPr>
              <a:t>M1 </a:t>
            </a:r>
            <a:r>
              <a:rPr sz="2000" b="0" i="0">
                <a:solidFill>
                  <a:srgbClr val="2C6FB7"/>
                </a:solidFill>
                <a:latin typeface="Calibri"/>
              </a:rPr>
              <a:t>−1</a:t>
            </a:r>
            <a:r>
              <a:rPr sz="2000" b="0" i="0">
                <a:solidFill>
                  <a:srgbClr val="2B2B2B"/>
                </a:solidFill>
                <a:latin typeface="Calibri"/>
              </a:rPr>
              <a:t>   M2 </a:t>
            </a:r>
            <a:r>
              <a:rPr sz="2000" b="0" i="0">
                <a:solidFill>
                  <a:srgbClr val="2C6FB7"/>
                </a:solidFill>
                <a:latin typeface="Calibri"/>
              </a:rPr>
              <a:t>−2</a:t>
            </a:r>
            <a:r>
              <a:rPr sz="2000" b="0" i="0">
                <a:solidFill>
                  <a:srgbClr val="2B2B2B"/>
                </a:solidFill>
                <a:latin typeface="Calibri"/>
              </a:rPr>
              <a:t>   M3 </a:t>
            </a:r>
            <a:r>
              <a:rPr sz="2000" b="0" i="0">
                <a:solidFill>
                  <a:srgbClr val="C0392B"/>
                </a:solidFill>
                <a:latin typeface="Calibri"/>
              </a:rPr>
              <a:t>+1</a:t>
            </a:r>
          </a:p>
        </p:txBody>
      </p:sp>
      <p:sp>
        <p:nvSpPr>
          <p:cNvPr id="22" name="Rounded Rectangle 21"/>
          <p:cNvSpPr/>
          <p:nvPr/>
        </p:nvSpPr>
        <p:spPr>
          <a:xfrm>
            <a:off x="8412480" y="1417320"/>
            <a:ext cx="3200400" cy="3246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412480" y="1508760"/>
            <a:ext cx="320040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Source / sink</a:t>
            </a:r>
          </a:p>
        </p:txBody>
      </p:sp>
      <p:sp>
        <p:nvSpPr>
          <p:cNvPr id="24" name="TextBox 23"/>
          <p:cNvSpPr txBox="1"/>
          <p:nvPr/>
        </p:nvSpPr>
        <p:spPr>
          <a:xfrm>
            <a:off x="8503920" y="2240280"/>
            <a:ext cx="548640" cy="548640"/>
          </a:xfrm>
          <a:prstGeom prst="rect">
            <a:avLst/>
          </a:prstGeom>
          <a:noFill/>
        </p:spPr>
        <p:txBody>
          <a:bodyPr wrap="square" lIns="45720" tIns="27432" rIns="45720" bIns="27432" anchor="ctr"/>
          <a:lstStyle/>
          <a:p>
            <a:pPr algn="ctr">
              <a:spcAft>
                <a:spcPts val="800"/>
              </a:spcAft>
            </a:pPr>
            <a:r>
              <a:rPr sz="2000" b="0" i="0">
                <a:solidFill>
                  <a:srgbClr val="1F2A44"/>
                </a:solidFill>
                <a:latin typeface="Calibri"/>
              </a:rPr>
              <a:t>∅</a:t>
            </a:r>
          </a:p>
        </p:txBody>
      </p:sp>
      <p:cxnSp>
        <p:nvCxnSpPr>
          <p:cNvPr id="25" name="Connector 24"/>
          <p:cNvCxnSpPr/>
          <p:nvPr/>
        </p:nvCxnSpPr>
        <p:spPr>
          <a:xfrm>
            <a:off x="9052560" y="2514600"/>
            <a:ext cx="594360"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9683496" y="218541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v</a:t>
            </a:r>
          </a:p>
        </p:txBody>
      </p:sp>
      <p:cxnSp>
        <p:nvCxnSpPr>
          <p:cNvPr id="27" name="Connector 26"/>
          <p:cNvCxnSpPr/>
          <p:nvPr/>
        </p:nvCxnSpPr>
        <p:spPr>
          <a:xfrm>
            <a:off x="10378440" y="2514600"/>
            <a:ext cx="594360"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972800" y="2240280"/>
            <a:ext cx="548640" cy="548640"/>
          </a:xfrm>
          <a:prstGeom prst="rect">
            <a:avLst/>
          </a:prstGeom>
          <a:noFill/>
        </p:spPr>
        <p:txBody>
          <a:bodyPr wrap="square" lIns="45720" tIns="27432" rIns="45720" bIns="27432" anchor="ctr"/>
          <a:lstStyle/>
          <a:p>
            <a:pPr algn="ctr">
              <a:spcAft>
                <a:spcPts val="800"/>
              </a:spcAft>
            </a:pPr>
            <a:r>
              <a:rPr sz="2000" b="0" i="0">
                <a:solidFill>
                  <a:srgbClr val="1F2A44"/>
                </a:solidFill>
                <a:latin typeface="Calibri"/>
              </a:rPr>
              <a:t>∅</a:t>
            </a:r>
          </a:p>
        </p:txBody>
      </p:sp>
      <p:sp>
        <p:nvSpPr>
          <p:cNvPr id="29" name="TextBox 28"/>
          <p:cNvSpPr txBox="1"/>
          <p:nvPr/>
        </p:nvSpPr>
        <p:spPr>
          <a:xfrm>
            <a:off x="8412480" y="3291840"/>
            <a:ext cx="3200400" cy="1188720"/>
          </a:xfrm>
          <a:prstGeom prst="rect">
            <a:avLst/>
          </a:prstGeom>
          <a:noFill/>
        </p:spPr>
        <p:txBody>
          <a:bodyPr wrap="square" lIns="45720" tIns="27432" rIns="45720" bIns="27432" anchor="t"/>
          <a:lstStyle/>
          <a:p>
            <a:pPr algn="ctr">
              <a:spcAft>
                <a:spcPts val="400"/>
              </a:spcAft>
            </a:pPr>
            <a:r>
              <a:rPr sz="2000" b="0" i="0">
                <a:solidFill>
                  <a:srgbClr val="2B2B2B"/>
                </a:solidFill>
                <a:latin typeface="Calibri"/>
              </a:rPr>
              <a:t>empty tail or head</a:t>
            </a:r>
          </a:p>
          <a:p>
            <a:pPr algn="ctr">
              <a:spcAft>
                <a:spcPts val="400"/>
              </a:spcAft>
            </a:pPr>
            <a:r>
              <a:rPr sz="2000" b="0" i="0">
                <a:solidFill>
                  <a:srgbClr val="6B7280"/>
                </a:solidFill>
                <a:latin typeface="Calibri"/>
              </a:rPr>
              <a:t>(exchange reactions)</a:t>
            </a:r>
          </a:p>
        </p:txBody>
      </p:sp>
      <p:sp>
        <p:nvSpPr>
          <p:cNvPr id="30" name="TextBox 29"/>
          <p:cNvSpPr txBox="1"/>
          <p:nvPr/>
        </p:nvSpPr>
        <p:spPr>
          <a:xfrm>
            <a:off x="548640" y="4892040"/>
            <a:ext cx="11064240" cy="1371600"/>
          </a:xfrm>
          <a:prstGeom prst="rect">
            <a:avLst/>
          </a:prstGeom>
          <a:noFill/>
        </p:spPr>
        <p:txBody>
          <a:bodyPr wrap="square" lIns="45720" tIns="27432" rIns="45720" bIns="27432" anchor="t"/>
          <a:lstStyle/>
          <a:p>
            <a:pPr algn="l">
              <a:spcAft>
                <a:spcPts val="800"/>
              </a:spcAft>
            </a:pPr>
            <a:r>
              <a:rPr sz="2000" b="0" i="0" dirty="0">
                <a:solidFill>
                  <a:srgbClr val="2B2B2B"/>
                </a:solidFill>
                <a:latin typeface="Calibri"/>
              </a:rPr>
              <a:t>so FBA is just a flow on the hypergraph, and graphs are the special case of one tail and one head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Every method = map data, edit the graph, constrain, solve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17</a:t>
            </a:r>
          </a:p>
        </p:txBody>
      </p:sp>
      <p:pic>
        <p:nvPicPr>
          <p:cNvPr id="6" name="Picture 5" descr="fig2ad.png"/>
          <p:cNvPicPr>
            <a:picLocks noChangeAspect="1"/>
          </p:cNvPicPr>
          <p:nvPr/>
        </p:nvPicPr>
        <p:blipFill>
          <a:blip r:embed="rId3"/>
          <a:stretch>
            <a:fillRect/>
          </a:stretch>
        </p:blipFill>
        <p:spPr>
          <a:xfrm>
            <a:off x="548640" y="1280160"/>
            <a:ext cx="11064240" cy="3825602"/>
          </a:xfrm>
          <a:prstGeom prst="rect">
            <a:avLst/>
          </a:prstGeom>
        </p:spPr>
      </p:pic>
      <p:sp>
        <p:nvSpPr>
          <p:cNvPr id="7" name="Rounded Rectangle 6"/>
          <p:cNvSpPr/>
          <p:nvPr/>
        </p:nvSpPr>
        <p:spPr>
          <a:xfrm>
            <a:off x="548640" y="5212080"/>
            <a:ext cx="2651760" cy="1005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5230368"/>
            <a:ext cx="2651760" cy="960120"/>
          </a:xfrm>
          <a:prstGeom prst="rect">
            <a:avLst/>
          </a:prstGeom>
          <a:noFill/>
        </p:spPr>
        <p:txBody>
          <a:bodyPr wrap="square" lIns="45720" tIns="27432" rIns="45720" bIns="27432" anchor="ctr"/>
          <a:lstStyle/>
          <a:p>
            <a:pPr algn="ctr">
              <a:spcAft>
                <a:spcPts val="200"/>
              </a:spcAft>
            </a:pPr>
            <a:r>
              <a:rPr sz="2000" b="0" i="0">
                <a:solidFill>
                  <a:srgbClr val="0072B2"/>
                </a:solidFill>
                <a:latin typeface="Calibri"/>
              </a:rPr>
              <a:t>φ  map</a:t>
            </a:r>
          </a:p>
          <a:p>
            <a:pPr algn="ctr">
              <a:spcAft>
                <a:spcPts val="200"/>
              </a:spcAft>
            </a:pPr>
            <a:r>
              <a:rPr sz="2000" b="0" i="0">
                <a:solidFill>
                  <a:srgbClr val="2B2B2B"/>
                </a:solidFill>
                <a:latin typeface="Calibri"/>
              </a:rPr>
              <a:t>omics onto the PKN</a:t>
            </a:r>
          </a:p>
        </p:txBody>
      </p:sp>
      <p:sp>
        <p:nvSpPr>
          <p:cNvPr id="9" name="Rounded Rectangle 8"/>
          <p:cNvSpPr/>
          <p:nvPr/>
        </p:nvSpPr>
        <p:spPr>
          <a:xfrm>
            <a:off x="3337560" y="5212080"/>
            <a:ext cx="2651760" cy="1005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337560" y="5230368"/>
            <a:ext cx="2651760" cy="960120"/>
          </a:xfrm>
          <a:prstGeom prst="rect">
            <a:avLst/>
          </a:prstGeom>
          <a:noFill/>
        </p:spPr>
        <p:txBody>
          <a:bodyPr wrap="square" lIns="45720" tIns="27432" rIns="45720" bIns="27432" anchor="ctr"/>
          <a:lstStyle/>
          <a:p>
            <a:pPr algn="ctr">
              <a:spcAft>
                <a:spcPts val="200"/>
              </a:spcAft>
            </a:pPr>
            <a:r>
              <a:rPr sz="2000" b="0" i="0">
                <a:solidFill>
                  <a:srgbClr val="0072B2"/>
                </a:solidFill>
                <a:latin typeface="Calibri"/>
              </a:rPr>
              <a:t>ψ  edit</a:t>
            </a:r>
          </a:p>
          <a:p>
            <a:pPr algn="ctr">
              <a:spcAft>
                <a:spcPts val="200"/>
              </a:spcAft>
            </a:pPr>
            <a:r>
              <a:rPr sz="2000" b="0" i="0">
                <a:solidFill>
                  <a:srgbClr val="2B2B2B"/>
                </a:solidFill>
                <a:latin typeface="Calibri"/>
              </a:rPr>
              <a:t>add sources, sinks; prune</a:t>
            </a:r>
          </a:p>
        </p:txBody>
      </p:sp>
      <p:sp>
        <p:nvSpPr>
          <p:cNvPr id="11" name="Rounded Rectangle 10"/>
          <p:cNvSpPr/>
          <p:nvPr/>
        </p:nvSpPr>
        <p:spPr>
          <a:xfrm>
            <a:off x="6126479" y="5212080"/>
            <a:ext cx="2651760" cy="1005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79" y="5230368"/>
            <a:ext cx="2651760" cy="960120"/>
          </a:xfrm>
          <a:prstGeom prst="rect">
            <a:avLst/>
          </a:prstGeom>
          <a:noFill/>
        </p:spPr>
        <p:txBody>
          <a:bodyPr wrap="square" lIns="45720" tIns="27432" rIns="45720" bIns="27432" anchor="ctr"/>
          <a:lstStyle/>
          <a:p>
            <a:pPr algn="ctr">
              <a:spcAft>
                <a:spcPts val="200"/>
              </a:spcAft>
            </a:pPr>
            <a:r>
              <a:rPr sz="2000" b="0" i="0">
                <a:solidFill>
                  <a:srgbClr val="0072B2"/>
                </a:solidFill>
                <a:latin typeface="Calibri"/>
              </a:rPr>
              <a:t>f, Ω  model</a:t>
            </a:r>
          </a:p>
          <a:p>
            <a:pPr algn="ctr">
              <a:spcAft>
                <a:spcPts val="200"/>
              </a:spcAft>
            </a:pPr>
            <a:r>
              <a:rPr sz="2000" b="0" i="0">
                <a:solidFill>
                  <a:srgbClr val="2B2B2B"/>
                </a:solidFill>
                <a:latin typeface="Calibri"/>
              </a:rPr>
              <a:t>objective + constraints</a:t>
            </a:r>
          </a:p>
        </p:txBody>
      </p:sp>
      <p:sp>
        <p:nvSpPr>
          <p:cNvPr id="13" name="Rounded Rectangle 12"/>
          <p:cNvSpPr/>
          <p:nvPr/>
        </p:nvSpPr>
        <p:spPr>
          <a:xfrm>
            <a:off x="8915399" y="5212080"/>
            <a:ext cx="2651760" cy="1005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915399" y="5230368"/>
            <a:ext cx="2651760" cy="960120"/>
          </a:xfrm>
          <a:prstGeom prst="rect">
            <a:avLst/>
          </a:prstGeom>
          <a:noFill/>
        </p:spPr>
        <p:txBody>
          <a:bodyPr wrap="square" lIns="45720" tIns="27432" rIns="45720" bIns="27432" anchor="ctr"/>
          <a:lstStyle/>
          <a:p>
            <a:pPr algn="ctr">
              <a:spcAft>
                <a:spcPts val="200"/>
              </a:spcAft>
            </a:pPr>
            <a:r>
              <a:rPr sz="2000" b="0" i="0">
                <a:solidFill>
                  <a:srgbClr val="0072B2"/>
                </a:solidFill>
                <a:latin typeface="Calibri"/>
              </a:rPr>
              <a:t>Solve</a:t>
            </a:r>
          </a:p>
          <a:p>
            <a:pPr algn="ctr">
              <a:spcAft>
                <a:spcPts val="200"/>
              </a:spcAft>
            </a:pPr>
            <a:r>
              <a:rPr sz="2000" b="0" i="0">
                <a:solidFill>
                  <a:srgbClr val="2B2B2B"/>
                </a:solidFill>
                <a:latin typeface="Calibri"/>
              </a:rPr>
              <a:t>optimal networks + proof</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8DF73-FAE1-4692-C9B3-807325595C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6F1D85-B93D-9A53-A40D-E0B89EDB2A14}"/>
              </a:ext>
            </a:extLst>
          </p:cNvPr>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Map, edit, merge</a:t>
            </a:r>
          </a:p>
        </p:txBody>
      </p:sp>
      <p:cxnSp>
        <p:nvCxnSpPr>
          <p:cNvPr id="3" name="Connector 2">
            <a:extLst>
              <a:ext uri="{FF2B5EF4-FFF2-40B4-BE49-F238E27FC236}">
                <a16:creationId xmlns:a16="http://schemas.microsoft.com/office/drawing/2014/main" id="{F6EDDCF6-C29A-7E6D-8ECB-91D53EA4A0C2}"/>
              </a:ext>
            </a:extLst>
          </p:cNvPr>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4986A5A-4FB5-AF9C-7EBF-A67B21D676C8}"/>
              </a:ext>
            </a:extLst>
          </p:cNvPr>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a:extLst>
              <a:ext uri="{FF2B5EF4-FFF2-40B4-BE49-F238E27FC236}">
                <a16:creationId xmlns:a16="http://schemas.microsoft.com/office/drawing/2014/main" id="{96E73881-1971-2BCE-EBEB-FE31976EACF8}"/>
              </a:ext>
            </a:extLst>
          </p:cNvPr>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47</a:t>
            </a:r>
          </a:p>
        </p:txBody>
      </p:sp>
      <p:sp>
        <p:nvSpPr>
          <p:cNvPr id="6" name="Rounded Rectangle 5">
            <a:extLst>
              <a:ext uri="{FF2B5EF4-FFF2-40B4-BE49-F238E27FC236}">
                <a16:creationId xmlns:a16="http://schemas.microsoft.com/office/drawing/2014/main" id="{A10C3E95-99B1-9197-4A6D-8E7DDCDAD4B9}"/>
              </a:ext>
            </a:extLst>
          </p:cNvPr>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a:extLst>
              <a:ext uri="{FF2B5EF4-FFF2-40B4-BE49-F238E27FC236}">
                <a16:creationId xmlns:a16="http://schemas.microsoft.com/office/drawing/2014/main" id="{1865689C-3ACE-ED62-D6E0-C88B6824FFD0}"/>
              </a:ext>
            </a:extLst>
          </p:cNvPr>
          <p:cNvSpPr/>
          <p:nvPr/>
        </p:nvSpPr>
        <p:spPr>
          <a:xfrm>
            <a:off x="548640" y="1325880"/>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5223F05-DC56-6370-54D6-8DE9683254F8}"/>
              </a:ext>
            </a:extLst>
          </p:cNvPr>
          <p:cNvSpPr txBox="1"/>
          <p:nvPr/>
        </p:nvSpPr>
        <p:spPr>
          <a:xfrm>
            <a:off x="685800" y="1380744"/>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Map</a:t>
            </a:r>
          </a:p>
          <a:p>
            <a:pPr algn="l">
              <a:spcAft>
                <a:spcPts val="0"/>
              </a:spcAft>
            </a:pPr>
            <a:r>
              <a:rPr sz="1800" b="0" i="0">
                <a:solidFill>
                  <a:srgbClr val="6B7280"/>
                </a:solidFill>
                <a:latin typeface="Calibri"/>
              </a:rPr>
              <a:t>values per sample</a:t>
            </a:r>
          </a:p>
        </p:txBody>
      </p:sp>
      <p:pic>
        <p:nvPicPr>
          <p:cNvPr id="9" name="Picture 8" descr="phi.png">
            <a:extLst>
              <a:ext uri="{FF2B5EF4-FFF2-40B4-BE49-F238E27FC236}">
                <a16:creationId xmlns:a16="http://schemas.microsoft.com/office/drawing/2014/main" id="{9E3A5A8D-9396-2055-9788-9267C01E59DD}"/>
              </a:ext>
            </a:extLst>
          </p:cNvPr>
          <p:cNvPicPr>
            <a:picLocks noChangeAspect="1"/>
          </p:cNvPicPr>
          <p:nvPr/>
        </p:nvPicPr>
        <p:blipFill>
          <a:blip r:embed="rId3"/>
          <a:stretch>
            <a:fillRect/>
          </a:stretch>
        </p:blipFill>
        <p:spPr>
          <a:xfrm>
            <a:off x="3685032" y="1625803"/>
            <a:ext cx="6675120" cy="332841"/>
          </a:xfrm>
          <a:prstGeom prst="rect">
            <a:avLst/>
          </a:prstGeom>
        </p:spPr>
      </p:pic>
      <p:sp>
        <p:nvSpPr>
          <p:cNvPr id="10" name="Rounded Rectangle 9">
            <a:extLst>
              <a:ext uri="{FF2B5EF4-FFF2-40B4-BE49-F238E27FC236}">
                <a16:creationId xmlns:a16="http://schemas.microsoft.com/office/drawing/2014/main" id="{24F198D3-310A-5E56-8F95-EE2F3115A1D0}"/>
              </a:ext>
            </a:extLst>
          </p:cNvPr>
          <p:cNvSpPr/>
          <p:nvPr/>
        </p:nvSpPr>
        <p:spPr>
          <a:xfrm>
            <a:off x="548640" y="2350008"/>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380A8BBA-0E1F-2080-8A85-48447B853666}"/>
              </a:ext>
            </a:extLst>
          </p:cNvPr>
          <p:cNvSpPr txBox="1"/>
          <p:nvPr/>
        </p:nvSpPr>
        <p:spPr>
          <a:xfrm>
            <a:off x="685800" y="2404872"/>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Edit</a:t>
            </a:r>
          </a:p>
          <a:p>
            <a:pPr algn="l">
              <a:spcAft>
                <a:spcPts val="0"/>
              </a:spcAft>
            </a:pPr>
            <a:r>
              <a:rPr sz="1800" b="0" i="0">
                <a:solidFill>
                  <a:srgbClr val="6B7280"/>
                </a:solidFill>
                <a:latin typeface="Calibri"/>
              </a:rPr>
              <a:t>prune; add sources, sinks</a:t>
            </a:r>
          </a:p>
        </p:txBody>
      </p:sp>
      <p:pic>
        <p:nvPicPr>
          <p:cNvPr id="12" name="Picture 11" descr="psi.png">
            <a:extLst>
              <a:ext uri="{FF2B5EF4-FFF2-40B4-BE49-F238E27FC236}">
                <a16:creationId xmlns:a16="http://schemas.microsoft.com/office/drawing/2014/main" id="{93D16A6C-2E1B-895B-A78F-2D934DDBBD87}"/>
              </a:ext>
            </a:extLst>
          </p:cNvPr>
          <p:cNvPicPr>
            <a:picLocks noChangeAspect="1"/>
          </p:cNvPicPr>
          <p:nvPr/>
        </p:nvPicPr>
        <p:blipFill>
          <a:blip r:embed="rId4"/>
          <a:stretch>
            <a:fillRect/>
          </a:stretch>
        </p:blipFill>
        <p:spPr>
          <a:xfrm>
            <a:off x="3685032" y="2649931"/>
            <a:ext cx="3862425" cy="332841"/>
          </a:xfrm>
          <a:prstGeom prst="rect">
            <a:avLst/>
          </a:prstGeom>
        </p:spPr>
      </p:pic>
      <p:sp>
        <p:nvSpPr>
          <p:cNvPr id="13" name="Rounded Rectangle 12">
            <a:extLst>
              <a:ext uri="{FF2B5EF4-FFF2-40B4-BE49-F238E27FC236}">
                <a16:creationId xmlns:a16="http://schemas.microsoft.com/office/drawing/2014/main" id="{4FFF7DA2-6B9B-656B-DCDF-7F8977164FB8}"/>
              </a:ext>
            </a:extLst>
          </p:cNvPr>
          <p:cNvSpPr/>
          <p:nvPr/>
        </p:nvSpPr>
        <p:spPr>
          <a:xfrm>
            <a:off x="548640" y="3374136"/>
            <a:ext cx="11091672" cy="1016812"/>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060E2693-68A6-148F-41E0-A08B7E195ED1}"/>
              </a:ext>
            </a:extLst>
          </p:cNvPr>
          <p:cNvSpPr txBox="1"/>
          <p:nvPr/>
        </p:nvSpPr>
        <p:spPr>
          <a:xfrm>
            <a:off x="685800" y="3429000"/>
            <a:ext cx="2834640" cy="925372"/>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Merge</a:t>
            </a:r>
          </a:p>
          <a:p>
            <a:pPr algn="l">
              <a:spcAft>
                <a:spcPts val="0"/>
              </a:spcAft>
            </a:pPr>
            <a:r>
              <a:rPr sz="1800" b="0" i="0">
                <a:solidFill>
                  <a:srgbClr val="6B7280"/>
                </a:solidFill>
                <a:latin typeface="Calibri"/>
              </a:rPr>
              <a:t>one union graph</a:t>
            </a:r>
          </a:p>
        </p:txBody>
      </p:sp>
      <p:pic>
        <p:nvPicPr>
          <p:cNvPr id="15" name="Picture 14" descr="union.png">
            <a:extLst>
              <a:ext uri="{FF2B5EF4-FFF2-40B4-BE49-F238E27FC236}">
                <a16:creationId xmlns:a16="http://schemas.microsoft.com/office/drawing/2014/main" id="{B9E582F8-1083-5059-ACC1-41BB966D0268}"/>
              </a:ext>
            </a:extLst>
          </p:cNvPr>
          <p:cNvPicPr>
            <a:picLocks noChangeAspect="1"/>
          </p:cNvPicPr>
          <p:nvPr/>
        </p:nvPicPr>
        <p:blipFill>
          <a:blip r:embed="rId5"/>
          <a:stretch>
            <a:fillRect/>
          </a:stretch>
        </p:blipFill>
        <p:spPr>
          <a:xfrm>
            <a:off x="3685032" y="3511296"/>
            <a:ext cx="2205532" cy="742492"/>
          </a:xfrm>
          <a:prstGeom prst="rect">
            <a:avLst/>
          </a:prstGeom>
        </p:spPr>
      </p:pic>
      <p:sp>
        <p:nvSpPr>
          <p:cNvPr id="16" name="Rounded Rectangle 15">
            <a:extLst>
              <a:ext uri="{FF2B5EF4-FFF2-40B4-BE49-F238E27FC236}">
                <a16:creationId xmlns:a16="http://schemas.microsoft.com/office/drawing/2014/main" id="{94A6C750-EAFA-172E-175F-D3D62E5F5376}"/>
              </a:ext>
            </a:extLst>
          </p:cNvPr>
          <p:cNvSpPr/>
          <p:nvPr/>
        </p:nvSpPr>
        <p:spPr>
          <a:xfrm>
            <a:off x="548640" y="4482388"/>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0D4FEC1-BC7D-0B23-58FF-EA6540FB7AE6}"/>
              </a:ext>
            </a:extLst>
          </p:cNvPr>
          <p:cNvSpPr txBox="1"/>
          <p:nvPr/>
        </p:nvSpPr>
        <p:spPr>
          <a:xfrm>
            <a:off x="685800" y="4537252"/>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Method</a:t>
            </a:r>
          </a:p>
          <a:p>
            <a:pPr algn="l">
              <a:spcAft>
                <a:spcPts val="0"/>
              </a:spcAft>
            </a:pPr>
            <a:r>
              <a:rPr sz="1800" b="0" i="0">
                <a:solidFill>
                  <a:srgbClr val="6B7280"/>
                </a:solidFill>
                <a:latin typeface="Calibri"/>
              </a:rPr>
              <a:t>map, edit, problem</a:t>
            </a:r>
          </a:p>
        </p:txBody>
      </p:sp>
      <p:pic>
        <p:nvPicPr>
          <p:cNvPr id="18" name="Picture 17" descr="method.png">
            <a:extLst>
              <a:ext uri="{FF2B5EF4-FFF2-40B4-BE49-F238E27FC236}">
                <a16:creationId xmlns:a16="http://schemas.microsoft.com/office/drawing/2014/main" id="{47790198-994C-AB33-B85C-D1FB1A3D41C2}"/>
              </a:ext>
            </a:extLst>
          </p:cNvPr>
          <p:cNvPicPr>
            <a:picLocks noChangeAspect="1"/>
          </p:cNvPicPr>
          <p:nvPr/>
        </p:nvPicPr>
        <p:blipFill>
          <a:blip r:embed="rId6"/>
          <a:stretch>
            <a:fillRect/>
          </a:stretch>
        </p:blipFill>
        <p:spPr>
          <a:xfrm>
            <a:off x="3685032" y="4804257"/>
            <a:ext cx="3873398" cy="288950"/>
          </a:xfrm>
          <a:prstGeom prst="rect">
            <a:avLst/>
          </a:prstGeom>
        </p:spPr>
      </p:pic>
      <p:sp>
        <p:nvSpPr>
          <p:cNvPr id="19" name="TextBox 18">
            <a:extLst>
              <a:ext uri="{FF2B5EF4-FFF2-40B4-BE49-F238E27FC236}">
                <a16:creationId xmlns:a16="http://schemas.microsoft.com/office/drawing/2014/main" id="{8BCE74B1-D974-6966-4595-D9BB0E75B1E3}"/>
              </a:ext>
            </a:extLst>
          </p:cNvPr>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eq. 4 and method definition</a:t>
            </a:r>
          </a:p>
        </p:txBody>
      </p:sp>
    </p:spTree>
    <p:extLst>
      <p:ext uri="{BB962C8B-B14F-4D97-AF65-F5344CB8AC3E}">
        <p14:creationId xmlns:p14="http://schemas.microsoft.com/office/powerpoint/2010/main" val="3665626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Idea 3: one template for every method and every sample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18</a:t>
            </a:r>
          </a:p>
        </p:txBody>
      </p:sp>
      <p:sp>
        <p:nvSpPr>
          <p:cNvPr id="6" name="Rounded Rectangle 5"/>
          <p:cNvSpPr/>
          <p:nvPr/>
        </p:nvSpPr>
        <p:spPr>
          <a:xfrm>
            <a:off x="548640" y="1417320"/>
            <a:ext cx="11064240" cy="23317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3977639"/>
            <a:ext cx="11064240" cy="2286000"/>
          </a:xfrm>
          <a:prstGeom prst="rect">
            <a:avLst/>
          </a:prstGeom>
          <a:noFill/>
        </p:spPr>
        <p:txBody>
          <a:bodyPr wrap="square" lIns="45720" tIns="27432" rIns="45720" bIns="27432" anchor="t"/>
          <a:lstStyle/>
          <a:p>
            <a:pPr algn="l">
              <a:spcAft>
                <a:spcPts val="1000"/>
              </a:spcAft>
            </a:pPr>
            <a:r>
              <a:rPr sz="2000" b="0" i="0">
                <a:solidFill>
                  <a:srgbClr val="0072B2"/>
                </a:solidFill>
                <a:latin typeface="Calibri"/>
              </a:rPr>
              <a:t>X, Y: </a:t>
            </a:r>
            <a:r>
              <a:rPr sz="2000" b="0" i="0">
                <a:solidFill>
                  <a:srgbClr val="2B2B2B"/>
                </a:solidFill>
                <a:latin typeface="Calibri"/>
              </a:rPr>
              <a:t>flows and on/off indicators, edges × samples</a:t>
            </a:r>
          </a:p>
          <a:p>
            <a:pPr algn="l">
              <a:spcAft>
                <a:spcPts val="1000"/>
              </a:spcAft>
            </a:pPr>
            <a:r>
              <a:rPr sz="2000" b="0" i="0">
                <a:solidFill>
                  <a:srgbClr val="0072B2"/>
                </a:solidFill>
                <a:latin typeface="Calibri"/>
              </a:rPr>
              <a:t>f: </a:t>
            </a:r>
            <a:r>
              <a:rPr sz="2000" b="0" i="0">
                <a:solidFill>
                  <a:srgbClr val="2B2B2B"/>
                </a:solidFill>
                <a:latin typeface="Calibri"/>
              </a:rPr>
              <a:t>the original method's objective, per sample</a:t>
            </a:r>
          </a:p>
          <a:p>
            <a:pPr algn="l">
              <a:spcAft>
                <a:spcPts val="1000"/>
              </a:spcAft>
            </a:pPr>
            <a:r>
              <a:rPr sz="2000" b="0" i="0">
                <a:solidFill>
                  <a:srgbClr val="D55E00"/>
                </a:solidFill>
                <a:latin typeface="Calibri"/>
              </a:rPr>
              <a:t>‖Y 1ₙ‖₀: </a:t>
            </a:r>
            <a:r>
              <a:rPr sz="2000" b="0" i="0">
                <a:solidFill>
                  <a:srgbClr val="2B2B2B"/>
                </a:solidFill>
                <a:latin typeface="Calibri"/>
              </a:rPr>
              <a:t>number of edges used in any sample</a:t>
            </a:r>
          </a:p>
          <a:p>
            <a:pPr algn="l">
              <a:spcAft>
                <a:spcPts val="1000"/>
              </a:spcAft>
            </a:pPr>
            <a:r>
              <a:rPr sz="2000" b="0" i="0">
                <a:solidFill>
                  <a:srgbClr val="D55E00"/>
                </a:solidFill>
                <a:latin typeface="Calibri"/>
              </a:rPr>
              <a:t>λ: </a:t>
            </a:r>
            <a:r>
              <a:rPr sz="2000" b="0" i="0">
                <a:solidFill>
                  <a:srgbClr val="2B2B2B"/>
                </a:solidFill>
                <a:latin typeface="Calibri"/>
              </a:rPr>
              <a:t>trade-off between data fit and one shared, sparse network</a:t>
            </a:r>
          </a:p>
        </p:txBody>
      </p:sp>
      <p:pic>
        <p:nvPicPr>
          <p:cNvPr id="9" name="Picture 8" descr="tmpl.png"/>
          <p:cNvPicPr>
            <a:picLocks noChangeAspect="1"/>
          </p:cNvPicPr>
          <p:nvPr/>
        </p:nvPicPr>
        <p:blipFill>
          <a:blip r:embed="rId3"/>
          <a:stretch>
            <a:fillRect/>
          </a:stretch>
        </p:blipFill>
        <p:spPr>
          <a:xfrm>
            <a:off x="914400" y="1572768"/>
            <a:ext cx="9264664" cy="184990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Each method is a choice of graph edits, constraints and objective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19</a:t>
            </a:r>
          </a:p>
        </p:txBody>
      </p:sp>
      <p:graphicFrame>
        <p:nvGraphicFramePr>
          <p:cNvPr id="6" name="Table 5"/>
          <p:cNvGraphicFramePr>
            <a:graphicFrameLocks noGrp="1"/>
          </p:cNvGraphicFramePr>
          <p:nvPr/>
        </p:nvGraphicFramePr>
        <p:xfrm>
          <a:off x="548640" y="1417320"/>
          <a:ext cx="11064240" cy="4279392"/>
        </p:xfrm>
        <a:graphic>
          <a:graphicData uri="http://schemas.openxmlformats.org/drawingml/2006/table">
            <a:tbl>
              <a:tblPr>
                <a:tableStyleId>{5C22544A-7EE6-4342-B048-85BDC9FD1C3A}</a:tableStyleId>
              </a:tblPr>
              <a:tblGrid>
                <a:gridCol w="22402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713232">
                <a:tc>
                  <a:txBody>
                    <a:bodyPr/>
                    <a:lstStyle/>
                    <a:p>
                      <a:r>
                        <a:rPr sz="2000" b="0">
                          <a:solidFill>
                            <a:srgbClr val="FFFFFF"/>
                          </a:solidFill>
                          <a:latin typeface="Calibri"/>
                        </a:rPr>
                        <a:t>Method</a:t>
                      </a:r>
                    </a:p>
                  </a:txBody>
                  <a:tcPr marL="73152" marR="73152" marT="27432" marB="27432" anchor="ctr">
                    <a:solidFill>
                      <a:srgbClr val="1F2A44"/>
                    </a:solidFill>
                  </a:tcPr>
                </a:tc>
                <a:tc>
                  <a:txBody>
                    <a:bodyPr/>
                    <a:lstStyle/>
                    <a:p>
                      <a:r>
                        <a:rPr sz="2000" b="0">
                          <a:solidFill>
                            <a:srgbClr val="FFFFFF"/>
                          </a:solidFill>
                          <a:latin typeface="Calibri"/>
                        </a:rPr>
                        <a:t>Graph edits (ψ)</a:t>
                      </a:r>
                    </a:p>
                  </a:txBody>
                  <a:tcPr marL="73152" marR="73152" marT="27432" marB="27432" anchor="ctr">
                    <a:solidFill>
                      <a:srgbClr val="1F2A44"/>
                    </a:solidFill>
                  </a:tcPr>
                </a:tc>
                <a:tc>
                  <a:txBody>
                    <a:bodyPr/>
                    <a:lstStyle/>
                    <a:p>
                      <a:r>
                        <a:rPr sz="2000" b="0">
                          <a:solidFill>
                            <a:srgbClr val="FFFFFF"/>
                          </a:solidFill>
                          <a:latin typeface="Calibri"/>
                        </a:rPr>
                        <a:t>Constraints (Ω)</a:t>
                      </a:r>
                    </a:p>
                  </a:txBody>
                  <a:tcPr marL="73152" marR="73152" marT="27432" marB="27432" anchor="ctr">
                    <a:solidFill>
                      <a:srgbClr val="1F2A44"/>
                    </a:solidFill>
                  </a:tcPr>
                </a:tc>
                <a:tc>
                  <a:txBody>
                    <a:bodyPr/>
                    <a:lstStyle/>
                    <a:p>
                      <a:r>
                        <a:rPr sz="2000" b="0">
                          <a:solidFill>
                            <a:srgbClr val="FFFFFF"/>
                          </a:solidFill>
                          <a:latin typeface="Calibri"/>
                        </a:rPr>
                        <a:t>Objective (f)</a:t>
                      </a:r>
                    </a:p>
                  </a:txBody>
                  <a:tcPr marL="73152" marR="73152" marT="27432" marB="27432" anchor="ctr">
                    <a:solidFill>
                      <a:srgbClr val="1F2A44"/>
                    </a:solidFill>
                  </a:tcPr>
                </a:tc>
                <a:extLst>
                  <a:ext uri="{0D108BD9-81ED-4DB2-BD59-A6C34878D82A}">
                    <a16:rowId xmlns:a16="http://schemas.microsoft.com/office/drawing/2014/main" val="10000"/>
                  </a:ext>
                </a:extLst>
              </a:tr>
              <a:tr h="713232">
                <a:tc>
                  <a:txBody>
                    <a:bodyPr/>
                    <a:lstStyle/>
                    <a:p>
                      <a:r>
                        <a:rPr sz="2000" b="0">
                          <a:solidFill>
                            <a:srgbClr val="0072B2"/>
                          </a:solidFill>
                          <a:latin typeface="Calibri"/>
                        </a:rPr>
                        <a:t>FBA</a:t>
                      </a:r>
                    </a:p>
                  </a:txBody>
                  <a:tcPr marL="73152" marR="73152" marT="27432" marB="27432" anchor="ctr">
                    <a:solidFill>
                      <a:srgbClr val="FFFFFF"/>
                    </a:solidFill>
                  </a:tcPr>
                </a:tc>
                <a:tc>
                  <a:txBody>
                    <a:bodyPr/>
                    <a:lstStyle/>
                    <a:p>
                      <a:r>
                        <a:rPr sz="2000" b="0">
                          <a:solidFill>
                            <a:srgbClr val="2B2B2B"/>
                          </a:solidFill>
                          <a:latin typeface="Calibri"/>
                        </a:rPr>
                        <a:t>none: exchange reactions</a:t>
                      </a:r>
                    </a:p>
                  </a:txBody>
                  <a:tcPr marL="73152" marR="73152" marT="27432" marB="27432" anchor="ctr">
                    <a:solidFill>
                      <a:srgbClr val="FFFFFF"/>
                    </a:solidFill>
                  </a:tcPr>
                </a:tc>
                <a:tc>
                  <a:txBody>
                    <a:bodyPr/>
                    <a:lstStyle/>
                    <a:p>
                      <a:r>
                        <a:rPr sz="2000" b="0">
                          <a:solidFill>
                            <a:srgbClr val="2B2B2B"/>
                          </a:solidFill>
                          <a:latin typeface="Calibri"/>
                        </a:rPr>
                        <a:t>flux bounds</a:t>
                      </a:r>
                    </a:p>
                  </a:txBody>
                  <a:tcPr marL="73152" marR="73152" marT="27432" marB="27432" anchor="ctr">
                    <a:solidFill>
                      <a:srgbClr val="FFFFFF"/>
                    </a:solidFill>
                  </a:tcPr>
                </a:tc>
                <a:tc>
                  <a:txBody>
                    <a:bodyPr/>
                    <a:lstStyle/>
                    <a:p>
                      <a:r>
                        <a:rPr sz="2000" b="0">
                          <a:solidFill>
                            <a:srgbClr val="2B2B2B"/>
                          </a:solidFill>
                          <a:latin typeface="Calibri"/>
                        </a:rPr>
                        <a:t>max biomass</a:t>
                      </a:r>
                    </a:p>
                  </a:txBody>
                  <a:tcPr marL="73152" marR="73152" marT="27432" marB="27432" anchor="ctr">
                    <a:solidFill>
                      <a:srgbClr val="FFFFFF"/>
                    </a:solidFill>
                  </a:tcPr>
                </a:tc>
                <a:extLst>
                  <a:ext uri="{0D108BD9-81ED-4DB2-BD59-A6C34878D82A}">
                    <a16:rowId xmlns:a16="http://schemas.microsoft.com/office/drawing/2014/main" val="10001"/>
                  </a:ext>
                </a:extLst>
              </a:tr>
              <a:tr h="713232">
                <a:tc>
                  <a:txBody>
                    <a:bodyPr/>
                    <a:lstStyle/>
                    <a:p>
                      <a:r>
                        <a:rPr sz="2000" b="0">
                          <a:solidFill>
                            <a:srgbClr val="0072B2"/>
                          </a:solidFill>
                          <a:latin typeface="Calibri"/>
                        </a:rPr>
                        <a:t>Sparse FBA</a:t>
                      </a:r>
                    </a:p>
                  </a:txBody>
                  <a:tcPr marL="73152" marR="73152" marT="27432" marB="27432" anchor="ctr">
                    <a:solidFill>
                      <a:srgbClr val="F3F4F6"/>
                    </a:solidFill>
                  </a:tcPr>
                </a:tc>
                <a:tc>
                  <a:txBody>
                    <a:bodyPr/>
                    <a:lstStyle/>
                    <a:p>
                      <a:r>
                        <a:rPr sz="2000" b="0">
                          <a:solidFill>
                            <a:srgbClr val="2B2B2B"/>
                          </a:solidFill>
                          <a:latin typeface="Calibri"/>
                        </a:rPr>
                        <a:t>none</a:t>
                      </a:r>
                    </a:p>
                  </a:txBody>
                  <a:tcPr marL="73152" marR="73152" marT="27432" marB="27432" anchor="ctr">
                    <a:solidFill>
                      <a:srgbClr val="F3F4F6"/>
                    </a:solidFill>
                  </a:tcPr>
                </a:tc>
                <a:tc>
                  <a:txBody>
                    <a:bodyPr/>
                    <a:lstStyle/>
                    <a:p>
                      <a:r>
                        <a:rPr sz="2000" b="0">
                          <a:solidFill>
                            <a:srgbClr val="2B2B2B"/>
                          </a:solidFill>
                          <a:latin typeface="Calibri"/>
                        </a:rPr>
                        <a:t>biomass ≥ x% of max</a:t>
                      </a:r>
                    </a:p>
                  </a:txBody>
                  <a:tcPr marL="73152" marR="73152" marT="27432" marB="27432" anchor="ctr">
                    <a:solidFill>
                      <a:srgbClr val="F3F4F6"/>
                    </a:solidFill>
                  </a:tcPr>
                </a:tc>
                <a:tc>
                  <a:txBody>
                    <a:bodyPr/>
                    <a:lstStyle/>
                    <a:p>
                      <a:r>
                        <a:rPr sz="2000" b="0">
                          <a:solidFill>
                            <a:srgbClr val="2B2B2B"/>
                          </a:solidFill>
                          <a:latin typeface="Calibri"/>
                        </a:rPr>
                        <a:t>fewest reactions</a:t>
                      </a:r>
                    </a:p>
                  </a:txBody>
                  <a:tcPr marL="73152" marR="73152" marT="27432" marB="27432" anchor="ctr">
                    <a:solidFill>
                      <a:srgbClr val="F3F4F6"/>
                    </a:solidFill>
                  </a:tcPr>
                </a:tc>
                <a:extLst>
                  <a:ext uri="{0D108BD9-81ED-4DB2-BD59-A6C34878D82A}">
                    <a16:rowId xmlns:a16="http://schemas.microsoft.com/office/drawing/2014/main" val="10002"/>
                  </a:ext>
                </a:extLst>
              </a:tr>
              <a:tr h="713232">
                <a:tc>
                  <a:txBody>
                    <a:bodyPr/>
                    <a:lstStyle/>
                    <a:p>
                      <a:r>
                        <a:rPr sz="2000" b="0">
                          <a:solidFill>
                            <a:srgbClr val="0072B2"/>
                          </a:solidFill>
                          <a:latin typeface="Calibri"/>
                        </a:rPr>
                        <a:t>iMAT</a:t>
                      </a:r>
                    </a:p>
                  </a:txBody>
                  <a:tcPr marL="73152" marR="73152" marT="27432" marB="27432" anchor="ctr">
                    <a:solidFill>
                      <a:srgbClr val="FFFFFF"/>
                    </a:solidFill>
                  </a:tcPr>
                </a:tc>
                <a:tc>
                  <a:txBody>
                    <a:bodyPr/>
                    <a:lstStyle/>
                    <a:p>
                      <a:r>
                        <a:rPr sz="2000" b="0">
                          <a:solidFill>
                            <a:srgbClr val="2B2B2B"/>
                          </a:solidFill>
                          <a:latin typeface="Calibri"/>
                        </a:rPr>
                        <a:t>none (data via GPR rules)</a:t>
                      </a:r>
                    </a:p>
                  </a:txBody>
                  <a:tcPr marL="73152" marR="73152" marT="27432" marB="27432" anchor="ctr">
                    <a:solidFill>
                      <a:srgbClr val="FFFFFF"/>
                    </a:solidFill>
                  </a:tcPr>
                </a:tc>
                <a:tc>
                  <a:txBody>
                    <a:bodyPr/>
                    <a:lstStyle/>
                    <a:p>
                      <a:r>
                        <a:rPr sz="2000" b="0">
                          <a:solidFill>
                            <a:srgbClr val="2B2B2B"/>
                          </a:solidFill>
                          <a:latin typeface="Calibri"/>
                        </a:rPr>
                        <a:t>flux on/off links</a:t>
                      </a:r>
                    </a:p>
                  </a:txBody>
                  <a:tcPr marL="73152" marR="73152" marT="27432" marB="27432" anchor="ctr">
                    <a:solidFill>
                      <a:srgbClr val="FFFFFF"/>
                    </a:solidFill>
                  </a:tcPr>
                </a:tc>
                <a:tc>
                  <a:txBody>
                    <a:bodyPr/>
                    <a:lstStyle/>
                    <a:p>
                      <a:r>
                        <a:rPr sz="2000" b="0">
                          <a:solidFill>
                            <a:srgbClr val="2B2B2B"/>
                          </a:solidFill>
                          <a:latin typeface="Calibri"/>
                        </a:rPr>
                        <a:t>high on, low off</a:t>
                      </a:r>
                    </a:p>
                  </a:txBody>
                  <a:tcPr marL="73152" marR="73152" marT="27432" marB="27432" anchor="ctr">
                    <a:solidFill>
                      <a:srgbClr val="FFFFFF"/>
                    </a:solidFill>
                  </a:tcPr>
                </a:tc>
                <a:extLst>
                  <a:ext uri="{0D108BD9-81ED-4DB2-BD59-A6C34878D82A}">
                    <a16:rowId xmlns:a16="http://schemas.microsoft.com/office/drawing/2014/main" val="10003"/>
                  </a:ext>
                </a:extLst>
              </a:tr>
              <a:tr h="713232">
                <a:tc>
                  <a:txBody>
                    <a:bodyPr/>
                    <a:lstStyle/>
                    <a:p>
                      <a:r>
                        <a:rPr sz="2000" b="0">
                          <a:solidFill>
                            <a:srgbClr val="0072B2"/>
                          </a:solidFill>
                          <a:latin typeface="Calibri"/>
                        </a:rPr>
                        <a:t>CARNIVAL</a:t>
                      </a:r>
                    </a:p>
                  </a:txBody>
                  <a:tcPr marL="73152" marR="73152" marT="27432" marB="27432" anchor="ctr">
                    <a:solidFill>
                      <a:srgbClr val="F3F4F6"/>
                    </a:solidFill>
                  </a:tcPr>
                </a:tc>
                <a:tc>
                  <a:txBody>
                    <a:bodyPr/>
                    <a:lstStyle/>
                    <a:p>
                      <a:r>
                        <a:rPr sz="2000" b="0">
                          <a:solidFill>
                            <a:srgbClr val="2B2B2B"/>
                          </a:solidFill>
                          <a:latin typeface="Calibri"/>
                        </a:rPr>
                        <a:t>sources at inputs, sinks at TFs</a:t>
                      </a:r>
                    </a:p>
                  </a:txBody>
                  <a:tcPr marL="73152" marR="73152" marT="27432" marB="27432" anchor="ctr">
                    <a:solidFill>
                      <a:srgbClr val="F3F4F6"/>
                    </a:solidFill>
                  </a:tcPr>
                </a:tc>
                <a:tc>
                  <a:txBody>
                    <a:bodyPr/>
                    <a:lstStyle/>
                    <a:p>
                      <a:r>
                        <a:rPr sz="2000" b="0">
                          <a:solidFill>
                            <a:srgbClr val="2B2B2B"/>
                          </a:solidFill>
                          <a:latin typeface="Calibri"/>
                        </a:rPr>
                        <a:t>tree + sign rules</a:t>
                      </a:r>
                    </a:p>
                  </a:txBody>
                  <a:tcPr marL="73152" marR="73152" marT="27432" marB="27432" anchor="ctr">
                    <a:solidFill>
                      <a:srgbClr val="F3F4F6"/>
                    </a:solidFill>
                  </a:tcPr>
                </a:tc>
                <a:tc>
                  <a:txBody>
                    <a:bodyPr/>
                    <a:lstStyle/>
                    <a:p>
                      <a:r>
                        <a:rPr sz="2000" b="0">
                          <a:solidFill>
                            <a:srgbClr val="2B2B2B"/>
                          </a:solidFill>
                          <a:latin typeface="Calibri"/>
                        </a:rPr>
                        <a:t>match TF activities</a:t>
                      </a:r>
                    </a:p>
                  </a:txBody>
                  <a:tcPr marL="73152" marR="73152" marT="27432" marB="27432" anchor="ctr">
                    <a:solidFill>
                      <a:srgbClr val="F3F4F6"/>
                    </a:solidFill>
                  </a:tcPr>
                </a:tc>
                <a:extLst>
                  <a:ext uri="{0D108BD9-81ED-4DB2-BD59-A6C34878D82A}">
                    <a16:rowId xmlns:a16="http://schemas.microsoft.com/office/drawing/2014/main" val="10004"/>
                  </a:ext>
                </a:extLst>
              </a:tr>
              <a:tr h="713232">
                <a:tc>
                  <a:txBody>
                    <a:bodyPr/>
                    <a:lstStyle/>
                    <a:p>
                      <a:r>
                        <a:rPr sz="2000" b="0">
                          <a:solidFill>
                            <a:srgbClr val="0072B2"/>
                          </a:solidFill>
                          <a:latin typeface="Calibri"/>
                        </a:rPr>
                        <a:t>Steiner / PCST</a:t>
                      </a:r>
                    </a:p>
                  </a:txBody>
                  <a:tcPr marL="73152" marR="73152" marT="27432" marB="27432" anchor="ctr">
                    <a:solidFill>
                      <a:srgbClr val="FFFFFF"/>
                    </a:solidFill>
                  </a:tcPr>
                </a:tc>
                <a:tc>
                  <a:txBody>
                    <a:bodyPr/>
                    <a:lstStyle/>
                    <a:p>
                      <a:r>
                        <a:rPr sz="2000" b="0">
                          <a:solidFill>
                            <a:srgbClr val="2B2B2B"/>
                          </a:solidFill>
                          <a:latin typeface="Calibri"/>
                        </a:rPr>
                        <a:t>source at root, sinks at terminals</a:t>
                      </a:r>
                    </a:p>
                  </a:txBody>
                  <a:tcPr marL="73152" marR="73152" marT="27432" marB="27432" anchor="ctr">
                    <a:solidFill>
                      <a:srgbClr val="FFFFFF"/>
                    </a:solidFill>
                  </a:tcPr>
                </a:tc>
                <a:tc>
                  <a:txBody>
                    <a:bodyPr/>
                    <a:lstStyle/>
                    <a:p>
                      <a:r>
                        <a:rPr sz="2000" b="0">
                          <a:solidFill>
                            <a:srgbClr val="2B2B2B"/>
                          </a:solidFill>
                          <a:latin typeface="Calibri"/>
                        </a:rPr>
                        <a:t>tree</a:t>
                      </a:r>
                    </a:p>
                  </a:txBody>
                  <a:tcPr marL="73152" marR="73152" marT="27432" marB="27432" anchor="ctr">
                    <a:solidFill>
                      <a:srgbClr val="FFFFFF"/>
                    </a:solidFill>
                  </a:tcPr>
                </a:tc>
                <a:tc>
                  <a:txBody>
                    <a:bodyPr/>
                    <a:lstStyle/>
                    <a:p>
                      <a:r>
                        <a:rPr sz="2000" b="0">
                          <a:solidFill>
                            <a:srgbClr val="2B2B2B"/>
                          </a:solidFill>
                          <a:latin typeface="Calibri"/>
                        </a:rPr>
                        <a:t>edge costs (− prizes)</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lang="en-US" sz="3200" dirty="0">
                <a:solidFill>
                  <a:srgbClr val="1F2A44"/>
                </a:solidFill>
                <a:latin typeface="Calibri"/>
              </a:rPr>
              <a:t>Single-sample vs Multi-samples</a:t>
            </a:r>
            <a:endParaRPr sz="3200" b="0" i="0" dirty="0">
              <a:solidFill>
                <a:srgbClr val="1F2A44"/>
              </a:solidFill>
              <a:latin typeface="Calibri"/>
            </a:endParaRP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20</a:t>
            </a:r>
          </a:p>
        </p:txBody>
      </p:sp>
      <p:pic>
        <p:nvPicPr>
          <p:cNvPr id="6" name="Picture 5" descr="fig2e.png"/>
          <p:cNvPicPr>
            <a:picLocks noChangeAspect="1"/>
          </p:cNvPicPr>
          <p:nvPr/>
        </p:nvPicPr>
        <p:blipFill>
          <a:blip r:embed="rId3"/>
          <a:stretch>
            <a:fillRect/>
          </a:stretch>
        </p:blipFill>
        <p:spPr>
          <a:xfrm>
            <a:off x="685800" y="1299824"/>
            <a:ext cx="10789920" cy="3737291"/>
          </a:xfrm>
          <a:prstGeom prst="rect">
            <a:avLst/>
          </a:prstGeom>
        </p:spPr>
      </p:pic>
      <p:sp>
        <p:nvSpPr>
          <p:cNvPr id="7" name="TextBox 6"/>
          <p:cNvSpPr txBox="1"/>
          <p:nvPr/>
        </p:nvSpPr>
        <p:spPr>
          <a:xfrm>
            <a:off x="548640" y="5166360"/>
            <a:ext cx="11064240" cy="1097280"/>
          </a:xfrm>
          <a:prstGeom prst="rect">
            <a:avLst/>
          </a:prstGeom>
          <a:noFill/>
        </p:spPr>
        <p:txBody>
          <a:bodyPr wrap="square" lIns="45720" tIns="27432" rIns="45720" bIns="27432" anchor="t"/>
          <a:lstStyle/>
          <a:p>
            <a:pPr algn="ctr">
              <a:spcAft>
                <a:spcPts val="800"/>
              </a:spcAft>
            </a:pPr>
            <a:endParaRPr lang="en-US" sz="2000" b="0" i="0" dirty="0">
              <a:solidFill>
                <a:srgbClr val="2B2B2B"/>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lang="en-US" sz="3200" dirty="0">
                <a:solidFill>
                  <a:srgbClr val="1F2A44"/>
                </a:solidFill>
                <a:latin typeface="Calibri"/>
              </a:rPr>
              <a:t>Merging optimization </a:t>
            </a:r>
            <a:r>
              <a:rPr lang="en-US" sz="3200" dirty="0" err="1">
                <a:solidFill>
                  <a:srgbClr val="1F2A44"/>
                </a:solidFill>
                <a:latin typeface="Calibri"/>
              </a:rPr>
              <a:t>prbolems</a:t>
            </a:r>
            <a:r>
              <a:rPr lang="en-US" sz="3200" dirty="0">
                <a:solidFill>
                  <a:srgbClr val="1F2A44"/>
                </a:solidFill>
                <a:latin typeface="Calibri"/>
              </a:rPr>
              <a:t> together</a:t>
            </a:r>
            <a:endParaRPr sz="3200" b="0" i="0" dirty="0">
              <a:solidFill>
                <a:srgbClr val="1F2A44"/>
              </a:solidFill>
              <a:latin typeface="Calibri"/>
            </a:endParaRP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21</a:t>
            </a:r>
          </a:p>
        </p:txBody>
      </p:sp>
      <p:sp>
        <p:nvSpPr>
          <p:cNvPr id="6" name="TextBox 5"/>
          <p:cNvSpPr txBox="1"/>
          <p:nvPr/>
        </p:nvSpPr>
        <p:spPr>
          <a:xfrm>
            <a:off x="548640" y="1554480"/>
            <a:ext cx="5120640" cy="2743200"/>
          </a:xfrm>
          <a:prstGeom prst="rect">
            <a:avLst/>
          </a:prstGeom>
          <a:noFill/>
        </p:spPr>
        <p:txBody>
          <a:bodyPr wrap="square" lIns="45720" tIns="27432" rIns="45720" bIns="27432" anchor="t"/>
          <a:lstStyle/>
          <a:p>
            <a:pPr algn="l">
              <a:spcAft>
                <a:spcPts val="1400"/>
              </a:spcAft>
            </a:pPr>
            <a:r>
              <a:rPr sz="2000" b="0" i="0" dirty="0">
                <a:solidFill>
                  <a:srgbClr val="1F2A44"/>
                </a:solidFill>
                <a:latin typeface="Calibri"/>
              </a:rPr>
              <a:t>f = α f₁ + β f₂</a:t>
            </a:r>
          </a:p>
          <a:p>
            <a:pPr algn="l">
              <a:spcAft>
                <a:spcPts val="1400"/>
              </a:spcAft>
            </a:pPr>
            <a:r>
              <a:rPr sz="2000" b="0" i="0" dirty="0">
                <a:solidFill>
                  <a:srgbClr val="1F2A44"/>
                </a:solidFill>
                <a:latin typeface="Calibri"/>
              </a:rPr>
              <a:t>Ω = Ω₁ ∩ Ω₂</a:t>
            </a:r>
          </a:p>
          <a:p>
            <a:pPr algn="l">
              <a:spcAft>
                <a:spcPts val="1400"/>
              </a:spcAft>
            </a:pPr>
            <a:r>
              <a:rPr sz="2000" b="1" i="0" dirty="0">
                <a:solidFill>
                  <a:srgbClr val="2B2B2B"/>
                </a:solidFill>
                <a:latin typeface="Calibri"/>
              </a:rPr>
              <a:t>Shared variables are merged</a:t>
            </a:r>
          </a:p>
        </p:txBody>
      </p:sp>
      <p:sp>
        <p:nvSpPr>
          <p:cNvPr id="7" name="Rounded Rectangle 6"/>
          <p:cNvSpPr/>
          <p:nvPr/>
        </p:nvSpPr>
        <p:spPr>
          <a:xfrm>
            <a:off x="6309360" y="1371600"/>
            <a:ext cx="5303520" cy="4160520"/>
          </a:xfrm>
          <a:prstGeom prst="roundRect">
            <a:avLst>
              <a:gd name="adj" fmla="val 8000"/>
            </a:avLst>
          </a:prstGeom>
          <a:noFill/>
          <a:ln w="190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6675120" y="1600200"/>
            <a:ext cx="4572000" cy="868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675120" y="1600200"/>
            <a:ext cx="4572000" cy="868680"/>
          </a:xfrm>
          <a:prstGeom prst="rect">
            <a:avLst/>
          </a:prstGeom>
          <a:noFill/>
        </p:spPr>
        <p:txBody>
          <a:bodyPr wrap="square" lIns="45720" tIns="27432" rIns="45720" bIns="27432" anchor="ctr"/>
          <a:lstStyle/>
          <a:p>
            <a:pPr algn="ctr">
              <a:spcAft>
                <a:spcPts val="800"/>
              </a:spcAft>
            </a:pPr>
            <a:r>
              <a:rPr sz="2000" b="0" i="0">
                <a:solidFill>
                  <a:srgbClr val="0072B2"/>
                </a:solidFill>
                <a:latin typeface="Calibri"/>
              </a:rPr>
              <a:t>Signalling: </a:t>
            </a:r>
            <a:r>
              <a:rPr sz="2000" b="0" i="0">
                <a:solidFill>
                  <a:srgbClr val="2B2B2B"/>
                </a:solidFill>
                <a:latin typeface="Calibri"/>
              </a:rPr>
              <a:t>signed graph</a:t>
            </a:r>
          </a:p>
        </p:txBody>
      </p:sp>
      <p:cxnSp>
        <p:nvCxnSpPr>
          <p:cNvPr id="10" name="Connector 9"/>
          <p:cNvCxnSpPr/>
          <p:nvPr/>
        </p:nvCxnSpPr>
        <p:spPr>
          <a:xfrm>
            <a:off x="8961120" y="2487168"/>
            <a:ext cx="0" cy="329184"/>
          </a:xfrm>
          <a:prstGeom prst="line">
            <a:avLst/>
          </a:prstGeom>
          <a:ln w="2540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675120" y="2834640"/>
            <a:ext cx="4572000" cy="868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675120" y="2834640"/>
            <a:ext cx="4572000" cy="868680"/>
          </a:xfrm>
          <a:prstGeom prst="rect">
            <a:avLst/>
          </a:prstGeom>
          <a:noFill/>
        </p:spPr>
        <p:txBody>
          <a:bodyPr wrap="square" lIns="45720" tIns="27432" rIns="45720" bIns="27432" anchor="ctr"/>
          <a:lstStyle/>
          <a:p>
            <a:pPr algn="ctr">
              <a:spcAft>
                <a:spcPts val="800"/>
              </a:spcAft>
            </a:pPr>
            <a:r>
              <a:rPr sz="2000" b="0" i="0">
                <a:solidFill>
                  <a:srgbClr val="0072B2"/>
                </a:solidFill>
                <a:latin typeface="Calibri"/>
              </a:rPr>
              <a:t>Gene regulation: </a:t>
            </a:r>
            <a:r>
              <a:rPr sz="2000" b="0" i="0">
                <a:solidFill>
                  <a:srgbClr val="2B2B2B"/>
                </a:solidFill>
                <a:latin typeface="Calibri"/>
              </a:rPr>
              <a:t>TF → genes</a:t>
            </a:r>
          </a:p>
        </p:txBody>
      </p:sp>
      <p:cxnSp>
        <p:nvCxnSpPr>
          <p:cNvPr id="13" name="Connector 12"/>
          <p:cNvCxnSpPr/>
          <p:nvPr/>
        </p:nvCxnSpPr>
        <p:spPr>
          <a:xfrm>
            <a:off x="8961120" y="3721608"/>
            <a:ext cx="0" cy="329183"/>
          </a:xfrm>
          <a:prstGeom prst="line">
            <a:avLst/>
          </a:prstGeom>
          <a:ln w="2540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675120" y="4069080"/>
            <a:ext cx="4572000" cy="868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675120" y="4069080"/>
            <a:ext cx="4572000" cy="868680"/>
          </a:xfrm>
          <a:prstGeom prst="rect">
            <a:avLst/>
          </a:prstGeom>
          <a:noFill/>
        </p:spPr>
        <p:txBody>
          <a:bodyPr wrap="square" lIns="45720" tIns="27432" rIns="45720" bIns="27432" anchor="ctr"/>
          <a:lstStyle/>
          <a:p>
            <a:pPr algn="ctr">
              <a:spcAft>
                <a:spcPts val="800"/>
              </a:spcAft>
            </a:pPr>
            <a:r>
              <a:rPr sz="2000" b="0" i="0">
                <a:solidFill>
                  <a:srgbClr val="0072B2"/>
                </a:solidFill>
                <a:latin typeface="Calibri"/>
              </a:rPr>
              <a:t>Metabolism: </a:t>
            </a:r>
            <a:r>
              <a:rPr sz="2000" b="0" i="0">
                <a:solidFill>
                  <a:srgbClr val="2B2B2B"/>
                </a:solidFill>
                <a:latin typeface="Calibri"/>
              </a:rPr>
              <a:t>reaction hypergraph</a:t>
            </a:r>
          </a:p>
        </p:txBody>
      </p:sp>
      <p:sp>
        <p:nvSpPr>
          <p:cNvPr id="16" name="TextBox 15"/>
          <p:cNvSpPr txBox="1"/>
          <p:nvPr/>
        </p:nvSpPr>
        <p:spPr>
          <a:xfrm>
            <a:off x="6309360" y="5074920"/>
            <a:ext cx="530352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one union hypergraph, one MILP</a:t>
            </a:r>
          </a:p>
        </p:txBody>
      </p:sp>
      <p:sp>
        <p:nvSpPr>
          <p:cNvPr id="17" name="Rounded Rectangle 16"/>
          <p:cNvSpPr/>
          <p:nvPr/>
        </p:nvSpPr>
        <p:spPr>
          <a:xfrm>
            <a:off x="548640" y="4206240"/>
            <a:ext cx="5303520" cy="1737360"/>
          </a:xfrm>
          <a:prstGeom prst="roundRect">
            <a:avLst>
              <a:gd name="adj" fmla="val 8000"/>
            </a:avLst>
          </a:prstGeom>
          <a:solidFill>
            <a:srgbClr val="FFFFFF"/>
          </a:solid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31520" y="4251960"/>
            <a:ext cx="4937760" cy="1645920"/>
          </a:xfrm>
          <a:prstGeom prst="rect">
            <a:avLst/>
          </a:prstGeom>
          <a:noFill/>
        </p:spPr>
        <p:txBody>
          <a:bodyPr wrap="square" lIns="45720" tIns="27432" rIns="45720" bIns="27432" anchor="ctr"/>
          <a:lstStyle/>
          <a:p>
            <a:pPr algn="l">
              <a:spcAft>
                <a:spcPts val="400"/>
              </a:spcAft>
            </a:pPr>
            <a:r>
              <a:rPr sz="2000" b="0" i="0" dirty="0">
                <a:solidFill>
                  <a:srgbClr val="D55E00"/>
                </a:solidFill>
                <a:latin typeface="Calibri"/>
              </a:rPr>
              <a:t>Caveat</a:t>
            </a:r>
          </a:p>
          <a:p>
            <a:pPr algn="l">
              <a:spcAft>
                <a:spcPts val="400"/>
              </a:spcAft>
            </a:pPr>
            <a:r>
              <a:rPr sz="2000" b="0" i="0" dirty="0">
                <a:solidFill>
                  <a:srgbClr val="2B2B2B"/>
                </a:solidFill>
                <a:latin typeface="Calibri"/>
              </a:rPr>
              <a:t>The paper solves each layer on its own; multi-layer inference is proposed as future work</a:t>
            </a:r>
          </a:p>
        </p:txBody>
      </p:sp>
      <p:sp>
        <p:nvSpPr>
          <p:cNvPr id="19" name="TextBox 18"/>
          <p:cNvSpPr txBox="1"/>
          <p:nvPr/>
        </p:nvSpPr>
        <p:spPr>
          <a:xfrm>
            <a:off x="548640" y="5989320"/>
            <a:ext cx="11064240" cy="365760"/>
          </a:xfrm>
          <a:prstGeom prst="rect">
            <a:avLst/>
          </a:prstGeom>
          <a:noFill/>
        </p:spPr>
        <p:txBody>
          <a:bodyPr wrap="square" lIns="45720" tIns="27432" rIns="45720" bIns="27432" anchor="t"/>
          <a:lstStyle/>
          <a:p>
            <a:pPr algn="l">
              <a:spcAft>
                <a:spcPts val="800"/>
              </a:spcAft>
            </a:pPr>
            <a:r>
              <a:rPr sz="1200" b="0" i="0" dirty="0">
                <a:solidFill>
                  <a:srgbClr val="6B7280"/>
                </a:solidFill>
                <a:latin typeface="Calibri"/>
              </a:rPr>
              <a:t>cf. COSMOS: </a:t>
            </a:r>
            <a:r>
              <a:rPr sz="1200" b="0" i="0" dirty="0" err="1">
                <a:solidFill>
                  <a:srgbClr val="6B7280"/>
                </a:solidFill>
                <a:latin typeface="Calibri"/>
              </a:rPr>
              <a:t>Dugourd</a:t>
            </a:r>
            <a:r>
              <a:rPr sz="1200" b="0" i="0" dirty="0">
                <a:solidFill>
                  <a:srgbClr val="6B7280"/>
                </a:solidFill>
                <a:latin typeface="Calibri"/>
              </a:rPr>
              <a:t> et al., Mol Syst Biol 2021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Joint across layers needs shared variables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dirty="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22</a:t>
            </a:r>
          </a:p>
        </p:txBody>
      </p:sp>
      <p:sp>
        <p:nvSpPr>
          <p:cNvPr id="6" name="Rounded Rectangle 5"/>
          <p:cNvSpPr/>
          <p:nvPr/>
        </p:nvSpPr>
        <p:spPr>
          <a:xfrm>
            <a:off x="548640" y="1371600"/>
            <a:ext cx="5303520" cy="36118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463040"/>
            <a:ext cx="4846320" cy="457200"/>
          </a:xfrm>
          <a:prstGeom prst="rect">
            <a:avLst/>
          </a:prstGeom>
          <a:noFill/>
        </p:spPr>
        <p:txBody>
          <a:bodyPr wrap="square" lIns="45720" tIns="27432" rIns="45720" bIns="27432" anchor="t">
            <a:spAutoFit/>
          </a:bodyPr>
          <a:lstStyle/>
          <a:p>
            <a:pPr algn="l">
              <a:spcAft>
                <a:spcPts val="600"/>
              </a:spcAft>
            </a:pPr>
            <a:r>
              <a:rPr sz="2200" b="1" i="0">
                <a:solidFill>
                  <a:srgbClr val="D55E00"/>
                </a:solidFill>
                <a:latin typeface="Calibri"/>
              </a:rPr>
              <a:t>Summed, not joint</a:t>
            </a:r>
          </a:p>
        </p:txBody>
      </p:sp>
      <p:sp>
        <p:nvSpPr>
          <p:cNvPr id="8" name="Rounded Rectangle 7"/>
          <p:cNvSpPr/>
          <p:nvPr/>
        </p:nvSpPr>
        <p:spPr>
          <a:xfrm>
            <a:off x="1417320" y="2011680"/>
            <a:ext cx="356616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08760" y="2011680"/>
            <a:ext cx="3383279" cy="566928"/>
          </a:xfrm>
          <a:prstGeom prst="rect">
            <a:avLst/>
          </a:prstGeom>
          <a:noFill/>
        </p:spPr>
        <p:txBody>
          <a:bodyPr wrap="square" lIns="45720" tIns="27432" rIns="45720" bIns="27432" anchor="ctr">
            <a:spAutoFit/>
          </a:bodyPr>
          <a:lstStyle/>
          <a:p>
            <a:pPr algn="ctr">
              <a:spcAft>
                <a:spcPts val="0"/>
              </a:spcAft>
            </a:pPr>
            <a:r>
              <a:rPr sz="2000" b="1" i="0" dirty="0" err="1">
                <a:solidFill>
                  <a:srgbClr val="1F2A44"/>
                </a:solidFill>
                <a:latin typeface="Calibri"/>
              </a:rPr>
              <a:t>iMAT</a:t>
            </a:r>
            <a:endParaRPr sz="2000" b="1" i="0" dirty="0">
              <a:solidFill>
                <a:srgbClr val="1F2A44"/>
              </a:solidFill>
              <a:latin typeface="Calibri"/>
            </a:endParaRPr>
          </a:p>
        </p:txBody>
      </p:sp>
      <p:sp>
        <p:nvSpPr>
          <p:cNvPr id="10" name="Rounded Rectangle 9"/>
          <p:cNvSpPr/>
          <p:nvPr/>
        </p:nvSpPr>
        <p:spPr>
          <a:xfrm>
            <a:off x="1417320" y="2743200"/>
            <a:ext cx="356616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08760" y="2743200"/>
            <a:ext cx="3383279" cy="566928"/>
          </a:xfrm>
          <a:prstGeom prst="rect">
            <a:avLst/>
          </a:prstGeom>
          <a:noFill/>
        </p:spPr>
        <p:txBody>
          <a:bodyPr wrap="square" lIns="45720" tIns="27432" rIns="45720" bIns="27432" anchor="ctr">
            <a:spAutoFit/>
          </a:bodyPr>
          <a:lstStyle/>
          <a:p>
            <a:pPr algn="ctr">
              <a:spcAft>
                <a:spcPts val="0"/>
              </a:spcAft>
            </a:pPr>
            <a:r>
              <a:rPr sz="2000" b="1" i="0" dirty="0">
                <a:solidFill>
                  <a:srgbClr val="1F2A44"/>
                </a:solidFill>
                <a:latin typeface="Calibri"/>
              </a:rPr>
              <a:t>CARNIVAL</a:t>
            </a:r>
          </a:p>
        </p:txBody>
      </p:sp>
      <p:sp>
        <p:nvSpPr>
          <p:cNvPr id="12" name="Rounded Rectangle 11"/>
          <p:cNvSpPr/>
          <p:nvPr/>
        </p:nvSpPr>
        <p:spPr>
          <a:xfrm>
            <a:off x="1417320" y="3474720"/>
            <a:ext cx="356616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08760" y="3474720"/>
            <a:ext cx="3383279" cy="566928"/>
          </a:xfrm>
          <a:prstGeom prst="rect">
            <a:avLst/>
          </a:prstGeom>
          <a:noFill/>
        </p:spPr>
        <p:txBody>
          <a:bodyPr wrap="square" lIns="45720" tIns="27432" rIns="45720" bIns="27432" anchor="ctr">
            <a:spAutoFit/>
          </a:bodyPr>
          <a:lstStyle/>
          <a:p>
            <a:pPr algn="ctr">
              <a:spcAft>
                <a:spcPts val="0"/>
              </a:spcAft>
            </a:pPr>
            <a:r>
              <a:rPr sz="2000" b="1" i="0" dirty="0">
                <a:solidFill>
                  <a:srgbClr val="1F2A44"/>
                </a:solidFill>
                <a:latin typeface="Calibri"/>
              </a:rPr>
              <a:t>Steiner tree</a:t>
            </a:r>
          </a:p>
        </p:txBody>
      </p:sp>
      <p:sp>
        <p:nvSpPr>
          <p:cNvPr id="14" name="TextBox 13"/>
          <p:cNvSpPr txBox="1"/>
          <p:nvPr/>
        </p:nvSpPr>
        <p:spPr>
          <a:xfrm>
            <a:off x="777240" y="4251960"/>
            <a:ext cx="4846320" cy="640080"/>
          </a:xfrm>
          <a:prstGeom prst="rect">
            <a:avLst/>
          </a:prstGeom>
          <a:noFill/>
        </p:spPr>
        <p:txBody>
          <a:bodyPr wrap="square" lIns="45720" tIns="27432" rIns="45720" bIns="27432" anchor="t">
            <a:spAutoFit/>
          </a:bodyPr>
          <a:lstStyle/>
          <a:p>
            <a:pPr algn="l">
              <a:spcAft>
                <a:spcPts val="0"/>
              </a:spcAft>
            </a:pPr>
            <a:r>
              <a:rPr sz="1800" b="0" i="0">
                <a:solidFill>
                  <a:srgbClr val="2B2B2B"/>
                </a:solidFill>
                <a:latin typeface="Calibri"/>
              </a:rPr>
              <a:t>No shared variables: same answer as three separate fits</a:t>
            </a:r>
          </a:p>
        </p:txBody>
      </p:sp>
      <p:sp>
        <p:nvSpPr>
          <p:cNvPr id="15" name="Rounded Rectangle 14"/>
          <p:cNvSpPr/>
          <p:nvPr/>
        </p:nvSpPr>
        <p:spPr>
          <a:xfrm>
            <a:off x="6336792" y="1371600"/>
            <a:ext cx="5303520" cy="36118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65392" y="1463040"/>
            <a:ext cx="4846320" cy="457200"/>
          </a:xfrm>
          <a:prstGeom prst="rect">
            <a:avLst/>
          </a:prstGeom>
          <a:noFill/>
        </p:spPr>
        <p:txBody>
          <a:bodyPr wrap="square" lIns="45720" tIns="27432" rIns="45720" bIns="27432" anchor="t">
            <a:spAutoFit/>
          </a:bodyPr>
          <a:lstStyle/>
          <a:p>
            <a:pPr algn="l">
              <a:spcAft>
                <a:spcPts val="600"/>
              </a:spcAft>
            </a:pPr>
            <a:r>
              <a:rPr sz="2200" b="1" i="0">
                <a:solidFill>
                  <a:srgbClr val="0072B2"/>
                </a:solidFill>
                <a:latin typeface="Calibri"/>
              </a:rPr>
              <a:t>Joint</a:t>
            </a:r>
          </a:p>
        </p:txBody>
      </p:sp>
      <p:sp>
        <p:nvSpPr>
          <p:cNvPr id="17" name="Rounded Rectangle 16"/>
          <p:cNvSpPr/>
          <p:nvPr/>
        </p:nvSpPr>
        <p:spPr>
          <a:xfrm>
            <a:off x="6839712" y="2011680"/>
            <a:ext cx="4297680" cy="566928"/>
          </a:xfrm>
          <a:prstGeom prst="roundRect">
            <a:avLst>
              <a:gd name="adj" fmla="val 8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31152" y="2011680"/>
            <a:ext cx="4114800" cy="566928"/>
          </a:xfrm>
          <a:prstGeom prst="rect">
            <a:avLst/>
          </a:prstGeom>
          <a:noFill/>
        </p:spPr>
        <p:txBody>
          <a:bodyPr wrap="square" lIns="45720" tIns="27432" rIns="45720" bIns="27432" anchor="ctr">
            <a:spAutoFit/>
          </a:bodyPr>
          <a:lstStyle/>
          <a:p>
            <a:pPr algn="ctr">
              <a:spcAft>
                <a:spcPts val="0"/>
              </a:spcAft>
            </a:pPr>
            <a:r>
              <a:rPr sz="2000" b="1" i="0">
                <a:solidFill>
                  <a:srgbClr val="1F2A44"/>
                </a:solidFill>
                <a:latin typeface="Calibri"/>
              </a:rPr>
              <a:t>CARNIVAL · signalling</a:t>
            </a:r>
          </a:p>
        </p:txBody>
      </p:sp>
      <p:sp>
        <p:nvSpPr>
          <p:cNvPr id="19" name="TextBox 18"/>
          <p:cNvSpPr txBox="1"/>
          <p:nvPr/>
        </p:nvSpPr>
        <p:spPr>
          <a:xfrm>
            <a:off x="6839712" y="2697480"/>
            <a:ext cx="4297680" cy="914400"/>
          </a:xfrm>
          <a:prstGeom prst="rect">
            <a:avLst/>
          </a:prstGeom>
          <a:noFill/>
        </p:spPr>
        <p:txBody>
          <a:bodyPr wrap="square" lIns="45720" tIns="27432" rIns="45720" bIns="27432" anchor="t">
            <a:spAutoFit/>
          </a:bodyPr>
          <a:lstStyle/>
          <a:p>
            <a:pPr algn="l">
              <a:spcAft>
                <a:spcPts val="200"/>
              </a:spcAft>
            </a:pPr>
            <a:r>
              <a:rPr sz="1800" b="0" i="0">
                <a:solidFill>
                  <a:srgbClr val="0072B2"/>
                </a:solidFill>
                <a:latin typeface="Calibri"/>
              </a:rPr>
              <a:t>↓  enzyme down ⇒ reaction off</a:t>
            </a:r>
          </a:p>
          <a:p>
            <a:pPr algn="l">
              <a:spcAft>
                <a:spcPts val="200"/>
              </a:spcAft>
            </a:pPr>
            <a:r>
              <a:rPr sz="1800" b="0" i="0">
                <a:solidFill>
                  <a:srgbClr val="0072B2"/>
                </a:solidFill>
                <a:latin typeface="Calibri"/>
              </a:rPr>
              <a:t>↑  metabolite made ⇒ signal can start</a:t>
            </a:r>
          </a:p>
        </p:txBody>
      </p:sp>
      <p:sp>
        <p:nvSpPr>
          <p:cNvPr id="20" name="Rounded Rectangle 19"/>
          <p:cNvSpPr/>
          <p:nvPr/>
        </p:nvSpPr>
        <p:spPr>
          <a:xfrm>
            <a:off x="6839712" y="3611880"/>
            <a:ext cx="4297680" cy="566928"/>
          </a:xfrm>
          <a:prstGeom prst="roundRect">
            <a:avLst>
              <a:gd name="adj" fmla="val 8000"/>
            </a:avLst>
          </a:prstGeom>
          <a:solidFill>
            <a:srgbClr val="E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31152" y="3611880"/>
            <a:ext cx="4114800" cy="566928"/>
          </a:xfrm>
          <a:prstGeom prst="rect">
            <a:avLst/>
          </a:prstGeom>
          <a:noFill/>
        </p:spPr>
        <p:txBody>
          <a:bodyPr wrap="square" lIns="45720" tIns="27432" rIns="45720" bIns="27432" anchor="ctr">
            <a:spAutoFit/>
          </a:bodyPr>
          <a:lstStyle/>
          <a:p>
            <a:pPr algn="ctr">
              <a:spcAft>
                <a:spcPts val="0"/>
              </a:spcAft>
            </a:pPr>
            <a:r>
              <a:rPr sz="2000" b="1" i="0">
                <a:solidFill>
                  <a:srgbClr val="1F2A44"/>
                </a:solidFill>
                <a:latin typeface="Calibri"/>
              </a:rPr>
              <a:t>iMAT / FBA · metabolism</a:t>
            </a:r>
          </a:p>
        </p:txBody>
      </p:sp>
      <p:sp>
        <p:nvSpPr>
          <p:cNvPr id="22" name="TextBox 21"/>
          <p:cNvSpPr txBox="1"/>
          <p:nvPr/>
        </p:nvSpPr>
        <p:spPr>
          <a:xfrm>
            <a:off x="6565392" y="4251960"/>
            <a:ext cx="4846320" cy="640080"/>
          </a:xfrm>
          <a:prstGeom prst="rect">
            <a:avLst/>
          </a:prstGeom>
          <a:noFill/>
        </p:spPr>
        <p:txBody>
          <a:bodyPr wrap="square" lIns="45720" tIns="27432" rIns="45720" bIns="27432" anchor="t">
            <a:spAutoFit/>
          </a:bodyPr>
          <a:lstStyle/>
          <a:p>
            <a:pPr algn="l">
              <a:spcAft>
                <a:spcPts val="0"/>
              </a:spcAft>
            </a:pPr>
            <a:r>
              <a:rPr sz="1800" b="0" i="0" dirty="0">
                <a:solidFill>
                  <a:srgbClr val="2B2B2B"/>
                </a:solidFill>
                <a:latin typeface="Calibri"/>
              </a:rPr>
              <a:t>Shared nodes let one layer’s data change the other’s network</a:t>
            </a:r>
          </a:p>
        </p:txBody>
      </p:sp>
      <p:sp>
        <p:nvSpPr>
          <p:cNvPr id="23" name="Rounded Rectangle 22"/>
          <p:cNvSpPr/>
          <p:nvPr/>
        </p:nvSpPr>
        <p:spPr>
          <a:xfrm>
            <a:off x="548640" y="5138928"/>
            <a:ext cx="11091672" cy="749808"/>
          </a:xfrm>
          <a:prstGeom prst="roundRect">
            <a:avLst>
              <a:gd name="adj" fmla="val 8000"/>
            </a:avLst>
          </a:prstGeom>
          <a:solidFill>
            <a:srgbClr val="FFFFFF"/>
          </a:solid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5157216"/>
            <a:ext cx="10698480" cy="713232"/>
          </a:xfrm>
          <a:prstGeom prst="rect">
            <a:avLst/>
          </a:prstGeom>
          <a:noFill/>
        </p:spPr>
        <p:txBody>
          <a:bodyPr wrap="square" lIns="45720" tIns="27432" rIns="45720" bIns="27432" anchor="ctr">
            <a:spAutoFit/>
          </a:bodyPr>
          <a:lstStyle/>
          <a:p>
            <a:pPr algn="l">
              <a:spcAft>
                <a:spcPts val="0"/>
              </a:spcAft>
            </a:pPr>
            <a:r>
              <a:rPr sz="2000" b="0" i="0" dirty="0">
                <a:solidFill>
                  <a:srgbClr val="D55E00"/>
                </a:solidFill>
                <a:latin typeface="Calibri"/>
              </a:rPr>
              <a:t>Hard part: </a:t>
            </a:r>
            <a:r>
              <a:rPr sz="2000" b="0" i="0" dirty="0">
                <a:solidFill>
                  <a:srgbClr val="2B2B2B"/>
                </a:solidFill>
                <a:latin typeface="Calibri"/>
              </a:rPr>
              <a:t>matching meanings (sign vs on/off vs in-tree), not the solver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23</a:t>
            </a:r>
          </a:p>
        </p:txBody>
      </p:sp>
      <p:sp>
        <p:nvSpPr>
          <p:cNvPr id="6" name="Oval 5"/>
          <p:cNvSpPr/>
          <p:nvPr/>
        </p:nvSpPr>
        <p:spPr>
          <a:xfrm>
            <a:off x="886968" y="148132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1</a:t>
            </a:r>
          </a:p>
        </p:txBody>
      </p:sp>
      <p:sp>
        <p:nvSpPr>
          <p:cNvPr id="7" name="TextBox 6"/>
          <p:cNvSpPr txBox="1"/>
          <p:nvPr/>
        </p:nvSpPr>
        <p:spPr>
          <a:xfrm>
            <a:off x="1691640" y="141732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Why network inference from prior knowledge?</a:t>
            </a:r>
          </a:p>
        </p:txBody>
      </p:sp>
      <p:sp>
        <p:nvSpPr>
          <p:cNvPr id="8" name="Oval 7"/>
          <p:cNvSpPr/>
          <p:nvPr/>
        </p:nvSpPr>
        <p:spPr>
          <a:xfrm>
            <a:off x="886968" y="2267712"/>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2</a:t>
            </a:r>
          </a:p>
        </p:txBody>
      </p:sp>
      <p:sp>
        <p:nvSpPr>
          <p:cNvPr id="9" name="TextBox 8"/>
          <p:cNvSpPr txBox="1"/>
          <p:nvPr/>
        </p:nvSpPr>
        <p:spPr>
          <a:xfrm>
            <a:off x="1691640" y="2203704"/>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The methods CORNETO unifies</a:t>
            </a:r>
          </a:p>
        </p:txBody>
      </p:sp>
      <p:sp>
        <p:nvSpPr>
          <p:cNvPr id="10" name="Oval 9"/>
          <p:cNvSpPr/>
          <p:nvPr/>
        </p:nvSpPr>
        <p:spPr>
          <a:xfrm>
            <a:off x="886968" y="3054096"/>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3</a:t>
            </a:r>
          </a:p>
        </p:txBody>
      </p:sp>
      <p:sp>
        <p:nvSpPr>
          <p:cNvPr id="11" name="TextBox 10"/>
          <p:cNvSpPr txBox="1"/>
          <p:nvPr/>
        </p:nvSpPr>
        <p:spPr>
          <a:xfrm>
            <a:off x="1691640" y="2990088"/>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CORNETO: one optimisation problem</a:t>
            </a:r>
          </a:p>
        </p:txBody>
      </p:sp>
      <p:sp>
        <p:nvSpPr>
          <p:cNvPr id="12" name="Oval 11"/>
          <p:cNvSpPr/>
          <p:nvPr/>
        </p:nvSpPr>
        <p:spPr>
          <a:xfrm>
            <a:off x="886968" y="3840480"/>
            <a:ext cx="530352" cy="53035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4</a:t>
            </a:r>
          </a:p>
        </p:txBody>
      </p:sp>
      <p:sp>
        <p:nvSpPr>
          <p:cNvPr id="13" name="TextBox 12"/>
          <p:cNvSpPr txBox="1"/>
          <p:nvPr/>
        </p:nvSpPr>
        <p:spPr>
          <a:xfrm>
            <a:off x="1691640" y="3776472"/>
            <a:ext cx="8686800" cy="658368"/>
          </a:xfrm>
          <a:prstGeom prst="rect">
            <a:avLst/>
          </a:prstGeom>
          <a:noFill/>
        </p:spPr>
        <p:txBody>
          <a:bodyPr wrap="square" lIns="45720" tIns="27432" rIns="45720" bIns="27432" anchor="ctr">
            <a:spAutoFit/>
          </a:bodyPr>
          <a:lstStyle/>
          <a:p>
            <a:pPr algn="l">
              <a:spcAft>
                <a:spcPts val="600"/>
              </a:spcAft>
            </a:pPr>
            <a:r>
              <a:rPr sz="2200" b="0" i="0">
                <a:solidFill>
                  <a:srgbClr val="1F2A44"/>
                </a:solidFill>
                <a:latin typeface="Calibri"/>
              </a:rPr>
              <a:t>Results in the paper</a:t>
            </a:r>
          </a:p>
        </p:txBody>
      </p:sp>
      <p:sp>
        <p:nvSpPr>
          <p:cNvPr id="14" name="Rectangle 13"/>
          <p:cNvSpPr/>
          <p:nvPr/>
        </p:nvSpPr>
        <p:spPr>
          <a:xfrm>
            <a:off x="566928" y="3813048"/>
            <a:ext cx="91440" cy="58521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86968" y="4626864"/>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5</a:t>
            </a:r>
          </a:p>
        </p:txBody>
      </p:sp>
      <p:sp>
        <p:nvSpPr>
          <p:cNvPr id="16" name="TextBox 15"/>
          <p:cNvSpPr txBox="1"/>
          <p:nvPr/>
        </p:nvSpPr>
        <p:spPr>
          <a:xfrm>
            <a:off x="1691640" y="4562856"/>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Our test: the PMS iNSC data</a:t>
            </a:r>
          </a:p>
        </p:txBody>
      </p:sp>
      <p:sp>
        <p:nvSpPr>
          <p:cNvPr id="17" name="Oval 16"/>
          <p:cNvSpPr/>
          <p:nvPr/>
        </p:nvSpPr>
        <p:spPr>
          <a:xfrm>
            <a:off x="886968" y="541324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6</a:t>
            </a:r>
          </a:p>
        </p:txBody>
      </p:sp>
      <p:sp>
        <p:nvSpPr>
          <p:cNvPr id="18" name="TextBox 17"/>
          <p:cNvSpPr txBox="1"/>
          <p:nvPr/>
        </p:nvSpPr>
        <p:spPr>
          <a:xfrm>
            <a:off x="1691640" y="534924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Discussion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Multi-sample sparse FBA: smaller networks, canonical routes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24</a:t>
            </a:r>
          </a:p>
        </p:txBody>
      </p:sp>
      <p:pic>
        <p:nvPicPr>
          <p:cNvPr id="6" name="Picture 5" descr="fig3ab.png"/>
          <p:cNvPicPr>
            <a:picLocks noChangeAspect="1"/>
          </p:cNvPicPr>
          <p:nvPr/>
        </p:nvPicPr>
        <p:blipFill>
          <a:blip r:embed="rId3"/>
          <a:stretch>
            <a:fillRect/>
          </a:stretch>
        </p:blipFill>
        <p:spPr>
          <a:xfrm>
            <a:off x="548640" y="1280160"/>
            <a:ext cx="4434405" cy="5029200"/>
          </a:xfrm>
          <a:prstGeom prst="rect">
            <a:avLst/>
          </a:prstGeom>
        </p:spPr>
      </p:pic>
      <p:sp>
        <p:nvSpPr>
          <p:cNvPr id="7" name="TextBox 6"/>
          <p:cNvSpPr txBox="1"/>
          <p:nvPr/>
        </p:nvSpPr>
        <p:spPr>
          <a:xfrm>
            <a:off x="5486400" y="1463040"/>
            <a:ext cx="6217920" cy="4572000"/>
          </a:xfrm>
          <a:prstGeom prst="rect">
            <a:avLst/>
          </a:prstGeom>
          <a:noFill/>
        </p:spPr>
        <p:txBody>
          <a:bodyPr wrap="square" lIns="45720" tIns="27432" rIns="45720" bIns="27432" anchor="t"/>
          <a:lstStyle/>
          <a:p>
            <a:pPr algn="l">
              <a:spcAft>
                <a:spcPts val="1800"/>
              </a:spcAft>
            </a:pPr>
            <a:r>
              <a:rPr sz="2000" b="0" i="0" dirty="0">
                <a:solidFill>
                  <a:srgbClr val="0072B2"/>
                </a:solidFill>
                <a:latin typeface="Calibri"/>
              </a:rPr>
              <a:t>Model: </a:t>
            </a:r>
            <a:r>
              <a:rPr sz="2000" b="0" i="0" dirty="0" err="1">
                <a:solidFill>
                  <a:srgbClr val="2B2B2B"/>
                </a:solidFill>
                <a:latin typeface="Calibri"/>
              </a:rPr>
              <a:t>MitoCore</a:t>
            </a:r>
            <a:r>
              <a:rPr sz="2000" b="0" i="0" dirty="0">
                <a:solidFill>
                  <a:srgbClr val="2B2B2B"/>
                </a:solidFill>
                <a:latin typeface="Calibri"/>
              </a:rPr>
              <a:t>, 555 reactions</a:t>
            </a:r>
          </a:p>
          <a:p>
            <a:pPr algn="l">
              <a:spcAft>
                <a:spcPts val="1800"/>
              </a:spcAft>
            </a:pPr>
            <a:r>
              <a:rPr sz="2000" b="0" i="0" dirty="0">
                <a:solidFill>
                  <a:srgbClr val="0072B2"/>
                </a:solidFill>
                <a:latin typeface="Calibri"/>
              </a:rPr>
              <a:t>Samples: </a:t>
            </a:r>
            <a:r>
              <a:rPr sz="2000" b="0" i="0" dirty="0">
                <a:solidFill>
                  <a:srgbClr val="2B2B2B"/>
                </a:solidFill>
                <a:latin typeface="Calibri"/>
              </a:rPr>
              <a:t>simulated enzyme knockouts</a:t>
            </a:r>
          </a:p>
          <a:p>
            <a:pPr algn="l">
              <a:spcAft>
                <a:spcPts val="1800"/>
              </a:spcAft>
            </a:pPr>
            <a:r>
              <a:rPr sz="2000" b="1" i="0" dirty="0">
                <a:solidFill>
                  <a:srgbClr val="0072B2"/>
                </a:solidFill>
                <a:latin typeface="Calibri"/>
              </a:rPr>
              <a:t>Fewer distinct reactions: </a:t>
            </a:r>
            <a:r>
              <a:rPr sz="2000" b="0" i="0" dirty="0">
                <a:solidFill>
                  <a:srgbClr val="2B2B2B"/>
                </a:solidFill>
                <a:latin typeface="Calibri"/>
              </a:rPr>
              <a:t>median −6% (≥90% biomass), −7% (≥50%), up to −30% (≥10%)</a:t>
            </a:r>
          </a:p>
          <a:p>
            <a:pPr algn="l">
              <a:spcAft>
                <a:spcPts val="1800"/>
              </a:spcAft>
            </a:pPr>
            <a:r>
              <a:rPr sz="2000" b="1" i="0" dirty="0">
                <a:solidFill>
                  <a:srgbClr val="0072B2"/>
                </a:solidFill>
                <a:latin typeface="Calibri"/>
              </a:rPr>
              <a:t>Joint fit </a:t>
            </a:r>
            <a:r>
              <a:rPr sz="2000" b="0" i="0" dirty="0">
                <a:solidFill>
                  <a:srgbClr val="2B2B2B"/>
                </a:solidFill>
                <a:latin typeface="Calibri"/>
              </a:rPr>
              <a:t>keeps canonical glycolysis (HEX1, PGI, PFK)</a:t>
            </a:r>
          </a:p>
        </p:txBody>
      </p:sp>
      <p:sp>
        <p:nvSpPr>
          <p:cNvPr id="8" name="TextBox 7"/>
          <p:cNvSpPr txBox="1"/>
          <p:nvPr/>
        </p:nvSpPr>
        <p:spPr>
          <a:xfrm>
            <a:off x="5486400" y="5897880"/>
            <a:ext cx="621792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3a,b; blue = multi-sample, orange = single-sample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Multi-sample iMAT: more precise context-specific models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25</a:t>
            </a:r>
          </a:p>
        </p:txBody>
      </p:sp>
      <p:pic>
        <p:nvPicPr>
          <p:cNvPr id="6" name="Picture 5" descr="fig4ad.png"/>
          <p:cNvPicPr>
            <a:picLocks noChangeAspect="1"/>
          </p:cNvPicPr>
          <p:nvPr/>
        </p:nvPicPr>
        <p:blipFill>
          <a:blip r:embed="rId3"/>
          <a:stretch>
            <a:fillRect/>
          </a:stretch>
        </p:blipFill>
        <p:spPr>
          <a:xfrm>
            <a:off x="548640" y="1325880"/>
            <a:ext cx="11064240" cy="2247424"/>
          </a:xfrm>
          <a:prstGeom prst="rect">
            <a:avLst/>
          </a:prstGeom>
        </p:spPr>
      </p:pic>
      <p:sp>
        <p:nvSpPr>
          <p:cNvPr id="7" name="TextBox 6"/>
          <p:cNvSpPr txBox="1"/>
          <p:nvPr/>
        </p:nvSpPr>
        <p:spPr>
          <a:xfrm>
            <a:off x="548640" y="3703320"/>
            <a:ext cx="1106424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Yeast: </a:t>
            </a:r>
            <a:r>
              <a:rPr sz="2000" b="0" i="0">
                <a:solidFill>
                  <a:srgbClr val="2B2B2B"/>
                </a:solidFill>
                <a:latin typeface="Calibri"/>
              </a:rPr>
              <a:t>12 enzyme knockouts  ·  </a:t>
            </a:r>
            <a:r>
              <a:rPr sz="2000" b="0" i="0">
                <a:solidFill>
                  <a:srgbClr val="1F2A44"/>
                </a:solidFill>
                <a:latin typeface="Calibri"/>
              </a:rPr>
              <a:t>λ = 1.5</a:t>
            </a:r>
            <a:r>
              <a:rPr sz="2000" b="0" i="0">
                <a:solidFill>
                  <a:srgbClr val="2B2B2B"/>
                </a:solidFill>
                <a:latin typeface="Calibri"/>
              </a:rPr>
              <a:t> chosen by 5-fold cross-validation</a:t>
            </a:r>
          </a:p>
        </p:txBody>
      </p:sp>
      <p:sp>
        <p:nvSpPr>
          <p:cNvPr id="8" name="Rounded Rectangle 7"/>
          <p:cNvSpPr/>
          <p:nvPr/>
        </p:nvSpPr>
        <p:spPr>
          <a:xfrm>
            <a:off x="548640" y="4343400"/>
            <a:ext cx="2651760" cy="13716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640" y="4389120"/>
            <a:ext cx="2651760" cy="1280160"/>
          </a:xfrm>
          <a:prstGeom prst="rect">
            <a:avLst/>
          </a:prstGeom>
          <a:noFill/>
        </p:spPr>
        <p:txBody>
          <a:bodyPr wrap="square" lIns="45720" tIns="27432" rIns="45720" bIns="27432" anchor="ctr"/>
          <a:lstStyle/>
          <a:p>
            <a:pPr algn="ctr">
              <a:spcAft>
                <a:spcPts val="400"/>
              </a:spcAft>
            </a:pPr>
            <a:r>
              <a:rPr sz="2000" b="0" i="0">
                <a:solidFill>
                  <a:srgbClr val="6B7280"/>
                </a:solidFill>
                <a:latin typeface="Calibri"/>
              </a:rPr>
              <a:t>F1</a:t>
            </a:r>
          </a:p>
          <a:p>
            <a:pPr algn="ctr">
              <a:spcAft>
                <a:spcPts val="400"/>
              </a:spcAft>
            </a:pPr>
            <a:r>
              <a:rPr sz="2000" b="0" i="0">
                <a:solidFill>
                  <a:srgbClr val="0072B2"/>
                </a:solidFill>
                <a:latin typeface="Calibri"/>
              </a:rPr>
              <a:t>+6.6%</a:t>
            </a:r>
          </a:p>
        </p:txBody>
      </p:sp>
      <p:sp>
        <p:nvSpPr>
          <p:cNvPr id="10" name="Rounded Rectangle 9"/>
          <p:cNvSpPr/>
          <p:nvPr/>
        </p:nvSpPr>
        <p:spPr>
          <a:xfrm>
            <a:off x="3337560" y="4343400"/>
            <a:ext cx="2651760" cy="13716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337560" y="4389120"/>
            <a:ext cx="2651760" cy="1280160"/>
          </a:xfrm>
          <a:prstGeom prst="rect">
            <a:avLst/>
          </a:prstGeom>
          <a:noFill/>
        </p:spPr>
        <p:txBody>
          <a:bodyPr wrap="square" lIns="45720" tIns="27432" rIns="45720" bIns="27432" anchor="ctr"/>
          <a:lstStyle/>
          <a:p>
            <a:pPr algn="ctr">
              <a:spcAft>
                <a:spcPts val="400"/>
              </a:spcAft>
            </a:pPr>
            <a:r>
              <a:rPr sz="2000" b="0" i="0">
                <a:solidFill>
                  <a:srgbClr val="6B7280"/>
                </a:solidFill>
                <a:latin typeface="Calibri"/>
              </a:rPr>
              <a:t>Precision</a:t>
            </a:r>
          </a:p>
          <a:p>
            <a:pPr algn="ctr">
              <a:spcAft>
                <a:spcPts val="400"/>
              </a:spcAft>
            </a:pPr>
            <a:r>
              <a:rPr sz="2000" b="0" i="0">
                <a:solidFill>
                  <a:srgbClr val="0072B2"/>
                </a:solidFill>
                <a:latin typeface="Calibri"/>
              </a:rPr>
              <a:t>+29.6%</a:t>
            </a:r>
          </a:p>
        </p:txBody>
      </p:sp>
      <p:sp>
        <p:nvSpPr>
          <p:cNvPr id="12" name="Rounded Rectangle 11"/>
          <p:cNvSpPr/>
          <p:nvPr/>
        </p:nvSpPr>
        <p:spPr>
          <a:xfrm>
            <a:off x="6126479" y="4343400"/>
            <a:ext cx="2651760" cy="13716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126479" y="4389120"/>
            <a:ext cx="2651760" cy="1280160"/>
          </a:xfrm>
          <a:prstGeom prst="rect">
            <a:avLst/>
          </a:prstGeom>
          <a:noFill/>
        </p:spPr>
        <p:txBody>
          <a:bodyPr wrap="square" lIns="45720" tIns="27432" rIns="45720" bIns="27432" anchor="ctr"/>
          <a:lstStyle/>
          <a:p>
            <a:pPr algn="ctr">
              <a:spcAft>
                <a:spcPts val="400"/>
              </a:spcAft>
            </a:pPr>
            <a:r>
              <a:rPr sz="2000" b="0" i="0">
                <a:solidFill>
                  <a:srgbClr val="6B7280"/>
                </a:solidFill>
                <a:latin typeface="Calibri"/>
              </a:rPr>
              <a:t>Recall</a:t>
            </a:r>
          </a:p>
          <a:p>
            <a:pPr algn="ctr">
              <a:spcAft>
                <a:spcPts val="400"/>
              </a:spcAft>
            </a:pPr>
            <a:r>
              <a:rPr sz="2000" b="0" i="0">
                <a:solidFill>
                  <a:srgbClr val="D55E00"/>
                </a:solidFill>
                <a:latin typeface="Calibri"/>
              </a:rPr>
              <a:t>−8.6%</a:t>
            </a:r>
          </a:p>
        </p:txBody>
      </p:sp>
      <p:sp>
        <p:nvSpPr>
          <p:cNvPr id="14" name="Rounded Rectangle 13"/>
          <p:cNvSpPr/>
          <p:nvPr/>
        </p:nvSpPr>
        <p:spPr>
          <a:xfrm>
            <a:off x="8915399" y="4343400"/>
            <a:ext cx="2651760" cy="13716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915399" y="4389120"/>
            <a:ext cx="2651760" cy="1280160"/>
          </a:xfrm>
          <a:prstGeom prst="rect">
            <a:avLst/>
          </a:prstGeom>
          <a:noFill/>
        </p:spPr>
        <p:txBody>
          <a:bodyPr wrap="square" lIns="45720" tIns="27432" rIns="45720" bIns="27432" anchor="ctr"/>
          <a:lstStyle/>
          <a:p>
            <a:pPr algn="ctr">
              <a:spcAft>
                <a:spcPts val="400"/>
              </a:spcAft>
            </a:pPr>
            <a:r>
              <a:rPr sz="2000" b="0" i="0">
                <a:solidFill>
                  <a:srgbClr val="6B7280"/>
                </a:solidFill>
                <a:latin typeface="Calibri"/>
              </a:rPr>
              <a:t>Reactions</a:t>
            </a:r>
          </a:p>
          <a:p>
            <a:pPr algn="ctr">
              <a:spcAft>
                <a:spcPts val="400"/>
              </a:spcAft>
            </a:pPr>
            <a:r>
              <a:rPr sz="2000" b="0" i="0">
                <a:solidFill>
                  <a:srgbClr val="0072B2"/>
                </a:solidFill>
                <a:latin typeface="Calibri"/>
              </a:rPr>
              <a:t>≈2,070 → 861</a:t>
            </a:r>
          </a:p>
        </p:txBody>
      </p:sp>
      <p:sp>
        <p:nvSpPr>
          <p:cNvPr id="16" name="TextBox 15"/>
          <p:cNvSpPr txBox="1"/>
          <p:nvPr/>
        </p:nvSpPr>
        <p:spPr>
          <a:xfrm>
            <a:off x="548640" y="5897880"/>
            <a:ext cx="1106424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4a–d; change relative to single-sample iMAT (λ = 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A shared core: GSK3B, AKT1 and SRC drive TF activity</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27</a:t>
            </a:r>
          </a:p>
        </p:txBody>
      </p:sp>
      <p:pic>
        <p:nvPicPr>
          <p:cNvPr id="6" name="Picture 5" descr="fig5c.png"/>
          <p:cNvPicPr>
            <a:picLocks noChangeAspect="1"/>
          </p:cNvPicPr>
          <p:nvPr/>
        </p:nvPicPr>
        <p:blipFill>
          <a:blip r:embed="rId3"/>
          <a:stretch>
            <a:fillRect/>
          </a:stretch>
        </p:blipFill>
        <p:spPr>
          <a:xfrm>
            <a:off x="548640" y="1371600"/>
            <a:ext cx="11064240" cy="3042666"/>
          </a:xfrm>
          <a:prstGeom prst="rect">
            <a:avLst/>
          </a:prstGeom>
        </p:spPr>
      </p:pic>
      <p:sp>
        <p:nvSpPr>
          <p:cNvPr id="7" name="TextBox 6"/>
          <p:cNvSpPr txBox="1"/>
          <p:nvPr/>
        </p:nvSpPr>
        <p:spPr>
          <a:xfrm>
            <a:off x="548640" y="4572000"/>
            <a:ext cx="11064240" cy="1280160"/>
          </a:xfrm>
          <a:prstGeom prst="rect">
            <a:avLst/>
          </a:prstGeom>
          <a:noFill/>
        </p:spPr>
        <p:txBody>
          <a:bodyPr wrap="square" lIns="45720" tIns="27432" rIns="45720" bIns="27432" anchor="t"/>
          <a:lstStyle/>
          <a:p>
            <a:pPr algn="ctr">
              <a:spcAft>
                <a:spcPts val="800"/>
              </a:spcAft>
            </a:pPr>
            <a:r>
              <a:rPr sz="2000" b="0" i="0">
                <a:solidFill>
                  <a:srgbClr val="2B2B2B"/>
                </a:solidFill>
                <a:latin typeface="Calibri"/>
              </a:rPr>
              <a:t>Edges shared by all patients at </a:t>
            </a:r>
            <a:r>
              <a:rPr sz="2000" b="0" i="0">
                <a:solidFill>
                  <a:srgbClr val="1F2A44"/>
                </a:solidFill>
                <a:latin typeface="Calibri"/>
              </a:rPr>
              <a:t>λ = 0.8</a:t>
            </a:r>
          </a:p>
          <a:p>
            <a:pPr algn="ctr">
              <a:spcAft>
                <a:spcPts val="800"/>
              </a:spcAft>
            </a:pPr>
            <a:r>
              <a:rPr sz="2000" b="0" i="0">
                <a:solidFill>
                  <a:srgbClr val="6B7280"/>
                </a:solidFill>
                <a:latin typeface="Calibri"/>
              </a:rPr>
              <a:t>kept if present in ≥ 50% of 30 alternative solutions</a:t>
            </a:r>
          </a:p>
        </p:txBody>
      </p:sp>
      <p:sp>
        <p:nvSpPr>
          <p:cNvPr id="8" name="TextBox 7"/>
          <p:cNvSpPr txBox="1"/>
          <p:nvPr/>
        </p:nvSpPr>
        <p:spPr>
          <a:xfrm>
            <a:off x="548640" y="5897880"/>
            <a:ext cx="1106424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5c; colour = mean TF activity across patients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28</a:t>
            </a:r>
          </a:p>
        </p:txBody>
      </p:sp>
      <p:sp>
        <p:nvSpPr>
          <p:cNvPr id="6" name="Oval 5"/>
          <p:cNvSpPr/>
          <p:nvPr/>
        </p:nvSpPr>
        <p:spPr>
          <a:xfrm>
            <a:off x="886968" y="148132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1</a:t>
            </a:r>
          </a:p>
        </p:txBody>
      </p:sp>
      <p:sp>
        <p:nvSpPr>
          <p:cNvPr id="7" name="TextBox 6"/>
          <p:cNvSpPr txBox="1"/>
          <p:nvPr/>
        </p:nvSpPr>
        <p:spPr>
          <a:xfrm>
            <a:off x="1691640" y="141732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Why network inference from prior knowledge?</a:t>
            </a:r>
          </a:p>
        </p:txBody>
      </p:sp>
      <p:sp>
        <p:nvSpPr>
          <p:cNvPr id="8" name="Oval 7"/>
          <p:cNvSpPr/>
          <p:nvPr/>
        </p:nvSpPr>
        <p:spPr>
          <a:xfrm>
            <a:off x="886968" y="2267712"/>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2</a:t>
            </a:r>
          </a:p>
        </p:txBody>
      </p:sp>
      <p:sp>
        <p:nvSpPr>
          <p:cNvPr id="9" name="TextBox 8"/>
          <p:cNvSpPr txBox="1"/>
          <p:nvPr/>
        </p:nvSpPr>
        <p:spPr>
          <a:xfrm>
            <a:off x="1691640" y="2203704"/>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The methods CORNETO unifies</a:t>
            </a:r>
          </a:p>
        </p:txBody>
      </p:sp>
      <p:sp>
        <p:nvSpPr>
          <p:cNvPr id="10" name="Oval 9"/>
          <p:cNvSpPr/>
          <p:nvPr/>
        </p:nvSpPr>
        <p:spPr>
          <a:xfrm>
            <a:off x="886968" y="3054096"/>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3</a:t>
            </a:r>
          </a:p>
        </p:txBody>
      </p:sp>
      <p:sp>
        <p:nvSpPr>
          <p:cNvPr id="11" name="TextBox 10"/>
          <p:cNvSpPr txBox="1"/>
          <p:nvPr/>
        </p:nvSpPr>
        <p:spPr>
          <a:xfrm>
            <a:off x="1691640" y="2990088"/>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CORNETO: one optimisation problem</a:t>
            </a:r>
          </a:p>
        </p:txBody>
      </p:sp>
      <p:sp>
        <p:nvSpPr>
          <p:cNvPr id="12" name="Oval 11"/>
          <p:cNvSpPr/>
          <p:nvPr/>
        </p:nvSpPr>
        <p:spPr>
          <a:xfrm>
            <a:off x="886968" y="3840480"/>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4</a:t>
            </a:r>
          </a:p>
        </p:txBody>
      </p:sp>
      <p:sp>
        <p:nvSpPr>
          <p:cNvPr id="13" name="TextBox 12"/>
          <p:cNvSpPr txBox="1"/>
          <p:nvPr/>
        </p:nvSpPr>
        <p:spPr>
          <a:xfrm>
            <a:off x="1691640" y="3776472"/>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Results in the paper</a:t>
            </a:r>
          </a:p>
        </p:txBody>
      </p:sp>
      <p:sp>
        <p:nvSpPr>
          <p:cNvPr id="14" name="Oval 13"/>
          <p:cNvSpPr/>
          <p:nvPr/>
        </p:nvSpPr>
        <p:spPr>
          <a:xfrm>
            <a:off x="886968" y="4626864"/>
            <a:ext cx="530352" cy="53035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5</a:t>
            </a:r>
          </a:p>
        </p:txBody>
      </p:sp>
      <p:sp>
        <p:nvSpPr>
          <p:cNvPr id="15" name="TextBox 14"/>
          <p:cNvSpPr txBox="1"/>
          <p:nvPr/>
        </p:nvSpPr>
        <p:spPr>
          <a:xfrm>
            <a:off x="1691640" y="4562856"/>
            <a:ext cx="8686800" cy="658368"/>
          </a:xfrm>
          <a:prstGeom prst="rect">
            <a:avLst/>
          </a:prstGeom>
          <a:noFill/>
        </p:spPr>
        <p:txBody>
          <a:bodyPr wrap="square" lIns="45720" tIns="27432" rIns="45720" bIns="27432" anchor="ctr">
            <a:spAutoFit/>
          </a:bodyPr>
          <a:lstStyle/>
          <a:p>
            <a:pPr algn="l">
              <a:spcAft>
                <a:spcPts val="600"/>
              </a:spcAft>
            </a:pPr>
            <a:r>
              <a:rPr sz="2200" b="0" i="0">
                <a:solidFill>
                  <a:srgbClr val="1F2A44"/>
                </a:solidFill>
                <a:latin typeface="Calibri"/>
              </a:rPr>
              <a:t>Our test: the PMS iNSC data</a:t>
            </a:r>
          </a:p>
        </p:txBody>
      </p:sp>
      <p:sp>
        <p:nvSpPr>
          <p:cNvPr id="16" name="Rectangle 15"/>
          <p:cNvSpPr/>
          <p:nvPr/>
        </p:nvSpPr>
        <p:spPr>
          <a:xfrm>
            <a:off x="566928" y="4599432"/>
            <a:ext cx="91440" cy="58521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86968" y="541324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6</a:t>
            </a:r>
          </a:p>
        </p:txBody>
      </p:sp>
      <p:sp>
        <p:nvSpPr>
          <p:cNvPr id="18" name="TextBox 17"/>
          <p:cNvSpPr txBox="1"/>
          <p:nvPr/>
        </p:nvSpPr>
        <p:spPr>
          <a:xfrm>
            <a:off x="1691640" y="534924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Discussion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9019"/>
            <a:ext cx="11064240" cy="547842"/>
          </a:xfrm>
          <a:prstGeom prst="rect">
            <a:avLst/>
          </a:prstGeom>
          <a:noFill/>
        </p:spPr>
        <p:txBody>
          <a:bodyPr wrap="square" lIns="45720" tIns="27432" rIns="45720" bIns="27432" anchor="ctr">
            <a:spAutoFit/>
          </a:bodyPr>
          <a:lstStyle/>
          <a:p>
            <a:pPr algn="l">
              <a:spcAft>
                <a:spcPts val="600"/>
              </a:spcAft>
            </a:pPr>
            <a:r>
              <a:rPr lang="en-US" sz="3200" b="0" i="0" dirty="0">
                <a:solidFill>
                  <a:srgbClr val="1F2A44"/>
                </a:solidFill>
                <a:latin typeface="Calibri"/>
              </a:rPr>
              <a:t>A </a:t>
            </a:r>
            <a:r>
              <a:rPr sz="3200" b="0" i="0" dirty="0">
                <a:solidFill>
                  <a:srgbClr val="1F2A44"/>
                </a:solidFill>
                <a:latin typeface="Calibri"/>
              </a:rPr>
              <a:t>test: a published mechanism in PMS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29</a:t>
            </a:r>
          </a:p>
        </p:txBody>
      </p:sp>
      <p:sp>
        <p:nvSpPr>
          <p:cNvPr id="6" name="Rounded Rectangle 5"/>
          <p:cNvSpPr/>
          <p:nvPr/>
        </p:nvSpPr>
        <p:spPr>
          <a:xfrm>
            <a:off x="548640" y="1325880"/>
            <a:ext cx="1828800" cy="914400"/>
          </a:xfrm>
          <a:prstGeom prst="roundRect">
            <a:avLst>
              <a:gd name="adj" fmla="val 8000"/>
            </a:avLst>
          </a:prstGeom>
          <a:solidFill>
            <a:srgbClr val="FBE3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353312"/>
            <a:ext cx="1645920" cy="868680"/>
          </a:xfrm>
          <a:prstGeom prst="rect">
            <a:avLst/>
          </a:prstGeom>
          <a:noFill/>
        </p:spPr>
        <p:txBody>
          <a:bodyPr wrap="square" lIns="45720" tIns="27432" rIns="45720" bIns="27432" anchor="ctr">
            <a:spAutoFit/>
          </a:bodyPr>
          <a:lstStyle/>
          <a:p>
            <a:pPr algn="ctr">
              <a:spcAft>
                <a:spcPts val="0"/>
              </a:spcAft>
            </a:pPr>
            <a:r>
              <a:rPr sz="2000" b="1" i="0">
                <a:solidFill>
                  <a:srgbClr val="1F2A44"/>
                </a:solidFill>
                <a:latin typeface="Calibri"/>
              </a:rPr>
              <a:t>HMGCR</a:t>
            </a:r>
          </a:p>
        </p:txBody>
      </p:sp>
      <p:cxnSp>
        <p:nvCxnSpPr>
          <p:cNvPr id="8" name="Connector 7"/>
          <p:cNvCxnSpPr/>
          <p:nvPr/>
        </p:nvCxnSpPr>
        <p:spPr>
          <a:xfrm>
            <a:off x="2423160" y="1847088"/>
            <a:ext cx="393192" cy="0"/>
          </a:xfrm>
          <a:prstGeom prst="line">
            <a:avLst/>
          </a:prstGeom>
          <a:ln w="31750">
            <a:solidFill>
              <a:srgbClr val="D55E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62072" y="1325880"/>
            <a:ext cx="2103120" cy="914400"/>
          </a:xfrm>
          <a:prstGeom prst="roundRect">
            <a:avLst>
              <a:gd name="adj" fmla="val 8000"/>
            </a:avLst>
          </a:prstGeom>
          <a:solidFill>
            <a:srgbClr val="FBE3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53512" y="1353312"/>
            <a:ext cx="1920239" cy="868680"/>
          </a:xfrm>
          <a:prstGeom prst="rect">
            <a:avLst/>
          </a:prstGeom>
          <a:noFill/>
        </p:spPr>
        <p:txBody>
          <a:bodyPr wrap="square" lIns="45720" tIns="27432" rIns="45720" bIns="27432" anchor="ctr">
            <a:spAutoFit/>
          </a:bodyPr>
          <a:lstStyle/>
          <a:p>
            <a:pPr algn="ctr">
              <a:spcAft>
                <a:spcPts val="0"/>
              </a:spcAft>
            </a:pPr>
            <a:r>
              <a:rPr sz="2000" b="1" i="0">
                <a:solidFill>
                  <a:srgbClr val="1F2A44"/>
                </a:solidFill>
                <a:latin typeface="Calibri"/>
              </a:rPr>
              <a:t>cholesterol</a:t>
            </a:r>
          </a:p>
        </p:txBody>
      </p:sp>
      <p:cxnSp>
        <p:nvCxnSpPr>
          <p:cNvPr id="11" name="Connector 10"/>
          <p:cNvCxnSpPr/>
          <p:nvPr/>
        </p:nvCxnSpPr>
        <p:spPr>
          <a:xfrm>
            <a:off x="5010912" y="1847088"/>
            <a:ext cx="393192" cy="0"/>
          </a:xfrm>
          <a:prstGeom prst="line">
            <a:avLst/>
          </a:prstGeom>
          <a:ln w="31750">
            <a:solidFill>
              <a:srgbClr val="D55E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49824" y="1325880"/>
            <a:ext cx="3291840" cy="914400"/>
          </a:xfrm>
          <a:prstGeom prst="roundRect">
            <a:avLst>
              <a:gd name="adj" fmla="val 8000"/>
            </a:avLst>
          </a:prstGeom>
          <a:solidFill>
            <a:srgbClr val="FBE3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41264" y="1353312"/>
            <a:ext cx="3108960" cy="868680"/>
          </a:xfrm>
          <a:prstGeom prst="rect">
            <a:avLst/>
          </a:prstGeom>
          <a:noFill/>
        </p:spPr>
        <p:txBody>
          <a:bodyPr wrap="square" lIns="45720" tIns="27432" rIns="45720" bIns="27432" anchor="ctr">
            <a:spAutoFit/>
          </a:bodyPr>
          <a:lstStyle/>
          <a:p>
            <a:pPr algn="ctr">
              <a:spcAft>
                <a:spcPts val="0"/>
              </a:spcAft>
            </a:pPr>
            <a:r>
              <a:rPr sz="2000" b="1" i="0">
                <a:solidFill>
                  <a:srgbClr val="1F2A44"/>
                </a:solidFill>
                <a:latin typeface="Calibri"/>
              </a:rPr>
              <a:t>SP1 · JUN · JUNB</a:t>
            </a:r>
          </a:p>
          <a:p>
            <a:pPr algn="ctr">
              <a:spcAft>
                <a:spcPts val="0"/>
              </a:spcAft>
            </a:pPr>
            <a:r>
              <a:rPr sz="2000" b="1" i="0">
                <a:solidFill>
                  <a:srgbClr val="1F2A44"/>
                </a:solidFill>
                <a:latin typeface="Calibri"/>
              </a:rPr>
              <a:t>EGR1 · E2F1 · WT1</a:t>
            </a:r>
          </a:p>
        </p:txBody>
      </p:sp>
      <p:cxnSp>
        <p:nvCxnSpPr>
          <p:cNvPr id="14" name="Connector 13"/>
          <p:cNvCxnSpPr/>
          <p:nvPr/>
        </p:nvCxnSpPr>
        <p:spPr>
          <a:xfrm>
            <a:off x="8787384" y="1847088"/>
            <a:ext cx="393192" cy="0"/>
          </a:xfrm>
          <a:prstGeom prst="line">
            <a:avLst/>
          </a:prstGeom>
          <a:ln w="31750">
            <a:solidFill>
              <a:srgbClr val="D55E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226296" y="1325880"/>
            <a:ext cx="2194560" cy="914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17736" y="1353312"/>
            <a:ext cx="2011679" cy="868680"/>
          </a:xfrm>
          <a:prstGeom prst="rect">
            <a:avLst/>
          </a:prstGeom>
          <a:noFill/>
        </p:spPr>
        <p:txBody>
          <a:bodyPr wrap="square" lIns="45720" tIns="27432" rIns="45720" bIns="27432" anchor="ctr">
            <a:spAutoFit/>
          </a:bodyPr>
          <a:lstStyle/>
          <a:p>
            <a:pPr algn="ctr">
              <a:spcAft>
                <a:spcPts val="0"/>
              </a:spcAft>
            </a:pPr>
            <a:r>
              <a:rPr sz="2000" b="1" i="0">
                <a:solidFill>
                  <a:srgbClr val="1F2A44"/>
                </a:solidFill>
                <a:latin typeface="Calibri"/>
              </a:rPr>
              <a:t>senescence</a:t>
            </a:r>
          </a:p>
        </p:txBody>
      </p:sp>
      <p:pic>
        <p:nvPicPr>
          <p:cNvPr id="17" name="Picture 16" descr="fig1_concept_manuscript.png"/>
          <p:cNvPicPr>
            <a:picLocks noChangeAspect="1"/>
          </p:cNvPicPr>
          <p:nvPr/>
        </p:nvPicPr>
        <p:blipFill>
          <a:blip r:embed="rId3"/>
          <a:stretch>
            <a:fillRect/>
          </a:stretch>
        </p:blipFill>
        <p:spPr>
          <a:xfrm>
            <a:off x="1874519" y="2331720"/>
            <a:ext cx="7489639" cy="3749039"/>
          </a:xfrm>
          <a:prstGeom prst="rect">
            <a:avLst/>
          </a:prstGeom>
        </p:spPr>
      </p:pic>
      <p:sp>
        <p:nvSpPr>
          <p:cNvPr id="18" name="TextBox 17"/>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dirty="0">
                <a:solidFill>
                  <a:srgbClr val="6B7280"/>
                </a:solidFill>
                <a:latin typeface="Calibri"/>
              </a:rPr>
              <a:t>Hypothesis: Ionescu et al., Cell Stem Cell 2024. Data: RNA-seq GSE297192 (Park et al. 2025); metabolomics ST003331/2, </a:t>
            </a:r>
            <a:r>
              <a:rPr sz="1200" b="0" i="0" dirty="0" err="1">
                <a:solidFill>
                  <a:srgbClr val="6B7280"/>
                </a:solidFill>
                <a:latin typeface="Calibri"/>
              </a:rPr>
              <a:t>lipidomics</a:t>
            </a:r>
            <a:r>
              <a:rPr sz="1200" b="0" i="0" dirty="0">
                <a:solidFill>
                  <a:srgbClr val="6B7280"/>
                </a:solidFill>
                <a:latin typeface="Calibri"/>
              </a:rPr>
              <a:t> ST003328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Set-up: choices fixed before any fit</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30</a:t>
            </a:r>
          </a:p>
        </p:txBody>
      </p:sp>
      <p:sp>
        <p:nvSpPr>
          <p:cNvPr id="6" name="Rounded Rectangle 5"/>
          <p:cNvSpPr/>
          <p:nvPr/>
        </p:nvSpPr>
        <p:spPr>
          <a:xfrm>
            <a:off x="548640" y="1417320"/>
            <a:ext cx="2606040" cy="33375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1572768"/>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1</a:t>
            </a:r>
          </a:p>
        </p:txBody>
      </p:sp>
      <p:sp>
        <p:nvSpPr>
          <p:cNvPr id="8" name="TextBox 7"/>
          <p:cNvSpPr txBox="1"/>
          <p:nvPr/>
        </p:nvSpPr>
        <p:spPr>
          <a:xfrm>
            <a:off x="1298448" y="1554480"/>
            <a:ext cx="178308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Data</a:t>
            </a:r>
          </a:p>
        </p:txBody>
      </p:sp>
      <p:sp>
        <p:nvSpPr>
          <p:cNvPr id="9" name="TextBox 8"/>
          <p:cNvSpPr txBox="1"/>
          <p:nvPr/>
        </p:nvSpPr>
        <p:spPr>
          <a:xfrm>
            <a:off x="731520" y="2240280"/>
            <a:ext cx="2286000" cy="2468880"/>
          </a:xfrm>
          <a:prstGeom prst="rect">
            <a:avLst/>
          </a:prstGeom>
          <a:noFill/>
        </p:spPr>
        <p:txBody>
          <a:bodyPr wrap="square" lIns="45720" tIns="27432" rIns="45720" bIns="27432" anchor="t">
            <a:spAutoFit/>
          </a:bodyPr>
          <a:lstStyle/>
          <a:p>
            <a:pPr algn="l">
              <a:spcAft>
                <a:spcPts val="1000"/>
              </a:spcAft>
            </a:pPr>
            <a:r>
              <a:rPr sz="1800" b="0" i="0">
                <a:solidFill>
                  <a:srgbClr val="2B2B2B"/>
                </a:solidFill>
                <a:latin typeface="Calibri"/>
              </a:rPr>
              <a:t>RNA-seq: 3 vs 3 lines</a:t>
            </a:r>
          </a:p>
          <a:p>
            <a:pPr algn="l">
              <a:spcAft>
                <a:spcPts val="1000"/>
              </a:spcAft>
            </a:pPr>
            <a:r>
              <a:rPr sz="1800" b="0" i="0">
                <a:solidFill>
                  <a:srgbClr val="2B2B2B"/>
                </a:solidFill>
                <a:latin typeface="Calibri"/>
              </a:rPr>
              <a:t>Metabolites: 3 vs 4</a:t>
            </a:r>
          </a:p>
          <a:p>
            <a:pPr algn="l">
              <a:spcAft>
                <a:spcPts val="1000"/>
              </a:spcAft>
            </a:pPr>
            <a:r>
              <a:rPr sz="1800" b="0" i="0">
                <a:solidFill>
                  <a:srgbClr val="2B2B2B"/>
                </a:solidFill>
                <a:latin typeface="Calibri"/>
              </a:rPr>
              <a:t>n = cell lines</a:t>
            </a:r>
          </a:p>
        </p:txBody>
      </p:sp>
      <p:cxnSp>
        <p:nvCxnSpPr>
          <p:cNvPr id="10" name="Connector 9"/>
          <p:cNvCxnSpPr/>
          <p:nvPr/>
        </p:nvCxnSpPr>
        <p:spPr>
          <a:xfrm>
            <a:off x="3172968" y="3063240"/>
            <a:ext cx="182880" cy="0"/>
          </a:xfrm>
          <a:prstGeom prst="line">
            <a:avLst/>
          </a:prstGeom>
          <a:ln w="25400">
            <a:solidFill>
              <a:srgbClr val="B8BD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74136" y="1417320"/>
            <a:ext cx="2606040" cy="33375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557016" y="1572768"/>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2</a:t>
            </a:r>
          </a:p>
        </p:txBody>
      </p:sp>
      <p:sp>
        <p:nvSpPr>
          <p:cNvPr id="13" name="TextBox 12"/>
          <p:cNvSpPr txBox="1"/>
          <p:nvPr/>
        </p:nvSpPr>
        <p:spPr>
          <a:xfrm>
            <a:off x="4123944" y="1554480"/>
            <a:ext cx="178308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Measured nodes</a:t>
            </a:r>
          </a:p>
        </p:txBody>
      </p:sp>
      <p:sp>
        <p:nvSpPr>
          <p:cNvPr id="14" name="TextBox 13"/>
          <p:cNvSpPr txBox="1"/>
          <p:nvPr/>
        </p:nvSpPr>
        <p:spPr>
          <a:xfrm>
            <a:off x="3557016" y="2240280"/>
            <a:ext cx="2286000" cy="2468880"/>
          </a:xfrm>
          <a:prstGeom prst="rect">
            <a:avLst/>
          </a:prstGeom>
          <a:noFill/>
        </p:spPr>
        <p:txBody>
          <a:bodyPr wrap="square" lIns="45720" tIns="27432" rIns="45720" bIns="27432" anchor="t">
            <a:spAutoFit/>
          </a:bodyPr>
          <a:lstStyle/>
          <a:p>
            <a:pPr algn="l">
              <a:spcAft>
                <a:spcPts val="1000"/>
              </a:spcAft>
            </a:pPr>
            <a:r>
              <a:rPr sz="1800" b="0" i="0">
                <a:solidFill>
                  <a:srgbClr val="2B2B2B"/>
                </a:solidFill>
                <a:latin typeface="Calibri"/>
              </a:rPr>
              <a:t>50 top TFs, stable when a line is left out</a:t>
            </a:r>
          </a:p>
          <a:p>
            <a:pPr algn="l">
              <a:spcAft>
                <a:spcPts val="1000"/>
              </a:spcAft>
            </a:pPr>
            <a:r>
              <a:rPr sz="1800" b="0" i="0">
                <a:solidFill>
                  <a:srgbClr val="2B2B2B"/>
                </a:solidFill>
                <a:latin typeface="Calibri"/>
              </a:rPr>
              <a:t>+ 36 metabolites</a:t>
            </a:r>
          </a:p>
        </p:txBody>
      </p:sp>
      <p:cxnSp>
        <p:nvCxnSpPr>
          <p:cNvPr id="15" name="Connector 14"/>
          <p:cNvCxnSpPr/>
          <p:nvPr/>
        </p:nvCxnSpPr>
        <p:spPr>
          <a:xfrm>
            <a:off x="5998464" y="3063240"/>
            <a:ext cx="182880" cy="0"/>
          </a:xfrm>
          <a:prstGeom prst="line">
            <a:avLst/>
          </a:prstGeom>
          <a:ln w="25400">
            <a:solidFill>
              <a:srgbClr val="B8BD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99631" y="1417320"/>
            <a:ext cx="2606040" cy="33375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382512" y="1572768"/>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3</a:t>
            </a:r>
          </a:p>
        </p:txBody>
      </p:sp>
      <p:sp>
        <p:nvSpPr>
          <p:cNvPr id="18" name="TextBox 17"/>
          <p:cNvSpPr txBox="1"/>
          <p:nvPr/>
        </p:nvSpPr>
        <p:spPr>
          <a:xfrm>
            <a:off x="6949440" y="1554480"/>
            <a:ext cx="178308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Networks</a:t>
            </a:r>
          </a:p>
        </p:txBody>
      </p:sp>
      <p:sp>
        <p:nvSpPr>
          <p:cNvPr id="19" name="TextBox 18"/>
          <p:cNvSpPr txBox="1"/>
          <p:nvPr/>
        </p:nvSpPr>
        <p:spPr>
          <a:xfrm>
            <a:off x="6382512" y="2240280"/>
            <a:ext cx="2286000" cy="2468880"/>
          </a:xfrm>
          <a:prstGeom prst="rect">
            <a:avLst/>
          </a:prstGeom>
          <a:noFill/>
        </p:spPr>
        <p:txBody>
          <a:bodyPr wrap="square" lIns="45720" tIns="27432" rIns="45720" bIns="27432" anchor="t">
            <a:spAutoFit/>
          </a:bodyPr>
          <a:lstStyle/>
          <a:p>
            <a:pPr algn="l">
              <a:spcAft>
                <a:spcPts val="1000"/>
              </a:spcAft>
            </a:pPr>
            <a:r>
              <a:rPr sz="1800" b="0" i="0">
                <a:solidFill>
                  <a:srgbClr val="2B2B2B"/>
                </a:solidFill>
                <a:latin typeface="Calibri"/>
              </a:rPr>
              <a:t>OmniPath: 9,870 edges</a:t>
            </a:r>
          </a:p>
          <a:p>
            <a:pPr algn="l">
              <a:spcAft>
                <a:spcPts val="1000"/>
              </a:spcAft>
            </a:pPr>
            <a:r>
              <a:rPr sz="1800" b="0" i="0">
                <a:solidFill>
                  <a:srgbClr val="2B2B2B"/>
                </a:solidFill>
                <a:latin typeface="Calibri"/>
              </a:rPr>
              <a:t>COSMOS: 54,571 edges, with metabolism</a:t>
            </a:r>
          </a:p>
        </p:txBody>
      </p:sp>
      <p:cxnSp>
        <p:nvCxnSpPr>
          <p:cNvPr id="20" name="Connector 19"/>
          <p:cNvCxnSpPr/>
          <p:nvPr/>
        </p:nvCxnSpPr>
        <p:spPr>
          <a:xfrm>
            <a:off x="8823959" y="3063240"/>
            <a:ext cx="182881" cy="0"/>
          </a:xfrm>
          <a:prstGeom prst="line">
            <a:avLst/>
          </a:prstGeom>
          <a:ln w="25400">
            <a:solidFill>
              <a:srgbClr val="B8BD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025128" y="1417320"/>
            <a:ext cx="2606040" cy="33375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208007" y="1572768"/>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4</a:t>
            </a:r>
          </a:p>
        </p:txBody>
      </p:sp>
      <p:sp>
        <p:nvSpPr>
          <p:cNvPr id="23" name="TextBox 22"/>
          <p:cNvSpPr txBox="1"/>
          <p:nvPr/>
        </p:nvSpPr>
        <p:spPr>
          <a:xfrm>
            <a:off x="9774936" y="1554480"/>
            <a:ext cx="178308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CORNETO</a:t>
            </a:r>
          </a:p>
        </p:txBody>
      </p:sp>
      <p:sp>
        <p:nvSpPr>
          <p:cNvPr id="24" name="TextBox 23"/>
          <p:cNvSpPr txBox="1"/>
          <p:nvPr/>
        </p:nvSpPr>
        <p:spPr>
          <a:xfrm>
            <a:off x="9208007" y="2240280"/>
            <a:ext cx="2286000" cy="2468880"/>
          </a:xfrm>
          <a:prstGeom prst="rect">
            <a:avLst/>
          </a:prstGeom>
          <a:noFill/>
        </p:spPr>
        <p:txBody>
          <a:bodyPr wrap="square" lIns="45720" tIns="27432" rIns="45720" bIns="27432" anchor="t">
            <a:spAutoFit/>
          </a:bodyPr>
          <a:lstStyle/>
          <a:p>
            <a:pPr algn="l">
              <a:spcAft>
                <a:spcPts val="1000"/>
              </a:spcAft>
            </a:pPr>
            <a:r>
              <a:rPr sz="1800" b="0" i="0">
                <a:solidFill>
                  <a:srgbClr val="2B2B2B"/>
                </a:solidFill>
                <a:latin typeface="Calibri"/>
              </a:rPr>
              <a:t>Any root may start a signal; route nodes never</a:t>
            </a:r>
          </a:p>
          <a:p>
            <a:pPr algn="l">
              <a:spcAft>
                <a:spcPts val="1000"/>
              </a:spcAft>
            </a:pPr>
            <a:r>
              <a:rPr sz="1800" b="0" i="0">
                <a:solidFill>
                  <a:srgbClr val="2B2B2B"/>
                </a:solidFill>
                <a:latin typeface="Calibri"/>
              </a:rPr>
              <a:t>λ: largest within 10% of best fit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Measured nodes: AP-1 and SP1 up, sterol genes flat</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32</a:t>
            </a:r>
          </a:p>
        </p:txBody>
      </p:sp>
      <p:pic>
        <p:nvPicPr>
          <p:cNvPr id="6" name="Picture 5" descr="fig2_tf_activity_manuscript.png"/>
          <p:cNvPicPr>
            <a:picLocks noChangeAspect="1"/>
          </p:cNvPicPr>
          <p:nvPr/>
        </p:nvPicPr>
        <p:blipFill>
          <a:blip r:embed="rId3"/>
          <a:stretch>
            <a:fillRect/>
          </a:stretch>
        </p:blipFill>
        <p:spPr>
          <a:xfrm>
            <a:off x="1417320" y="1280160"/>
            <a:ext cx="9132777" cy="4709160"/>
          </a:xfrm>
          <a:prstGeom prst="rect">
            <a:avLst/>
          </a:prstGeom>
        </p:spPr>
      </p:pic>
      <p:sp>
        <p:nvSpPr>
          <p:cNvPr id="7" name="TextBox 6"/>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Report Fig. 2. TF activity: ULM on moderated t (CollecTRI), 3 vs 3 lines; small dots leave one line out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Q1: the route is in the network, but not unique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33</a:t>
            </a:r>
          </a:p>
        </p:txBody>
      </p:sp>
      <p:sp>
        <p:nvSpPr>
          <p:cNvPr id="6" name="Rounded Rectangle 5"/>
          <p:cNvSpPr/>
          <p:nvPr/>
        </p:nvSpPr>
        <p:spPr>
          <a:xfrm>
            <a:off x="548640" y="141732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508760"/>
            <a:ext cx="3154680" cy="685800"/>
          </a:xfrm>
          <a:prstGeom prst="rect">
            <a:avLst/>
          </a:prstGeom>
          <a:noFill/>
        </p:spPr>
        <p:txBody>
          <a:bodyPr wrap="square" lIns="45720" tIns="27432" rIns="45720" bIns="27432" anchor="ctr">
            <a:spAutoFit/>
          </a:bodyPr>
          <a:lstStyle/>
          <a:p>
            <a:pPr algn="l">
              <a:spcAft>
                <a:spcPts val="600"/>
              </a:spcAft>
            </a:pPr>
            <a:r>
              <a:rPr sz="3600" b="1" i="0">
                <a:solidFill>
                  <a:srgbClr val="0072B2"/>
                </a:solidFill>
                <a:latin typeface="Calibri"/>
              </a:rPr>
              <a:t>56 / 58</a:t>
            </a:r>
          </a:p>
        </p:txBody>
      </p:sp>
      <p:sp>
        <p:nvSpPr>
          <p:cNvPr id="8" name="TextBox 7"/>
          <p:cNvSpPr txBox="1"/>
          <p:nvPr/>
        </p:nvSpPr>
        <p:spPr>
          <a:xfrm>
            <a:off x="731520" y="2167128"/>
            <a:ext cx="3154680" cy="640080"/>
          </a:xfrm>
          <a:prstGeom prst="rect">
            <a:avLst/>
          </a:prstGeom>
          <a:noFill/>
        </p:spPr>
        <p:txBody>
          <a:bodyPr wrap="square" lIns="45720" tIns="27432" rIns="45720" bIns="27432" anchor="t">
            <a:spAutoFit/>
          </a:bodyPr>
          <a:lstStyle/>
          <a:p>
            <a:pPr algn="l">
              <a:spcAft>
                <a:spcPts val="0"/>
              </a:spcAft>
            </a:pPr>
            <a:r>
              <a:rPr sz="1800" b="0" i="0">
                <a:solidFill>
                  <a:srgbClr val="2B2B2B"/>
                </a:solidFill>
                <a:latin typeface="Calibri"/>
              </a:rPr>
              <a:t>pathway reactions present in COSMOS</a:t>
            </a:r>
          </a:p>
        </p:txBody>
      </p:sp>
      <p:sp>
        <p:nvSpPr>
          <p:cNvPr id="9" name="Rounded Rectangle 8"/>
          <p:cNvSpPr/>
          <p:nvPr/>
        </p:nvSpPr>
        <p:spPr>
          <a:xfrm>
            <a:off x="4334256" y="141732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17136" y="1508760"/>
            <a:ext cx="3154680" cy="685800"/>
          </a:xfrm>
          <a:prstGeom prst="rect">
            <a:avLst/>
          </a:prstGeom>
          <a:noFill/>
        </p:spPr>
        <p:txBody>
          <a:bodyPr wrap="square" lIns="45720" tIns="27432" rIns="45720" bIns="27432" anchor="ctr">
            <a:spAutoFit/>
          </a:bodyPr>
          <a:lstStyle/>
          <a:p>
            <a:pPr algn="l">
              <a:spcAft>
                <a:spcPts val="600"/>
              </a:spcAft>
            </a:pPr>
            <a:r>
              <a:rPr sz="3600" b="1" i="0">
                <a:solidFill>
                  <a:srgbClr val="D55E00"/>
                </a:solidFill>
                <a:latin typeface="Calibri"/>
              </a:rPr>
              <a:t>2</a:t>
            </a:r>
          </a:p>
        </p:txBody>
      </p:sp>
      <p:sp>
        <p:nvSpPr>
          <p:cNvPr id="11" name="TextBox 10"/>
          <p:cNvSpPr txBox="1"/>
          <p:nvPr/>
        </p:nvSpPr>
        <p:spPr>
          <a:xfrm>
            <a:off x="4517136" y="2167128"/>
            <a:ext cx="3154680" cy="640080"/>
          </a:xfrm>
          <a:prstGeom prst="rect">
            <a:avLst/>
          </a:prstGeom>
          <a:noFill/>
        </p:spPr>
        <p:txBody>
          <a:bodyPr wrap="square" lIns="45720" tIns="27432" rIns="45720" bIns="27432" anchor="t">
            <a:spAutoFit/>
          </a:bodyPr>
          <a:lstStyle/>
          <a:p>
            <a:pPr algn="l">
              <a:spcAft>
                <a:spcPts val="0"/>
              </a:spcAft>
            </a:pPr>
            <a:r>
              <a:rPr sz="1800" b="0" i="0">
                <a:solidFill>
                  <a:srgbClr val="2B2B2B"/>
                </a:solidFill>
                <a:latin typeface="Calibri"/>
              </a:rPr>
              <a:t>missing (FDFT1 halves) break it; we added them back</a:t>
            </a:r>
          </a:p>
        </p:txBody>
      </p:sp>
      <p:sp>
        <p:nvSpPr>
          <p:cNvPr id="12" name="Rounded Rectangle 11"/>
          <p:cNvSpPr/>
          <p:nvPr/>
        </p:nvSpPr>
        <p:spPr>
          <a:xfrm>
            <a:off x="8119872" y="141732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02752" y="1508760"/>
            <a:ext cx="3154680" cy="685800"/>
          </a:xfrm>
          <a:prstGeom prst="rect">
            <a:avLst/>
          </a:prstGeom>
          <a:noFill/>
        </p:spPr>
        <p:txBody>
          <a:bodyPr wrap="square" lIns="45720" tIns="27432" rIns="45720" bIns="27432" anchor="ctr">
            <a:spAutoFit/>
          </a:bodyPr>
          <a:lstStyle/>
          <a:p>
            <a:pPr algn="l">
              <a:spcAft>
                <a:spcPts val="600"/>
              </a:spcAft>
            </a:pPr>
            <a:r>
              <a:rPr sz="3600" b="1" i="0">
                <a:solidFill>
                  <a:srgbClr val="0072B2"/>
                </a:solidFill>
                <a:latin typeface="Calibri"/>
              </a:rPr>
              <a:t>2 edges</a:t>
            </a:r>
          </a:p>
        </p:txBody>
      </p:sp>
      <p:sp>
        <p:nvSpPr>
          <p:cNvPr id="14" name="TextBox 13"/>
          <p:cNvSpPr txBox="1"/>
          <p:nvPr/>
        </p:nvSpPr>
        <p:spPr>
          <a:xfrm>
            <a:off x="8302752" y="2167128"/>
            <a:ext cx="3154680" cy="640080"/>
          </a:xfrm>
          <a:prstGeom prst="rect">
            <a:avLst/>
          </a:prstGeom>
          <a:noFill/>
        </p:spPr>
        <p:txBody>
          <a:bodyPr wrap="square" lIns="45720" tIns="27432" rIns="45720" bIns="27432" anchor="t">
            <a:spAutoFit/>
          </a:bodyPr>
          <a:lstStyle/>
          <a:p>
            <a:pPr algn="l">
              <a:spcAft>
                <a:spcPts val="0"/>
              </a:spcAft>
            </a:pPr>
            <a:r>
              <a:rPr sz="1800" b="0" i="0">
                <a:solidFill>
                  <a:srgbClr val="2B2B2B"/>
                </a:solidFill>
                <a:latin typeface="Calibri"/>
              </a:rPr>
              <a:t>from cholesterol to SP1, JUN, E2F1</a:t>
            </a:r>
          </a:p>
        </p:txBody>
      </p:sp>
      <p:sp>
        <p:nvSpPr>
          <p:cNvPr id="15" name="Rounded Rectangle 14"/>
          <p:cNvSpPr/>
          <p:nvPr/>
        </p:nvSpPr>
        <p:spPr>
          <a:xfrm>
            <a:off x="548640" y="3108960"/>
            <a:ext cx="11091672" cy="2697480"/>
          </a:xfrm>
          <a:prstGeom prst="roundRect">
            <a:avLst>
              <a:gd name="adj" fmla="val 8000"/>
            </a:avLst>
          </a:prstGeom>
          <a:solidFill>
            <a:srgbClr val="FFFFFF"/>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246120"/>
            <a:ext cx="10607040" cy="2468880"/>
          </a:xfrm>
          <a:prstGeom prst="rect">
            <a:avLst/>
          </a:prstGeom>
          <a:noFill/>
        </p:spPr>
        <p:txBody>
          <a:bodyPr wrap="square" lIns="45720" tIns="27432" rIns="45720" bIns="27432" anchor="t">
            <a:spAutoFit/>
          </a:bodyPr>
          <a:lstStyle/>
          <a:p>
            <a:pPr algn="l">
              <a:spcAft>
                <a:spcPts val="800"/>
              </a:spcAft>
            </a:pPr>
            <a:r>
              <a:rPr sz="2200" b="1" i="0">
                <a:solidFill>
                  <a:srgbClr val="D55E00"/>
                </a:solidFill>
                <a:latin typeface="Calibri"/>
              </a:rPr>
              <a:t>But cholesterol is a hub</a:t>
            </a:r>
          </a:p>
          <a:p>
            <a:pPr algn="l">
              <a:spcAft>
                <a:spcPts val="800"/>
              </a:spcAft>
            </a:pPr>
            <a:r>
              <a:rPr sz="2000" b="0" i="0">
                <a:solidFill>
                  <a:srgbClr val="0072B2"/>
                </a:solidFill>
                <a:latin typeface="Calibri"/>
              </a:rPr>
              <a:t>Top 0.1% </a:t>
            </a:r>
            <a:r>
              <a:rPr sz="2000" b="0" i="0">
                <a:solidFill>
                  <a:srgbClr val="2B2B2B"/>
                </a:solidFill>
                <a:latin typeface="Calibri"/>
              </a:rPr>
              <a:t>of COSMOS metabolites by betweenness</a:t>
            </a:r>
          </a:p>
          <a:p>
            <a:pPr algn="l">
              <a:spcAft>
                <a:spcPts val="800"/>
              </a:spcAft>
            </a:pPr>
            <a:r>
              <a:rPr sz="2000" b="0" i="0">
                <a:solidFill>
                  <a:srgbClr val="0072B2"/>
                </a:solidFill>
                <a:latin typeface="Calibri"/>
              </a:rPr>
              <a:t>~480 metabolites </a:t>
            </a:r>
            <a:r>
              <a:rPr sz="2000" b="0" i="0">
                <a:solidFill>
                  <a:srgbClr val="2B2B2B"/>
                </a:solidFill>
                <a:latin typeface="Calibri"/>
              </a:rPr>
              <a:t>are as close to SP1</a:t>
            </a:r>
          </a:p>
          <a:p>
            <a:pPr algn="l">
              <a:spcAft>
                <a:spcPts val="800"/>
              </a:spcAft>
            </a:pPr>
            <a:r>
              <a:rPr sz="2000" b="0" i="0">
                <a:solidFill>
                  <a:srgbClr val="0072B2"/>
                </a:solidFill>
                <a:latin typeface="Calibri"/>
              </a:rPr>
              <a:t>33–66% </a:t>
            </a:r>
            <a:r>
              <a:rPr sz="2000" b="0" i="0">
                <a:solidFill>
                  <a:srgbClr val="2B2B2B"/>
                </a:solidFill>
                <a:latin typeface="Calibri"/>
              </a:rPr>
              <a:t>of degree-preserving random networks connect it as closely</a:t>
            </a:r>
          </a:p>
        </p:txBody>
      </p:sp>
      <p:sp>
        <p:nvSpPr>
          <p:cNvPr id="17" name="TextBox 16"/>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results/ionescu_corneto/03_pkn/aim5_route; KEGG cholesterol-synthesis enzymes; hub-penalised shortest paths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Q2: inference skips the pathway</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34</a:t>
            </a:r>
          </a:p>
        </p:txBody>
      </p:sp>
      <p:pic>
        <p:nvPicPr>
          <p:cNvPr id="6" name="Picture 5" descr="fig3_aim5_route_manuscript.png"/>
          <p:cNvPicPr>
            <a:picLocks noChangeAspect="1"/>
          </p:cNvPicPr>
          <p:nvPr/>
        </p:nvPicPr>
        <p:blipFill>
          <a:blip r:embed="rId3"/>
          <a:stretch>
            <a:fillRect/>
          </a:stretch>
        </p:blipFill>
        <p:spPr>
          <a:xfrm>
            <a:off x="411480" y="1280160"/>
            <a:ext cx="8549640" cy="4238733"/>
          </a:xfrm>
          <a:prstGeom prst="rect">
            <a:avLst/>
          </a:prstGeom>
        </p:spPr>
      </p:pic>
      <p:sp>
        <p:nvSpPr>
          <p:cNvPr id="7" name="Rounded Rectangle 6"/>
          <p:cNvSpPr/>
          <p:nvPr/>
        </p:nvSpPr>
        <p:spPr>
          <a:xfrm>
            <a:off x="9098280" y="1417320"/>
            <a:ext cx="2542032" cy="2057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0" y="1481328"/>
            <a:ext cx="2286000" cy="1920240"/>
          </a:xfrm>
          <a:prstGeom prst="rect">
            <a:avLst/>
          </a:prstGeom>
          <a:noFill/>
        </p:spPr>
        <p:txBody>
          <a:bodyPr wrap="square" lIns="45720" tIns="27432" rIns="45720" bIns="27432" anchor="t">
            <a:spAutoFit/>
          </a:bodyPr>
          <a:lstStyle/>
          <a:p>
            <a:pPr algn="l">
              <a:spcAft>
                <a:spcPts val="600"/>
              </a:spcAft>
            </a:pPr>
            <a:r>
              <a:rPr sz="2000" b="1" i="0">
                <a:solidFill>
                  <a:srgbClr val="D55E00"/>
                </a:solidFill>
                <a:latin typeface="Calibri"/>
              </a:rPr>
              <a:t>PMS fit</a:t>
            </a:r>
          </a:p>
          <a:p>
            <a:pPr algn="l">
              <a:spcAft>
                <a:spcPts val="600"/>
              </a:spcAft>
            </a:pPr>
            <a:r>
              <a:rPr sz="1800" b="0" i="0">
                <a:solidFill>
                  <a:srgbClr val="2B2B2B"/>
                </a:solidFill>
                <a:latin typeface="Calibri"/>
              </a:rPr>
              <a:t>HMGCR off; cholesterol via one transport step</a:t>
            </a:r>
          </a:p>
        </p:txBody>
      </p:sp>
      <p:sp>
        <p:nvSpPr>
          <p:cNvPr id="9" name="Rounded Rectangle 8"/>
          <p:cNvSpPr/>
          <p:nvPr/>
        </p:nvSpPr>
        <p:spPr>
          <a:xfrm>
            <a:off x="9098280" y="3657600"/>
            <a:ext cx="2542032" cy="2148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35440" y="3721608"/>
            <a:ext cx="2286000" cy="2011680"/>
          </a:xfrm>
          <a:prstGeom prst="rect">
            <a:avLst/>
          </a:prstGeom>
          <a:noFill/>
        </p:spPr>
        <p:txBody>
          <a:bodyPr wrap="square" lIns="45720" tIns="27432" rIns="45720" bIns="27432" anchor="t">
            <a:spAutoFit/>
          </a:bodyPr>
          <a:lstStyle/>
          <a:p>
            <a:pPr algn="l">
              <a:spcAft>
                <a:spcPts val="600"/>
              </a:spcAft>
            </a:pPr>
            <a:r>
              <a:rPr sz="2000" b="1" i="0">
                <a:solidFill>
                  <a:srgbClr val="0072B2"/>
                </a:solidFill>
                <a:latin typeface="Calibri"/>
              </a:rPr>
              <a:t>HMGCR ↓ given</a:t>
            </a:r>
          </a:p>
          <a:p>
            <a:pPr algn="l">
              <a:spcAft>
                <a:spcPts val="600"/>
              </a:spcAft>
            </a:pPr>
            <a:r>
              <a:rPr sz="1800" b="0" i="0">
                <a:solidFill>
                  <a:srgbClr val="2B2B2B"/>
                </a:solidFill>
                <a:latin typeface="Calibri"/>
              </a:rPr>
              <a:t>16 of 20 enzymes in order, only after repair</a:t>
            </a:r>
          </a:p>
        </p:txBody>
      </p:sp>
      <p:sp>
        <p:nvSpPr>
          <p:cNvPr id="11" name="TextBox 10"/>
          <p:cNvSpPr txBox="1"/>
          <p:nvPr/>
        </p:nvSpPr>
        <p:spPr>
          <a:xfrm>
            <a:off x="548640" y="6053328"/>
            <a:ext cx="8412480" cy="329184"/>
          </a:xfrm>
          <a:prstGeom prst="rect">
            <a:avLst/>
          </a:prstGeom>
          <a:noFill/>
        </p:spPr>
        <p:txBody>
          <a:bodyPr wrap="square" lIns="45720" tIns="27432" rIns="45720" bIns="27432" anchor="ctr">
            <a:spAutoFit/>
          </a:bodyPr>
          <a:lstStyle/>
          <a:p>
            <a:pPr algn="l">
              <a:spcAft>
                <a:spcPts val="600"/>
              </a:spcAft>
            </a:pPr>
            <a:r>
              <a:rPr sz="1200" b="0" i="0" dirty="0">
                <a:solidFill>
                  <a:srgbClr val="6B7280"/>
                </a:solidFill>
                <a:latin typeface="Calibri"/>
              </a:rPr>
              <a:t>Report Fig. 3. SV = simvastatin control: HMGCR inhibited, cholesterol falls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One drug node feeds the joint network</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35</a:t>
            </a:r>
          </a:p>
        </p:txBody>
      </p:sp>
      <p:pic>
        <p:nvPicPr>
          <p:cNvPr id="6" name="Picture 5" descr="fig4_cosmos_subnetwork_manuscript.png"/>
          <p:cNvPicPr>
            <a:picLocks noChangeAspect="1"/>
          </p:cNvPicPr>
          <p:nvPr/>
        </p:nvPicPr>
        <p:blipFill>
          <a:blip r:embed="rId3"/>
          <a:stretch>
            <a:fillRect/>
          </a:stretch>
        </p:blipFill>
        <p:spPr>
          <a:xfrm>
            <a:off x="411480" y="1261872"/>
            <a:ext cx="7953979" cy="4754880"/>
          </a:xfrm>
          <a:prstGeom prst="rect">
            <a:avLst/>
          </a:prstGeom>
        </p:spPr>
      </p:pic>
      <p:sp>
        <p:nvSpPr>
          <p:cNvPr id="7" name="Rounded Rectangle 6"/>
          <p:cNvSpPr/>
          <p:nvPr/>
        </p:nvSpPr>
        <p:spPr>
          <a:xfrm>
            <a:off x="8503920" y="1417320"/>
            <a:ext cx="3136392" cy="1874519"/>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0" y="1508760"/>
            <a:ext cx="2770632" cy="685800"/>
          </a:xfrm>
          <a:prstGeom prst="rect">
            <a:avLst/>
          </a:prstGeom>
          <a:noFill/>
        </p:spPr>
        <p:txBody>
          <a:bodyPr wrap="square" lIns="45720" tIns="27432" rIns="45720" bIns="27432" anchor="ctr">
            <a:spAutoFit/>
          </a:bodyPr>
          <a:lstStyle/>
          <a:p>
            <a:pPr algn="l">
              <a:spcAft>
                <a:spcPts val="600"/>
              </a:spcAft>
            </a:pPr>
            <a:r>
              <a:rPr sz="3600" b="1" i="0">
                <a:solidFill>
                  <a:srgbClr val="D55E00"/>
                </a:solidFill>
                <a:latin typeface="Calibri"/>
              </a:rPr>
              <a:t>39 / 79</a:t>
            </a:r>
          </a:p>
        </p:txBody>
      </p:sp>
      <p:sp>
        <p:nvSpPr>
          <p:cNvPr id="9" name="TextBox 8"/>
          <p:cNvSpPr txBox="1"/>
          <p:nvPr/>
        </p:nvSpPr>
        <p:spPr>
          <a:xfrm>
            <a:off x="8686800" y="2167128"/>
            <a:ext cx="2770632" cy="1097279"/>
          </a:xfrm>
          <a:prstGeom prst="rect">
            <a:avLst/>
          </a:prstGeom>
          <a:noFill/>
        </p:spPr>
        <p:txBody>
          <a:bodyPr wrap="square" lIns="45720" tIns="27432" rIns="45720" bIns="27432" anchor="t">
            <a:spAutoFit/>
          </a:bodyPr>
          <a:lstStyle/>
          <a:p>
            <a:pPr algn="l">
              <a:spcAft>
                <a:spcPts val="0"/>
              </a:spcAft>
            </a:pPr>
            <a:r>
              <a:rPr sz="1800" b="0" i="0">
                <a:solidFill>
                  <a:srgbClr val="2B2B2B"/>
                </a:solidFill>
                <a:latin typeface="Calibri"/>
              </a:rPr>
              <a:t>measurements downstream of one tamoxifen node</a:t>
            </a:r>
          </a:p>
        </p:txBody>
      </p:sp>
      <p:sp>
        <p:nvSpPr>
          <p:cNvPr id="10" name="Rounded Rectangle 9"/>
          <p:cNvSpPr/>
          <p:nvPr/>
        </p:nvSpPr>
        <p:spPr>
          <a:xfrm>
            <a:off x="8503920" y="3520440"/>
            <a:ext cx="3136392" cy="2286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0" y="3611880"/>
            <a:ext cx="2834640" cy="2148840"/>
          </a:xfrm>
          <a:prstGeom prst="rect">
            <a:avLst/>
          </a:prstGeom>
          <a:noFill/>
        </p:spPr>
        <p:txBody>
          <a:bodyPr wrap="square" lIns="45720" tIns="27432" rIns="45720" bIns="27432" anchor="t">
            <a:spAutoFit/>
          </a:bodyPr>
          <a:lstStyle/>
          <a:p>
            <a:pPr algn="l">
              <a:spcAft>
                <a:spcPts val="1000"/>
              </a:spcAft>
            </a:pPr>
            <a:r>
              <a:rPr sz="1800" b="0" i="0">
                <a:solidFill>
                  <a:srgbClr val="2B2B2B"/>
                </a:solidFill>
                <a:latin typeface="Calibri"/>
              </a:rPr>
              <a:t>Routes into SP1, JUN, JUNB, EGR1 all start there</a:t>
            </a:r>
          </a:p>
          <a:p>
            <a:pPr algn="l">
              <a:spcAft>
                <a:spcPts val="1000"/>
              </a:spcAft>
            </a:pPr>
            <a:r>
              <a:rPr sz="1800" b="0" i="0">
                <a:solidFill>
                  <a:srgbClr val="0072B2"/>
                </a:solidFill>
                <a:latin typeface="Calibri"/>
              </a:rPr>
              <a:t>Recurring kinases: MAPK1, MAPK14, AKT1</a:t>
            </a:r>
          </a:p>
        </p:txBody>
      </p:sp>
      <p:sp>
        <p:nvSpPr>
          <p:cNvPr id="12" name="TextBox 11"/>
          <p:cNvSpPr txBox="1"/>
          <p:nvPr/>
        </p:nvSpPr>
        <p:spPr>
          <a:xfrm>
            <a:off x="548640" y="6053328"/>
            <a:ext cx="78638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Report Fig. 4. COSMOS, TFs + metabolites, λ = 0.1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Q3: much of the network comes from the network</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36</a:t>
            </a:r>
          </a:p>
        </p:txBody>
      </p:sp>
      <p:pic>
        <p:nvPicPr>
          <p:cNvPr id="6" name="Picture 5" descr="fig5_robustness_manuscript.png"/>
          <p:cNvPicPr>
            <a:picLocks noChangeAspect="1"/>
          </p:cNvPicPr>
          <p:nvPr/>
        </p:nvPicPr>
        <p:blipFill>
          <a:blip r:embed="rId3"/>
          <a:stretch>
            <a:fillRect/>
          </a:stretch>
        </p:blipFill>
        <p:spPr>
          <a:xfrm>
            <a:off x="411480" y="1261872"/>
            <a:ext cx="6804755" cy="4754880"/>
          </a:xfrm>
          <a:prstGeom prst="rect">
            <a:avLst/>
          </a:prstGeom>
        </p:spPr>
      </p:pic>
      <p:sp>
        <p:nvSpPr>
          <p:cNvPr id="7" name="Rounded Rectangle 6"/>
          <p:cNvSpPr/>
          <p:nvPr/>
        </p:nvSpPr>
        <p:spPr>
          <a:xfrm>
            <a:off x="7452360" y="1371600"/>
            <a:ext cx="4187952" cy="102412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0" y="1417320"/>
            <a:ext cx="1691640" cy="914400"/>
          </a:xfrm>
          <a:prstGeom prst="rect">
            <a:avLst/>
          </a:prstGeom>
          <a:noFill/>
        </p:spPr>
        <p:txBody>
          <a:bodyPr wrap="square" lIns="45720" tIns="27432" rIns="45720" bIns="27432" anchor="ctr">
            <a:spAutoFit/>
          </a:bodyPr>
          <a:lstStyle/>
          <a:p>
            <a:pPr algn="l">
              <a:spcAft>
                <a:spcPts val="0"/>
              </a:spcAft>
            </a:pPr>
            <a:r>
              <a:rPr sz="2600" b="1" i="0">
                <a:solidFill>
                  <a:srgbClr val="D55E00"/>
                </a:solidFill>
                <a:latin typeface="Calibri"/>
              </a:rPr>
              <a:t>6 / 10</a:t>
            </a:r>
          </a:p>
        </p:txBody>
      </p:sp>
      <p:sp>
        <p:nvSpPr>
          <p:cNvPr id="9" name="TextBox 8"/>
          <p:cNvSpPr txBox="1"/>
          <p:nvPr/>
        </p:nvSpPr>
        <p:spPr>
          <a:xfrm>
            <a:off x="9281160" y="1417320"/>
            <a:ext cx="2286000" cy="914400"/>
          </a:xfrm>
          <a:prstGeom prst="rect">
            <a:avLst/>
          </a:prstGeom>
          <a:noFill/>
        </p:spPr>
        <p:txBody>
          <a:bodyPr wrap="square" lIns="45720" tIns="27432" rIns="45720" bIns="27432" anchor="ctr">
            <a:spAutoFit/>
          </a:bodyPr>
          <a:lstStyle/>
          <a:p>
            <a:pPr algn="l">
              <a:spcAft>
                <a:spcPts val="0"/>
              </a:spcAft>
            </a:pPr>
            <a:r>
              <a:rPr sz="1800" b="0" i="0">
                <a:solidFill>
                  <a:srgbClr val="2B2B2B"/>
                </a:solidFill>
                <a:latin typeface="Calibri"/>
              </a:rPr>
              <a:t>random networks fit every TF exactly</a:t>
            </a:r>
          </a:p>
        </p:txBody>
      </p:sp>
      <p:sp>
        <p:nvSpPr>
          <p:cNvPr id="10" name="Rounded Rectangle 9"/>
          <p:cNvSpPr/>
          <p:nvPr/>
        </p:nvSpPr>
        <p:spPr>
          <a:xfrm>
            <a:off x="7452360" y="2505456"/>
            <a:ext cx="4187952" cy="102412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0" y="2551176"/>
            <a:ext cx="1691640" cy="914400"/>
          </a:xfrm>
          <a:prstGeom prst="rect">
            <a:avLst/>
          </a:prstGeom>
          <a:noFill/>
        </p:spPr>
        <p:txBody>
          <a:bodyPr wrap="square" lIns="45720" tIns="27432" rIns="45720" bIns="27432" anchor="ctr">
            <a:spAutoFit/>
          </a:bodyPr>
          <a:lstStyle/>
          <a:p>
            <a:pPr algn="l">
              <a:spcAft>
                <a:spcPts val="0"/>
              </a:spcAft>
            </a:pPr>
            <a:r>
              <a:rPr sz="2600" b="1" i="0">
                <a:solidFill>
                  <a:srgbClr val="0072B2"/>
                </a:solidFill>
                <a:latin typeface="Calibri"/>
              </a:rPr>
              <a:t>p = 2/20</a:t>
            </a:r>
          </a:p>
        </p:txBody>
      </p:sp>
      <p:sp>
        <p:nvSpPr>
          <p:cNvPr id="12" name="TextBox 11"/>
          <p:cNvSpPr txBox="1"/>
          <p:nvPr/>
        </p:nvSpPr>
        <p:spPr>
          <a:xfrm>
            <a:off x="9281160" y="2551176"/>
            <a:ext cx="2286000" cy="914400"/>
          </a:xfrm>
          <a:prstGeom prst="rect">
            <a:avLst/>
          </a:prstGeom>
          <a:noFill/>
        </p:spPr>
        <p:txBody>
          <a:bodyPr wrap="square" lIns="45720" tIns="27432" rIns="45720" bIns="27432" anchor="ctr">
            <a:spAutoFit/>
          </a:bodyPr>
          <a:lstStyle/>
          <a:p>
            <a:pPr algn="l">
              <a:spcAft>
                <a:spcPts val="0"/>
              </a:spcAft>
            </a:pPr>
            <a:r>
              <a:rPr sz="1800" b="0" i="0">
                <a:solidFill>
                  <a:srgbClr val="2B2B2B"/>
                </a:solidFill>
                <a:latin typeface="Calibri"/>
              </a:rPr>
              <a:t>only the true split fits</a:t>
            </a:r>
          </a:p>
        </p:txBody>
      </p:sp>
      <p:sp>
        <p:nvSpPr>
          <p:cNvPr id="13" name="Rounded Rectangle 12"/>
          <p:cNvSpPr/>
          <p:nvPr/>
        </p:nvSpPr>
        <p:spPr>
          <a:xfrm>
            <a:off x="7452360" y="3639312"/>
            <a:ext cx="4187952" cy="102412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89520" y="3685032"/>
            <a:ext cx="1691640" cy="914400"/>
          </a:xfrm>
          <a:prstGeom prst="rect">
            <a:avLst/>
          </a:prstGeom>
          <a:noFill/>
        </p:spPr>
        <p:txBody>
          <a:bodyPr wrap="square" lIns="45720" tIns="27432" rIns="45720" bIns="27432" anchor="ctr">
            <a:spAutoFit/>
          </a:bodyPr>
          <a:lstStyle/>
          <a:p>
            <a:pPr algn="l">
              <a:spcAft>
                <a:spcPts val="0"/>
              </a:spcAft>
            </a:pPr>
            <a:r>
              <a:rPr sz="2600" b="1" i="0">
                <a:solidFill>
                  <a:srgbClr val="D55E00"/>
                </a:solidFill>
                <a:latin typeface="Calibri"/>
              </a:rPr>
              <a:t>×1.7–3</a:t>
            </a:r>
          </a:p>
        </p:txBody>
      </p:sp>
      <p:sp>
        <p:nvSpPr>
          <p:cNvPr id="15" name="TextBox 14"/>
          <p:cNvSpPr txBox="1"/>
          <p:nvPr/>
        </p:nvSpPr>
        <p:spPr>
          <a:xfrm>
            <a:off x="9281160" y="3685032"/>
            <a:ext cx="2286000" cy="914400"/>
          </a:xfrm>
          <a:prstGeom prst="rect">
            <a:avLst/>
          </a:prstGeom>
          <a:noFill/>
        </p:spPr>
        <p:txBody>
          <a:bodyPr wrap="square" lIns="45720" tIns="27432" rIns="45720" bIns="27432" anchor="ctr">
            <a:spAutoFit/>
          </a:bodyPr>
          <a:lstStyle/>
          <a:p>
            <a:pPr algn="l">
              <a:spcAft>
                <a:spcPts val="0"/>
              </a:spcAft>
            </a:pPr>
            <a:r>
              <a:rPr sz="1800" b="0" i="0">
                <a:solidFill>
                  <a:srgbClr val="2B2B2B"/>
                </a:solidFill>
                <a:latin typeface="Calibri"/>
              </a:rPr>
              <a:t>selection odds per degree doubling</a:t>
            </a:r>
          </a:p>
        </p:txBody>
      </p:sp>
      <p:sp>
        <p:nvSpPr>
          <p:cNvPr id="16" name="Rounded Rectangle 15"/>
          <p:cNvSpPr/>
          <p:nvPr/>
        </p:nvSpPr>
        <p:spPr>
          <a:xfrm>
            <a:off x="7452360" y="4773168"/>
            <a:ext cx="4187952" cy="102412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0" y="4818888"/>
            <a:ext cx="1691640" cy="914400"/>
          </a:xfrm>
          <a:prstGeom prst="rect">
            <a:avLst/>
          </a:prstGeom>
          <a:noFill/>
        </p:spPr>
        <p:txBody>
          <a:bodyPr wrap="square" lIns="45720" tIns="27432" rIns="45720" bIns="27432" anchor="ctr">
            <a:spAutoFit/>
          </a:bodyPr>
          <a:lstStyle/>
          <a:p>
            <a:pPr algn="l">
              <a:spcAft>
                <a:spcPts val="0"/>
              </a:spcAft>
            </a:pPr>
            <a:r>
              <a:rPr sz="2600" b="1" i="0">
                <a:solidFill>
                  <a:srgbClr val="D55E00"/>
                </a:solidFill>
                <a:latin typeface="Calibri"/>
              </a:rPr>
              <a:t>≤ 19%</a:t>
            </a:r>
          </a:p>
        </p:txBody>
      </p:sp>
      <p:sp>
        <p:nvSpPr>
          <p:cNvPr id="18" name="TextBox 17"/>
          <p:cNvSpPr txBox="1"/>
          <p:nvPr/>
        </p:nvSpPr>
        <p:spPr>
          <a:xfrm>
            <a:off x="9281160" y="4818888"/>
            <a:ext cx="2286000" cy="914400"/>
          </a:xfrm>
          <a:prstGeom prst="rect">
            <a:avLst/>
          </a:prstGeom>
          <a:noFill/>
        </p:spPr>
        <p:txBody>
          <a:bodyPr wrap="square" lIns="45720" tIns="27432" rIns="45720" bIns="27432" anchor="ctr">
            <a:spAutoFit/>
          </a:bodyPr>
          <a:lstStyle/>
          <a:p>
            <a:pPr algn="l">
              <a:spcAft>
                <a:spcPts val="0"/>
              </a:spcAft>
            </a:pPr>
            <a:r>
              <a:rPr sz="1800" b="0" i="0">
                <a:solidFill>
                  <a:srgbClr val="2B2B2B"/>
                </a:solidFill>
                <a:latin typeface="Calibri"/>
              </a:rPr>
              <a:t>"optimal" worse than best known</a:t>
            </a:r>
          </a:p>
        </p:txBody>
      </p:sp>
      <p:sp>
        <p:nvSpPr>
          <p:cNvPr id="19" name="TextBox 18"/>
          <p:cNvSpPr txBox="1"/>
          <p:nvPr/>
        </p:nvSpPr>
        <p:spPr>
          <a:xfrm>
            <a:off x="548640" y="6053328"/>
            <a:ext cx="685800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Report Fig. 5; results/ionescu_corneto/05_robustness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What our test shows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This work: networkbio project report (Oct 2026)  ·  data: Ionescu et al. 2024; Park et al.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37</a:t>
            </a:r>
          </a:p>
        </p:txBody>
      </p:sp>
      <p:sp>
        <p:nvSpPr>
          <p:cNvPr id="6" name="Rounded Rectangle 5"/>
          <p:cNvSpPr/>
          <p:nvPr/>
        </p:nvSpPr>
        <p:spPr>
          <a:xfrm>
            <a:off x="548640" y="1417320"/>
            <a:ext cx="5440680" cy="3794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99632" y="1417320"/>
            <a:ext cx="5440680" cy="3794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54480"/>
            <a:ext cx="5029200" cy="3566160"/>
          </a:xfrm>
          <a:prstGeom prst="rect">
            <a:avLst/>
          </a:prstGeom>
          <a:noFill/>
        </p:spPr>
        <p:txBody>
          <a:bodyPr wrap="square" lIns="45720" tIns="27432" rIns="45720" bIns="27432" anchor="t">
            <a:spAutoFit/>
          </a:bodyPr>
          <a:lstStyle/>
          <a:p>
            <a:pPr algn="l">
              <a:spcAft>
                <a:spcPts val="1200"/>
              </a:spcAft>
            </a:pPr>
            <a:r>
              <a:rPr sz="2200" b="1" i="0" dirty="0">
                <a:solidFill>
                  <a:srgbClr val="0072B2"/>
                </a:solidFill>
                <a:latin typeface="Calibri"/>
              </a:rPr>
              <a:t>Robust</a:t>
            </a:r>
          </a:p>
          <a:p>
            <a:pPr algn="l">
              <a:spcAft>
                <a:spcPts val="1200"/>
              </a:spcAft>
            </a:pPr>
            <a:r>
              <a:rPr sz="2000" b="0" i="0" dirty="0">
                <a:solidFill>
                  <a:srgbClr val="2B2B2B"/>
                </a:solidFill>
                <a:latin typeface="Calibri"/>
              </a:rPr>
              <a:t>Kinase layer above AP-1 / SP1 (MAPK1, MAPK14, PRKACA, FYN), but these are PKN hubs</a:t>
            </a:r>
          </a:p>
          <a:p>
            <a:pPr algn="l">
              <a:spcAft>
                <a:spcPts val="1200"/>
              </a:spcAft>
            </a:pPr>
            <a:r>
              <a:rPr sz="2000" b="0" i="0" dirty="0">
                <a:solidFill>
                  <a:srgbClr val="2B2B2B"/>
                </a:solidFill>
                <a:latin typeface="Calibri"/>
              </a:rPr>
              <a:t>Textbook sterol pathway, for a known perturbation, after a two-reaction repair</a:t>
            </a:r>
          </a:p>
        </p:txBody>
      </p:sp>
      <p:sp>
        <p:nvSpPr>
          <p:cNvPr id="9" name="TextBox 8"/>
          <p:cNvSpPr txBox="1"/>
          <p:nvPr/>
        </p:nvSpPr>
        <p:spPr>
          <a:xfrm>
            <a:off x="6428232" y="1554480"/>
            <a:ext cx="5029200" cy="1625060"/>
          </a:xfrm>
          <a:prstGeom prst="rect">
            <a:avLst/>
          </a:prstGeom>
          <a:noFill/>
        </p:spPr>
        <p:txBody>
          <a:bodyPr wrap="square" lIns="45720" tIns="27432" rIns="45720" bIns="27432" anchor="t">
            <a:spAutoFit/>
          </a:bodyPr>
          <a:lstStyle/>
          <a:p>
            <a:pPr algn="l">
              <a:spcAft>
                <a:spcPts val="1200"/>
              </a:spcAft>
            </a:pPr>
            <a:r>
              <a:rPr sz="2200" b="1" i="0" dirty="0">
                <a:solidFill>
                  <a:srgbClr val="D55E00"/>
                </a:solidFill>
                <a:latin typeface="Calibri"/>
              </a:rPr>
              <a:t>Not identifiable</a:t>
            </a:r>
          </a:p>
          <a:p>
            <a:pPr algn="l">
              <a:spcAft>
                <a:spcPts val="1200"/>
              </a:spcAft>
            </a:pPr>
            <a:r>
              <a:rPr sz="2000" b="0" i="0" dirty="0">
                <a:solidFill>
                  <a:srgbClr val="2B2B2B"/>
                </a:solidFill>
                <a:latin typeface="Calibri"/>
              </a:rPr>
              <a:t>Where the signal starts</a:t>
            </a:r>
            <a:r>
              <a:rPr lang="en-US" sz="2000" dirty="0">
                <a:solidFill>
                  <a:srgbClr val="2B2B2B"/>
                </a:solidFill>
                <a:latin typeface="Calibri"/>
              </a:rPr>
              <a:t>: finding </a:t>
            </a:r>
            <a:r>
              <a:rPr sz="2000" b="0" i="0" dirty="0">
                <a:solidFill>
                  <a:srgbClr val="2B2B2B"/>
                </a:solidFill>
                <a:latin typeface="Calibri"/>
              </a:rPr>
              <a:t>one arbitrary hub</a:t>
            </a:r>
          </a:p>
          <a:p>
            <a:pPr algn="l">
              <a:spcAft>
                <a:spcPts val="1200"/>
              </a:spcAft>
            </a:pPr>
            <a:r>
              <a:rPr sz="2000" b="0" i="0" dirty="0">
                <a:solidFill>
                  <a:srgbClr val="2B2B2B"/>
                </a:solidFill>
                <a:latin typeface="Calibri"/>
              </a:rPr>
              <a:t>The solver’s optimum is approximate</a:t>
            </a:r>
          </a:p>
        </p:txBody>
      </p:sp>
      <p:sp>
        <p:nvSpPr>
          <p:cNvPr id="10" name="TextBox 9"/>
          <p:cNvSpPr txBox="1"/>
          <p:nvPr/>
        </p:nvSpPr>
        <p:spPr>
          <a:xfrm>
            <a:off x="548640" y="5349240"/>
            <a:ext cx="11091672" cy="502920"/>
          </a:xfrm>
          <a:prstGeom prst="rect">
            <a:avLst/>
          </a:prstGeom>
          <a:noFill/>
        </p:spPr>
        <p:txBody>
          <a:bodyPr wrap="square" lIns="45720" tIns="27432" rIns="45720" bIns="27432" anchor="t">
            <a:spAutoFit/>
          </a:bodyPr>
          <a:lstStyle/>
          <a:p>
            <a:pPr algn="ctr">
              <a:spcAft>
                <a:spcPts val="600"/>
              </a:spcAft>
            </a:pPr>
            <a:r>
              <a:rPr sz="1800" b="0" i="0">
                <a:solidFill>
                  <a:srgbClr val="6B7280"/>
                </a:solidFill>
                <a:latin typeface="Calibri"/>
              </a:rPr>
              <a:t>Hypothesis-generating: 3 vs 3–4 lines, unmatched experiments, donor background confounded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38</a:t>
            </a:r>
          </a:p>
        </p:txBody>
      </p:sp>
      <p:sp>
        <p:nvSpPr>
          <p:cNvPr id="6" name="Oval 5"/>
          <p:cNvSpPr/>
          <p:nvPr/>
        </p:nvSpPr>
        <p:spPr>
          <a:xfrm>
            <a:off x="886968" y="1481328"/>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1</a:t>
            </a:r>
          </a:p>
        </p:txBody>
      </p:sp>
      <p:sp>
        <p:nvSpPr>
          <p:cNvPr id="7" name="TextBox 6"/>
          <p:cNvSpPr txBox="1"/>
          <p:nvPr/>
        </p:nvSpPr>
        <p:spPr>
          <a:xfrm>
            <a:off x="1691640" y="1417320"/>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Why network inference from prior knowledge?</a:t>
            </a:r>
          </a:p>
        </p:txBody>
      </p:sp>
      <p:sp>
        <p:nvSpPr>
          <p:cNvPr id="8" name="Oval 7"/>
          <p:cNvSpPr/>
          <p:nvPr/>
        </p:nvSpPr>
        <p:spPr>
          <a:xfrm>
            <a:off x="886968" y="2267712"/>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2</a:t>
            </a:r>
          </a:p>
        </p:txBody>
      </p:sp>
      <p:sp>
        <p:nvSpPr>
          <p:cNvPr id="9" name="TextBox 8"/>
          <p:cNvSpPr txBox="1"/>
          <p:nvPr/>
        </p:nvSpPr>
        <p:spPr>
          <a:xfrm>
            <a:off x="1691640" y="2203704"/>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The methods CORNETO unifies</a:t>
            </a:r>
          </a:p>
        </p:txBody>
      </p:sp>
      <p:sp>
        <p:nvSpPr>
          <p:cNvPr id="10" name="Oval 9"/>
          <p:cNvSpPr/>
          <p:nvPr/>
        </p:nvSpPr>
        <p:spPr>
          <a:xfrm>
            <a:off x="886968" y="3054096"/>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3</a:t>
            </a:r>
          </a:p>
        </p:txBody>
      </p:sp>
      <p:sp>
        <p:nvSpPr>
          <p:cNvPr id="11" name="TextBox 10"/>
          <p:cNvSpPr txBox="1"/>
          <p:nvPr/>
        </p:nvSpPr>
        <p:spPr>
          <a:xfrm>
            <a:off x="1691640" y="2990088"/>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CORNETO: one optimisation problem</a:t>
            </a:r>
          </a:p>
        </p:txBody>
      </p:sp>
      <p:sp>
        <p:nvSpPr>
          <p:cNvPr id="12" name="Oval 11"/>
          <p:cNvSpPr/>
          <p:nvPr/>
        </p:nvSpPr>
        <p:spPr>
          <a:xfrm>
            <a:off x="886968" y="3840480"/>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4</a:t>
            </a:r>
          </a:p>
        </p:txBody>
      </p:sp>
      <p:sp>
        <p:nvSpPr>
          <p:cNvPr id="13" name="TextBox 12"/>
          <p:cNvSpPr txBox="1"/>
          <p:nvPr/>
        </p:nvSpPr>
        <p:spPr>
          <a:xfrm>
            <a:off x="1691640" y="3776472"/>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Results in the paper</a:t>
            </a:r>
          </a:p>
        </p:txBody>
      </p:sp>
      <p:sp>
        <p:nvSpPr>
          <p:cNvPr id="14" name="Oval 13"/>
          <p:cNvSpPr/>
          <p:nvPr/>
        </p:nvSpPr>
        <p:spPr>
          <a:xfrm>
            <a:off x="886968" y="4626864"/>
            <a:ext cx="530352" cy="530352"/>
          </a:xfrm>
          <a:prstGeom prst="ellipse">
            <a:avLst/>
          </a:prstGeom>
          <a:solidFill>
            <a:srgbClr val="B8BDC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5</a:t>
            </a:r>
          </a:p>
        </p:txBody>
      </p:sp>
      <p:sp>
        <p:nvSpPr>
          <p:cNvPr id="15" name="TextBox 14"/>
          <p:cNvSpPr txBox="1"/>
          <p:nvPr/>
        </p:nvSpPr>
        <p:spPr>
          <a:xfrm>
            <a:off x="1691640" y="4562856"/>
            <a:ext cx="8686800" cy="658368"/>
          </a:xfrm>
          <a:prstGeom prst="rect">
            <a:avLst/>
          </a:prstGeom>
          <a:noFill/>
        </p:spPr>
        <p:txBody>
          <a:bodyPr wrap="square" lIns="45720" tIns="27432" rIns="45720" bIns="27432" anchor="ctr">
            <a:spAutoFit/>
          </a:bodyPr>
          <a:lstStyle/>
          <a:p>
            <a:pPr algn="l">
              <a:spcAft>
                <a:spcPts val="600"/>
              </a:spcAft>
            </a:pPr>
            <a:r>
              <a:rPr sz="2000" b="0" i="0">
                <a:solidFill>
                  <a:srgbClr val="6B7280"/>
                </a:solidFill>
                <a:latin typeface="Calibri"/>
              </a:rPr>
              <a:t>Our test: the PMS iNSC data</a:t>
            </a:r>
          </a:p>
        </p:txBody>
      </p:sp>
      <p:sp>
        <p:nvSpPr>
          <p:cNvPr id="16" name="Oval 15"/>
          <p:cNvSpPr/>
          <p:nvPr/>
        </p:nvSpPr>
        <p:spPr>
          <a:xfrm>
            <a:off x="886968" y="5413248"/>
            <a:ext cx="530352" cy="53035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a:solidFill>
                  <a:srgbClr val="FFFFFF"/>
                </a:solidFill>
                <a:latin typeface="Calibri"/>
              </a:rPr>
              <a:t>6</a:t>
            </a:r>
          </a:p>
        </p:txBody>
      </p:sp>
      <p:sp>
        <p:nvSpPr>
          <p:cNvPr id="17" name="TextBox 16"/>
          <p:cNvSpPr txBox="1"/>
          <p:nvPr/>
        </p:nvSpPr>
        <p:spPr>
          <a:xfrm>
            <a:off x="1691640" y="5349240"/>
            <a:ext cx="8686800" cy="658368"/>
          </a:xfrm>
          <a:prstGeom prst="rect">
            <a:avLst/>
          </a:prstGeom>
          <a:noFill/>
        </p:spPr>
        <p:txBody>
          <a:bodyPr wrap="square" lIns="45720" tIns="27432" rIns="45720" bIns="27432" anchor="ctr">
            <a:spAutoFit/>
          </a:bodyPr>
          <a:lstStyle/>
          <a:p>
            <a:pPr algn="l">
              <a:spcAft>
                <a:spcPts val="600"/>
              </a:spcAft>
            </a:pPr>
            <a:r>
              <a:rPr sz="2200" b="0" i="0">
                <a:solidFill>
                  <a:srgbClr val="1F2A44"/>
                </a:solidFill>
                <a:latin typeface="Calibri"/>
              </a:rPr>
              <a:t>Discussion</a:t>
            </a:r>
          </a:p>
        </p:txBody>
      </p:sp>
      <p:sp>
        <p:nvSpPr>
          <p:cNvPr id="18" name="Rectangle 17"/>
          <p:cNvSpPr/>
          <p:nvPr/>
        </p:nvSpPr>
        <p:spPr>
          <a:xfrm>
            <a:off x="566928" y="5385816"/>
            <a:ext cx="91440" cy="585216"/>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Strengths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39</a:t>
            </a:r>
          </a:p>
        </p:txBody>
      </p:sp>
      <p:sp>
        <p:nvSpPr>
          <p:cNvPr id="6" name="Rounded Rectangle 5"/>
          <p:cNvSpPr/>
          <p:nvPr/>
        </p:nvSpPr>
        <p:spPr>
          <a:xfrm>
            <a:off x="548640" y="1417320"/>
            <a:ext cx="352044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9808" y="1636776"/>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1</a:t>
            </a:r>
          </a:p>
        </p:txBody>
      </p:sp>
      <p:sp>
        <p:nvSpPr>
          <p:cNvPr id="8" name="TextBox 7"/>
          <p:cNvSpPr txBox="1"/>
          <p:nvPr/>
        </p:nvSpPr>
        <p:spPr>
          <a:xfrm>
            <a:off x="1353312" y="1618488"/>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One formulation</a:t>
            </a:r>
          </a:p>
        </p:txBody>
      </p:sp>
      <p:sp>
        <p:nvSpPr>
          <p:cNvPr id="9" name="TextBox 8"/>
          <p:cNvSpPr txBox="1"/>
          <p:nvPr/>
        </p:nvSpPr>
        <p:spPr>
          <a:xfrm>
            <a:off x="749808" y="2286000"/>
            <a:ext cx="3154680" cy="1188719"/>
          </a:xfrm>
          <a:prstGeom prst="rect">
            <a:avLst/>
          </a:prstGeom>
          <a:noFill/>
        </p:spPr>
        <p:txBody>
          <a:bodyPr wrap="square" lIns="45720" tIns="27432" rIns="45720" bIns="27432" anchor="t">
            <a:spAutoFit/>
          </a:bodyPr>
          <a:lstStyle/>
          <a:p>
            <a:pPr algn="l">
              <a:spcAft>
                <a:spcPts val="600"/>
              </a:spcAft>
            </a:pPr>
            <a:r>
              <a:rPr sz="1800" b="0" i="0">
                <a:solidFill>
                  <a:srgbClr val="2B2B2B"/>
                </a:solidFill>
                <a:latin typeface="Calibri"/>
              </a:rPr>
              <a:t>Signalling, metabolism and PPI as flows plus constraints</a:t>
            </a:r>
          </a:p>
        </p:txBody>
      </p:sp>
      <p:sp>
        <p:nvSpPr>
          <p:cNvPr id="10" name="Rounded Rectangle 9"/>
          <p:cNvSpPr/>
          <p:nvPr/>
        </p:nvSpPr>
        <p:spPr>
          <a:xfrm>
            <a:off x="4334255" y="1417320"/>
            <a:ext cx="352044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35423" y="1636776"/>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2</a:t>
            </a:r>
          </a:p>
        </p:txBody>
      </p:sp>
      <p:sp>
        <p:nvSpPr>
          <p:cNvPr id="12" name="TextBox 11"/>
          <p:cNvSpPr txBox="1"/>
          <p:nvPr/>
        </p:nvSpPr>
        <p:spPr>
          <a:xfrm>
            <a:off x="5138927" y="1618488"/>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Multi-sample for free</a:t>
            </a:r>
          </a:p>
        </p:txBody>
      </p:sp>
      <p:sp>
        <p:nvSpPr>
          <p:cNvPr id="13" name="TextBox 12"/>
          <p:cNvSpPr txBox="1"/>
          <p:nvPr/>
        </p:nvSpPr>
        <p:spPr>
          <a:xfrm>
            <a:off x="4535423" y="2286000"/>
            <a:ext cx="3154680" cy="1188719"/>
          </a:xfrm>
          <a:prstGeom prst="rect">
            <a:avLst/>
          </a:prstGeom>
          <a:noFill/>
        </p:spPr>
        <p:txBody>
          <a:bodyPr wrap="square" lIns="45720" tIns="27432" rIns="45720" bIns="27432" anchor="t">
            <a:spAutoFit/>
          </a:bodyPr>
          <a:lstStyle/>
          <a:p>
            <a:pPr algn="l">
              <a:spcAft>
                <a:spcPts val="600"/>
              </a:spcAft>
            </a:pPr>
            <a:r>
              <a:rPr sz="1800" b="0" i="0">
                <a:solidFill>
                  <a:srgbClr val="2B2B2B"/>
                </a:solidFill>
                <a:latin typeface="Calibri"/>
              </a:rPr>
              <a:t>One λ term; λ = 0 gives the original method</a:t>
            </a:r>
          </a:p>
        </p:txBody>
      </p:sp>
      <p:sp>
        <p:nvSpPr>
          <p:cNvPr id="14" name="Rounded Rectangle 13"/>
          <p:cNvSpPr/>
          <p:nvPr/>
        </p:nvSpPr>
        <p:spPr>
          <a:xfrm>
            <a:off x="8119871" y="1417320"/>
            <a:ext cx="352044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321040" y="1636776"/>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3</a:t>
            </a:r>
          </a:p>
        </p:txBody>
      </p:sp>
      <p:sp>
        <p:nvSpPr>
          <p:cNvPr id="16" name="TextBox 15"/>
          <p:cNvSpPr txBox="1"/>
          <p:nvPr/>
        </p:nvSpPr>
        <p:spPr>
          <a:xfrm>
            <a:off x="8924544" y="1618488"/>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Exact solvers</a:t>
            </a:r>
          </a:p>
        </p:txBody>
      </p:sp>
      <p:sp>
        <p:nvSpPr>
          <p:cNvPr id="17" name="TextBox 16"/>
          <p:cNvSpPr txBox="1"/>
          <p:nvPr/>
        </p:nvSpPr>
        <p:spPr>
          <a:xfrm>
            <a:off x="8321040" y="2286000"/>
            <a:ext cx="3154680" cy="1188719"/>
          </a:xfrm>
          <a:prstGeom prst="rect">
            <a:avLst/>
          </a:prstGeom>
          <a:noFill/>
        </p:spPr>
        <p:txBody>
          <a:bodyPr wrap="square" lIns="45720" tIns="27432" rIns="45720" bIns="27432" anchor="t">
            <a:spAutoFit/>
          </a:bodyPr>
          <a:lstStyle/>
          <a:p>
            <a:pPr algn="l">
              <a:spcAft>
                <a:spcPts val="600"/>
              </a:spcAft>
            </a:pPr>
            <a:r>
              <a:rPr sz="1800" b="0" i="0">
                <a:solidFill>
                  <a:srgbClr val="2B2B2B"/>
                </a:solidFill>
                <a:latin typeface="Calibri"/>
              </a:rPr>
              <a:t>MILP with an optimality certificate; any solver</a:t>
            </a:r>
          </a:p>
        </p:txBody>
      </p:sp>
      <p:sp>
        <p:nvSpPr>
          <p:cNvPr id="18" name="Rounded Rectangle 17"/>
          <p:cNvSpPr/>
          <p:nvPr/>
        </p:nvSpPr>
        <p:spPr>
          <a:xfrm>
            <a:off x="548640" y="3794759"/>
            <a:ext cx="352044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49808" y="4014215"/>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4</a:t>
            </a:r>
          </a:p>
        </p:txBody>
      </p:sp>
      <p:sp>
        <p:nvSpPr>
          <p:cNvPr id="20" name="TextBox 19"/>
          <p:cNvSpPr txBox="1"/>
          <p:nvPr/>
        </p:nvSpPr>
        <p:spPr>
          <a:xfrm>
            <a:off x="1353312" y="3995927"/>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Measured gains</a:t>
            </a:r>
          </a:p>
        </p:txBody>
      </p:sp>
      <p:sp>
        <p:nvSpPr>
          <p:cNvPr id="21" name="TextBox 20"/>
          <p:cNvSpPr txBox="1"/>
          <p:nvPr/>
        </p:nvSpPr>
        <p:spPr>
          <a:xfrm>
            <a:off x="749808" y="4663440"/>
            <a:ext cx="3154680" cy="1188719"/>
          </a:xfrm>
          <a:prstGeom prst="rect">
            <a:avLst/>
          </a:prstGeom>
          <a:noFill/>
        </p:spPr>
        <p:txBody>
          <a:bodyPr wrap="square" lIns="45720" tIns="27432" rIns="45720" bIns="27432" anchor="t">
            <a:spAutoFit/>
          </a:bodyPr>
          <a:lstStyle/>
          <a:p>
            <a:pPr algn="l">
              <a:spcAft>
                <a:spcPts val="600"/>
              </a:spcAft>
            </a:pPr>
            <a:r>
              <a:rPr sz="1800" b="0" i="0">
                <a:solidFill>
                  <a:srgbClr val="2B2B2B"/>
                </a:solidFill>
                <a:latin typeface="Calibri"/>
              </a:rPr>
              <a:t>iMAT precision +30%; sparser, more shared networks</a:t>
            </a:r>
          </a:p>
        </p:txBody>
      </p:sp>
      <p:sp>
        <p:nvSpPr>
          <p:cNvPr id="22" name="Rounded Rectangle 21"/>
          <p:cNvSpPr/>
          <p:nvPr/>
        </p:nvSpPr>
        <p:spPr>
          <a:xfrm>
            <a:off x="4334255" y="3794759"/>
            <a:ext cx="352044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535423" y="4014215"/>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5</a:t>
            </a:r>
          </a:p>
        </p:txBody>
      </p:sp>
      <p:sp>
        <p:nvSpPr>
          <p:cNvPr id="24" name="TextBox 23"/>
          <p:cNvSpPr txBox="1"/>
          <p:nvPr/>
        </p:nvSpPr>
        <p:spPr>
          <a:xfrm>
            <a:off x="5138927" y="3995927"/>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Hypergraphs</a:t>
            </a:r>
          </a:p>
        </p:txBody>
      </p:sp>
      <p:sp>
        <p:nvSpPr>
          <p:cNvPr id="25" name="TextBox 24"/>
          <p:cNvSpPr txBox="1"/>
          <p:nvPr/>
        </p:nvSpPr>
        <p:spPr>
          <a:xfrm>
            <a:off x="4535423" y="4663440"/>
            <a:ext cx="3154680" cy="1188719"/>
          </a:xfrm>
          <a:prstGeom prst="rect">
            <a:avLst/>
          </a:prstGeom>
          <a:noFill/>
        </p:spPr>
        <p:txBody>
          <a:bodyPr wrap="square" lIns="45720" tIns="27432" rIns="45720" bIns="27432" anchor="t">
            <a:spAutoFit/>
          </a:bodyPr>
          <a:lstStyle/>
          <a:p>
            <a:pPr algn="l">
              <a:spcAft>
                <a:spcPts val="600"/>
              </a:spcAft>
            </a:pPr>
            <a:r>
              <a:rPr sz="1800" b="0" i="0">
                <a:solidFill>
                  <a:srgbClr val="2B2B2B"/>
                </a:solidFill>
                <a:latin typeface="Calibri"/>
              </a:rPr>
              <a:t>A = S: stoichiometry in the same matrix</a:t>
            </a:r>
          </a:p>
        </p:txBody>
      </p:sp>
      <p:sp>
        <p:nvSpPr>
          <p:cNvPr id="26" name="Rounded Rectangle 25"/>
          <p:cNvSpPr/>
          <p:nvPr/>
        </p:nvSpPr>
        <p:spPr>
          <a:xfrm>
            <a:off x="8119871" y="3794759"/>
            <a:ext cx="352044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321040" y="4014215"/>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6</a:t>
            </a:r>
          </a:p>
        </p:txBody>
      </p:sp>
      <p:sp>
        <p:nvSpPr>
          <p:cNvPr id="28" name="TextBox 27"/>
          <p:cNvSpPr txBox="1"/>
          <p:nvPr/>
        </p:nvSpPr>
        <p:spPr>
          <a:xfrm>
            <a:off x="8924544" y="3995927"/>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Open, composable</a:t>
            </a:r>
          </a:p>
        </p:txBody>
      </p:sp>
      <p:sp>
        <p:nvSpPr>
          <p:cNvPr id="29" name="TextBox 28"/>
          <p:cNvSpPr txBox="1"/>
          <p:nvPr/>
        </p:nvSpPr>
        <p:spPr>
          <a:xfrm>
            <a:off x="8321040" y="4663440"/>
            <a:ext cx="3154680" cy="1188719"/>
          </a:xfrm>
          <a:prstGeom prst="rect">
            <a:avLst/>
          </a:prstGeom>
          <a:noFill/>
        </p:spPr>
        <p:txBody>
          <a:bodyPr wrap="square" lIns="45720" tIns="27432" rIns="45720" bIns="27432" anchor="t">
            <a:spAutoFit/>
          </a:bodyPr>
          <a:lstStyle/>
          <a:p>
            <a:pPr algn="l">
              <a:spcAft>
                <a:spcPts val="600"/>
              </a:spcAft>
            </a:pPr>
            <a:r>
              <a:rPr sz="1800" b="0" i="0">
                <a:solidFill>
                  <a:srgbClr val="2B2B2B"/>
                </a:solidFill>
                <a:latin typeface="Calibri"/>
              </a:rPr>
              <a:t>Python library; problems add up: f = αf₁ + βf₂</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Limitations: what the authors say, what we saw</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40</a:t>
            </a:r>
          </a:p>
        </p:txBody>
      </p:sp>
      <p:graphicFrame>
        <p:nvGraphicFramePr>
          <p:cNvPr id="6" name="Table 5"/>
          <p:cNvGraphicFramePr>
            <a:graphicFrameLocks noGrp="1"/>
          </p:cNvGraphicFramePr>
          <p:nvPr/>
        </p:nvGraphicFramePr>
        <p:xfrm>
          <a:off x="548640" y="1417320"/>
          <a:ext cx="11091672" cy="4297680"/>
        </p:xfrm>
        <a:graphic>
          <a:graphicData uri="http://schemas.openxmlformats.org/drawingml/2006/table">
            <a:tbl>
              <a:tblPr firstRow="1" bandRow="1">
                <a:tableStyleId>{5C22544A-7EE6-4342-B048-85BDC9FD1C3A}</a:tableStyleId>
              </a:tblPr>
              <a:tblGrid>
                <a:gridCol w="24231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553712">
                  <a:extLst>
                    <a:ext uri="{9D8B030D-6E8A-4147-A177-3AD203B41FA5}">
                      <a16:colId xmlns:a16="http://schemas.microsoft.com/office/drawing/2014/main" val="20002"/>
                    </a:ext>
                  </a:extLst>
                </a:gridCol>
              </a:tblGrid>
              <a:tr h="716280">
                <a:tc>
                  <a:txBody>
                    <a:bodyPr/>
                    <a:lstStyle/>
                    <a:p>
                      <a:endParaRPr/>
                    </a:p>
                  </a:txBody>
                  <a:tcPr marL="128016" marR="128016" marT="73152" marB="73152" anchor="ctr">
                    <a:solidFill>
                      <a:srgbClr val="1F2A44"/>
                    </a:solidFill>
                  </a:tcPr>
                </a:tc>
                <a:tc>
                  <a:txBody>
                    <a:bodyPr/>
                    <a:lstStyle/>
                    <a:p>
                      <a:r>
                        <a:rPr sz="2000" b="1">
                          <a:solidFill>
                            <a:srgbClr val="FFFFFF"/>
                          </a:solidFill>
                          <a:latin typeface="Calibri"/>
                        </a:rPr>
                        <a:t>Authors</a:t>
                      </a:r>
                    </a:p>
                  </a:txBody>
                  <a:tcPr marL="128016" marR="128016" marT="73152" marB="73152" anchor="ctr">
                    <a:solidFill>
                      <a:srgbClr val="1F2A44"/>
                    </a:solidFill>
                  </a:tcPr>
                </a:tc>
                <a:tc>
                  <a:txBody>
                    <a:bodyPr/>
                    <a:lstStyle/>
                    <a:p>
                      <a:r>
                        <a:rPr sz="2000" b="1">
                          <a:solidFill>
                            <a:srgbClr val="FFFFFF"/>
                          </a:solidFill>
                          <a:latin typeface="Calibri"/>
                        </a:rPr>
                        <a:t>Our test</a:t>
                      </a:r>
                    </a:p>
                  </a:txBody>
                  <a:tcPr marL="128016" marR="128016" marT="73152" marB="73152" anchor="ctr">
                    <a:solidFill>
                      <a:srgbClr val="1F2A44"/>
                    </a:solidFill>
                  </a:tcPr>
                </a:tc>
                <a:extLst>
                  <a:ext uri="{0D108BD9-81ED-4DB2-BD59-A6C34878D82A}">
                    <a16:rowId xmlns:a16="http://schemas.microsoft.com/office/drawing/2014/main" val="10000"/>
                  </a:ext>
                </a:extLst>
              </a:tr>
              <a:tr h="716280">
                <a:tc>
                  <a:txBody>
                    <a:bodyPr/>
                    <a:lstStyle/>
                    <a:p>
                      <a:r>
                        <a:rPr sz="1800" b="1">
                          <a:solidFill>
                            <a:srgbClr val="1F2A44"/>
                          </a:solidFill>
                          <a:latin typeface="Calibri"/>
                        </a:rPr>
                        <a:t>Scale</a:t>
                      </a:r>
                    </a:p>
                  </a:txBody>
                  <a:tcPr marL="128016" marR="128016" marT="73152" marB="73152" anchor="ctr">
                    <a:solidFill>
                      <a:srgbClr val="FFFFFF"/>
                    </a:solidFill>
                  </a:tcPr>
                </a:tc>
                <a:tc>
                  <a:txBody>
                    <a:bodyPr/>
                    <a:lstStyle/>
                    <a:p>
                      <a:r>
                        <a:rPr sz="1800" b="0">
                          <a:solidFill>
                            <a:srgbClr val="2B2B2B"/>
                          </a:solidFill>
                          <a:latin typeface="Calibri"/>
                        </a:rPr>
                        <a:t>NP-hard; slow for many samples</a:t>
                      </a:r>
                    </a:p>
                  </a:txBody>
                  <a:tcPr marL="128016" marR="128016" marT="73152" marB="73152" anchor="ctr">
                    <a:solidFill>
                      <a:srgbClr val="FFFFFF"/>
                    </a:solidFill>
                  </a:tcPr>
                </a:tc>
                <a:tc>
                  <a:txBody>
                    <a:bodyPr/>
                    <a:lstStyle/>
                    <a:p>
                      <a:r>
                        <a:rPr sz="1800" b="0">
                          <a:solidFill>
                            <a:srgbClr val="D55E00"/>
                          </a:solidFill>
                          <a:latin typeface="Calibri"/>
                        </a:rPr>
                        <a:t>"Optimal" up to 19% off; 6-line fit failed</a:t>
                      </a:r>
                    </a:p>
                  </a:txBody>
                  <a:tcPr marL="128016" marR="128016" marT="73152" marB="73152" anchor="ctr">
                    <a:solidFill>
                      <a:srgbClr val="FFFFFF"/>
                    </a:solidFill>
                  </a:tcPr>
                </a:tc>
                <a:extLst>
                  <a:ext uri="{0D108BD9-81ED-4DB2-BD59-A6C34878D82A}">
                    <a16:rowId xmlns:a16="http://schemas.microsoft.com/office/drawing/2014/main" val="10001"/>
                  </a:ext>
                </a:extLst>
              </a:tr>
              <a:tr h="716280">
                <a:tc>
                  <a:txBody>
                    <a:bodyPr/>
                    <a:lstStyle/>
                    <a:p>
                      <a:r>
                        <a:rPr sz="1800" b="1">
                          <a:solidFill>
                            <a:srgbClr val="1F2A44"/>
                          </a:solidFill>
                          <a:latin typeface="Calibri"/>
                        </a:rPr>
                        <a:t>λ and sharing</a:t>
                      </a:r>
                    </a:p>
                  </a:txBody>
                  <a:tcPr marL="128016" marR="128016" marT="73152" marB="73152" anchor="ctr">
                    <a:solidFill>
                      <a:srgbClr val="F3F4F6"/>
                    </a:solidFill>
                  </a:tcPr>
                </a:tc>
                <a:tc>
                  <a:txBody>
                    <a:bodyPr/>
                    <a:lstStyle/>
                    <a:p>
                      <a:r>
                        <a:rPr sz="1800" b="0">
                          <a:solidFill>
                            <a:srgbClr val="2B2B2B"/>
                          </a:solidFill>
                          <a:latin typeface="Calibri"/>
                        </a:rPr>
                        <a:t>tune λ; assumes shared structure</a:t>
                      </a:r>
                    </a:p>
                  </a:txBody>
                  <a:tcPr marL="128016" marR="128016" marT="73152" marB="73152" anchor="ctr">
                    <a:solidFill>
                      <a:srgbClr val="F3F4F6"/>
                    </a:solidFill>
                  </a:tcPr>
                </a:tc>
                <a:tc>
                  <a:txBody>
                    <a:bodyPr/>
                    <a:lstStyle/>
                    <a:p>
                      <a:r>
                        <a:rPr sz="1800" b="0">
                          <a:solidFill>
                            <a:srgbClr val="D55E00"/>
                          </a:solidFill>
                          <a:latin typeface="Calibri"/>
                        </a:rPr>
                        <a:t>dominant hub changes with λ</a:t>
                      </a:r>
                    </a:p>
                  </a:txBody>
                  <a:tcPr marL="128016" marR="128016" marT="73152" marB="73152" anchor="ctr">
                    <a:solidFill>
                      <a:srgbClr val="F3F4F6"/>
                    </a:solidFill>
                  </a:tcPr>
                </a:tc>
                <a:extLst>
                  <a:ext uri="{0D108BD9-81ED-4DB2-BD59-A6C34878D82A}">
                    <a16:rowId xmlns:a16="http://schemas.microsoft.com/office/drawing/2014/main" val="10002"/>
                  </a:ext>
                </a:extLst>
              </a:tr>
              <a:tr h="716280">
                <a:tc>
                  <a:txBody>
                    <a:bodyPr/>
                    <a:lstStyle/>
                    <a:p>
                      <a:r>
                        <a:rPr sz="1800" b="1">
                          <a:solidFill>
                            <a:srgbClr val="1F2A44"/>
                          </a:solidFill>
                          <a:latin typeface="Calibri"/>
                        </a:rPr>
                        <a:t>Uniqueness</a:t>
                      </a:r>
                    </a:p>
                  </a:txBody>
                  <a:tcPr marL="128016" marR="128016" marT="73152" marB="73152" anchor="ctr">
                    <a:solidFill>
                      <a:srgbClr val="FFFFFF"/>
                    </a:solidFill>
                  </a:tcPr>
                </a:tc>
                <a:tc>
                  <a:txBody>
                    <a:bodyPr/>
                    <a:lstStyle/>
                    <a:p>
                      <a:r>
                        <a:rPr sz="1800" b="0">
                          <a:solidFill>
                            <a:srgbClr val="2B2B2B"/>
                          </a:solidFill>
                          <a:latin typeface="Calibri"/>
                        </a:rPr>
                        <a:t>many equally good networks</a:t>
                      </a:r>
                    </a:p>
                  </a:txBody>
                  <a:tcPr marL="128016" marR="128016" marT="73152" marB="73152" anchor="ctr">
                    <a:solidFill>
                      <a:srgbClr val="FFFFFF"/>
                    </a:solidFill>
                  </a:tcPr>
                </a:tc>
                <a:tc>
                  <a:txBody>
                    <a:bodyPr/>
                    <a:lstStyle/>
                    <a:p>
                      <a:r>
                        <a:rPr sz="1800" b="0">
                          <a:solidFill>
                            <a:srgbClr val="D55E00"/>
                          </a:solidFill>
                          <a:latin typeface="Calibri"/>
                        </a:rPr>
                        <a:t>random PKNs fit just as well</a:t>
                      </a:r>
                    </a:p>
                  </a:txBody>
                  <a:tcPr marL="128016" marR="128016" marT="73152" marB="73152" anchor="ctr">
                    <a:solidFill>
                      <a:srgbClr val="FFFFFF"/>
                    </a:solidFill>
                  </a:tcPr>
                </a:tc>
                <a:extLst>
                  <a:ext uri="{0D108BD9-81ED-4DB2-BD59-A6C34878D82A}">
                    <a16:rowId xmlns:a16="http://schemas.microsoft.com/office/drawing/2014/main" val="10003"/>
                  </a:ext>
                </a:extLst>
              </a:tr>
              <a:tr h="716280">
                <a:tc>
                  <a:txBody>
                    <a:bodyPr/>
                    <a:lstStyle/>
                    <a:p>
                      <a:r>
                        <a:rPr sz="1800" b="1">
                          <a:solidFill>
                            <a:srgbClr val="1F2A44"/>
                          </a:solidFill>
                          <a:latin typeface="Calibri"/>
                        </a:rPr>
                        <a:t>Prior knowledge</a:t>
                      </a:r>
                    </a:p>
                  </a:txBody>
                  <a:tcPr marL="128016" marR="128016" marT="73152" marB="73152" anchor="ctr">
                    <a:solidFill>
                      <a:srgbClr val="F3F4F6"/>
                    </a:solidFill>
                  </a:tcPr>
                </a:tc>
                <a:tc>
                  <a:txBody>
                    <a:bodyPr/>
                    <a:lstStyle/>
                    <a:p>
                      <a:r>
                        <a:rPr sz="1800" b="0">
                          <a:solidFill>
                            <a:srgbClr val="2B2B2B"/>
                          </a:solidFill>
                          <a:latin typeface="Calibri"/>
                        </a:rPr>
                        <a:t>only edges in the PKN</a:t>
                      </a:r>
                    </a:p>
                  </a:txBody>
                  <a:tcPr marL="128016" marR="128016" marT="73152" marB="73152" anchor="ctr">
                    <a:solidFill>
                      <a:srgbClr val="F3F4F6"/>
                    </a:solidFill>
                  </a:tcPr>
                </a:tc>
                <a:tc>
                  <a:txBody>
                    <a:bodyPr/>
                    <a:lstStyle/>
                    <a:p>
                      <a:r>
                        <a:rPr sz="1800" b="0">
                          <a:solidFill>
                            <a:srgbClr val="D55E00"/>
                          </a:solidFill>
                          <a:latin typeface="Calibri"/>
                        </a:rPr>
                        <a:t>two missing reactions hid the route</a:t>
                      </a:r>
                    </a:p>
                  </a:txBody>
                  <a:tcPr marL="128016" marR="128016" marT="73152" marB="73152" anchor="ctr">
                    <a:solidFill>
                      <a:srgbClr val="F3F4F6"/>
                    </a:solidFill>
                  </a:tcPr>
                </a:tc>
                <a:extLst>
                  <a:ext uri="{0D108BD9-81ED-4DB2-BD59-A6C34878D82A}">
                    <a16:rowId xmlns:a16="http://schemas.microsoft.com/office/drawing/2014/main" val="10004"/>
                  </a:ext>
                </a:extLst>
              </a:tr>
              <a:tr h="716280">
                <a:tc>
                  <a:txBody>
                    <a:bodyPr/>
                    <a:lstStyle/>
                    <a:p>
                      <a:r>
                        <a:rPr sz="1800" b="1">
                          <a:solidFill>
                            <a:srgbClr val="1F2A44"/>
                          </a:solidFill>
                          <a:latin typeface="Calibri"/>
                        </a:rPr>
                        <a:t>Metabolism</a:t>
                      </a:r>
                    </a:p>
                  </a:txBody>
                  <a:tcPr marL="128016" marR="128016" marT="73152" marB="73152" anchor="ctr">
                    <a:solidFill>
                      <a:srgbClr val="FFFFFF"/>
                    </a:solidFill>
                  </a:tcPr>
                </a:tc>
                <a:tc>
                  <a:txBody>
                    <a:bodyPr/>
                    <a:lstStyle/>
                    <a:p>
                      <a:r>
                        <a:rPr sz="1800" b="0">
                          <a:solidFill>
                            <a:srgbClr val="2B2B2B"/>
                          </a:solidFill>
                          <a:latin typeface="Calibri"/>
                        </a:rPr>
                        <a:t>steady state only</a:t>
                      </a:r>
                    </a:p>
                  </a:txBody>
                  <a:tcPr marL="128016" marR="128016" marT="73152" marB="73152" anchor="ctr">
                    <a:solidFill>
                      <a:srgbClr val="FFFFFF"/>
                    </a:solidFill>
                  </a:tcPr>
                </a:tc>
                <a:tc>
                  <a:txBody>
                    <a:bodyPr/>
                    <a:lstStyle/>
                    <a:p>
                      <a:r>
                        <a:rPr sz="1800" b="0">
                          <a:solidFill>
                            <a:srgbClr val="D55E00"/>
                          </a:solidFill>
                          <a:latin typeface="Calibri"/>
                        </a:rPr>
                        <a:t>signs ≠ mass balance: transport shortcut</a:t>
                      </a:r>
                    </a:p>
                  </a:txBody>
                  <a:tcPr marL="128016" marR="128016" marT="73152" marB="73152"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Left: paper Discussion. Right: networkbio report (results/ionescu_corneto/04–05)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a:rPr>
              <a:t>References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43</a:t>
            </a:r>
          </a:p>
        </p:txBody>
      </p:sp>
      <p:sp>
        <p:nvSpPr>
          <p:cNvPr id="6" name="TextBox 5"/>
          <p:cNvSpPr txBox="1"/>
          <p:nvPr/>
        </p:nvSpPr>
        <p:spPr>
          <a:xfrm>
            <a:off x="548640" y="1371600"/>
            <a:ext cx="11064240" cy="4846320"/>
          </a:xfrm>
          <a:prstGeom prst="rect">
            <a:avLst/>
          </a:prstGeom>
          <a:noFill/>
        </p:spPr>
        <p:txBody>
          <a:bodyPr wrap="square" lIns="45720" tIns="27432" rIns="45720" bIns="27432" anchor="t"/>
          <a:lstStyle/>
          <a:p>
            <a:pPr algn="l">
              <a:spcAft>
                <a:spcPts val="300"/>
              </a:spcAft>
            </a:pPr>
            <a:r>
              <a:rPr sz="1200" b="0" i="0">
                <a:solidFill>
                  <a:srgbClr val="2B2B2B"/>
                </a:solidFill>
                <a:latin typeface="Calibri"/>
              </a:rPr>
              <a:t>Rodriguez-Mier P, Garrido-Rodriguez M, Gabor A, Saez-Rodriguez J. Unifying multi-sample network inference from prior knowledge and omics data with CORNETO. Nat Mach Intell 7, 1168–1186 (2025). Figures reused under CC BY 4.0.</a:t>
            </a:r>
          </a:p>
          <a:p>
            <a:pPr algn="l">
              <a:spcAft>
                <a:spcPts val="300"/>
              </a:spcAft>
            </a:pPr>
            <a:r>
              <a:rPr sz="1200" b="0" i="0">
                <a:solidFill>
                  <a:srgbClr val="2B2B2B"/>
                </a:solidFill>
                <a:latin typeface="Calibri"/>
              </a:rPr>
              <a:t>Liu A et al. From expression footprints to causal pathways: contextualizing large signaling networks with CARNIVAL. NPJ Syst Biol Appl 5, 40 (2019).</a:t>
            </a:r>
          </a:p>
          <a:p>
            <a:pPr algn="l">
              <a:spcAft>
                <a:spcPts val="300"/>
              </a:spcAft>
            </a:pPr>
            <a:r>
              <a:rPr sz="1200" b="0" i="0">
                <a:solidFill>
                  <a:srgbClr val="2B2B2B"/>
                </a:solidFill>
                <a:latin typeface="Calibri"/>
              </a:rPr>
              <a:t>Badia-i-Mompel P et al. decoupleR: ensemble of computational methods to infer biological activities from omics data. Bioinform Adv 2, vbac016 (2022).</a:t>
            </a:r>
          </a:p>
          <a:p>
            <a:pPr algn="l">
              <a:spcAft>
                <a:spcPts val="300"/>
              </a:spcAft>
            </a:pPr>
            <a:r>
              <a:rPr sz="1200" b="0" i="0">
                <a:solidFill>
                  <a:srgbClr val="2B2B2B"/>
                </a:solidFill>
                <a:latin typeface="Calibri"/>
              </a:rPr>
              <a:t>Türei D, Korcsmáros T, Saez-Rodriguez J. OmniPath: guidelines and gateway for literature-curated signaling pathway resources. Nat Methods 13, 966–967 (2016).</a:t>
            </a:r>
          </a:p>
          <a:p>
            <a:pPr algn="l">
              <a:spcAft>
                <a:spcPts val="300"/>
              </a:spcAft>
            </a:pPr>
            <a:r>
              <a:rPr sz="1200" b="0" i="0">
                <a:solidFill>
                  <a:srgbClr val="2B2B2B"/>
                </a:solidFill>
                <a:latin typeface="Calibri"/>
              </a:rPr>
              <a:t>Orth JD, Thiele I, Palsson BØ. What is flux balance analysis? Nat Biotechnol 28, 245–248 (2010).</a:t>
            </a:r>
          </a:p>
          <a:p>
            <a:pPr algn="l">
              <a:spcAft>
                <a:spcPts val="300"/>
              </a:spcAft>
            </a:pPr>
            <a:r>
              <a:rPr sz="1200" b="0" i="0">
                <a:solidFill>
                  <a:srgbClr val="2B2B2B"/>
                </a:solidFill>
                <a:latin typeface="Calibri"/>
              </a:rPr>
              <a:t>Shlomi T et al. Network-based prediction of human tissue-specific metabolism. Nat Biotechnol 26, 1003–1010 (2008).</a:t>
            </a:r>
          </a:p>
          <a:p>
            <a:pPr algn="l">
              <a:spcAft>
                <a:spcPts val="300"/>
              </a:spcAft>
            </a:pPr>
            <a:r>
              <a:rPr sz="1200" b="0" i="0">
                <a:solidFill>
                  <a:srgbClr val="2B2B2B"/>
                </a:solidFill>
                <a:latin typeface="Calibri"/>
              </a:rPr>
              <a:t>Tuncbag N et al. Simultaneous reconstruction of multiple signaling pathways via the prize-collecting Steiner forest problem. J Comput Biol 20, 124–136 (2013).</a:t>
            </a:r>
          </a:p>
          <a:p>
            <a:pPr algn="l">
              <a:spcAft>
                <a:spcPts val="300"/>
              </a:spcAft>
            </a:pPr>
            <a:r>
              <a:rPr sz="1200" b="0" i="0">
                <a:solidFill>
                  <a:srgbClr val="2B2B2B"/>
                </a:solidFill>
                <a:latin typeface="Calibri"/>
              </a:rPr>
              <a:t>Dugourd A et al. Causal integration of multi-omics data with prior knowledge to generate mechanistic hypotheses. Mol Syst Biol 17, e9730 (2021).</a:t>
            </a:r>
          </a:p>
          <a:p>
            <a:pPr algn="l">
              <a:spcAft>
                <a:spcPts val="300"/>
              </a:spcAft>
            </a:pPr>
            <a:r>
              <a:rPr sz="1200" b="0" i="0">
                <a:solidFill>
                  <a:srgbClr val="2B2B2B"/>
                </a:solidFill>
                <a:latin typeface="Calibri"/>
              </a:rPr>
              <a:t>Gillette MA et al. Proteogenomic characterization reveals therapeutic vulnerabilities in lung adenocarcinoma. Cell 182, 200–225 (2020).</a:t>
            </a:r>
          </a:p>
          <a:p>
            <a:pPr algn="l">
              <a:spcAft>
                <a:spcPts val="300"/>
              </a:spcAft>
            </a:pPr>
            <a:r>
              <a:rPr sz="1200" b="0" i="0">
                <a:solidFill>
                  <a:srgbClr val="2B2B2B"/>
                </a:solidFill>
                <a:latin typeface="Calibri"/>
              </a:rPr>
              <a:t>Kemmeren P et al. Large-scale genetic perturbations reveal regulatory networks and an abundance of gene-specific repressors. Cell 157, 740–752 (2014).</a:t>
            </a:r>
          </a:p>
          <a:p>
            <a:pPr algn="l">
              <a:spcAft>
                <a:spcPts val="300"/>
              </a:spcAft>
            </a:pPr>
            <a:r>
              <a:rPr sz="1200" b="0" i="0">
                <a:solidFill>
                  <a:srgbClr val="2B2B2B"/>
                </a:solidFill>
                <a:latin typeface="Calibri"/>
              </a:rPr>
              <a:t>Diosdi A, Theis FJ, Horvath P. Towards 3D-oid models that integrate molecular, morphological and spatial cellular features. Nat Rev Mol Cell Biol (2026), doi:10.1038/s41580-026-01025-4 (appendix).</a:t>
            </a:r>
          </a:p>
          <a:p>
            <a:pPr algn="l">
              <a:spcAft>
                <a:spcPts val="300"/>
              </a:spcAft>
            </a:pPr>
            <a:r>
              <a:rPr sz="1200" b="0" i="0">
                <a:solidFill>
                  <a:srgbClr val="2B2B2B"/>
                </a:solidFill>
                <a:latin typeface="Calibri"/>
              </a:rPr>
              <a:t>Ionescu A et al. Increased cholesterol synthesis drives neurotoxicity in patient stem cell-derived model of multiple sclerosis. Cell Stem Cell 31, 1574–1590 (2024).</a:t>
            </a:r>
          </a:p>
          <a:p>
            <a:pPr algn="l">
              <a:spcAft>
                <a:spcPts val="300"/>
              </a:spcAft>
            </a:pPr>
            <a:r>
              <a:rPr sz="1200" b="0" i="0">
                <a:solidFill>
                  <a:srgbClr val="2B2B2B"/>
                </a:solidFill>
                <a:latin typeface="Calibri"/>
              </a:rPr>
              <a:t>Park J et al. Integrated omics reveals disease-associated radial glia-like cells with epigenetically dysregulated interferon response in multiple sclerosis. Neuron 113, 4158–4177 (2025).</a:t>
            </a:r>
          </a:p>
          <a:p>
            <a:pPr algn="l">
              <a:spcAft>
                <a:spcPts val="300"/>
              </a:spcAft>
            </a:pPr>
            <a:r>
              <a:rPr sz="1200" b="0" i="0">
                <a:solidFill>
                  <a:srgbClr val="2B2B2B"/>
                </a:solidFill>
                <a:latin typeface="Calibri"/>
              </a:rPr>
              <a:t>Müller-Dott S et al. Expanding the coverage of regulons from high-confidence prior knowledge for accurate estimation of transcription factor activities. Nucleic Acids Res 51, 10934–10949 (2023).</a:t>
            </a:r>
          </a:p>
          <a:p>
            <a:pPr algn="l">
              <a:spcAft>
                <a:spcPts val="300"/>
              </a:spcAft>
            </a:pPr>
            <a:r>
              <a:rPr sz="1200" b="0" i="0">
                <a:solidFill>
                  <a:srgbClr val="2B2B2B"/>
                </a:solidFill>
                <a:latin typeface="Calibri"/>
              </a:rPr>
              <a:t>Smyth GK. Linear models and empirical Bayes methods for assessing differential expression in microarray experiments. Stat Appl Genet Mol Biol 3, 3 (2004).</a:t>
            </a:r>
          </a:p>
          <a:p>
            <a:pPr algn="l">
              <a:spcAft>
                <a:spcPts val="300"/>
              </a:spcAft>
            </a:pPr>
            <a:r>
              <a:rPr sz="1200" b="0" i="0">
                <a:solidFill>
                  <a:srgbClr val="2B2B2B"/>
                </a:solidFill>
                <a:latin typeface="Calibri"/>
              </a:rPr>
              <a:t>Brunk E et al. Recon3D enables a three-dimensional view of gene variation in human metabolism. Nat Biotechnol 36, 272–281 (2018).</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194560"/>
            <a:ext cx="10607040" cy="914400"/>
          </a:xfrm>
          <a:prstGeom prst="rect">
            <a:avLst/>
          </a:prstGeom>
          <a:noFill/>
        </p:spPr>
        <p:txBody>
          <a:bodyPr wrap="square" lIns="45720" tIns="27432" rIns="45720" bIns="27432" anchor="t">
            <a:spAutoFit/>
          </a:bodyPr>
          <a:lstStyle/>
          <a:p>
            <a:pPr algn="l">
              <a:spcAft>
                <a:spcPts val="600"/>
              </a:spcAft>
            </a:pPr>
            <a:r>
              <a:rPr sz="2200" b="1" i="0">
                <a:solidFill>
                  <a:srgbClr val="0072B2"/>
                </a:solidFill>
                <a:latin typeface="Calibri"/>
              </a:rPr>
              <a:t>Backup</a:t>
            </a:r>
          </a:p>
        </p:txBody>
      </p:sp>
      <p:sp>
        <p:nvSpPr>
          <p:cNvPr id="4" name="TextBox 3"/>
          <p:cNvSpPr txBox="1"/>
          <p:nvPr/>
        </p:nvSpPr>
        <p:spPr>
          <a:xfrm>
            <a:off x="822960" y="2834640"/>
            <a:ext cx="10607040" cy="1097280"/>
          </a:xfrm>
          <a:prstGeom prst="rect">
            <a:avLst/>
          </a:prstGeom>
          <a:noFill/>
        </p:spPr>
        <p:txBody>
          <a:bodyPr wrap="square" lIns="45720" tIns="27432" rIns="45720" bIns="27432" anchor="t">
            <a:spAutoFit/>
          </a:bodyPr>
          <a:lstStyle/>
          <a:p>
            <a:pPr algn="l">
              <a:spcAft>
                <a:spcPts val="600"/>
              </a:spcAft>
            </a:pPr>
            <a:r>
              <a:rPr sz="3200" b="0" i="0">
                <a:solidFill>
                  <a:srgbClr val="1F2A44"/>
                </a:solidFill>
                <a:latin typeface="Calibri"/>
              </a:rPr>
              <a:t>The math behind each method and building block</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44</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Flows: from an LP to an inference MILP</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45</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Flow LP</a:t>
            </a:r>
          </a:p>
          <a:p>
            <a:pPr algn="l">
              <a:spcAft>
                <a:spcPts val="0"/>
              </a:spcAft>
            </a:pPr>
            <a:r>
              <a:rPr sz="1800" b="0" i="0">
                <a:solidFill>
                  <a:srgbClr val="6B7280"/>
                </a:solidFill>
                <a:latin typeface="Calibri"/>
              </a:rPr>
              <a:t>conservation, capacity</a:t>
            </a:r>
          </a:p>
        </p:txBody>
      </p:sp>
      <p:pic>
        <p:nvPicPr>
          <p:cNvPr id="9" name="Picture 8" descr="lp.png"/>
          <p:cNvPicPr>
            <a:picLocks noChangeAspect="1"/>
          </p:cNvPicPr>
          <p:nvPr/>
        </p:nvPicPr>
        <p:blipFill>
          <a:blip r:embed="rId3"/>
          <a:stretch>
            <a:fillRect/>
          </a:stretch>
        </p:blipFill>
        <p:spPr>
          <a:xfrm>
            <a:off x="3685032" y="1577340"/>
            <a:ext cx="4078224" cy="429768"/>
          </a:xfrm>
          <a:prstGeom prst="rect">
            <a:avLst/>
          </a:prstGeom>
        </p:spPr>
      </p:pic>
      <p:sp>
        <p:nvSpPr>
          <p:cNvPr id="10" name="Rounded Rectangle 9"/>
          <p:cNvSpPr/>
          <p:nvPr/>
        </p:nvSpPr>
        <p:spPr>
          <a:xfrm>
            <a:off x="548640" y="2350008"/>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04872"/>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Inference</a:t>
            </a:r>
          </a:p>
          <a:p>
            <a:pPr algn="l">
              <a:spcAft>
                <a:spcPts val="0"/>
              </a:spcAft>
            </a:pPr>
            <a:r>
              <a:rPr sz="1800" b="0" i="0">
                <a:solidFill>
                  <a:srgbClr val="6B7280"/>
                </a:solidFill>
                <a:latin typeface="Calibri"/>
              </a:rPr>
              <a:t>flow only on selected edges</a:t>
            </a:r>
          </a:p>
        </p:txBody>
      </p:sp>
      <p:pic>
        <p:nvPicPr>
          <p:cNvPr id="12" name="Picture 11" descr="milp.png"/>
          <p:cNvPicPr>
            <a:picLocks noChangeAspect="1"/>
          </p:cNvPicPr>
          <p:nvPr/>
        </p:nvPicPr>
        <p:blipFill>
          <a:blip r:embed="rId4"/>
          <a:stretch>
            <a:fillRect/>
          </a:stretch>
        </p:blipFill>
        <p:spPr>
          <a:xfrm>
            <a:off x="3685032" y="2582265"/>
            <a:ext cx="6826910" cy="468172"/>
          </a:xfrm>
          <a:prstGeom prst="rect">
            <a:avLst/>
          </a:prstGeom>
        </p:spPr>
      </p:pic>
      <p:sp>
        <p:nvSpPr>
          <p:cNvPr id="13" name="Rounded Rectangle 12"/>
          <p:cNvSpPr/>
          <p:nvPr/>
        </p:nvSpPr>
        <p:spPr>
          <a:xfrm>
            <a:off x="548640" y="3374136"/>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429000"/>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Example</a:t>
            </a:r>
          </a:p>
          <a:p>
            <a:pPr algn="l">
              <a:spcAft>
                <a:spcPts val="0"/>
              </a:spcAft>
            </a:pPr>
            <a:r>
              <a:rPr sz="1800" b="0" i="0">
                <a:solidFill>
                  <a:srgbClr val="6B7280"/>
                </a:solidFill>
                <a:latin typeface="Calibri"/>
              </a:rPr>
              <a:t>shortest path: s to t</a:t>
            </a:r>
          </a:p>
        </p:txBody>
      </p:sp>
      <p:pic>
        <p:nvPicPr>
          <p:cNvPr id="15" name="Picture 14" descr="sp.png"/>
          <p:cNvPicPr>
            <a:picLocks noChangeAspect="1"/>
          </p:cNvPicPr>
          <p:nvPr/>
        </p:nvPicPr>
        <p:blipFill>
          <a:blip r:embed="rId5"/>
          <a:stretch>
            <a:fillRect/>
          </a:stretch>
        </p:blipFill>
        <p:spPr>
          <a:xfrm>
            <a:off x="3685032" y="3625596"/>
            <a:ext cx="5356555" cy="429768"/>
          </a:xfrm>
          <a:prstGeom prst="rect">
            <a:avLst/>
          </a:prstGeom>
        </p:spPr>
      </p:pic>
      <p:sp>
        <p:nvSpPr>
          <p:cNvPr id="16" name="Rounded Rectangle 15"/>
          <p:cNvSpPr/>
          <p:nvPr/>
        </p:nvSpPr>
        <p:spPr>
          <a:xfrm>
            <a:off x="548640" y="4398264"/>
            <a:ext cx="11091672" cy="1497787"/>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453128"/>
            <a:ext cx="2834640" cy="1406347"/>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Incidence</a:t>
            </a:r>
          </a:p>
          <a:p>
            <a:pPr algn="l">
              <a:spcAft>
                <a:spcPts val="0"/>
              </a:spcAft>
            </a:pPr>
            <a:r>
              <a:rPr sz="1800" b="0" i="0">
                <a:solidFill>
                  <a:srgbClr val="6B7280"/>
                </a:solidFill>
                <a:latin typeface="Calibri"/>
              </a:rPr>
              <a:t>−1 tail, +1 head</a:t>
            </a:r>
          </a:p>
        </p:txBody>
      </p:sp>
      <p:pic>
        <p:nvPicPr>
          <p:cNvPr id="18" name="Picture 17" descr="inc.png"/>
          <p:cNvPicPr>
            <a:picLocks noChangeAspect="1"/>
          </p:cNvPicPr>
          <p:nvPr/>
        </p:nvPicPr>
        <p:blipFill>
          <a:blip r:embed="rId6"/>
          <a:stretch>
            <a:fillRect/>
          </a:stretch>
        </p:blipFill>
        <p:spPr>
          <a:xfrm>
            <a:off x="3685032" y="4535424"/>
            <a:ext cx="2631643" cy="1223467"/>
          </a:xfrm>
          <a:prstGeom prst="rect">
            <a:avLst/>
          </a:prstGeom>
        </p:spPr>
      </p:pic>
      <p:sp>
        <p:nvSpPr>
          <p:cNvPr id="19" name="TextBox 18"/>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eqs. 1, 2, 14</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Hypergraphs and many samples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46</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1102766"/>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1011326"/>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Incidence</a:t>
            </a:r>
          </a:p>
          <a:p>
            <a:pPr algn="l">
              <a:spcAft>
                <a:spcPts val="0"/>
              </a:spcAft>
            </a:pPr>
            <a:r>
              <a:rPr sz="1800" b="0" i="0">
                <a:solidFill>
                  <a:srgbClr val="6B7280"/>
                </a:solidFill>
                <a:latin typeface="Calibri"/>
              </a:rPr>
              <a:t>for metabolism A = S</a:t>
            </a:r>
          </a:p>
        </p:txBody>
      </p:sp>
      <p:pic>
        <p:nvPicPr>
          <p:cNvPr id="9" name="Picture 8" descr="hinc.png"/>
          <p:cNvPicPr>
            <a:picLocks noChangeAspect="1"/>
          </p:cNvPicPr>
          <p:nvPr/>
        </p:nvPicPr>
        <p:blipFill>
          <a:blip r:embed="rId3"/>
          <a:stretch>
            <a:fillRect/>
          </a:stretch>
        </p:blipFill>
        <p:spPr>
          <a:xfrm>
            <a:off x="3685032" y="1463039"/>
            <a:ext cx="6468465" cy="828446"/>
          </a:xfrm>
          <a:prstGeom prst="rect">
            <a:avLst/>
          </a:prstGeom>
        </p:spPr>
      </p:pic>
      <p:sp>
        <p:nvSpPr>
          <p:cNvPr id="10" name="Rounded Rectangle 9"/>
          <p:cNvSpPr/>
          <p:nvPr/>
        </p:nvSpPr>
        <p:spPr>
          <a:xfrm>
            <a:off x="548640" y="2520086"/>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574950"/>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Sources, sinks</a:t>
            </a:r>
          </a:p>
          <a:p>
            <a:pPr algn="l">
              <a:spcAft>
                <a:spcPts val="0"/>
              </a:spcAft>
            </a:pPr>
            <a:r>
              <a:rPr sz="1800" b="0" i="0">
                <a:solidFill>
                  <a:srgbClr val="6B7280"/>
                </a:solidFill>
                <a:latin typeface="Calibri"/>
              </a:rPr>
              <a:t>external demands become edges</a:t>
            </a:r>
          </a:p>
        </p:txBody>
      </p:sp>
      <p:pic>
        <p:nvPicPr>
          <p:cNvPr id="12" name="Picture 11" descr="src.png"/>
          <p:cNvPicPr>
            <a:picLocks noChangeAspect="1"/>
          </p:cNvPicPr>
          <p:nvPr/>
        </p:nvPicPr>
        <p:blipFill>
          <a:blip r:embed="rId4"/>
          <a:stretch>
            <a:fillRect/>
          </a:stretch>
        </p:blipFill>
        <p:spPr>
          <a:xfrm>
            <a:off x="3685032" y="2837383"/>
            <a:ext cx="6684264" cy="298094"/>
          </a:xfrm>
          <a:prstGeom prst="rect">
            <a:avLst/>
          </a:prstGeom>
        </p:spPr>
      </p:pic>
      <p:sp>
        <p:nvSpPr>
          <p:cNvPr id="13" name="Rounded Rectangle 12"/>
          <p:cNvSpPr/>
          <p:nvPr/>
        </p:nvSpPr>
        <p:spPr>
          <a:xfrm>
            <a:off x="548640" y="3544214"/>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599078"/>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Multi-flow</a:t>
            </a:r>
          </a:p>
          <a:p>
            <a:pPr algn="l">
              <a:spcAft>
                <a:spcPts val="0"/>
              </a:spcAft>
            </a:pPr>
            <a:r>
              <a:rPr sz="1800" b="0" i="0">
                <a:solidFill>
                  <a:srgbClr val="6B7280"/>
                </a:solidFill>
                <a:latin typeface="Calibri"/>
              </a:rPr>
              <a:t>one column per sample</a:t>
            </a:r>
          </a:p>
        </p:txBody>
      </p:sp>
      <p:pic>
        <p:nvPicPr>
          <p:cNvPr id="15" name="Picture 14" descr="oflow.png"/>
          <p:cNvPicPr>
            <a:picLocks noChangeAspect="1"/>
          </p:cNvPicPr>
          <p:nvPr/>
        </p:nvPicPr>
        <p:blipFill>
          <a:blip r:embed="rId5"/>
          <a:stretch>
            <a:fillRect/>
          </a:stretch>
        </p:blipFill>
        <p:spPr>
          <a:xfrm>
            <a:off x="3685032" y="3846880"/>
            <a:ext cx="5466283" cy="327355"/>
          </a:xfrm>
          <a:prstGeom prst="rect">
            <a:avLst/>
          </a:prstGeom>
        </p:spPr>
      </p:pic>
      <p:sp>
        <p:nvSpPr>
          <p:cNvPr id="16" name="Rounded Rectangle 15"/>
          <p:cNvSpPr/>
          <p:nvPr/>
        </p:nvSpPr>
        <p:spPr>
          <a:xfrm>
            <a:off x="548640" y="4568342"/>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623206"/>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Shared capacity</a:t>
            </a:r>
          </a:p>
          <a:p>
            <a:pPr algn="l">
              <a:spcAft>
                <a:spcPts val="0"/>
              </a:spcAft>
            </a:pPr>
            <a:r>
              <a:rPr sz="1800" b="0" i="0">
                <a:solidFill>
                  <a:srgbClr val="6B7280"/>
                </a:solidFill>
                <a:latin typeface="Calibri"/>
              </a:rPr>
              <a:t>optional, linearised</a:t>
            </a:r>
          </a:p>
        </p:txBody>
      </p:sp>
      <p:pic>
        <p:nvPicPr>
          <p:cNvPr id="18" name="Picture 17" descr="mcf.png"/>
          <p:cNvPicPr>
            <a:picLocks noChangeAspect="1"/>
          </p:cNvPicPr>
          <p:nvPr/>
        </p:nvPicPr>
        <p:blipFill>
          <a:blip r:embed="rId6"/>
          <a:stretch>
            <a:fillRect/>
          </a:stretch>
        </p:blipFill>
        <p:spPr>
          <a:xfrm>
            <a:off x="3685032" y="4885639"/>
            <a:ext cx="5872276" cy="298094"/>
          </a:xfrm>
          <a:prstGeom prst="rect">
            <a:avLst/>
          </a:prstGeom>
        </p:spPr>
      </p:pic>
      <p:sp>
        <p:nvSpPr>
          <p:cNvPr id="19" name="TextBox 18"/>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eqs. 3, 5, 8</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Map, edit, merge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47</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Map</a:t>
            </a:r>
          </a:p>
          <a:p>
            <a:pPr algn="l">
              <a:spcAft>
                <a:spcPts val="0"/>
              </a:spcAft>
            </a:pPr>
            <a:r>
              <a:rPr sz="1800" b="0" i="0">
                <a:solidFill>
                  <a:srgbClr val="6B7280"/>
                </a:solidFill>
                <a:latin typeface="Calibri"/>
              </a:rPr>
              <a:t>values per sample</a:t>
            </a:r>
          </a:p>
        </p:txBody>
      </p:sp>
      <p:pic>
        <p:nvPicPr>
          <p:cNvPr id="9" name="Picture 8" descr="phi.png"/>
          <p:cNvPicPr>
            <a:picLocks noChangeAspect="1"/>
          </p:cNvPicPr>
          <p:nvPr/>
        </p:nvPicPr>
        <p:blipFill>
          <a:blip r:embed="rId3"/>
          <a:stretch>
            <a:fillRect/>
          </a:stretch>
        </p:blipFill>
        <p:spPr>
          <a:xfrm>
            <a:off x="3685032" y="1625803"/>
            <a:ext cx="6675120" cy="332841"/>
          </a:xfrm>
          <a:prstGeom prst="rect">
            <a:avLst/>
          </a:prstGeom>
        </p:spPr>
      </p:pic>
      <p:sp>
        <p:nvSpPr>
          <p:cNvPr id="10" name="Rounded Rectangle 9"/>
          <p:cNvSpPr/>
          <p:nvPr/>
        </p:nvSpPr>
        <p:spPr>
          <a:xfrm>
            <a:off x="548640" y="2350008"/>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04872"/>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Edit</a:t>
            </a:r>
          </a:p>
          <a:p>
            <a:pPr algn="l">
              <a:spcAft>
                <a:spcPts val="0"/>
              </a:spcAft>
            </a:pPr>
            <a:r>
              <a:rPr sz="1800" b="0" i="0">
                <a:solidFill>
                  <a:srgbClr val="6B7280"/>
                </a:solidFill>
                <a:latin typeface="Calibri"/>
              </a:rPr>
              <a:t>prune; add sources, sinks</a:t>
            </a:r>
          </a:p>
        </p:txBody>
      </p:sp>
      <p:pic>
        <p:nvPicPr>
          <p:cNvPr id="12" name="Picture 11" descr="psi.png"/>
          <p:cNvPicPr>
            <a:picLocks noChangeAspect="1"/>
          </p:cNvPicPr>
          <p:nvPr/>
        </p:nvPicPr>
        <p:blipFill>
          <a:blip r:embed="rId4"/>
          <a:stretch>
            <a:fillRect/>
          </a:stretch>
        </p:blipFill>
        <p:spPr>
          <a:xfrm>
            <a:off x="3685032" y="2649931"/>
            <a:ext cx="3862425" cy="332841"/>
          </a:xfrm>
          <a:prstGeom prst="rect">
            <a:avLst/>
          </a:prstGeom>
        </p:spPr>
      </p:pic>
      <p:sp>
        <p:nvSpPr>
          <p:cNvPr id="13" name="Rounded Rectangle 12"/>
          <p:cNvSpPr/>
          <p:nvPr/>
        </p:nvSpPr>
        <p:spPr>
          <a:xfrm>
            <a:off x="548640" y="3374136"/>
            <a:ext cx="11091672" cy="1016812"/>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429000"/>
            <a:ext cx="2834640" cy="925372"/>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Merge</a:t>
            </a:r>
          </a:p>
          <a:p>
            <a:pPr algn="l">
              <a:spcAft>
                <a:spcPts val="0"/>
              </a:spcAft>
            </a:pPr>
            <a:r>
              <a:rPr sz="1800" b="0" i="0">
                <a:solidFill>
                  <a:srgbClr val="6B7280"/>
                </a:solidFill>
                <a:latin typeface="Calibri"/>
              </a:rPr>
              <a:t>one union graph</a:t>
            </a:r>
          </a:p>
        </p:txBody>
      </p:sp>
      <p:pic>
        <p:nvPicPr>
          <p:cNvPr id="15" name="Picture 14" descr="union.png"/>
          <p:cNvPicPr>
            <a:picLocks noChangeAspect="1"/>
          </p:cNvPicPr>
          <p:nvPr/>
        </p:nvPicPr>
        <p:blipFill>
          <a:blip r:embed="rId5"/>
          <a:stretch>
            <a:fillRect/>
          </a:stretch>
        </p:blipFill>
        <p:spPr>
          <a:xfrm>
            <a:off x="3685032" y="3511296"/>
            <a:ext cx="2205532" cy="742492"/>
          </a:xfrm>
          <a:prstGeom prst="rect">
            <a:avLst/>
          </a:prstGeom>
        </p:spPr>
      </p:pic>
      <p:sp>
        <p:nvSpPr>
          <p:cNvPr id="16" name="Rounded Rectangle 15"/>
          <p:cNvSpPr/>
          <p:nvPr/>
        </p:nvSpPr>
        <p:spPr>
          <a:xfrm>
            <a:off x="548640" y="4482388"/>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537252"/>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Method</a:t>
            </a:r>
          </a:p>
          <a:p>
            <a:pPr algn="l">
              <a:spcAft>
                <a:spcPts val="0"/>
              </a:spcAft>
            </a:pPr>
            <a:r>
              <a:rPr sz="1800" b="0" i="0">
                <a:solidFill>
                  <a:srgbClr val="6B7280"/>
                </a:solidFill>
                <a:latin typeface="Calibri"/>
              </a:rPr>
              <a:t>map, edit, problem</a:t>
            </a:r>
          </a:p>
        </p:txBody>
      </p:sp>
      <p:pic>
        <p:nvPicPr>
          <p:cNvPr id="18" name="Picture 17" descr="method.png"/>
          <p:cNvPicPr>
            <a:picLocks noChangeAspect="1"/>
          </p:cNvPicPr>
          <p:nvPr/>
        </p:nvPicPr>
        <p:blipFill>
          <a:blip r:embed="rId6"/>
          <a:stretch>
            <a:fillRect/>
          </a:stretch>
        </p:blipFill>
        <p:spPr>
          <a:xfrm>
            <a:off x="3685032" y="4804257"/>
            <a:ext cx="3873398" cy="288950"/>
          </a:xfrm>
          <a:prstGeom prst="rect">
            <a:avLst/>
          </a:prstGeom>
        </p:spPr>
      </p:pic>
      <p:sp>
        <p:nvSpPr>
          <p:cNvPr id="19" name="TextBox 18"/>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eq. 4 and method definition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Building blocks for Ω</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48</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Off ⇒ no flow</a:t>
            </a:r>
          </a:p>
          <a:p>
            <a:pPr algn="l">
              <a:spcAft>
                <a:spcPts val="0"/>
              </a:spcAft>
            </a:pPr>
            <a:r>
              <a:rPr sz="1800" b="0" i="0">
                <a:solidFill>
                  <a:srgbClr val="6B7280"/>
                </a:solidFill>
                <a:latin typeface="Calibri"/>
              </a:rPr>
              <a:t>eq. 9</a:t>
            </a:r>
          </a:p>
        </p:txBody>
      </p:sp>
      <p:pic>
        <p:nvPicPr>
          <p:cNvPr id="9" name="Picture 8" descr="free.png"/>
          <p:cNvPicPr>
            <a:picLocks noChangeAspect="1"/>
          </p:cNvPicPr>
          <p:nvPr/>
        </p:nvPicPr>
        <p:blipFill>
          <a:blip r:embed="rId3"/>
          <a:stretch>
            <a:fillRect/>
          </a:stretch>
        </p:blipFill>
        <p:spPr>
          <a:xfrm>
            <a:off x="3685032" y="1640433"/>
            <a:ext cx="4299508" cy="303580"/>
          </a:xfrm>
          <a:prstGeom prst="rect">
            <a:avLst/>
          </a:prstGeom>
        </p:spPr>
      </p:pic>
      <p:sp>
        <p:nvSpPr>
          <p:cNvPr id="10" name="Rounded Rectangle 9"/>
          <p:cNvSpPr/>
          <p:nvPr/>
        </p:nvSpPr>
        <p:spPr>
          <a:xfrm>
            <a:off x="548640" y="2350008"/>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04872"/>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On ⇒ flow ≠ 0</a:t>
            </a:r>
          </a:p>
          <a:p>
            <a:pPr algn="l">
              <a:spcAft>
                <a:spcPts val="0"/>
              </a:spcAft>
            </a:pPr>
            <a:r>
              <a:rPr sz="1800" b="0" i="0">
                <a:solidFill>
                  <a:srgbClr val="6B7280"/>
                </a:solidFill>
                <a:latin typeface="Calibri"/>
              </a:rPr>
              <a:t>Y⁺, Y⁻ pick direction</a:t>
            </a:r>
          </a:p>
        </p:txBody>
      </p:sp>
      <p:pic>
        <p:nvPicPr>
          <p:cNvPr id="12" name="Picture 11" descr="nz.png"/>
          <p:cNvPicPr>
            <a:picLocks noChangeAspect="1"/>
          </p:cNvPicPr>
          <p:nvPr/>
        </p:nvPicPr>
        <p:blipFill>
          <a:blip r:embed="rId4"/>
          <a:stretch>
            <a:fillRect/>
          </a:stretch>
        </p:blipFill>
        <p:spPr>
          <a:xfrm>
            <a:off x="3685032" y="2670048"/>
            <a:ext cx="6647688" cy="292608"/>
          </a:xfrm>
          <a:prstGeom prst="rect">
            <a:avLst/>
          </a:prstGeom>
        </p:spPr>
      </p:pic>
      <p:sp>
        <p:nvSpPr>
          <p:cNvPr id="13" name="Rounded Rectangle 12"/>
          <p:cNvSpPr/>
          <p:nvPr/>
        </p:nvSpPr>
        <p:spPr>
          <a:xfrm>
            <a:off x="548640" y="3374136"/>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429000"/>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Acyclic</a:t>
            </a:r>
          </a:p>
          <a:p>
            <a:pPr algn="l">
              <a:spcAft>
                <a:spcPts val="0"/>
              </a:spcAft>
            </a:pPr>
            <a:r>
              <a:rPr sz="1800" b="0" i="0">
                <a:solidFill>
                  <a:srgbClr val="6B7280"/>
                </a:solidFill>
                <a:latin typeface="Calibri"/>
              </a:rPr>
              <a:t>L: topological order</a:t>
            </a:r>
          </a:p>
        </p:txBody>
      </p:sp>
      <p:pic>
        <p:nvPicPr>
          <p:cNvPr id="15" name="Picture 14" descr="acyc.png"/>
          <p:cNvPicPr>
            <a:picLocks noChangeAspect="1"/>
          </p:cNvPicPr>
          <p:nvPr/>
        </p:nvPicPr>
        <p:blipFill>
          <a:blip r:embed="rId5"/>
          <a:stretch>
            <a:fillRect/>
          </a:stretch>
        </p:blipFill>
        <p:spPr>
          <a:xfrm>
            <a:off x="3685032" y="3684117"/>
            <a:ext cx="7168896" cy="312724"/>
          </a:xfrm>
          <a:prstGeom prst="rect">
            <a:avLst/>
          </a:prstGeom>
        </p:spPr>
      </p:pic>
      <p:sp>
        <p:nvSpPr>
          <p:cNvPr id="16" name="Rounded Rectangle 15"/>
          <p:cNvSpPr/>
          <p:nvPr/>
        </p:nvSpPr>
        <p:spPr>
          <a:xfrm>
            <a:off x="548640" y="4398264"/>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453128"/>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Tree</a:t>
            </a:r>
          </a:p>
          <a:p>
            <a:pPr algn="l">
              <a:spcAft>
                <a:spcPts val="0"/>
              </a:spcAft>
            </a:pPr>
            <a:r>
              <a:rPr sz="1800" b="0" i="0">
                <a:solidFill>
                  <a:srgbClr val="6B7280"/>
                </a:solidFill>
                <a:latin typeface="Calibri"/>
              </a:rPr>
              <a:t>one incoming edge</a:t>
            </a:r>
          </a:p>
        </p:txBody>
      </p:sp>
      <p:pic>
        <p:nvPicPr>
          <p:cNvPr id="18" name="Picture 17" descr="tree.png"/>
          <p:cNvPicPr>
            <a:picLocks noChangeAspect="1"/>
          </p:cNvPicPr>
          <p:nvPr/>
        </p:nvPicPr>
        <p:blipFill>
          <a:blip r:embed="rId6"/>
          <a:stretch>
            <a:fillRect/>
          </a:stretch>
        </p:blipFill>
        <p:spPr>
          <a:xfrm>
            <a:off x="3685032" y="4544568"/>
            <a:ext cx="4774996" cy="640080"/>
          </a:xfrm>
          <a:prstGeom prst="rect">
            <a:avLst/>
          </a:prstGeom>
        </p:spPr>
      </p:pic>
      <p:sp>
        <p:nvSpPr>
          <p:cNvPr id="19" name="TextBox 18"/>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eqs. 9–12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One penalty couples all samples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49</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1075334"/>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983894"/>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ℓ0 count</a:t>
            </a:r>
          </a:p>
          <a:p>
            <a:pPr algn="l">
              <a:spcAft>
                <a:spcPts val="0"/>
              </a:spcAft>
            </a:pPr>
            <a:r>
              <a:rPr sz="1800" b="0" i="0">
                <a:solidFill>
                  <a:srgbClr val="6B7280"/>
                </a:solidFill>
                <a:latin typeface="Calibri"/>
              </a:rPr>
              <a:t>paid once per edge</a:t>
            </a:r>
          </a:p>
        </p:txBody>
      </p:sp>
      <p:pic>
        <p:nvPicPr>
          <p:cNvPr id="9" name="Picture 8" descr="l0.png"/>
          <p:cNvPicPr>
            <a:picLocks noChangeAspect="1"/>
          </p:cNvPicPr>
          <p:nvPr/>
        </p:nvPicPr>
        <p:blipFill>
          <a:blip r:embed="rId3"/>
          <a:stretch>
            <a:fillRect/>
          </a:stretch>
        </p:blipFill>
        <p:spPr>
          <a:xfrm>
            <a:off x="3685032" y="1463039"/>
            <a:ext cx="6965899" cy="801014"/>
          </a:xfrm>
          <a:prstGeom prst="rect">
            <a:avLst/>
          </a:prstGeom>
        </p:spPr>
      </p:pic>
      <p:sp>
        <p:nvSpPr>
          <p:cNvPr id="10" name="Rounded Rectangle 9"/>
          <p:cNvSpPr/>
          <p:nvPr/>
        </p:nvSpPr>
        <p:spPr>
          <a:xfrm>
            <a:off x="548640" y="2492654"/>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547518"/>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As a MILP</a:t>
            </a:r>
          </a:p>
          <a:p>
            <a:pPr algn="l">
              <a:spcAft>
                <a:spcPts val="0"/>
              </a:spcAft>
            </a:pPr>
            <a:r>
              <a:rPr sz="1800" b="0" i="0">
                <a:solidFill>
                  <a:srgbClr val="6B7280"/>
                </a:solidFill>
                <a:latin typeface="Calibri"/>
              </a:rPr>
              <a:t>one standard linearisation</a:t>
            </a:r>
          </a:p>
        </p:txBody>
      </p:sp>
      <p:pic>
        <p:nvPicPr>
          <p:cNvPr id="12" name="Picture 11" descr="lin.png"/>
          <p:cNvPicPr>
            <a:picLocks noChangeAspect="1"/>
          </p:cNvPicPr>
          <p:nvPr/>
        </p:nvPicPr>
        <p:blipFill>
          <a:blip r:embed="rId4"/>
          <a:stretch>
            <a:fillRect/>
          </a:stretch>
        </p:blipFill>
        <p:spPr>
          <a:xfrm>
            <a:off x="3685032" y="2670962"/>
            <a:ext cx="7278624" cy="576072"/>
          </a:xfrm>
          <a:prstGeom prst="rect">
            <a:avLst/>
          </a:prstGeom>
        </p:spPr>
      </p:pic>
      <p:sp>
        <p:nvSpPr>
          <p:cNvPr id="13" name="Rounded Rectangle 12"/>
          <p:cNvSpPr/>
          <p:nvPr/>
        </p:nvSpPr>
        <p:spPr>
          <a:xfrm>
            <a:off x="548640" y="3516782"/>
            <a:ext cx="11091672" cy="1006747"/>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571646"/>
            <a:ext cx="2834640" cy="915307"/>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Example</a:t>
            </a:r>
          </a:p>
          <a:p>
            <a:pPr algn="l">
              <a:spcAft>
                <a:spcPts val="0"/>
              </a:spcAft>
            </a:pPr>
            <a:r>
              <a:rPr sz="1800" b="0" i="0">
                <a:solidFill>
                  <a:srgbClr val="6B7280"/>
                </a:solidFill>
                <a:latin typeface="Calibri"/>
              </a:rPr>
              <a:t>shortest paths (eq. 15)</a:t>
            </a:r>
          </a:p>
        </p:txBody>
      </p:sp>
      <p:pic>
        <p:nvPicPr>
          <p:cNvPr id="15" name="Picture 14" descr="msp.png"/>
          <p:cNvPicPr>
            <a:picLocks noChangeAspect="1"/>
          </p:cNvPicPr>
          <p:nvPr/>
        </p:nvPicPr>
        <p:blipFill>
          <a:blip r:embed="rId5"/>
          <a:stretch>
            <a:fillRect/>
          </a:stretch>
        </p:blipFill>
        <p:spPr>
          <a:xfrm>
            <a:off x="3685032" y="3653942"/>
            <a:ext cx="7790688" cy="732427"/>
          </a:xfrm>
          <a:prstGeom prst="rect">
            <a:avLst/>
          </a:prstGeom>
        </p:spPr>
      </p:pic>
      <p:sp>
        <p:nvSpPr>
          <p:cNvPr id="16" name="TextBox 15"/>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eq. 13 and 15; linearisation shown is ours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Measured nodes: TF activity from decoupler</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50</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Model</a:t>
            </a:r>
          </a:p>
          <a:p>
            <a:pPr algn="l">
              <a:spcAft>
                <a:spcPts val="0"/>
              </a:spcAft>
            </a:pPr>
            <a:r>
              <a:rPr sz="1800" b="0" i="0">
                <a:solidFill>
                  <a:srgbClr val="6B7280"/>
                </a:solidFill>
                <a:latin typeface="Calibri"/>
              </a:rPr>
              <a:t>y on regulon weights w</a:t>
            </a:r>
          </a:p>
        </p:txBody>
      </p:sp>
      <p:pic>
        <p:nvPicPr>
          <p:cNvPr id="9" name="Picture 8" descr="ulm1.png"/>
          <p:cNvPicPr>
            <a:picLocks noChangeAspect="1"/>
          </p:cNvPicPr>
          <p:nvPr/>
        </p:nvPicPr>
        <p:blipFill>
          <a:blip r:embed="rId3"/>
          <a:stretch>
            <a:fillRect/>
          </a:stretch>
        </p:blipFill>
        <p:spPr>
          <a:xfrm>
            <a:off x="3685032" y="1626717"/>
            <a:ext cx="4193438" cy="331012"/>
          </a:xfrm>
          <a:prstGeom prst="rect">
            <a:avLst/>
          </a:prstGeom>
        </p:spPr>
      </p:pic>
      <p:sp>
        <p:nvSpPr>
          <p:cNvPr id="10" name="Rounded Rectangle 9"/>
          <p:cNvSpPr/>
          <p:nvPr/>
        </p:nvSpPr>
        <p:spPr>
          <a:xfrm>
            <a:off x="548640" y="2350008"/>
            <a:ext cx="11091672" cy="1077163"/>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04872"/>
            <a:ext cx="2834640" cy="985723"/>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Activity</a:t>
            </a:r>
          </a:p>
          <a:p>
            <a:pPr algn="l">
              <a:spcAft>
                <a:spcPts val="0"/>
              </a:spcAft>
            </a:pPr>
            <a:r>
              <a:rPr sz="1800" b="0" i="0">
                <a:solidFill>
                  <a:srgbClr val="6B7280"/>
                </a:solidFill>
                <a:latin typeface="Calibri"/>
              </a:rPr>
              <a:t>&gt; 0: TF active</a:t>
            </a:r>
          </a:p>
        </p:txBody>
      </p:sp>
      <p:pic>
        <p:nvPicPr>
          <p:cNvPr id="12" name="Picture 11" descr="ulm2.png"/>
          <p:cNvPicPr>
            <a:picLocks noChangeAspect="1"/>
          </p:cNvPicPr>
          <p:nvPr/>
        </p:nvPicPr>
        <p:blipFill>
          <a:blip r:embed="rId4"/>
          <a:stretch>
            <a:fillRect/>
          </a:stretch>
        </p:blipFill>
        <p:spPr>
          <a:xfrm>
            <a:off x="3685032" y="2487168"/>
            <a:ext cx="3873398" cy="802843"/>
          </a:xfrm>
          <a:prstGeom prst="rect">
            <a:avLst/>
          </a:prstGeom>
        </p:spPr>
      </p:pic>
      <p:sp>
        <p:nvSpPr>
          <p:cNvPr id="13" name="TextBox 12"/>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Badia-i-Mompel et al., Bioinform Adv 2022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CARNIVAL as sign constraints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51</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38174"/>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6734"/>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Tree</a:t>
            </a:r>
          </a:p>
          <a:p>
            <a:pPr algn="l">
              <a:spcAft>
                <a:spcPts val="0"/>
              </a:spcAft>
            </a:pPr>
            <a:r>
              <a:rPr sz="1800" b="0" i="0">
                <a:solidFill>
                  <a:srgbClr val="6B7280"/>
                </a:solidFill>
                <a:latin typeface="Calibri"/>
              </a:rPr>
              <a:t>nodes up, down or off</a:t>
            </a:r>
          </a:p>
        </p:txBody>
      </p:sp>
      <p:pic>
        <p:nvPicPr>
          <p:cNvPr id="9" name="Picture 8" descr="car1.png"/>
          <p:cNvPicPr>
            <a:picLocks noChangeAspect="1"/>
          </p:cNvPicPr>
          <p:nvPr/>
        </p:nvPicPr>
        <p:blipFill>
          <a:blip r:embed="rId3"/>
          <a:stretch>
            <a:fillRect/>
          </a:stretch>
        </p:blipFill>
        <p:spPr>
          <a:xfrm>
            <a:off x="3685032" y="1463040"/>
            <a:ext cx="1271016" cy="287121"/>
          </a:xfrm>
          <a:prstGeom prst="rect">
            <a:avLst/>
          </a:prstGeom>
        </p:spPr>
      </p:pic>
      <p:pic>
        <p:nvPicPr>
          <p:cNvPr id="10" name="Picture 9" descr="car2.png"/>
          <p:cNvPicPr>
            <a:picLocks noChangeAspect="1"/>
          </p:cNvPicPr>
          <p:nvPr/>
        </p:nvPicPr>
        <p:blipFill>
          <a:blip r:embed="rId4"/>
          <a:stretch>
            <a:fillRect/>
          </a:stretch>
        </p:blipFill>
        <p:spPr>
          <a:xfrm>
            <a:off x="3685032" y="1841601"/>
            <a:ext cx="3525926" cy="285292"/>
          </a:xfrm>
          <a:prstGeom prst="rect">
            <a:avLst/>
          </a:prstGeom>
        </p:spPr>
      </p:pic>
      <p:sp>
        <p:nvSpPr>
          <p:cNvPr id="11" name="Rounded Rectangle 10"/>
          <p:cNvSpPr/>
          <p:nvPr/>
        </p:nvSpPr>
        <p:spPr>
          <a:xfrm>
            <a:off x="548640" y="2355494"/>
            <a:ext cx="11091672" cy="1016812"/>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410358"/>
            <a:ext cx="2834640" cy="925372"/>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Sign rules</a:t>
            </a:r>
          </a:p>
          <a:p>
            <a:pPr algn="l">
              <a:spcAft>
                <a:spcPts val="0"/>
              </a:spcAft>
            </a:pPr>
            <a:r>
              <a:rPr sz="1800" b="0" i="0">
                <a:solidFill>
                  <a:srgbClr val="6B7280"/>
                </a:solidFill>
                <a:latin typeface="Calibri"/>
              </a:rPr>
              <a:t>state × edge sign</a:t>
            </a:r>
          </a:p>
        </p:txBody>
      </p:sp>
      <p:pic>
        <p:nvPicPr>
          <p:cNvPr id="13" name="Picture 12" descr="car3.png"/>
          <p:cNvPicPr>
            <a:picLocks noChangeAspect="1"/>
          </p:cNvPicPr>
          <p:nvPr/>
        </p:nvPicPr>
        <p:blipFill>
          <a:blip r:embed="rId5"/>
          <a:stretch>
            <a:fillRect/>
          </a:stretch>
        </p:blipFill>
        <p:spPr>
          <a:xfrm>
            <a:off x="3685032" y="2492654"/>
            <a:ext cx="4118457" cy="325526"/>
          </a:xfrm>
          <a:prstGeom prst="rect">
            <a:avLst/>
          </a:prstGeom>
        </p:spPr>
      </p:pic>
      <p:pic>
        <p:nvPicPr>
          <p:cNvPr id="14" name="Picture 13" descr="car4.png"/>
          <p:cNvPicPr>
            <a:picLocks noChangeAspect="1"/>
          </p:cNvPicPr>
          <p:nvPr/>
        </p:nvPicPr>
        <p:blipFill>
          <a:blip r:embed="rId6"/>
          <a:stretch>
            <a:fillRect/>
          </a:stretch>
        </p:blipFill>
        <p:spPr>
          <a:xfrm>
            <a:off x="3685032" y="2909620"/>
            <a:ext cx="4125772" cy="325526"/>
          </a:xfrm>
          <a:prstGeom prst="rect">
            <a:avLst/>
          </a:prstGeom>
        </p:spPr>
      </p:pic>
      <p:sp>
        <p:nvSpPr>
          <p:cNvPr id="15" name="Rounded Rectangle 14"/>
          <p:cNvSpPr/>
          <p:nvPr/>
        </p:nvSpPr>
        <p:spPr>
          <a:xfrm>
            <a:off x="548640" y="3463747"/>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518611"/>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Inputs</a:t>
            </a:r>
          </a:p>
          <a:p>
            <a:pPr algn="l">
              <a:spcAft>
                <a:spcPts val="0"/>
              </a:spcAft>
            </a:pPr>
            <a:r>
              <a:rPr sz="1800" b="0" i="0">
                <a:solidFill>
                  <a:srgbClr val="6B7280"/>
                </a:solidFill>
                <a:latin typeface="Calibri"/>
              </a:rPr>
              <a:t>perturbations fixed</a:t>
            </a:r>
          </a:p>
        </p:txBody>
      </p:sp>
      <p:pic>
        <p:nvPicPr>
          <p:cNvPr id="17" name="Picture 16" descr="car5.png"/>
          <p:cNvPicPr>
            <a:picLocks noChangeAspect="1"/>
          </p:cNvPicPr>
          <p:nvPr/>
        </p:nvPicPr>
        <p:blipFill>
          <a:blip r:embed="rId7"/>
          <a:stretch>
            <a:fillRect/>
          </a:stretch>
        </p:blipFill>
        <p:spPr>
          <a:xfrm>
            <a:off x="3685032" y="3752697"/>
            <a:ext cx="2820009" cy="354787"/>
          </a:xfrm>
          <a:prstGeom prst="rect">
            <a:avLst/>
          </a:prstGeom>
        </p:spPr>
      </p:pic>
      <p:sp>
        <p:nvSpPr>
          <p:cNvPr id="18" name="Rounded Rectangle 17"/>
          <p:cNvSpPr/>
          <p:nvPr/>
        </p:nvSpPr>
        <p:spPr>
          <a:xfrm>
            <a:off x="548640" y="4487875"/>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542739"/>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Objective</a:t>
            </a:r>
          </a:p>
          <a:p>
            <a:pPr algn="l">
              <a:spcAft>
                <a:spcPts val="0"/>
              </a:spcAft>
            </a:pPr>
            <a:r>
              <a:rPr sz="1800" b="0" i="0">
                <a:solidFill>
                  <a:srgbClr val="6B7280"/>
                </a:solidFill>
                <a:latin typeface="Calibri"/>
              </a:rPr>
              <a:t>0 match, |d| off, 2|d| wrong</a:t>
            </a:r>
          </a:p>
        </p:txBody>
      </p:sp>
      <p:pic>
        <p:nvPicPr>
          <p:cNvPr id="20" name="Picture 19" descr="car6.png"/>
          <p:cNvPicPr>
            <a:picLocks noChangeAspect="1"/>
          </p:cNvPicPr>
          <p:nvPr/>
        </p:nvPicPr>
        <p:blipFill>
          <a:blip r:embed="rId8"/>
          <a:stretch>
            <a:fillRect/>
          </a:stretch>
        </p:blipFill>
        <p:spPr>
          <a:xfrm>
            <a:off x="3685032" y="4749393"/>
            <a:ext cx="5844844" cy="409651"/>
          </a:xfrm>
          <a:prstGeom prst="rect">
            <a:avLst/>
          </a:prstGeom>
        </p:spPr>
      </p:pic>
      <p:sp>
        <p:nvSpPr>
          <p:cNvPr id="21" name="TextBox 20"/>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CARNIVAL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FBA, sparse FBA and iMAT</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52</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FBA</a:t>
            </a:r>
          </a:p>
          <a:p>
            <a:pPr algn="l">
              <a:spcAft>
                <a:spcPts val="0"/>
              </a:spcAft>
            </a:pPr>
            <a:r>
              <a:rPr sz="1800" b="0" i="0">
                <a:solidFill>
                  <a:srgbClr val="6B7280"/>
                </a:solidFill>
                <a:latin typeface="Calibri"/>
              </a:rPr>
              <a:t>LP, steady state</a:t>
            </a:r>
          </a:p>
        </p:txBody>
      </p:sp>
      <p:pic>
        <p:nvPicPr>
          <p:cNvPr id="9" name="Picture 8" descr="fba.png"/>
          <p:cNvPicPr>
            <a:picLocks noChangeAspect="1"/>
          </p:cNvPicPr>
          <p:nvPr/>
        </p:nvPicPr>
        <p:blipFill>
          <a:blip r:embed="rId3"/>
          <a:stretch>
            <a:fillRect/>
          </a:stretch>
        </p:blipFill>
        <p:spPr>
          <a:xfrm>
            <a:off x="3685032" y="1576425"/>
            <a:ext cx="4010558" cy="431596"/>
          </a:xfrm>
          <a:prstGeom prst="rect">
            <a:avLst/>
          </a:prstGeom>
        </p:spPr>
      </p:pic>
      <p:sp>
        <p:nvSpPr>
          <p:cNvPr id="10" name="Rounded Rectangle 9"/>
          <p:cNvSpPr/>
          <p:nvPr/>
        </p:nvSpPr>
        <p:spPr>
          <a:xfrm>
            <a:off x="548640" y="2350008"/>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04872"/>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Sparse FBA</a:t>
            </a:r>
          </a:p>
          <a:p>
            <a:pPr algn="l">
              <a:spcAft>
                <a:spcPts val="0"/>
              </a:spcAft>
            </a:pPr>
            <a:r>
              <a:rPr sz="1800" b="0" i="0">
                <a:solidFill>
                  <a:srgbClr val="6B7280"/>
                </a:solidFill>
                <a:latin typeface="Calibri"/>
              </a:rPr>
              <a:t>fewest reactions</a:t>
            </a:r>
          </a:p>
        </p:txBody>
      </p:sp>
      <p:pic>
        <p:nvPicPr>
          <p:cNvPr id="12" name="Picture 11" descr="sfba.png"/>
          <p:cNvPicPr>
            <a:picLocks noChangeAspect="1"/>
          </p:cNvPicPr>
          <p:nvPr/>
        </p:nvPicPr>
        <p:blipFill>
          <a:blip r:embed="rId4"/>
          <a:stretch>
            <a:fillRect/>
          </a:stretch>
        </p:blipFill>
        <p:spPr>
          <a:xfrm>
            <a:off x="3685032" y="2536337"/>
            <a:ext cx="7790688" cy="560028"/>
          </a:xfrm>
          <a:prstGeom prst="rect">
            <a:avLst/>
          </a:prstGeom>
        </p:spPr>
      </p:pic>
      <p:sp>
        <p:nvSpPr>
          <p:cNvPr id="13" name="Rounded Rectangle 12"/>
          <p:cNvSpPr/>
          <p:nvPr/>
        </p:nvSpPr>
        <p:spPr>
          <a:xfrm>
            <a:off x="548640" y="3374136"/>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429000"/>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Multi-sample</a:t>
            </a:r>
          </a:p>
          <a:p>
            <a:pPr algn="l">
              <a:spcAft>
                <a:spcPts val="0"/>
              </a:spcAft>
            </a:pPr>
            <a:r>
              <a:rPr sz="1800" b="0" i="0">
                <a:solidFill>
                  <a:srgbClr val="6B7280"/>
                </a:solidFill>
                <a:latin typeface="Calibri"/>
              </a:rPr>
              <a:t>λ on or off</a:t>
            </a:r>
          </a:p>
        </p:txBody>
      </p:sp>
      <p:pic>
        <p:nvPicPr>
          <p:cNvPr id="15" name="Picture 14" descr="msfba.png"/>
          <p:cNvPicPr>
            <a:picLocks noChangeAspect="1"/>
          </p:cNvPicPr>
          <p:nvPr/>
        </p:nvPicPr>
        <p:blipFill>
          <a:blip r:embed="rId5"/>
          <a:stretch>
            <a:fillRect/>
          </a:stretch>
        </p:blipFill>
        <p:spPr>
          <a:xfrm>
            <a:off x="3685032" y="3621024"/>
            <a:ext cx="7110374" cy="438912"/>
          </a:xfrm>
          <a:prstGeom prst="rect">
            <a:avLst/>
          </a:prstGeom>
        </p:spPr>
      </p:pic>
      <p:sp>
        <p:nvSpPr>
          <p:cNvPr id="16" name="Rounded Rectangle 15"/>
          <p:cNvSpPr/>
          <p:nvPr/>
        </p:nvSpPr>
        <p:spPr>
          <a:xfrm>
            <a:off x="548640" y="4398264"/>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453128"/>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iMAT</a:t>
            </a:r>
          </a:p>
          <a:p>
            <a:pPr algn="l">
              <a:spcAft>
                <a:spcPts val="0"/>
              </a:spcAft>
            </a:pPr>
            <a:r>
              <a:rPr sz="1800" b="0" i="0">
                <a:solidFill>
                  <a:srgbClr val="6B7280"/>
                </a:solidFill>
                <a:latin typeface="Calibri"/>
              </a:rPr>
              <a:t>high on, low off</a:t>
            </a:r>
          </a:p>
        </p:txBody>
      </p:sp>
      <p:pic>
        <p:nvPicPr>
          <p:cNvPr id="18" name="Picture 17" descr="imat.png"/>
          <p:cNvPicPr>
            <a:picLocks noChangeAspect="1"/>
          </p:cNvPicPr>
          <p:nvPr/>
        </p:nvPicPr>
        <p:blipFill>
          <a:blip r:embed="rId6"/>
          <a:stretch>
            <a:fillRect/>
          </a:stretch>
        </p:blipFill>
        <p:spPr>
          <a:xfrm>
            <a:off x="3685032" y="4549140"/>
            <a:ext cx="4240987" cy="630936"/>
          </a:xfrm>
          <a:prstGeom prst="rect">
            <a:avLst/>
          </a:prstGeom>
        </p:spPr>
      </p:pic>
      <p:sp>
        <p:nvSpPr>
          <p:cNvPr id="19" name="TextBox 18"/>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FBA, sFBA, iMAT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8778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Steiner trees as rooted flows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53</a:t>
            </a:r>
          </a:p>
        </p:txBody>
      </p:sp>
      <p:sp>
        <p:nvSpPr>
          <p:cNvPr id="6" name="Rounded Rectangle 5"/>
          <p:cNvSpPr/>
          <p:nvPr/>
        </p:nvSpPr>
        <p:spPr>
          <a:xfrm>
            <a:off x="9418320" y="438912"/>
            <a:ext cx="2194560" cy="457200"/>
          </a:xfrm>
          <a:prstGeom prst="roundRect">
            <a:avLst>
              <a:gd name="adj" fmla="val 50000"/>
            </a:avLst>
          </a:prstGeom>
          <a:solidFill>
            <a:srgbClr val="E3EE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800" b="1">
                <a:solidFill>
                  <a:srgbClr val="0072B2"/>
                </a:solidFill>
                <a:latin typeface="Calibri"/>
              </a:rPr>
              <a:t>BACKUP · MATH</a:t>
            </a:r>
          </a:p>
        </p:txBody>
      </p:sp>
      <p:sp>
        <p:nvSpPr>
          <p:cNvPr id="7" name="Rounded Rectangle 6"/>
          <p:cNvSpPr/>
          <p:nvPr/>
        </p:nvSpPr>
        <p:spPr>
          <a:xfrm>
            <a:off x="548640" y="1325880"/>
            <a:ext cx="11091672" cy="940003"/>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0744"/>
            <a:ext cx="2834640" cy="848563"/>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PCST</a:t>
            </a:r>
          </a:p>
          <a:p>
            <a:pPr algn="l">
              <a:spcAft>
                <a:spcPts val="0"/>
              </a:spcAft>
            </a:pPr>
            <a:r>
              <a:rPr sz="1800" b="0" i="0">
                <a:solidFill>
                  <a:srgbClr val="6B7280"/>
                </a:solidFill>
                <a:latin typeface="Calibri"/>
              </a:rPr>
              <a:t>costs minus prizes</a:t>
            </a:r>
          </a:p>
        </p:txBody>
      </p:sp>
      <p:pic>
        <p:nvPicPr>
          <p:cNvPr id="9" name="Picture 8" descr="pcst.png"/>
          <p:cNvPicPr>
            <a:picLocks noChangeAspect="1"/>
          </p:cNvPicPr>
          <p:nvPr/>
        </p:nvPicPr>
        <p:blipFill>
          <a:blip r:embed="rId3"/>
          <a:stretch>
            <a:fillRect/>
          </a:stretch>
        </p:blipFill>
        <p:spPr>
          <a:xfrm>
            <a:off x="3685032" y="1463040"/>
            <a:ext cx="3132734" cy="665683"/>
          </a:xfrm>
          <a:prstGeom prst="rect">
            <a:avLst/>
          </a:prstGeom>
        </p:spPr>
      </p:pic>
      <p:sp>
        <p:nvSpPr>
          <p:cNvPr id="10" name="Rounded Rectangle 9"/>
          <p:cNvSpPr/>
          <p:nvPr/>
        </p:nvSpPr>
        <p:spPr>
          <a:xfrm>
            <a:off x="548640" y="2357323"/>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12187"/>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CORNETO</a:t>
            </a:r>
          </a:p>
          <a:p>
            <a:pPr algn="l">
              <a:spcAft>
                <a:spcPts val="0"/>
              </a:spcAft>
            </a:pPr>
            <a:r>
              <a:rPr sz="1800" b="0" i="0">
                <a:solidFill>
                  <a:srgbClr val="6B7280"/>
                </a:solidFill>
                <a:latin typeface="Calibri"/>
              </a:rPr>
              <a:t>tree constraint</a:t>
            </a:r>
          </a:p>
        </p:txBody>
      </p:sp>
      <p:pic>
        <p:nvPicPr>
          <p:cNvPr id="12" name="Picture 11" descr="st1.png"/>
          <p:cNvPicPr>
            <a:picLocks noChangeAspect="1"/>
          </p:cNvPicPr>
          <p:nvPr/>
        </p:nvPicPr>
        <p:blipFill>
          <a:blip r:embed="rId4"/>
          <a:stretch>
            <a:fillRect/>
          </a:stretch>
        </p:blipFill>
        <p:spPr>
          <a:xfrm>
            <a:off x="3685032" y="2660904"/>
            <a:ext cx="3926433" cy="325526"/>
          </a:xfrm>
          <a:prstGeom prst="rect">
            <a:avLst/>
          </a:prstGeom>
        </p:spPr>
      </p:pic>
      <p:sp>
        <p:nvSpPr>
          <p:cNvPr id="13" name="Rounded Rectangle 12"/>
          <p:cNvSpPr/>
          <p:nvPr/>
        </p:nvSpPr>
        <p:spPr>
          <a:xfrm>
            <a:off x="548640" y="3381451"/>
            <a:ext cx="11091672" cy="93268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436315"/>
            <a:ext cx="2834640" cy="841248"/>
          </a:xfrm>
          <a:prstGeom prst="rect">
            <a:avLst/>
          </a:prstGeom>
          <a:noFill/>
        </p:spPr>
        <p:txBody>
          <a:bodyPr wrap="square" lIns="45720" tIns="27432" rIns="45720" bIns="27432" anchor="t">
            <a:spAutoFit/>
          </a:bodyPr>
          <a:lstStyle/>
          <a:p>
            <a:pPr algn="l">
              <a:spcAft>
                <a:spcPts val="0"/>
              </a:spcAft>
            </a:pPr>
            <a:r>
              <a:rPr sz="1800" b="1" i="0">
                <a:solidFill>
                  <a:srgbClr val="0072B2"/>
                </a:solidFill>
                <a:latin typeface="Calibri"/>
              </a:rPr>
              <a:t>Flows</a:t>
            </a:r>
          </a:p>
          <a:p>
            <a:pPr algn="l">
              <a:spcAft>
                <a:spcPts val="0"/>
              </a:spcAft>
            </a:pPr>
            <a:r>
              <a:rPr sz="1800" b="0" i="0">
                <a:solidFill>
                  <a:srgbClr val="6B7280"/>
                </a:solidFill>
                <a:latin typeface="Calibri"/>
              </a:rPr>
              <a:t>root feeds every terminal</a:t>
            </a:r>
          </a:p>
        </p:txBody>
      </p:sp>
      <p:pic>
        <p:nvPicPr>
          <p:cNvPr id="15" name="Picture 14" descr="st2.png"/>
          <p:cNvPicPr>
            <a:picLocks noChangeAspect="1"/>
          </p:cNvPicPr>
          <p:nvPr/>
        </p:nvPicPr>
        <p:blipFill>
          <a:blip r:embed="rId5"/>
          <a:stretch>
            <a:fillRect/>
          </a:stretch>
        </p:blipFill>
        <p:spPr>
          <a:xfrm>
            <a:off x="3685032" y="3535070"/>
            <a:ext cx="6139281" cy="625449"/>
          </a:xfrm>
          <a:prstGeom prst="rect">
            <a:avLst/>
          </a:prstGeom>
        </p:spPr>
      </p:pic>
      <p:sp>
        <p:nvSpPr>
          <p:cNvPr id="16" name="TextBox 15"/>
          <p:cNvSpPr txBox="1"/>
          <p:nvPr/>
        </p:nvSpPr>
        <p:spPr>
          <a:xfrm>
            <a:off x="548640" y="6053328"/>
            <a:ext cx="1106424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Paper Methods, Steiner tree and PCST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097280"/>
            <a:ext cx="10607040" cy="548640"/>
          </a:xfrm>
          <a:prstGeom prst="rect">
            <a:avLst/>
          </a:prstGeom>
          <a:noFill/>
        </p:spPr>
        <p:txBody>
          <a:bodyPr wrap="square" lIns="45720" tIns="27432" rIns="45720" bIns="27432" anchor="t">
            <a:spAutoFit/>
          </a:bodyPr>
          <a:lstStyle/>
          <a:p>
            <a:pPr algn="l">
              <a:spcAft>
                <a:spcPts val="600"/>
              </a:spcAft>
            </a:pPr>
            <a:r>
              <a:rPr sz="2200" b="1" i="0">
                <a:solidFill>
                  <a:srgbClr val="0072B2"/>
                </a:solidFill>
                <a:latin typeface="Calibri"/>
              </a:rPr>
              <a:t>Appendix</a:t>
            </a:r>
          </a:p>
        </p:txBody>
      </p:sp>
      <p:sp>
        <p:nvSpPr>
          <p:cNvPr id="4" name="TextBox 3"/>
          <p:cNvSpPr txBox="1"/>
          <p:nvPr/>
        </p:nvSpPr>
        <p:spPr>
          <a:xfrm>
            <a:off x="822960" y="1691640"/>
            <a:ext cx="10607040" cy="1737360"/>
          </a:xfrm>
          <a:prstGeom prst="rect">
            <a:avLst/>
          </a:prstGeom>
          <a:noFill/>
        </p:spPr>
        <p:txBody>
          <a:bodyPr wrap="square" lIns="45720" tIns="27432" rIns="45720" bIns="27432" anchor="t">
            <a:spAutoFit/>
          </a:bodyPr>
          <a:lstStyle/>
          <a:p>
            <a:pPr algn="l">
              <a:spcAft>
                <a:spcPts val="600"/>
              </a:spcAft>
            </a:pPr>
            <a:r>
              <a:rPr sz="3200" b="0" i="0">
                <a:solidFill>
                  <a:srgbClr val="1F2A44"/>
                </a:solidFill>
                <a:latin typeface="Calibri"/>
              </a:rPr>
              <a:t>Towards 3D-oid models that integrate molecular, morphological and spatial cellular features</a:t>
            </a:r>
          </a:p>
        </p:txBody>
      </p:sp>
      <p:sp>
        <p:nvSpPr>
          <p:cNvPr id="5" name="TextBox 4"/>
          <p:cNvSpPr txBox="1"/>
          <p:nvPr/>
        </p:nvSpPr>
        <p:spPr>
          <a:xfrm>
            <a:off x="822960" y="3840480"/>
            <a:ext cx="10607040" cy="1188720"/>
          </a:xfrm>
          <a:prstGeom prst="rect">
            <a:avLst/>
          </a:prstGeom>
          <a:noFill/>
        </p:spPr>
        <p:txBody>
          <a:bodyPr wrap="square" lIns="45720" tIns="27432" rIns="45720" bIns="27432" anchor="t">
            <a:spAutoFit/>
          </a:bodyPr>
          <a:lstStyle/>
          <a:p>
            <a:pPr algn="l">
              <a:spcAft>
                <a:spcPts val="600"/>
              </a:spcAft>
            </a:pPr>
            <a:r>
              <a:rPr sz="2000" b="0" i="0">
                <a:solidFill>
                  <a:srgbClr val="2B2B2B"/>
                </a:solidFill>
                <a:latin typeface="Calibri"/>
              </a:rPr>
              <a:t>Diosdi, Theis &amp; Horvath</a:t>
            </a:r>
          </a:p>
          <a:p>
            <a:pPr algn="l">
              <a:spcAft>
                <a:spcPts val="600"/>
              </a:spcAft>
            </a:pPr>
            <a:r>
              <a:rPr sz="2000" b="0" i="0">
                <a:solidFill>
                  <a:srgbClr val="6B7280"/>
                </a:solidFill>
                <a:latin typeface="Calibri"/>
              </a:rPr>
              <a:t>Nat Rev Mol Cell Biol, Comment, 4 Sep 2026</a:t>
            </a:r>
          </a:p>
        </p:txBody>
      </p:sp>
      <p:sp>
        <p:nvSpPr>
          <p:cNvPr id="6" name="TextBox 5"/>
          <p:cNvSpPr txBox="1"/>
          <p:nvPr/>
        </p:nvSpPr>
        <p:spPr>
          <a:xfrm>
            <a:off x="822960" y="5669280"/>
            <a:ext cx="10607040" cy="457200"/>
          </a:xfrm>
          <a:prstGeom prst="rect">
            <a:avLst/>
          </a:prstGeom>
          <a:noFill/>
        </p:spPr>
        <p:txBody>
          <a:bodyPr wrap="square" lIns="45720" tIns="27432" rIns="45720" bIns="27432" anchor="t">
            <a:spAutoFit/>
          </a:bodyPr>
          <a:lstStyle/>
          <a:p>
            <a:pPr algn="l">
              <a:spcAft>
                <a:spcPts val="600"/>
              </a:spcAft>
            </a:pPr>
            <a:r>
              <a:rPr sz="2000" b="0" i="0">
                <a:solidFill>
                  <a:srgbClr val="6B7280"/>
                </a:solidFill>
                <a:latin typeface="Calibri"/>
              </a:rPr>
              <a:t>A two-page opinion piece: no new data</a:t>
            </a:r>
          </a:p>
        </p:txBody>
      </p:sp>
      <p:sp>
        <p:nvSpPr>
          <p:cNvPr id="7" name="TextBox 6"/>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54</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A cell = omics + morphology + microenvironment</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Diosdi, Theis &amp; Horvath, Nat Rev Mol Cell Biol (2026)  ·  doi:10.1038/s41580-026-01025-4</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55</a:t>
            </a:r>
          </a:p>
        </p:txBody>
      </p:sp>
      <p:sp>
        <p:nvSpPr>
          <p:cNvPr id="6" name="Oval 5"/>
          <p:cNvSpPr/>
          <p:nvPr/>
        </p:nvSpPr>
        <p:spPr>
          <a:xfrm>
            <a:off x="960120" y="1325880"/>
            <a:ext cx="2651760" cy="2651760"/>
          </a:xfrm>
          <a:prstGeom prst="ellipse">
            <a:avLst/>
          </a:prstGeom>
          <a:solidFill>
            <a:srgbClr val="E3EEF7"/>
          </a:solidFill>
          <a:ln w="25400">
            <a:solidFill>
              <a:srgbClr val="0072B2"/>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a:solidFill>
                  <a:srgbClr val="1F2A44"/>
                </a:solidFill>
                <a:latin typeface="Calibri"/>
              </a:rPr>
              <a:t>Omics profile</a:t>
            </a:r>
          </a:p>
        </p:txBody>
      </p:sp>
      <p:sp>
        <p:nvSpPr>
          <p:cNvPr id="7" name="TextBox 6"/>
          <p:cNvSpPr txBox="1"/>
          <p:nvPr/>
        </p:nvSpPr>
        <p:spPr>
          <a:xfrm>
            <a:off x="731520" y="4069080"/>
            <a:ext cx="3108960" cy="548640"/>
          </a:xfrm>
          <a:prstGeom prst="rect">
            <a:avLst/>
          </a:prstGeom>
          <a:noFill/>
        </p:spPr>
        <p:txBody>
          <a:bodyPr wrap="square" lIns="45720" tIns="27432" rIns="45720" bIns="27432" anchor="t">
            <a:spAutoFit/>
          </a:bodyPr>
          <a:lstStyle/>
          <a:p>
            <a:pPr algn="ctr">
              <a:spcAft>
                <a:spcPts val="600"/>
              </a:spcAft>
            </a:pPr>
            <a:r>
              <a:rPr sz="1800" b="0" i="0">
                <a:solidFill>
                  <a:srgbClr val="6B7280"/>
                </a:solidFill>
                <a:latin typeface="Calibri"/>
              </a:rPr>
              <a:t>molecules, interactions, dynamics</a:t>
            </a:r>
          </a:p>
        </p:txBody>
      </p:sp>
      <p:sp>
        <p:nvSpPr>
          <p:cNvPr id="8" name="Oval 7"/>
          <p:cNvSpPr/>
          <p:nvPr/>
        </p:nvSpPr>
        <p:spPr>
          <a:xfrm>
            <a:off x="4572000" y="1325880"/>
            <a:ext cx="2651760" cy="2651760"/>
          </a:xfrm>
          <a:prstGeom prst="ellipse">
            <a:avLst/>
          </a:prstGeom>
          <a:solidFill>
            <a:srgbClr val="FBE3D4"/>
          </a:solidFill>
          <a:ln w="25400">
            <a:solidFill>
              <a:srgbClr val="D55E00"/>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a:solidFill>
                  <a:srgbClr val="1F2A44"/>
                </a:solidFill>
                <a:latin typeface="Calibri"/>
              </a:rPr>
              <a:t>Morphology</a:t>
            </a:r>
          </a:p>
        </p:txBody>
      </p:sp>
      <p:sp>
        <p:nvSpPr>
          <p:cNvPr id="9" name="TextBox 8"/>
          <p:cNvSpPr txBox="1"/>
          <p:nvPr/>
        </p:nvSpPr>
        <p:spPr>
          <a:xfrm>
            <a:off x="4343400" y="4069080"/>
            <a:ext cx="3108960" cy="548640"/>
          </a:xfrm>
          <a:prstGeom prst="rect">
            <a:avLst/>
          </a:prstGeom>
          <a:noFill/>
        </p:spPr>
        <p:txBody>
          <a:bodyPr wrap="square" lIns="45720" tIns="27432" rIns="45720" bIns="27432" anchor="t">
            <a:spAutoFit/>
          </a:bodyPr>
          <a:lstStyle/>
          <a:p>
            <a:pPr algn="ctr">
              <a:spcAft>
                <a:spcPts val="600"/>
              </a:spcAft>
            </a:pPr>
            <a:r>
              <a:rPr sz="1800" b="0" i="0">
                <a:solidFill>
                  <a:srgbClr val="6B7280"/>
                </a:solidFill>
                <a:latin typeface="Calibri"/>
              </a:rPr>
              <a:t>3D shape from imaging</a:t>
            </a:r>
          </a:p>
        </p:txBody>
      </p:sp>
      <p:sp>
        <p:nvSpPr>
          <p:cNvPr id="10" name="Oval 9"/>
          <p:cNvSpPr/>
          <p:nvPr/>
        </p:nvSpPr>
        <p:spPr>
          <a:xfrm>
            <a:off x="8183880" y="1325880"/>
            <a:ext cx="2651760" cy="2651760"/>
          </a:xfrm>
          <a:prstGeom prst="ellipse">
            <a:avLst/>
          </a:prstGeom>
          <a:solidFill>
            <a:srgbClr val="E6F2EC"/>
          </a:solidFill>
          <a:ln w="25400">
            <a:solidFill>
              <a:srgbClr val="009E73"/>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a:solidFill>
                  <a:srgbClr val="1F2A44"/>
                </a:solidFill>
                <a:latin typeface="Calibri"/>
              </a:rPr>
              <a:t>Micro-
environment</a:t>
            </a:r>
          </a:p>
        </p:txBody>
      </p:sp>
      <p:sp>
        <p:nvSpPr>
          <p:cNvPr id="11" name="TextBox 10"/>
          <p:cNvSpPr txBox="1"/>
          <p:nvPr/>
        </p:nvSpPr>
        <p:spPr>
          <a:xfrm>
            <a:off x="7955280" y="4069080"/>
            <a:ext cx="3108960" cy="548640"/>
          </a:xfrm>
          <a:prstGeom prst="rect">
            <a:avLst/>
          </a:prstGeom>
          <a:noFill/>
        </p:spPr>
        <p:txBody>
          <a:bodyPr wrap="square" lIns="45720" tIns="27432" rIns="45720" bIns="27432" anchor="t">
            <a:spAutoFit/>
          </a:bodyPr>
          <a:lstStyle/>
          <a:p>
            <a:pPr algn="ctr">
              <a:spcAft>
                <a:spcPts val="600"/>
              </a:spcAft>
            </a:pPr>
            <a:r>
              <a:rPr sz="1800" b="0" i="0">
                <a:solidFill>
                  <a:srgbClr val="6B7280"/>
                </a:solidFill>
                <a:latin typeface="Calibri"/>
              </a:rPr>
              <a:t>neighbours and space</a:t>
            </a:r>
          </a:p>
        </p:txBody>
      </p:sp>
      <p:sp>
        <p:nvSpPr>
          <p:cNvPr id="12" name="Rounded Rectangle 11"/>
          <p:cNvSpPr/>
          <p:nvPr/>
        </p:nvSpPr>
        <p:spPr>
          <a:xfrm>
            <a:off x="548640" y="4754880"/>
            <a:ext cx="11091672" cy="1143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4800600"/>
            <a:ext cx="10698480" cy="1051560"/>
          </a:xfrm>
          <a:prstGeom prst="rect">
            <a:avLst/>
          </a:prstGeom>
          <a:noFill/>
        </p:spPr>
        <p:txBody>
          <a:bodyPr wrap="square" lIns="45720" tIns="27432" rIns="45720" bIns="27432" anchor="ctr">
            <a:spAutoFit/>
          </a:bodyPr>
          <a:lstStyle/>
          <a:p>
            <a:pPr algn="l">
              <a:spcAft>
                <a:spcPts val="400"/>
              </a:spcAft>
            </a:pPr>
            <a:r>
              <a:rPr sz="2000" b="0" i="0">
                <a:solidFill>
                  <a:srgbClr val="0072B2"/>
                </a:solidFill>
                <a:latin typeface="Calibri"/>
              </a:rPr>
              <a:t>Problem: </a:t>
            </a:r>
            <a:r>
              <a:rPr sz="2000" b="0" i="0">
                <a:solidFill>
                  <a:srgbClr val="2B2B2B"/>
                </a:solidFill>
                <a:latin typeface="Calibri"/>
              </a:rPr>
              <a:t>measured by siloed technologies and communities</a:t>
            </a:r>
          </a:p>
          <a:p>
            <a:pPr algn="l">
              <a:spcAft>
                <a:spcPts val="400"/>
              </a:spcAft>
            </a:pPr>
            <a:r>
              <a:rPr sz="2000" b="0" i="0">
                <a:solidFill>
                  <a:srgbClr val="D55E00"/>
                </a:solidFill>
                <a:latin typeface="Calibri"/>
              </a:rPr>
              <a:t>Claim: </a:t>
            </a:r>
            <a:r>
              <a:rPr sz="2000" b="0" i="0">
                <a:solidFill>
                  <a:srgbClr val="2B2B2B"/>
                </a:solidFill>
                <a:latin typeface="Calibri"/>
              </a:rPr>
              <a:t>integrating them beats any single modality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spAutoFit/>
          </a:bodyPr>
          <a:lstStyle/>
          <a:p>
            <a:pPr algn="l">
              <a:spcAft>
                <a:spcPts val="600"/>
              </a:spcAft>
            </a:pPr>
            <a:r>
              <a:rPr sz="3200" b="0" i="0">
                <a:solidFill>
                  <a:srgbClr val="1F2A44"/>
                </a:solidFill>
                <a:latin typeface="Calibri"/>
              </a:rPr>
              <a:t>Three pathways towards integrated 3D-oids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382512"/>
            <a:ext cx="9875520" cy="329184"/>
          </a:xfrm>
          <a:prstGeom prst="rect">
            <a:avLst/>
          </a:prstGeom>
          <a:noFill/>
        </p:spPr>
        <p:txBody>
          <a:bodyPr wrap="square" lIns="45720" tIns="27432" rIns="45720" bIns="27432" anchor="ctr">
            <a:spAutoFit/>
          </a:bodyPr>
          <a:lstStyle/>
          <a:p>
            <a:pPr algn="l">
              <a:spcAft>
                <a:spcPts val="600"/>
              </a:spcAft>
            </a:pPr>
            <a:r>
              <a:rPr sz="1200" b="0" i="0">
                <a:solidFill>
                  <a:srgbClr val="6B7280"/>
                </a:solidFill>
                <a:latin typeface="Calibri"/>
              </a:rPr>
              <a:t>Diosdi, Theis &amp; Horvath, Nat Rev Mol Cell Biol (2026)  ·  doi:10.1038/s41580-026-01025-4</a:t>
            </a:r>
          </a:p>
        </p:txBody>
      </p:sp>
      <p:sp>
        <p:nvSpPr>
          <p:cNvPr id="5" name="TextBox 4"/>
          <p:cNvSpPr txBox="1"/>
          <p:nvPr/>
        </p:nvSpPr>
        <p:spPr>
          <a:xfrm>
            <a:off x="10972800" y="6382512"/>
            <a:ext cx="667512" cy="329184"/>
          </a:xfrm>
          <a:prstGeom prst="rect">
            <a:avLst/>
          </a:prstGeom>
          <a:noFill/>
        </p:spPr>
        <p:txBody>
          <a:bodyPr wrap="square" lIns="45720" tIns="27432" rIns="45720" bIns="27432" anchor="ctr">
            <a:spAutoFit/>
          </a:bodyPr>
          <a:lstStyle/>
          <a:p>
            <a:pPr algn="r">
              <a:spcAft>
                <a:spcPts val="600"/>
              </a:spcAft>
            </a:pPr>
            <a:r>
              <a:rPr sz="1200" b="0" i="0">
                <a:solidFill>
                  <a:srgbClr val="6B7280"/>
                </a:solidFill>
                <a:latin typeface="Calibri"/>
              </a:rPr>
              <a:t>56</a:t>
            </a:r>
          </a:p>
        </p:txBody>
      </p:sp>
      <p:sp>
        <p:nvSpPr>
          <p:cNvPr id="6" name="Rounded Rectangle 5"/>
          <p:cNvSpPr/>
          <p:nvPr/>
        </p:nvSpPr>
        <p:spPr>
          <a:xfrm>
            <a:off x="548640" y="1417320"/>
            <a:ext cx="3520440" cy="4434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9808" y="1600200"/>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1</a:t>
            </a:r>
          </a:p>
        </p:txBody>
      </p:sp>
      <p:sp>
        <p:nvSpPr>
          <p:cNvPr id="8" name="TextBox 7"/>
          <p:cNvSpPr txBox="1"/>
          <p:nvPr/>
        </p:nvSpPr>
        <p:spPr>
          <a:xfrm>
            <a:off x="1353312" y="1581912"/>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Model systems</a:t>
            </a:r>
          </a:p>
        </p:txBody>
      </p:sp>
      <p:sp>
        <p:nvSpPr>
          <p:cNvPr id="9" name="TextBox 8"/>
          <p:cNvSpPr txBox="1"/>
          <p:nvPr/>
        </p:nvSpPr>
        <p:spPr>
          <a:xfrm>
            <a:off x="749808" y="2331720"/>
            <a:ext cx="3154680" cy="3383280"/>
          </a:xfrm>
          <a:prstGeom prst="rect">
            <a:avLst/>
          </a:prstGeom>
          <a:noFill/>
        </p:spPr>
        <p:txBody>
          <a:bodyPr wrap="square" lIns="45720" tIns="27432" rIns="45720" bIns="27432" anchor="t">
            <a:spAutoFit/>
          </a:bodyPr>
          <a:lstStyle/>
          <a:p>
            <a:pPr marL="285750" indent="-285750" algn="l">
              <a:spcAft>
                <a:spcPts val="1400"/>
              </a:spcAft>
              <a:buChar char="•"/>
            </a:pPr>
            <a:r>
              <a:rPr sz="1800" b="0" i="0">
                <a:solidFill>
                  <a:srgbClr val="2B2B2B"/>
                </a:solidFill>
                <a:latin typeface="Calibri"/>
              </a:rPr>
              <a:t>Spheroids, organoids, assembloids</a:t>
            </a:r>
          </a:p>
          <a:p>
            <a:pPr marL="285750" indent="-285750" algn="l">
              <a:spcAft>
                <a:spcPts val="1400"/>
              </a:spcAft>
              <a:buChar char="•"/>
            </a:pPr>
            <a:r>
              <a:rPr sz="1800" b="0" i="0">
                <a:solidFill>
                  <a:srgbClr val="2B2B2B"/>
                </a:solidFill>
                <a:latin typeface="Calibri"/>
              </a:rPr>
              <a:t>Reproducible reference 3D-oids</a:t>
            </a:r>
          </a:p>
          <a:p>
            <a:pPr marL="285750" indent="-285750" algn="l">
              <a:spcAft>
                <a:spcPts val="1400"/>
              </a:spcAft>
              <a:buChar char="•"/>
            </a:pPr>
            <a:r>
              <a:rPr sz="1800" b="0" i="0">
                <a:solidFill>
                  <a:srgbClr val="2B2B2B"/>
                </a:solidFill>
                <a:latin typeface="Calibri"/>
              </a:rPr>
              <a:t>Fewer patient-specific models</a:t>
            </a:r>
          </a:p>
        </p:txBody>
      </p:sp>
      <p:sp>
        <p:nvSpPr>
          <p:cNvPr id="10" name="Rounded Rectangle 9"/>
          <p:cNvSpPr/>
          <p:nvPr/>
        </p:nvSpPr>
        <p:spPr>
          <a:xfrm>
            <a:off x="4334255" y="1417320"/>
            <a:ext cx="3520440" cy="4434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35423" y="1600200"/>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2</a:t>
            </a:r>
          </a:p>
        </p:txBody>
      </p:sp>
      <p:sp>
        <p:nvSpPr>
          <p:cNvPr id="12" name="TextBox 11"/>
          <p:cNvSpPr txBox="1"/>
          <p:nvPr/>
        </p:nvSpPr>
        <p:spPr>
          <a:xfrm>
            <a:off x="5138927" y="1581912"/>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Imaging, analysis</a:t>
            </a:r>
          </a:p>
        </p:txBody>
      </p:sp>
      <p:sp>
        <p:nvSpPr>
          <p:cNvPr id="13" name="TextBox 12"/>
          <p:cNvSpPr txBox="1"/>
          <p:nvPr/>
        </p:nvSpPr>
        <p:spPr>
          <a:xfrm>
            <a:off x="4535423" y="2331720"/>
            <a:ext cx="3154680" cy="3383280"/>
          </a:xfrm>
          <a:prstGeom prst="rect">
            <a:avLst/>
          </a:prstGeom>
          <a:noFill/>
        </p:spPr>
        <p:txBody>
          <a:bodyPr wrap="square" lIns="45720" tIns="27432" rIns="45720" bIns="27432" anchor="t">
            <a:spAutoFit/>
          </a:bodyPr>
          <a:lstStyle/>
          <a:p>
            <a:pPr marL="285750" indent="-285750" algn="l">
              <a:spcAft>
                <a:spcPts val="1400"/>
              </a:spcAft>
              <a:buChar char="•"/>
            </a:pPr>
            <a:r>
              <a:rPr sz="1800" b="0" i="0">
                <a:solidFill>
                  <a:srgbClr val="2B2B2B"/>
                </a:solidFill>
                <a:latin typeface="Calibri"/>
              </a:rPr>
              <a:t>Micromanipulation of single cells</a:t>
            </a:r>
          </a:p>
          <a:p>
            <a:pPr marL="285750" indent="-285750" algn="l">
              <a:spcAft>
                <a:spcPts val="1400"/>
              </a:spcAft>
              <a:buChar char="•"/>
            </a:pPr>
            <a:r>
              <a:rPr sz="1800" b="0" i="0">
                <a:solidFill>
                  <a:srgbClr val="2B2B2B"/>
                </a:solidFill>
                <a:latin typeface="Calibri"/>
              </a:rPr>
              <a:t>3D high-content screens + omics</a:t>
            </a:r>
          </a:p>
          <a:p>
            <a:pPr marL="285750" indent="-285750" algn="l">
              <a:spcAft>
                <a:spcPts val="1400"/>
              </a:spcAft>
              <a:buChar char="•"/>
            </a:pPr>
            <a:r>
              <a:rPr sz="1800" b="0" i="0">
                <a:solidFill>
                  <a:srgbClr val="2B2B2B"/>
                </a:solidFill>
                <a:latin typeface="Calibri"/>
              </a:rPr>
              <a:t>AI for images</a:t>
            </a:r>
          </a:p>
        </p:txBody>
      </p:sp>
      <p:sp>
        <p:nvSpPr>
          <p:cNvPr id="14" name="Rounded Rectangle 13"/>
          <p:cNvSpPr/>
          <p:nvPr/>
        </p:nvSpPr>
        <p:spPr>
          <a:xfrm>
            <a:off x="8119871" y="1417320"/>
            <a:ext cx="3520440" cy="4434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321040" y="1600200"/>
            <a:ext cx="475488" cy="475488"/>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a:solidFill>
                  <a:srgbClr val="FFFFFF"/>
                </a:solidFill>
                <a:latin typeface="Calibri"/>
              </a:rPr>
              <a:t>3</a:t>
            </a:r>
          </a:p>
        </p:txBody>
      </p:sp>
      <p:sp>
        <p:nvSpPr>
          <p:cNvPr id="16" name="TextBox 15"/>
          <p:cNvSpPr txBox="1"/>
          <p:nvPr/>
        </p:nvSpPr>
        <p:spPr>
          <a:xfrm>
            <a:off x="8924544" y="1581912"/>
            <a:ext cx="2606040" cy="512064"/>
          </a:xfrm>
          <a:prstGeom prst="rect">
            <a:avLst/>
          </a:prstGeom>
          <a:noFill/>
        </p:spPr>
        <p:txBody>
          <a:bodyPr wrap="square" lIns="45720" tIns="27432" rIns="45720" bIns="27432" anchor="ctr">
            <a:spAutoFit/>
          </a:bodyPr>
          <a:lstStyle/>
          <a:p>
            <a:pPr algn="l">
              <a:spcAft>
                <a:spcPts val="600"/>
              </a:spcAft>
            </a:pPr>
            <a:r>
              <a:rPr sz="2000" b="1" i="0">
                <a:solidFill>
                  <a:srgbClr val="0072B2"/>
                </a:solidFill>
                <a:latin typeface="Calibri"/>
              </a:rPr>
              <a:t>Data integration</a:t>
            </a:r>
          </a:p>
        </p:txBody>
      </p:sp>
      <p:sp>
        <p:nvSpPr>
          <p:cNvPr id="17" name="TextBox 16"/>
          <p:cNvSpPr txBox="1"/>
          <p:nvPr/>
        </p:nvSpPr>
        <p:spPr>
          <a:xfrm>
            <a:off x="8321040" y="2331720"/>
            <a:ext cx="3154680" cy="3383280"/>
          </a:xfrm>
          <a:prstGeom prst="rect">
            <a:avLst/>
          </a:prstGeom>
          <a:noFill/>
        </p:spPr>
        <p:txBody>
          <a:bodyPr wrap="square" lIns="45720" tIns="27432" rIns="45720" bIns="27432" anchor="t">
            <a:spAutoFit/>
          </a:bodyPr>
          <a:lstStyle/>
          <a:p>
            <a:pPr marL="285750" indent="-285750" algn="l">
              <a:spcAft>
                <a:spcPts val="1400"/>
              </a:spcAft>
              <a:buChar char="•"/>
            </a:pPr>
            <a:r>
              <a:rPr sz="1800" b="0" i="0">
                <a:solidFill>
                  <a:srgbClr val="2B2B2B"/>
                </a:solidFill>
                <a:latin typeface="Calibri"/>
              </a:rPr>
              <a:t>Tools for multimodal data are missing</a:t>
            </a:r>
          </a:p>
          <a:p>
            <a:pPr marL="285750" indent="-285750" algn="l">
              <a:spcAft>
                <a:spcPts val="1400"/>
              </a:spcAft>
              <a:buChar char="•"/>
            </a:pPr>
            <a:r>
              <a:rPr sz="1800" b="0" i="0">
                <a:solidFill>
                  <a:srgbClr val="2B2B2B"/>
                </a:solidFill>
                <a:latin typeface="Calibri"/>
              </a:rPr>
              <a:t>Generalisable AI models</a:t>
            </a:r>
          </a:p>
          <a:p>
            <a:pPr marL="285750" indent="-285750" algn="l">
              <a:spcAft>
                <a:spcPts val="1400"/>
              </a:spcAft>
              <a:buChar char="•"/>
            </a:pPr>
            <a:r>
              <a:rPr sz="1800" b="0" i="0">
                <a:solidFill>
                  <a:srgbClr val="2B2B2B"/>
                </a:solidFill>
                <a:latin typeface="Calibri"/>
              </a:rPr>
              <a:t>Connect, not replace, pipelines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1057</TotalTime>
  <Words>7656</Words>
  <Application>Microsoft Office PowerPoint</Application>
  <PresentationFormat>Widescreen</PresentationFormat>
  <Paragraphs>746</Paragraphs>
  <Slides>53</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Seyedhashemirizi, Sadegh (Stud. FSE)</cp:lastModifiedBy>
  <cp:revision>16</cp:revision>
  <dcterms:created xsi:type="dcterms:W3CDTF">2013-01-27T09:14:16Z</dcterms:created>
  <dcterms:modified xsi:type="dcterms:W3CDTF">2026-10-14T13:44:07Z</dcterms:modified>
  <cp:category/>
</cp:coreProperties>
</file>